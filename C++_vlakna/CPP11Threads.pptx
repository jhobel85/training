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0"/>
  </p:notesMasterIdLst>
  <p:sldIdLst>
    <p:sldId id="256" r:id="rId2"/>
    <p:sldId id="361" r:id="rId3"/>
    <p:sldId id="362" r:id="rId4"/>
    <p:sldId id="257" r:id="rId5"/>
    <p:sldId id="270" r:id="rId6"/>
    <p:sldId id="273" r:id="rId7"/>
    <p:sldId id="258" r:id="rId8"/>
    <p:sldId id="271" r:id="rId9"/>
    <p:sldId id="259" r:id="rId10"/>
    <p:sldId id="268" r:id="rId11"/>
    <p:sldId id="358" r:id="rId12"/>
    <p:sldId id="265" r:id="rId13"/>
    <p:sldId id="302" r:id="rId14"/>
    <p:sldId id="303" r:id="rId15"/>
    <p:sldId id="304" r:id="rId16"/>
    <p:sldId id="305" r:id="rId17"/>
    <p:sldId id="260" r:id="rId18"/>
    <p:sldId id="261" r:id="rId19"/>
    <p:sldId id="262" r:id="rId20"/>
    <p:sldId id="267" r:id="rId21"/>
    <p:sldId id="307" r:id="rId22"/>
    <p:sldId id="306" r:id="rId23"/>
    <p:sldId id="263" r:id="rId24"/>
    <p:sldId id="264" r:id="rId25"/>
    <p:sldId id="266" r:id="rId26"/>
    <p:sldId id="269" r:id="rId27"/>
    <p:sldId id="275" r:id="rId28"/>
    <p:sldId id="277" r:id="rId29"/>
    <p:sldId id="274" r:id="rId30"/>
    <p:sldId id="272" r:id="rId31"/>
    <p:sldId id="276" r:id="rId32"/>
    <p:sldId id="278" r:id="rId33"/>
    <p:sldId id="359" r:id="rId34"/>
    <p:sldId id="360" r:id="rId35"/>
    <p:sldId id="279" r:id="rId36"/>
    <p:sldId id="280" r:id="rId37"/>
    <p:sldId id="281" r:id="rId38"/>
    <p:sldId id="282" r:id="rId39"/>
    <p:sldId id="284" r:id="rId40"/>
    <p:sldId id="283" r:id="rId41"/>
    <p:sldId id="298" r:id="rId42"/>
    <p:sldId id="300" r:id="rId43"/>
    <p:sldId id="301" r:id="rId44"/>
    <p:sldId id="299" r:id="rId45"/>
    <p:sldId id="363" r:id="rId46"/>
    <p:sldId id="285" r:id="rId47"/>
    <p:sldId id="286" r:id="rId48"/>
    <p:sldId id="296" r:id="rId49"/>
    <p:sldId id="287" r:id="rId50"/>
    <p:sldId id="288" r:id="rId51"/>
    <p:sldId id="289" r:id="rId52"/>
    <p:sldId id="290" r:id="rId53"/>
    <p:sldId id="291" r:id="rId54"/>
    <p:sldId id="292" r:id="rId55"/>
    <p:sldId id="293" r:id="rId56"/>
    <p:sldId id="294" r:id="rId57"/>
    <p:sldId id="295" r:id="rId58"/>
    <p:sldId id="297" r:id="rId59"/>
    <p:sldId id="308" r:id="rId60"/>
    <p:sldId id="309" r:id="rId61"/>
    <p:sldId id="310" r:id="rId62"/>
    <p:sldId id="311" r:id="rId63"/>
    <p:sldId id="312" r:id="rId64"/>
    <p:sldId id="313" r:id="rId65"/>
    <p:sldId id="318" r:id="rId66"/>
    <p:sldId id="314" r:id="rId67"/>
    <p:sldId id="315" r:id="rId68"/>
    <p:sldId id="316" r:id="rId69"/>
    <p:sldId id="317"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48" r:id="rId85"/>
    <p:sldId id="349" r:id="rId86"/>
    <p:sldId id="333" r:id="rId87"/>
    <p:sldId id="344" r:id="rId88"/>
    <p:sldId id="345" r:id="rId89"/>
    <p:sldId id="346" r:id="rId90"/>
    <p:sldId id="334" r:id="rId91"/>
    <p:sldId id="335" r:id="rId92"/>
    <p:sldId id="336" r:id="rId93"/>
    <p:sldId id="337" r:id="rId94"/>
    <p:sldId id="338" r:id="rId95"/>
    <p:sldId id="339" r:id="rId96"/>
    <p:sldId id="340" r:id="rId97"/>
    <p:sldId id="341" r:id="rId98"/>
    <p:sldId id="342" r:id="rId99"/>
    <p:sldId id="343" r:id="rId100"/>
    <p:sldId id="347" r:id="rId101"/>
    <p:sldId id="350" r:id="rId102"/>
    <p:sldId id="352" r:id="rId103"/>
    <p:sldId id="353" r:id="rId104"/>
    <p:sldId id="351" r:id="rId105"/>
    <p:sldId id="354" r:id="rId106"/>
    <p:sldId id="355" r:id="rId107"/>
    <p:sldId id="356" r:id="rId108"/>
    <p:sldId id="357" r:id="rId10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162" autoAdjust="0"/>
  </p:normalViewPr>
  <p:slideViewPr>
    <p:cSldViewPr snapToGrid="0">
      <p:cViewPr>
        <p:scale>
          <a:sx n="100" d="100"/>
          <a:sy n="100" d="100"/>
        </p:scale>
        <p:origin x="-1920" y="-15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9" d="100"/>
          <a:sy n="89" d="100"/>
        </p:scale>
        <p:origin x="-376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C7E06C-17D4-4A74-A3DB-BD1C78D6F83B}" type="datetimeFigureOut">
              <a:rPr lang="en-US" smtClean="0"/>
              <a:t>8/29/2014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DA1B20-0068-4FE8-9081-524701AD1F50}" type="slidenum">
              <a:rPr lang="en-US" smtClean="0"/>
              <a:t>‹#›</a:t>
            </a:fld>
            <a:endParaRPr lang="en-US"/>
          </a:p>
        </p:txBody>
      </p:sp>
    </p:spTree>
    <p:extLst>
      <p:ext uri="{BB962C8B-B14F-4D97-AF65-F5344CB8AC3E}">
        <p14:creationId xmlns:p14="http://schemas.microsoft.com/office/powerpoint/2010/main" val="110423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en.cppreference.com/w/cpp/atomic/memory_order" TargetMode="External"/><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just::thread library</a:t>
            </a:r>
          </a:p>
          <a:p>
            <a:r>
              <a:rPr lang="en-US" dirty="0" smtClean="0"/>
              <a:t>http://www.stdthread.co.uk/</a:t>
            </a:r>
          </a:p>
          <a:p>
            <a:endParaRPr lang="en-US" dirty="0" smtClean="0"/>
          </a:p>
          <a:p>
            <a:r>
              <a:rPr lang="en-US" dirty="0" smtClean="0"/>
              <a:t>GCC support</a:t>
            </a:r>
          </a:p>
          <a:p>
            <a:r>
              <a:rPr lang="en-US" dirty="0" smtClean="0"/>
              <a:t>http://gcc.gnu.org/projects/cxx0x.html</a:t>
            </a:r>
          </a:p>
          <a:p>
            <a:endParaRPr lang="en-US" dirty="0" smtClean="0"/>
          </a:p>
          <a:p>
            <a:r>
              <a:rPr lang="en-US" dirty="0" smtClean="0"/>
              <a:t>C++ 11 support</a:t>
            </a:r>
          </a:p>
          <a:p>
            <a:r>
              <a:rPr lang="en-US" dirty="0" smtClean="0"/>
              <a:t>http://wiki.apache.org/stdcxx/C++0xCompilerSupport</a:t>
            </a:r>
          </a:p>
          <a:p>
            <a:r>
              <a:rPr lang="en-US" dirty="0" smtClean="0"/>
              <a:t>http://www.aristeia.com/C++11/C++11FeatureAvailability.htm</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4</a:t>
            </a:fld>
            <a:endParaRPr lang="en-US"/>
          </a:p>
        </p:txBody>
      </p:sp>
    </p:spTree>
    <p:extLst>
      <p:ext uri="{BB962C8B-B14F-4D97-AF65-F5344CB8AC3E}">
        <p14:creationId xmlns:p14="http://schemas.microsoft.com/office/powerpoint/2010/main" val="1338682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http://stackoverflow.com/questions/5304324/whats-the-difference-between-yield-and-sleep</a:t>
            </a:r>
          </a:p>
          <a:p>
            <a:r>
              <a:rPr lang="en-US" dirty="0" smtClean="0"/>
              <a:t>http://en.cppreference.com/w/cpp/thread/sleep_for</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5</a:t>
            </a:fld>
            <a:endParaRPr lang="en-US"/>
          </a:p>
        </p:txBody>
      </p:sp>
    </p:spTree>
    <p:extLst>
      <p:ext uri="{BB962C8B-B14F-4D97-AF65-F5344CB8AC3E}">
        <p14:creationId xmlns:p14="http://schemas.microsoft.com/office/powerpoint/2010/main" val="2573922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#include &lt;thread&gt;</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7</a:t>
            </a:fld>
            <a:endParaRPr lang="en-US"/>
          </a:p>
        </p:txBody>
      </p:sp>
    </p:spTree>
    <p:extLst>
      <p:ext uri="{BB962C8B-B14F-4D97-AF65-F5344CB8AC3E}">
        <p14:creationId xmlns:p14="http://schemas.microsoft.com/office/powerpoint/2010/main" val="966953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Igor </a:t>
            </a:r>
            <a:r>
              <a:rPr lang="en-US" dirty="0" err="1" smtClean="0"/>
              <a:t>Tandetnik</a:t>
            </a:r>
            <a:endParaRPr lang="en-US" dirty="0" smtClean="0"/>
          </a:p>
          <a:p>
            <a:r>
              <a:rPr lang="en-US" dirty="0" smtClean="0"/>
              <a:t>You could, I suppose, have the thread function wait on some mutex first thing. Then you lock that mutex before creating the thread, and unlock it when you are ready to let the thread do its work.</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11</a:t>
            </a:fld>
            <a:endParaRPr lang="en-US"/>
          </a:p>
        </p:txBody>
      </p:sp>
    </p:spTree>
    <p:extLst>
      <p:ext uri="{BB962C8B-B14F-4D97-AF65-F5344CB8AC3E}">
        <p14:creationId xmlns:p14="http://schemas.microsoft.com/office/powerpoint/2010/main" val="2320894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ADA1B20-0068-4FE8-9081-524701AD1F50}" type="slidenum">
              <a:rPr lang="en-US" smtClean="0"/>
              <a:t>30</a:t>
            </a:fld>
            <a:endParaRPr lang="en-US"/>
          </a:p>
        </p:txBody>
      </p:sp>
    </p:spTree>
    <p:extLst>
      <p:ext uri="{BB962C8B-B14F-4D97-AF65-F5344CB8AC3E}">
        <p14:creationId xmlns:p14="http://schemas.microsoft.com/office/powerpoint/2010/main" val="2594271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http://code4thought.wordpress.com/2013/03/03/cpp-async/</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31</a:t>
            </a:fld>
            <a:endParaRPr lang="en-US"/>
          </a:p>
        </p:txBody>
      </p:sp>
    </p:spTree>
    <p:extLst>
      <p:ext uri="{BB962C8B-B14F-4D97-AF65-F5344CB8AC3E}">
        <p14:creationId xmlns:p14="http://schemas.microsoft.com/office/powerpoint/2010/main" val="3080072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 Concurrency in Action” page 80</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45</a:t>
            </a:fld>
            <a:endParaRPr lang="en-US"/>
          </a:p>
        </p:txBody>
      </p:sp>
    </p:spTree>
    <p:extLst>
      <p:ext uri="{BB962C8B-B14F-4D97-AF65-F5344CB8AC3E}">
        <p14:creationId xmlns:p14="http://schemas.microsoft.com/office/powerpoint/2010/main" val="2412041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Promise &amp; future are historical concepts.</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46</a:t>
            </a:fld>
            <a:endParaRPr lang="en-US"/>
          </a:p>
        </p:txBody>
      </p:sp>
    </p:spTree>
    <p:extLst>
      <p:ext uri="{BB962C8B-B14F-4D97-AF65-F5344CB8AC3E}">
        <p14:creationId xmlns:p14="http://schemas.microsoft.com/office/powerpoint/2010/main" val="923667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#include &lt;mutex&gt;</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59</a:t>
            </a:fld>
            <a:endParaRPr lang="en-US"/>
          </a:p>
        </p:txBody>
      </p:sp>
    </p:spTree>
    <p:extLst>
      <p:ext uri="{BB962C8B-B14F-4D97-AF65-F5344CB8AC3E}">
        <p14:creationId xmlns:p14="http://schemas.microsoft.com/office/powerpoint/2010/main" val="4110330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Transfer function has to be friend of </a:t>
            </a:r>
            <a:r>
              <a:rPr lang="en-US" dirty="0" err="1" smtClean="0"/>
              <a:t>monitor_account</a:t>
            </a:r>
            <a:r>
              <a:rPr lang="en-US" dirty="0" smtClean="0"/>
              <a:t>, because mutex m is a private variable.</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74</a:t>
            </a:fld>
            <a:endParaRPr lang="en-US"/>
          </a:p>
        </p:txBody>
      </p:sp>
    </p:spTree>
    <p:extLst>
      <p:ext uri="{BB962C8B-B14F-4D97-AF65-F5344CB8AC3E}">
        <p14:creationId xmlns:p14="http://schemas.microsoft.com/office/powerpoint/2010/main" val="40808989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Livelock</a:t>
            </a:r>
            <a:r>
              <a:rPr lang="en-US" dirty="0" smtClean="0"/>
              <a:t>:</a:t>
            </a:r>
            <a:r>
              <a:rPr lang="en-US" baseline="0" dirty="0" smtClean="0"/>
              <a:t> </a:t>
            </a:r>
            <a:r>
              <a:rPr lang="en-US" dirty="0" smtClean="0"/>
              <a:t>As a real-world example, it occurs when two people meet in a narrow corridor, and each tries to be polite by moving aside to let the other pass, but they end up swaying from side to side without making any progress because they always both move the same way at the same time.</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75</a:t>
            </a:fld>
            <a:endParaRPr lang="en-US"/>
          </a:p>
        </p:txBody>
      </p:sp>
    </p:spTree>
    <p:extLst>
      <p:ext uri="{BB962C8B-B14F-4D97-AF65-F5344CB8AC3E}">
        <p14:creationId xmlns:p14="http://schemas.microsoft.com/office/powerpoint/2010/main" val="964728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Another sample is a swap method on 2 monitor objects.</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76</a:t>
            </a:fld>
            <a:endParaRPr lang="en-US"/>
          </a:p>
        </p:txBody>
      </p:sp>
    </p:spTree>
    <p:extLst>
      <p:ext uri="{BB962C8B-B14F-4D97-AF65-F5344CB8AC3E}">
        <p14:creationId xmlns:p14="http://schemas.microsoft.com/office/powerpoint/2010/main" val="1271117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Anthony Williams</a:t>
            </a:r>
          </a:p>
          <a:p>
            <a:endParaRPr lang="en-US" dirty="0" smtClean="0"/>
          </a:p>
          <a:p>
            <a:r>
              <a:rPr lang="en-US" dirty="0" smtClean="0"/>
              <a:t>http://www.justsoftwaresolutions.co.uk/threading/multithreading-in-c++0x-part-7-locking-multiple-mutexes.html</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77</a:t>
            </a:fld>
            <a:endParaRPr lang="en-US"/>
          </a:p>
        </p:txBody>
      </p:sp>
    </p:spTree>
    <p:extLst>
      <p:ext uri="{BB962C8B-B14F-4D97-AF65-F5344CB8AC3E}">
        <p14:creationId xmlns:p14="http://schemas.microsoft.com/office/powerpoint/2010/main" val="838918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t>
            </a:r>
            <a:r>
              <a:rPr lang="en-US" sz="1200" b="0" i="0" u="none" strike="noStrike" kern="1200" baseline="0" dirty="0" smtClean="0">
                <a:solidFill>
                  <a:schemeClr val="tx1"/>
                </a:solidFill>
                <a:latin typeface="+mn-lt"/>
                <a:ea typeface="+mn-ea"/>
                <a:cs typeface="+mn-cs"/>
              </a:rPr>
              <a:t>Double-Checked Locking” Schmidt, Harrison - http://ftp.icm.edu.pl/packages/ace/ACE/PDF/DC-Locking.pdf</a:t>
            </a:r>
            <a:endParaRPr lang="en-US" b="0" dirty="0"/>
          </a:p>
        </p:txBody>
      </p:sp>
      <p:sp>
        <p:nvSpPr>
          <p:cNvPr id="4" name="Slide Number Placeholder 3"/>
          <p:cNvSpPr>
            <a:spLocks noGrp="1"/>
          </p:cNvSpPr>
          <p:nvPr>
            <p:ph type="sldNum" sz="quarter" idx="10"/>
          </p:nvPr>
        </p:nvSpPr>
        <p:spPr/>
        <p:txBody>
          <a:bodyPr/>
          <a:lstStyle/>
          <a:p>
            <a:fld id="{8ADA1B20-0068-4FE8-9081-524701AD1F50}" type="slidenum">
              <a:rPr lang="en-US" smtClean="0"/>
              <a:t>79</a:t>
            </a:fld>
            <a:endParaRPr lang="en-US"/>
          </a:p>
        </p:txBody>
      </p:sp>
    </p:spTree>
    <p:extLst>
      <p:ext uri="{BB962C8B-B14F-4D97-AF65-F5344CB8AC3E}">
        <p14:creationId xmlns:p14="http://schemas.microsoft.com/office/powerpoint/2010/main" val="29574318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Professional C++ 2</a:t>
            </a:r>
            <a:r>
              <a:rPr lang="en-US" baseline="30000" dirty="0" smtClean="0"/>
              <a:t>nd</a:t>
            </a:r>
            <a:r>
              <a:rPr lang="en-US" dirty="0" smtClean="0"/>
              <a:t> edition  page 819</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82</a:t>
            </a:fld>
            <a:endParaRPr lang="en-US"/>
          </a:p>
        </p:txBody>
      </p:sp>
    </p:spTree>
    <p:extLst>
      <p:ext uri="{BB962C8B-B14F-4D97-AF65-F5344CB8AC3E}">
        <p14:creationId xmlns:p14="http://schemas.microsoft.com/office/powerpoint/2010/main" val="315688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Lawrence </a:t>
            </a:r>
            <a:r>
              <a:rPr lang="en-US" dirty="0" err="1" smtClean="0"/>
              <a:t>Crowl</a:t>
            </a:r>
            <a:r>
              <a:rPr lang="en-US" dirty="0" smtClean="0"/>
              <a:t> (at 57 minute)</a:t>
            </a:r>
            <a:r>
              <a:rPr lang="en-US" baseline="0" dirty="0" smtClean="0"/>
              <a:t> </a:t>
            </a:r>
            <a:r>
              <a:rPr lang="en-US" dirty="0" smtClean="0"/>
              <a:t>http://www.youtube.com/watch?v=LQ0n9TQ2gNo&amp;feature=player_detailpage#t=3386s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Dynamic initialization http://www.open-std.org/jtc1/sc22/wg21/docs/papers/2008/n2660.htm</a:t>
            </a:r>
          </a:p>
          <a:p>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83</a:t>
            </a:fld>
            <a:endParaRPr lang="en-US"/>
          </a:p>
        </p:txBody>
      </p:sp>
    </p:spTree>
    <p:extLst>
      <p:ext uri="{BB962C8B-B14F-4D97-AF65-F5344CB8AC3E}">
        <p14:creationId xmlns:p14="http://schemas.microsoft.com/office/powerpoint/2010/main" val="2569943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Slide 122 of </a:t>
            </a:r>
            <a:r>
              <a:rPr lang="en-US" sz="1200" b="0" i="1" u="none" strike="noStrike" kern="1200" baseline="0" dirty="0" smtClean="0">
                <a:solidFill>
                  <a:schemeClr val="tx1"/>
                </a:solidFill>
                <a:latin typeface="+mn-lt"/>
                <a:ea typeface="+mn-ea"/>
                <a:cs typeface="+mn-cs"/>
              </a:rPr>
              <a:t>Overview of the New C++ (C++0x)</a:t>
            </a:r>
            <a:r>
              <a:rPr lang="en-US" sz="1200" b="0" i="0" u="none" strike="noStrike" kern="1200" baseline="0" dirty="0" smtClean="0">
                <a:solidFill>
                  <a:schemeClr val="tx1"/>
                </a:solidFill>
                <a:latin typeface="+mn-lt"/>
                <a:ea typeface="+mn-ea"/>
                <a:cs typeface="+mn-cs"/>
              </a:rPr>
              <a:t>, Scott Meyers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page 338 “C++ </a:t>
            </a:r>
            <a:r>
              <a:rPr lang="en-US" baseline="0" dirty="0" err="1" smtClean="0"/>
              <a:t>Concurency</a:t>
            </a:r>
            <a:r>
              <a:rPr lang="en-US" baseline="0" dirty="0" smtClean="0"/>
              <a:t> in Action” by Anthony </a:t>
            </a:r>
            <a:r>
              <a:rPr lang="en-US" baseline="0" dirty="0" err="1" smtClean="0"/>
              <a:t>Wiliams</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Slide 51 of </a:t>
            </a:r>
            <a:r>
              <a:rPr lang="en-US" sz="1200" b="0" i="1" u="none" strike="noStrike" kern="1200" baseline="0" dirty="0" smtClean="0">
                <a:solidFill>
                  <a:schemeClr val="tx1"/>
                </a:solidFill>
                <a:latin typeface="+mn-lt"/>
                <a:ea typeface="+mn-ea"/>
                <a:cs typeface="+mn-cs"/>
              </a:rPr>
              <a:t>Simple C++ (Vol.2)</a:t>
            </a:r>
            <a:r>
              <a:rPr lang="en-US" sz="1200" b="0" i="0" u="none" strike="noStrike" kern="1200" baseline="0" dirty="0" smtClean="0">
                <a:solidFill>
                  <a:schemeClr val="tx1"/>
                </a:solidFill>
                <a:latin typeface="+mn-lt"/>
                <a:ea typeface="+mn-ea"/>
                <a:cs typeface="+mn-cs"/>
              </a:rPr>
              <a:t> ACCU 2012, Prof. Peter </a:t>
            </a:r>
            <a:r>
              <a:rPr lang="en-US" sz="1200" b="0" i="0" u="none" strike="noStrike" kern="1200" baseline="0" dirty="0" err="1" smtClean="0">
                <a:solidFill>
                  <a:schemeClr val="tx1"/>
                </a:solidFill>
                <a:latin typeface="+mn-lt"/>
                <a:ea typeface="+mn-ea"/>
                <a:cs typeface="+mn-cs"/>
              </a:rPr>
              <a:t>Sommerlad</a:t>
            </a:r>
            <a:endParaRPr lang="en-US" sz="1200" b="0" i="0" u="none" strike="noStrik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Page 811 </a:t>
            </a:r>
            <a:r>
              <a:rPr lang="en-US" i="1" dirty="0" smtClean="0"/>
              <a:t>Professional</a:t>
            </a:r>
            <a:r>
              <a:rPr lang="en-US" i="1" baseline="0" dirty="0" smtClean="0"/>
              <a:t> C++ 2</a:t>
            </a:r>
            <a:r>
              <a:rPr lang="en-US" i="1" baseline="30000" dirty="0" smtClean="0"/>
              <a:t>nd</a:t>
            </a:r>
            <a:r>
              <a:rPr lang="en-US" i="1" baseline="0" dirty="0" smtClean="0"/>
              <a:t> edition</a:t>
            </a:r>
            <a:r>
              <a:rPr lang="en-US" baseline="0" dirty="0" smtClean="0"/>
              <a:t>, WROX</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i="0" dirty="0" smtClean="0"/>
          </a:p>
          <a:p>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84</a:t>
            </a:fld>
            <a:endParaRPr lang="en-US"/>
          </a:p>
        </p:txBody>
      </p:sp>
    </p:spTree>
    <p:extLst>
      <p:ext uri="{BB962C8B-B14F-4D97-AF65-F5344CB8AC3E}">
        <p14:creationId xmlns:p14="http://schemas.microsoft.com/office/powerpoint/2010/main" val="320608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http://www.youtube.com/watch?feature=player_detailpage&amp;v=2Uha-YrJV4U</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85</a:t>
            </a:fld>
            <a:endParaRPr lang="en-US"/>
          </a:p>
        </p:txBody>
      </p:sp>
    </p:spTree>
    <p:extLst>
      <p:ext uri="{BB962C8B-B14F-4D97-AF65-F5344CB8AC3E}">
        <p14:creationId xmlns:p14="http://schemas.microsoft.com/office/powerpoint/2010/main" val="948732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Slide 81 C++ 2011 </a:t>
            </a:r>
            <a:r>
              <a:rPr lang="en-US" dirty="0" err="1" smtClean="0"/>
              <a:t>Dietmar</a:t>
            </a:r>
            <a:r>
              <a:rPr lang="en-US" baseline="0" dirty="0" smtClean="0"/>
              <a:t> </a:t>
            </a:r>
            <a:r>
              <a:rPr lang="en-US" baseline="0" dirty="0" err="1" smtClean="0"/>
              <a:t>Kühl</a:t>
            </a:r>
            <a:r>
              <a:rPr lang="cs-CZ" baseline="0" dirty="0" smtClean="0"/>
              <a:t>, </a:t>
            </a:r>
            <a:r>
              <a:rPr lang="en-US" sz="1200" b="0" i="0" u="none" strike="noStrike" kern="1200" baseline="0" dirty="0" smtClean="0">
                <a:solidFill>
                  <a:schemeClr val="tx1"/>
                </a:solidFill>
                <a:latin typeface="+mn-lt"/>
                <a:ea typeface="+mn-ea"/>
                <a:cs typeface="+mn-cs"/>
              </a:rPr>
              <a:t>Bloomberg L.P.</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Slide 118 of </a:t>
            </a:r>
            <a:r>
              <a:rPr lang="en-US" sz="1200" b="0" i="1" u="none" strike="noStrike" kern="1200" baseline="0" dirty="0" smtClean="0">
                <a:solidFill>
                  <a:schemeClr val="tx1"/>
                </a:solidFill>
                <a:latin typeface="+mn-lt"/>
                <a:ea typeface="+mn-ea"/>
                <a:cs typeface="+mn-cs"/>
              </a:rPr>
              <a:t>Overview of the New C++ (C++0x)</a:t>
            </a:r>
            <a:r>
              <a:rPr lang="en-US" sz="1200" b="0" i="0" u="none" strike="noStrike" kern="1200" baseline="0" dirty="0" smtClean="0">
                <a:solidFill>
                  <a:schemeClr val="tx1"/>
                </a:solidFill>
                <a:latin typeface="+mn-lt"/>
                <a:ea typeface="+mn-ea"/>
                <a:cs typeface="+mn-cs"/>
              </a:rPr>
              <a:t>, Scott Meyers</a:t>
            </a:r>
            <a:endParaRPr lang="en-US" i="0" dirty="0" smtClean="0"/>
          </a:p>
          <a:p>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86</a:t>
            </a:fld>
            <a:endParaRPr lang="en-US"/>
          </a:p>
        </p:txBody>
      </p:sp>
    </p:spTree>
    <p:extLst>
      <p:ext uri="{BB962C8B-B14F-4D97-AF65-F5344CB8AC3E}">
        <p14:creationId xmlns:p14="http://schemas.microsoft.com/office/powerpoint/2010/main" val="4258193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#include &lt;</a:t>
            </a:r>
            <a:r>
              <a:rPr lang="en-US" dirty="0" err="1" smtClean="0"/>
              <a:t>condition_variable</a:t>
            </a:r>
            <a:r>
              <a:rPr lang="en-US" dirty="0" smtClean="0"/>
              <a:t>&gt;</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87</a:t>
            </a:fld>
            <a:endParaRPr lang="en-US"/>
          </a:p>
        </p:txBody>
      </p:sp>
    </p:spTree>
    <p:extLst>
      <p:ext uri="{BB962C8B-B14F-4D97-AF65-F5344CB8AC3E}">
        <p14:creationId xmlns:p14="http://schemas.microsoft.com/office/powerpoint/2010/main" val="26833667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Slide 82 of </a:t>
            </a:r>
            <a:r>
              <a:rPr lang="en-US" i="1" dirty="0" smtClean="0"/>
              <a:t>C++ 2011 </a:t>
            </a:r>
            <a:r>
              <a:rPr lang="en-US" dirty="0" err="1" smtClean="0"/>
              <a:t>Dietmar</a:t>
            </a:r>
            <a:r>
              <a:rPr lang="en-US" baseline="0" dirty="0" smtClean="0"/>
              <a:t> </a:t>
            </a:r>
            <a:r>
              <a:rPr lang="en-US" baseline="0" dirty="0" err="1" smtClean="0"/>
              <a:t>Kühl</a:t>
            </a:r>
            <a:r>
              <a:rPr lang="cs-CZ" baseline="0" dirty="0" smtClean="0"/>
              <a:t>, </a:t>
            </a:r>
            <a:r>
              <a:rPr lang="en-US" sz="1200" b="0" i="0" u="none" strike="noStrike" kern="1200" baseline="0" dirty="0" smtClean="0">
                <a:solidFill>
                  <a:schemeClr val="tx1"/>
                </a:solidFill>
                <a:latin typeface="+mn-lt"/>
                <a:ea typeface="+mn-ea"/>
                <a:cs typeface="+mn-cs"/>
              </a:rPr>
              <a:t>Bloomberg L.P.</a:t>
            </a:r>
          </a:p>
          <a:p>
            <a:r>
              <a:rPr lang="en-US" sz="1200" b="0" i="0" u="none" strike="noStrike" kern="1200" baseline="0" dirty="0" smtClean="0">
                <a:solidFill>
                  <a:schemeClr val="tx1"/>
                </a:solidFill>
                <a:latin typeface="+mn-lt"/>
                <a:ea typeface="+mn-ea"/>
                <a:cs typeface="+mn-cs"/>
              </a:rPr>
              <a:t>Slide 49 of </a:t>
            </a:r>
            <a:r>
              <a:rPr lang="en-US" sz="1200" b="0" i="1" u="none" strike="noStrike" kern="1200" baseline="0" dirty="0" smtClean="0">
                <a:solidFill>
                  <a:schemeClr val="tx1"/>
                </a:solidFill>
                <a:latin typeface="+mn-lt"/>
                <a:ea typeface="+mn-ea"/>
                <a:cs typeface="+mn-cs"/>
              </a:rPr>
              <a:t>Simple C++ (Vol.2)</a:t>
            </a:r>
            <a:r>
              <a:rPr lang="en-US" sz="1200" b="0" i="0" u="none" strike="noStrike" kern="1200" baseline="0" dirty="0" smtClean="0">
                <a:solidFill>
                  <a:schemeClr val="tx1"/>
                </a:solidFill>
                <a:latin typeface="+mn-lt"/>
                <a:ea typeface="+mn-ea"/>
                <a:cs typeface="+mn-cs"/>
              </a:rPr>
              <a:t> ACCU 2012, Prof. Peter </a:t>
            </a:r>
            <a:r>
              <a:rPr lang="en-US" sz="1200" b="0" i="0" u="none" strike="noStrike" kern="1200" baseline="0" dirty="0" err="1" smtClean="0">
                <a:solidFill>
                  <a:schemeClr val="tx1"/>
                </a:solidFill>
                <a:latin typeface="+mn-lt"/>
                <a:ea typeface="+mn-ea"/>
                <a:cs typeface="+mn-cs"/>
              </a:rPr>
              <a:t>Sommerlad</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Slide 118 of </a:t>
            </a:r>
            <a:r>
              <a:rPr lang="en-US" sz="1200" b="0" i="1" u="none" strike="noStrike" kern="1200" baseline="0" dirty="0" smtClean="0">
                <a:solidFill>
                  <a:schemeClr val="tx1"/>
                </a:solidFill>
                <a:latin typeface="+mn-lt"/>
                <a:ea typeface="+mn-ea"/>
                <a:cs typeface="+mn-cs"/>
              </a:rPr>
              <a:t>Overview of the New C++ (C++0x)</a:t>
            </a:r>
            <a:r>
              <a:rPr lang="en-US" sz="1200" b="0" i="0" u="none" strike="noStrike" kern="1200" baseline="0" dirty="0" smtClean="0">
                <a:solidFill>
                  <a:schemeClr val="tx1"/>
                </a:solidFill>
                <a:latin typeface="+mn-lt"/>
                <a:ea typeface="+mn-ea"/>
                <a:cs typeface="+mn-cs"/>
              </a:rPr>
              <a:t>, Scott Meyers</a:t>
            </a:r>
            <a:endParaRPr lang="en-US" i="0" dirty="0"/>
          </a:p>
        </p:txBody>
      </p:sp>
      <p:sp>
        <p:nvSpPr>
          <p:cNvPr id="4" name="Slide Number Placeholder 3"/>
          <p:cNvSpPr>
            <a:spLocks noGrp="1"/>
          </p:cNvSpPr>
          <p:nvPr>
            <p:ph type="sldNum" sz="quarter" idx="10"/>
          </p:nvPr>
        </p:nvSpPr>
        <p:spPr/>
        <p:txBody>
          <a:bodyPr/>
          <a:lstStyle/>
          <a:p>
            <a:fld id="{8ADA1B20-0068-4FE8-9081-524701AD1F50}" type="slidenum">
              <a:rPr lang="en-US" smtClean="0"/>
              <a:t>88</a:t>
            </a:fld>
            <a:endParaRPr lang="en-US"/>
          </a:p>
        </p:txBody>
      </p:sp>
    </p:spTree>
    <p:extLst>
      <p:ext uri="{BB962C8B-B14F-4D97-AF65-F5344CB8AC3E}">
        <p14:creationId xmlns:p14="http://schemas.microsoft.com/office/powerpoint/2010/main" val="1273652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Page 823 </a:t>
            </a:r>
            <a:r>
              <a:rPr lang="en-US" i="1" dirty="0" smtClean="0"/>
              <a:t>Professional</a:t>
            </a:r>
            <a:r>
              <a:rPr lang="en-US" i="1" baseline="0" dirty="0" smtClean="0"/>
              <a:t> C++ 2</a:t>
            </a:r>
            <a:r>
              <a:rPr lang="en-US" i="1" baseline="30000" dirty="0" smtClean="0"/>
              <a:t>nd</a:t>
            </a:r>
            <a:r>
              <a:rPr lang="en-US" i="1" baseline="0" dirty="0" smtClean="0"/>
              <a:t> edition</a:t>
            </a:r>
            <a:r>
              <a:rPr lang="en-US" baseline="0" dirty="0" smtClean="0"/>
              <a:t>, WROX</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Slide 119 of </a:t>
            </a:r>
            <a:r>
              <a:rPr lang="en-US" sz="1200" b="0" i="1" u="none" strike="noStrike" kern="1200" baseline="0" dirty="0" smtClean="0">
                <a:solidFill>
                  <a:schemeClr val="tx1"/>
                </a:solidFill>
                <a:latin typeface="+mn-lt"/>
                <a:ea typeface="+mn-ea"/>
                <a:cs typeface="+mn-cs"/>
              </a:rPr>
              <a:t>Overview of the New C++ (C++0x)</a:t>
            </a:r>
            <a:r>
              <a:rPr lang="en-US" sz="1200" b="0" i="0" u="none" strike="noStrike" kern="1200" baseline="0" dirty="0" smtClean="0">
                <a:solidFill>
                  <a:schemeClr val="tx1"/>
                </a:solidFill>
                <a:latin typeface="+mn-lt"/>
                <a:ea typeface="+mn-ea"/>
                <a:cs typeface="+mn-cs"/>
              </a:rPr>
              <a:t>, Scott Meyers</a:t>
            </a:r>
            <a:endParaRPr lang="en-US" i="0" dirty="0" smtClean="0"/>
          </a:p>
          <a:p>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89</a:t>
            </a:fld>
            <a:endParaRPr lang="en-US"/>
          </a:p>
        </p:txBody>
      </p:sp>
    </p:spTree>
    <p:extLst>
      <p:ext uri="{BB962C8B-B14F-4D97-AF65-F5344CB8AC3E}">
        <p14:creationId xmlns:p14="http://schemas.microsoft.com/office/powerpoint/2010/main" val="37986463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http://www.youtube.com/watch?list=PL1835A90FC78FF8BE&amp;v=309Y-QlIvew&amp;feature=player_detailpage#t=24s</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90</a:t>
            </a:fld>
            <a:endParaRPr lang="en-US"/>
          </a:p>
        </p:txBody>
      </p:sp>
    </p:spTree>
    <p:extLst>
      <p:ext uri="{BB962C8B-B14F-4D97-AF65-F5344CB8AC3E}">
        <p14:creationId xmlns:p14="http://schemas.microsoft.com/office/powerpoint/2010/main" val="17859622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Give a code sample for </a:t>
            </a:r>
            <a:r>
              <a:rPr lang="en-US" dirty="0" err="1" smtClean="0"/>
              <a:t>notify_all</a:t>
            </a:r>
            <a:r>
              <a:rPr lang="en-US" dirty="0" smtClean="0"/>
              <a:t>:</a:t>
            </a:r>
          </a:p>
          <a:p>
            <a:r>
              <a:rPr lang="en-US" dirty="0" smtClean="0"/>
              <a:t>One</a:t>
            </a:r>
            <a:r>
              <a:rPr lang="en-US" baseline="0" dirty="0" smtClean="0"/>
              <a:t> producer, </a:t>
            </a:r>
            <a:r>
              <a:rPr lang="en-US" baseline="0" smtClean="0"/>
              <a:t>multiple consumers.</a:t>
            </a:r>
            <a:endParaRPr lang="en-US"/>
          </a:p>
        </p:txBody>
      </p:sp>
      <p:sp>
        <p:nvSpPr>
          <p:cNvPr id="4" name="Slide Number Placeholder 3"/>
          <p:cNvSpPr>
            <a:spLocks noGrp="1"/>
          </p:cNvSpPr>
          <p:nvPr>
            <p:ph type="sldNum" sz="quarter" idx="10"/>
          </p:nvPr>
        </p:nvSpPr>
        <p:spPr/>
        <p:txBody>
          <a:bodyPr/>
          <a:lstStyle/>
          <a:p>
            <a:fld id="{8ADA1B20-0068-4FE8-9081-524701AD1F50}" type="slidenum">
              <a:rPr lang="en-US" smtClean="0"/>
              <a:t>93</a:t>
            </a:fld>
            <a:endParaRPr lang="en-US"/>
          </a:p>
        </p:txBody>
      </p:sp>
    </p:spTree>
    <p:extLst>
      <p:ext uri="{BB962C8B-B14F-4D97-AF65-F5344CB8AC3E}">
        <p14:creationId xmlns:p14="http://schemas.microsoft.com/office/powerpoint/2010/main" val="36179824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 is unspecified, how many times the predicate will be tested (due to spurious wakeups). Therefore it should have no side-effect.</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98</a:t>
            </a:fld>
            <a:endParaRPr lang="en-US"/>
          </a:p>
        </p:txBody>
      </p:sp>
    </p:spTree>
    <p:extLst>
      <p:ext uri="{BB962C8B-B14F-4D97-AF65-F5344CB8AC3E}">
        <p14:creationId xmlns:p14="http://schemas.microsoft.com/office/powerpoint/2010/main" val="35240471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to return object from</a:t>
            </a:r>
            <a:r>
              <a:rPr lang="en-US" baseline="0" dirty="0" smtClean="0"/>
              <a:t> </a:t>
            </a:r>
            <a:r>
              <a:rPr lang="en-US" dirty="0" smtClean="0"/>
              <a:t>receive method is discussed here:</a:t>
            </a:r>
            <a:r>
              <a:rPr lang="en-US" baseline="0" dirty="0" smtClean="0"/>
              <a:t> page 43 “C++ </a:t>
            </a:r>
            <a:r>
              <a:rPr lang="en-US" baseline="0" dirty="0" err="1" smtClean="0"/>
              <a:t>Concurency</a:t>
            </a:r>
            <a:r>
              <a:rPr lang="en-US" baseline="0" dirty="0" smtClean="0"/>
              <a:t> in Action” by Anthony </a:t>
            </a:r>
            <a:r>
              <a:rPr lang="en-US" baseline="0" dirty="0" err="1" smtClean="0"/>
              <a:t>Wiliams</a:t>
            </a:r>
            <a:endParaRPr lang="en-US" baseline="0" dirty="0" smtClean="0"/>
          </a:p>
          <a:p>
            <a:r>
              <a:rPr lang="en-US" baseline="0" dirty="0" smtClean="0"/>
              <a:t>UDT = User Defined Type</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99</a:t>
            </a:fld>
            <a:endParaRPr lang="en-US"/>
          </a:p>
        </p:txBody>
      </p:sp>
    </p:spTree>
    <p:extLst>
      <p:ext uri="{BB962C8B-B14F-4D97-AF65-F5344CB8AC3E}">
        <p14:creationId xmlns:p14="http://schemas.microsoft.com/office/powerpoint/2010/main" val="1293843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Page 825 </a:t>
            </a:r>
            <a:r>
              <a:rPr lang="en-US" i="1" dirty="0" smtClean="0"/>
              <a:t>Professional</a:t>
            </a:r>
            <a:r>
              <a:rPr lang="en-US" i="1" baseline="0" dirty="0" smtClean="0"/>
              <a:t> C++ 2</a:t>
            </a:r>
            <a:r>
              <a:rPr lang="en-US" i="1" baseline="30000" dirty="0" smtClean="0"/>
              <a:t>nd</a:t>
            </a:r>
            <a:r>
              <a:rPr lang="en-US" i="1" baseline="0" dirty="0" smtClean="0"/>
              <a:t> edition</a:t>
            </a:r>
            <a:r>
              <a:rPr lang="en-US" baseline="0" dirty="0" smtClean="0"/>
              <a:t>, WROX</a:t>
            </a:r>
          </a:p>
          <a:p>
            <a:r>
              <a:rPr lang="en-US" b="0" i="1" dirty="0" smtClean="0"/>
              <a:t>N3070 - Handling Detached Threads </a:t>
            </a:r>
            <a:r>
              <a:rPr lang="en-US" baseline="0" dirty="0" smtClean="0"/>
              <a:t>http://www.open-std.org/jtc1/sc22/wg21/docs/papers/2010/n3070.html</a:t>
            </a:r>
          </a:p>
          <a:p>
            <a:r>
              <a:rPr lang="en-US" dirty="0" smtClean="0"/>
              <a:t>http://www.stdthread.co.uk/doc/headers/condition_variable/condition_variable/notify_all_at_thread_exit.html</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100</a:t>
            </a:fld>
            <a:endParaRPr lang="en-US"/>
          </a:p>
        </p:txBody>
      </p:sp>
    </p:spTree>
    <p:extLst>
      <p:ext uri="{BB962C8B-B14F-4D97-AF65-F5344CB8AC3E}">
        <p14:creationId xmlns:p14="http://schemas.microsoft.com/office/powerpoint/2010/main" val="2969970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Page 802 </a:t>
            </a:r>
            <a:r>
              <a:rPr lang="en-US" i="1" dirty="0" smtClean="0"/>
              <a:t>Professional</a:t>
            </a:r>
            <a:r>
              <a:rPr lang="en-US" i="1" baseline="0" dirty="0" smtClean="0"/>
              <a:t> C++ 2</a:t>
            </a:r>
            <a:r>
              <a:rPr lang="en-US" i="1" baseline="30000" dirty="0" smtClean="0"/>
              <a:t>nd</a:t>
            </a:r>
            <a:r>
              <a:rPr lang="en-US" i="1" baseline="0" dirty="0" smtClean="0"/>
              <a:t> edition</a:t>
            </a:r>
            <a:r>
              <a:rPr lang="en-US" baseline="0" dirty="0" smtClean="0"/>
              <a:t>, WROX</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Slide 83 of </a:t>
            </a:r>
            <a:r>
              <a:rPr lang="en-US" i="1" baseline="0" dirty="0" smtClean="0"/>
              <a:t>C++ 2011</a:t>
            </a:r>
            <a:r>
              <a:rPr lang="en-US" baseline="0" dirty="0" smtClean="0"/>
              <a:t> </a:t>
            </a:r>
            <a:r>
              <a:rPr lang="en-US" baseline="0" dirty="0" err="1" smtClean="0"/>
              <a:t>Dietmar</a:t>
            </a:r>
            <a:r>
              <a:rPr lang="en-US" baseline="0" dirty="0" smtClean="0"/>
              <a:t> </a:t>
            </a:r>
            <a:r>
              <a:rPr lang="en-US" baseline="0" dirty="0" err="1" smtClean="0"/>
              <a:t>Kühl</a:t>
            </a:r>
            <a:r>
              <a:rPr lang="en-US" baseline="0" dirty="0" smtClean="0"/>
              <a:t>, Bloomberg L.P.</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page 107 “C++ </a:t>
            </a:r>
            <a:r>
              <a:rPr lang="en-US" baseline="0" dirty="0" err="1" smtClean="0"/>
              <a:t>Concurency</a:t>
            </a:r>
            <a:r>
              <a:rPr lang="en-US" baseline="0" dirty="0" smtClean="0"/>
              <a:t> in Action” by Anthony </a:t>
            </a:r>
            <a:r>
              <a:rPr lang="en-US" baseline="0" dirty="0" err="1" smtClean="0"/>
              <a:t>Wiliams</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8ADA1B20-0068-4FE8-9081-524701AD1F50}" type="slidenum">
              <a:rPr lang="en-US" smtClean="0"/>
              <a:t>101</a:t>
            </a:fld>
            <a:endParaRPr lang="en-US"/>
          </a:p>
        </p:txBody>
      </p:sp>
    </p:spTree>
    <p:extLst>
      <p:ext uri="{BB962C8B-B14F-4D97-AF65-F5344CB8AC3E}">
        <p14:creationId xmlns:p14="http://schemas.microsoft.com/office/powerpoint/2010/main" val="24672195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#include &lt;atomic&gt;</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102</a:t>
            </a:fld>
            <a:endParaRPr lang="en-US"/>
          </a:p>
        </p:txBody>
      </p:sp>
    </p:spTree>
    <p:extLst>
      <p:ext uri="{BB962C8B-B14F-4D97-AF65-F5344CB8AC3E}">
        <p14:creationId xmlns:p14="http://schemas.microsoft.com/office/powerpoint/2010/main" val="23426040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C11 compatibility</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103</a:t>
            </a:fld>
            <a:endParaRPr lang="en-US"/>
          </a:p>
        </p:txBody>
      </p:sp>
    </p:spTree>
    <p:extLst>
      <p:ext uri="{BB962C8B-B14F-4D97-AF65-F5344CB8AC3E}">
        <p14:creationId xmlns:p14="http://schemas.microsoft.com/office/powerpoint/2010/main" val="38207522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u="sng" kern="1200" dirty="0" smtClean="0">
                <a:solidFill>
                  <a:schemeClr val="tx1"/>
                </a:solidFill>
                <a:effectLst/>
                <a:latin typeface="+mn-lt"/>
                <a:ea typeface="+mn-ea"/>
                <a:cs typeface="+mn-cs"/>
                <a:hlinkClick r:id="rId3"/>
              </a:rPr>
              <a:t>http://en.cppreference.com/w/cpp/atomic/memory_order</a:t>
            </a:r>
            <a:endParaRPr lang="en-US" dirty="0"/>
          </a:p>
        </p:txBody>
      </p:sp>
      <p:sp>
        <p:nvSpPr>
          <p:cNvPr id="4" name="Slide Number Placeholder 3"/>
          <p:cNvSpPr>
            <a:spLocks noGrp="1"/>
          </p:cNvSpPr>
          <p:nvPr>
            <p:ph type="sldNum" sz="quarter" idx="10"/>
          </p:nvPr>
        </p:nvSpPr>
        <p:spPr/>
        <p:txBody>
          <a:bodyPr/>
          <a:lstStyle/>
          <a:p>
            <a:fld id="{8ADA1B20-0068-4FE8-9081-524701AD1F50}" type="slidenum">
              <a:rPr lang="en-US" smtClean="0"/>
              <a:t>104</a:t>
            </a:fld>
            <a:endParaRPr lang="en-US"/>
          </a:p>
        </p:txBody>
      </p:sp>
    </p:spTree>
    <p:extLst>
      <p:ext uri="{BB962C8B-B14F-4D97-AF65-F5344CB8AC3E}">
        <p14:creationId xmlns:p14="http://schemas.microsoft.com/office/powerpoint/2010/main" val="4255623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cs-CZ" smtClean="0"/>
              <a:t>19.1.2014</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cs-CZ" smtClean="0"/>
              <a:t>19.1.2014</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cs-CZ" smtClean="0"/>
              <a:t>19.1.2014</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1400">
                <a:latin typeface="Courier New" pitchFamily="49" charset="0"/>
                <a:cs typeface="Courier New" pitchFamily="49" charset="0"/>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2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cs-CZ" smtClean="0"/>
              <a:t>19.1.2014</a:t>
            </a:r>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cs-CZ" smtClean="0"/>
              <a:t>19.1.2014</a:t>
            </a:r>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cs-CZ" smtClean="0"/>
              <a:t>19.1.2014</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cs-CZ" smtClean="0"/>
              <a:t>19.1.2014</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cs-CZ" smtClean="0"/>
              <a:t>19.1.2014</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cs-CZ" smtClean="0"/>
              <a:t>19.1.2014</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cs-CZ" smtClean="0"/>
              <a:t>19.1.2014</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smtClean="0"/>
              <a:t>19.1.2014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bartoszmilewski.com/2009/03/03/broken-promises-c0x-futures/" TargetMode="External"/><Relationship Id="rId7" Type="http://schemas.openxmlformats.org/officeDocument/2006/relationships/hyperlink" Target="http://www.justsoftwaresolutions.co.uk/threading/multithreading-in-c++0x-part-1-starting-threads.html" TargetMode="External"/><Relationship Id="rId2" Type="http://schemas.openxmlformats.org/officeDocument/2006/relationships/hyperlink" Target="http://akrzemi1.wordpress.com/2012/11/14/not-using-stdthread/" TargetMode="External"/><Relationship Id="rId1" Type="http://schemas.openxmlformats.org/officeDocument/2006/relationships/slideLayout" Target="../slideLayouts/slideLayout2.xml"/><Relationship Id="rId6" Type="http://schemas.openxmlformats.org/officeDocument/2006/relationships/hyperlink" Target="http://www.baptiste-wicht.com/series/cpp11-concurrency-tutorial/" TargetMode="External"/><Relationship Id="rId5" Type="http://schemas.openxmlformats.org/officeDocument/2006/relationships/hyperlink" Target="http://stackoverflow.com/questions/11004273/what-is-stdpromise" TargetMode="External"/><Relationship Id="rId4" Type="http://schemas.openxmlformats.org/officeDocument/2006/relationships/hyperlink" Target="http://bartoszmilewski.com/2012/05/11/the-future-of-c-concurrency-and-parallelism/" TargetMode="External"/></Relationships>
</file>

<file path=ppt/slides/_rels/slide108.xml.rels><?xml version="1.0" encoding="UTF-8" standalone="yes"?>
<Relationships xmlns="http://schemas.openxmlformats.org/package/2006/relationships"><Relationship Id="rId3" Type="http://schemas.openxmlformats.org/officeDocument/2006/relationships/hyperlink" Target="http://channel9.msdn.com/Shows/Going+Deep/C-and-Beyond-2012-Herb-Sutter-Concurrency-and-Parallelism" TargetMode="External"/><Relationship Id="rId2" Type="http://schemas.openxmlformats.org/officeDocument/2006/relationships/hyperlink" Target="http://channel9.msdn.com/Events/GoingNative/GoingNative-2012/Threads-and-Shared-Variables-in-C-11" TargetMode="External"/><Relationship Id="rId1" Type="http://schemas.openxmlformats.org/officeDocument/2006/relationships/slideLayout" Target="../slideLayouts/slideLayout2.xml"/><Relationship Id="rId5" Type="http://schemas.openxmlformats.org/officeDocument/2006/relationships/hyperlink" Target="http://www.youtube.com/playlist?list=PL1835A90FC78FF8BE" TargetMode="External"/><Relationship Id="rId4" Type="http://schemas.openxmlformats.org/officeDocument/2006/relationships/hyperlink" Target="http://www.youtube.com/watch?v=LQ0n9TQ2gNo&amp;feature=player_detailpag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C++ 11 Thread library</a:t>
            </a:r>
            <a:endParaRPr lang="en-US" dirty="0"/>
          </a:p>
        </p:txBody>
      </p:sp>
      <p:sp>
        <p:nvSpPr>
          <p:cNvPr id="3" name="Subtitle 2"/>
          <p:cNvSpPr>
            <a:spLocks noGrp="1"/>
          </p:cNvSpPr>
          <p:nvPr>
            <p:ph type="subTitle" idx="1"/>
          </p:nvPr>
        </p:nvSpPr>
        <p:spPr/>
        <p:txBody>
          <a:bodyPr/>
          <a:lstStyle/>
          <a:p>
            <a:r>
              <a:rPr lang="en-US" dirty="0" smtClean="0"/>
              <a:t>Petr </a:t>
            </a:r>
            <a:r>
              <a:rPr lang="en-US" dirty="0" err="1" smtClean="0"/>
              <a:t>Krul</a:t>
            </a:r>
            <a:r>
              <a:rPr lang="cs-CZ" dirty="0" smtClean="0"/>
              <a:t>ík</a:t>
            </a:r>
            <a:endParaRPr lang="en-US" dirty="0" smtClean="0"/>
          </a:p>
          <a:p>
            <a:r>
              <a:rPr lang="en-US" dirty="0" smtClean="0"/>
              <a:t>petr.krulik@gopas.cz</a:t>
            </a:r>
            <a:endParaRPr lang="cs-CZ" dirty="0" smtClean="0"/>
          </a:p>
          <a:p>
            <a:r>
              <a:rPr lang="cs-CZ" dirty="0" smtClean="0"/>
              <a:t>13.3.2012</a:t>
            </a:r>
            <a:endParaRPr lang="en-US" dirty="0"/>
          </a:p>
        </p:txBody>
      </p:sp>
    </p:spTree>
    <p:extLst>
      <p:ext uri="{BB962C8B-B14F-4D97-AF65-F5344CB8AC3E}">
        <p14:creationId xmlns:p14="http://schemas.microsoft.com/office/powerpoint/2010/main" val="8386168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libraries</a:t>
            </a:r>
            <a:endParaRPr lang="en-US" dirty="0"/>
          </a:p>
        </p:txBody>
      </p:sp>
      <p:sp>
        <p:nvSpPr>
          <p:cNvPr id="3" name="Content Placeholder 2"/>
          <p:cNvSpPr>
            <a:spLocks noGrp="1"/>
          </p:cNvSpPr>
          <p:nvPr>
            <p:ph idx="1"/>
          </p:nvPr>
        </p:nvSpPr>
        <p:spPr/>
        <p:txBody>
          <a:bodyPr/>
          <a:lstStyle/>
          <a:p>
            <a:r>
              <a:rPr lang="en-US" dirty="0" err="1" smtClean="0"/>
              <a:t>pthreads</a:t>
            </a:r>
            <a:r>
              <a:rPr lang="en-US" dirty="0" smtClean="0"/>
              <a:t> – POSIX threads, C language</a:t>
            </a:r>
          </a:p>
          <a:p>
            <a:r>
              <a:rPr lang="en-US" dirty="0" err="1" smtClean="0"/>
              <a:t>OpenMP</a:t>
            </a:r>
            <a:r>
              <a:rPr lang="en-US" dirty="0" smtClean="0"/>
              <a:t> – Fortran, C, C++</a:t>
            </a:r>
          </a:p>
          <a:p>
            <a:r>
              <a:rPr lang="en-US" dirty="0" smtClean="0"/>
              <a:t>Intel Threading Building Blocks (TBB)</a:t>
            </a:r>
          </a:p>
          <a:p>
            <a:r>
              <a:rPr lang="en-US" dirty="0" smtClean="0"/>
              <a:t>Microsoft Parallel Patterns Library</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620132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volatile keyword</a:t>
            </a: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dirty="0"/>
              <a:t>David </a:t>
            </a:r>
            <a:r>
              <a:rPr lang="en-US" dirty="0" err="1" smtClean="0"/>
              <a:t>Butenhof</a:t>
            </a:r>
            <a:r>
              <a:rPr lang="en-US" dirty="0" smtClean="0"/>
              <a:t>: The </a:t>
            </a:r>
            <a:r>
              <a:rPr lang="en-US" dirty="0"/>
              <a:t>use of volatile accomplishes nothing but to prevent the compiler from making useful and desirable optimizations, providing no help whatsoever in making code 'thread </a:t>
            </a:r>
            <a:r>
              <a:rPr lang="en-US" dirty="0" smtClean="0"/>
              <a:t>safe‘.</a:t>
            </a:r>
          </a:p>
          <a:p>
            <a:pPr marL="0" indent="0">
              <a:buNone/>
            </a:pPr>
            <a:endParaRPr lang="en-US" dirty="0"/>
          </a:p>
          <a:p>
            <a:r>
              <a:rPr lang="en-US" dirty="0" smtClean="0"/>
              <a:t>It does not ensure atomicity!</a:t>
            </a:r>
          </a:p>
          <a:p>
            <a:r>
              <a:rPr lang="en-US" dirty="0" smtClean="0"/>
              <a:t>It does not ensure memory consistency (order of a thread’s operations as seen by another thread).</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2212490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a:spLocks noGrp="1"/>
          </p:cNvSpPr>
          <p:nvPr>
            <p:ph type="title"/>
          </p:nvPr>
        </p:nvSpPr>
        <p:spPr/>
        <p:txBody>
          <a:bodyPr/>
          <a:lstStyle/>
          <a:p>
            <a:r>
              <a:rPr lang="en-US" dirty="0" smtClean="0"/>
              <a:t>New h</a:t>
            </a:r>
            <a:r>
              <a:rPr lang="cs-CZ" dirty="0" smtClean="0"/>
              <a:t>eader files</a:t>
            </a:r>
            <a:endParaRPr lang="en-US" dirty="0"/>
          </a:p>
        </p:txBody>
      </p:sp>
      <p:graphicFrame>
        <p:nvGraphicFramePr>
          <p:cNvPr id="24" name="Content Placeholder 23"/>
          <p:cNvGraphicFramePr>
            <a:graphicFrameLocks noGrp="1"/>
          </p:cNvGraphicFramePr>
          <p:nvPr>
            <p:ph idx="1"/>
            <p:extLst>
              <p:ext uri="{D42A27DB-BD31-4B8C-83A1-F6EECF244321}">
                <p14:modId xmlns:p14="http://schemas.microsoft.com/office/powerpoint/2010/main" val="143681879"/>
              </p:ext>
            </p:extLst>
          </p:nvPr>
        </p:nvGraphicFramePr>
        <p:xfrm>
          <a:off x="457200" y="1600200"/>
          <a:ext cx="8229600" cy="2225040"/>
        </p:xfrm>
        <a:graphic>
          <a:graphicData uri="http://schemas.openxmlformats.org/drawingml/2006/table">
            <a:tbl>
              <a:tblPr firstRow="1" bandRow="1">
                <a:tableStyleId>{5940675A-B579-460E-94D1-54222C63F5DA}</a:tableStyleId>
              </a:tblPr>
              <a:tblGrid>
                <a:gridCol w="2362200"/>
                <a:gridCol w="5867400"/>
              </a:tblGrid>
              <a:tr h="370840">
                <a:tc>
                  <a:txBody>
                    <a:bodyPr/>
                    <a:lstStyle/>
                    <a:p>
                      <a:r>
                        <a:rPr lang="en-US" dirty="0" smtClean="0"/>
                        <a:t>&lt;thread&gt;</a:t>
                      </a:r>
                      <a:endParaRPr lang="en-US" dirty="0"/>
                    </a:p>
                  </a:txBody>
                  <a:tcPr/>
                </a:tc>
                <a:tc>
                  <a:txBody>
                    <a:bodyPr/>
                    <a:lstStyle/>
                    <a:p>
                      <a:r>
                        <a:rPr lang="en-US" dirty="0" err="1" smtClean="0"/>
                        <a:t>std</a:t>
                      </a:r>
                      <a:r>
                        <a:rPr lang="en-US" dirty="0" smtClean="0"/>
                        <a:t>::thread class, </a:t>
                      </a:r>
                      <a:r>
                        <a:rPr lang="en-US" dirty="0" err="1" smtClean="0"/>
                        <a:t>std</a:t>
                      </a:r>
                      <a:r>
                        <a:rPr lang="en-US" dirty="0" smtClean="0"/>
                        <a:t>::</a:t>
                      </a:r>
                      <a:r>
                        <a:rPr lang="en-US" dirty="0" err="1" smtClean="0"/>
                        <a:t>this_thread</a:t>
                      </a:r>
                      <a:r>
                        <a:rPr lang="en-US" dirty="0" smtClean="0"/>
                        <a:t> namespace</a:t>
                      </a:r>
                      <a:endParaRPr lang="en-US" dirty="0"/>
                    </a:p>
                  </a:txBody>
                  <a:tcPr/>
                </a:tc>
              </a:tr>
              <a:tr h="370840">
                <a:tc>
                  <a:txBody>
                    <a:bodyPr/>
                    <a:lstStyle/>
                    <a:p>
                      <a:r>
                        <a:rPr lang="en-US" dirty="0" smtClean="0"/>
                        <a:t>&lt;mutex&gt;</a:t>
                      </a:r>
                      <a:endParaRPr lang="en-US" dirty="0"/>
                    </a:p>
                  </a:txBody>
                  <a:tcPr/>
                </a:tc>
                <a:tc>
                  <a:txBody>
                    <a:bodyPr/>
                    <a:lstStyle/>
                    <a:p>
                      <a:r>
                        <a:rPr lang="en-US" dirty="0" smtClean="0"/>
                        <a:t>Synchronizing: mutex, lock</a:t>
                      </a:r>
                      <a:r>
                        <a:rPr lang="en-US" baseline="0" dirty="0" smtClean="0"/>
                        <a:t> classes</a:t>
                      </a:r>
                      <a:endParaRPr lang="en-US" dirty="0"/>
                    </a:p>
                  </a:txBody>
                  <a:tcPr/>
                </a:tc>
              </a:tr>
              <a:tr h="370840">
                <a:tc>
                  <a:txBody>
                    <a:bodyPr/>
                    <a:lstStyle/>
                    <a:p>
                      <a:r>
                        <a:rPr lang="en-US" dirty="0" smtClean="0"/>
                        <a:t>&lt;</a:t>
                      </a:r>
                      <a:r>
                        <a:rPr lang="en-US" dirty="0" err="1" smtClean="0"/>
                        <a:t>condition_variable</a:t>
                      </a:r>
                      <a:r>
                        <a:rPr lang="en-US" dirty="0" smtClean="0"/>
                        <a:t>&gt;</a:t>
                      </a:r>
                      <a:endParaRPr lang="en-US" dirty="0"/>
                    </a:p>
                  </a:txBody>
                  <a:tcPr/>
                </a:tc>
                <a:tc>
                  <a:txBody>
                    <a:bodyPr/>
                    <a:lstStyle/>
                    <a:p>
                      <a:r>
                        <a:rPr lang="en-US" dirty="0" smtClean="0"/>
                        <a:t>Signaling  events.</a:t>
                      </a:r>
                      <a:endParaRPr lang="en-US" dirty="0"/>
                    </a:p>
                  </a:txBody>
                  <a:tcPr/>
                </a:tc>
              </a:tr>
              <a:tr h="370840">
                <a:tc>
                  <a:txBody>
                    <a:bodyPr/>
                    <a:lstStyle/>
                    <a:p>
                      <a:r>
                        <a:rPr lang="en-US" dirty="0" smtClean="0"/>
                        <a:t>&lt;future&gt;</a:t>
                      </a:r>
                      <a:endParaRPr lang="en-US" dirty="0"/>
                    </a:p>
                  </a:txBody>
                  <a:tcPr/>
                </a:tc>
                <a:tc>
                  <a:txBody>
                    <a:bodyPr/>
                    <a:lstStyle/>
                    <a:p>
                      <a:r>
                        <a:rPr lang="en-US" dirty="0" smtClean="0"/>
                        <a:t>Asynchronous </a:t>
                      </a:r>
                      <a:r>
                        <a:rPr lang="en-US" baseline="0" dirty="0" smtClean="0"/>
                        <a:t>values.</a:t>
                      </a:r>
                      <a:endParaRPr lang="en-US" dirty="0"/>
                    </a:p>
                  </a:txBody>
                  <a:tcPr/>
                </a:tc>
              </a:tr>
              <a:tr h="370840">
                <a:tc>
                  <a:txBody>
                    <a:bodyPr/>
                    <a:lstStyle/>
                    <a:p>
                      <a:r>
                        <a:rPr lang="en-US" dirty="0" smtClean="0"/>
                        <a:t>&lt;</a:t>
                      </a:r>
                      <a:r>
                        <a:rPr lang="en-US" dirty="0" err="1" smtClean="0"/>
                        <a:t>chrono</a:t>
                      </a:r>
                      <a:r>
                        <a:rPr lang="en-US" dirty="0" smtClean="0"/>
                        <a:t>&gt;</a:t>
                      </a:r>
                      <a:endParaRPr lang="en-US" dirty="0"/>
                    </a:p>
                  </a:txBody>
                  <a:tcPr/>
                </a:tc>
                <a:tc>
                  <a:txBody>
                    <a:bodyPr/>
                    <a:lstStyle/>
                    <a:p>
                      <a:r>
                        <a:rPr lang="en-US" dirty="0" smtClean="0"/>
                        <a:t>Time facilities.</a:t>
                      </a:r>
                      <a:endParaRPr lang="en-US" dirty="0"/>
                    </a:p>
                  </a:txBody>
                  <a:tcPr/>
                </a:tc>
              </a:tr>
              <a:tr h="370840">
                <a:tc>
                  <a:txBody>
                    <a:bodyPr/>
                    <a:lstStyle/>
                    <a:p>
                      <a:r>
                        <a:rPr lang="en-US" dirty="0" smtClean="0"/>
                        <a:t>&lt;atomic&gt;</a:t>
                      </a:r>
                      <a:endParaRPr lang="en-US" dirty="0"/>
                    </a:p>
                  </a:txBody>
                  <a:tcPr/>
                </a:tc>
                <a:tc>
                  <a:txBody>
                    <a:bodyPr/>
                    <a:lstStyle/>
                    <a:p>
                      <a:r>
                        <a:rPr lang="en-US" dirty="0" smtClean="0"/>
                        <a:t>Atomic types</a:t>
                      </a:r>
                      <a:endParaRPr lang="en-US" dirty="0"/>
                    </a:p>
                  </a:txBody>
                  <a:tcPr/>
                </a:tc>
              </a:tr>
            </a:tbl>
          </a:graphicData>
        </a:graphic>
      </p:graphicFrame>
      <p:sp>
        <p:nvSpPr>
          <p:cNvPr id="4" name="Content Placeholder 2"/>
          <p:cNvSpPr txBox="1">
            <a:spLocks/>
          </p:cNvSpPr>
          <p:nvPr/>
        </p:nvSpPr>
        <p:spPr>
          <a:xfrm>
            <a:off x="457200" y="4019550"/>
            <a:ext cx="8229600" cy="210661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Available in Visual Studio 2012</a:t>
            </a:r>
          </a:p>
          <a:p>
            <a:r>
              <a:rPr lang="en-US" dirty="0" smtClean="0"/>
              <a:t>GCC (since version 4.7)</a:t>
            </a:r>
          </a:p>
          <a:p>
            <a:r>
              <a:rPr lang="en-US" dirty="0" smtClean="0"/>
              <a:t>just::thread library for older Visual Studio (not free</a:t>
            </a:r>
            <a:r>
              <a:rPr lang="en-US" dirty="0"/>
              <a:t>)</a:t>
            </a:r>
            <a:endParaRPr lang="en-US" dirty="0" smtClean="0"/>
          </a:p>
        </p:txBody>
      </p:sp>
      <p:sp>
        <p:nvSpPr>
          <p:cNvPr id="2" name="Date Placeholder 1"/>
          <p:cNvSpPr>
            <a:spLocks noGrp="1"/>
          </p:cNvSpPr>
          <p:nvPr>
            <p:ph type="dt" sz="half" idx="10"/>
          </p:nvPr>
        </p:nvSpPr>
        <p:spPr/>
        <p:txBody>
          <a:bodyPr/>
          <a:lstStyle/>
          <a:p>
            <a:r>
              <a:rPr lang="cs-CZ" smtClean="0"/>
              <a:t>19.1.2014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7527041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this_thread</a:t>
            </a:r>
            <a:r>
              <a:rPr lang="en-US" dirty="0" smtClean="0"/>
              <a:t> namespace</a:t>
            </a:r>
            <a:endParaRPr lang="en-US" dirty="0"/>
          </a:p>
        </p:txBody>
      </p:sp>
      <p:sp>
        <p:nvSpPr>
          <p:cNvPr id="3" name="Content Placeholder 2"/>
          <p:cNvSpPr>
            <a:spLocks noGrp="1"/>
          </p:cNvSpPr>
          <p:nvPr>
            <p:ph idx="1"/>
          </p:nvPr>
        </p:nvSpPr>
        <p:spPr/>
        <p:txBody>
          <a:bodyPr>
            <a:normAutofit fontScale="92500" lnSpcReduction="20000"/>
          </a:bodyPr>
          <a:lstStyle/>
          <a:p>
            <a:r>
              <a:rPr lang="en-US" dirty="0" err="1"/>
              <a:t>std</a:t>
            </a:r>
            <a:r>
              <a:rPr lang="en-US" dirty="0"/>
              <a:t>::</a:t>
            </a:r>
            <a:r>
              <a:rPr lang="en-US" dirty="0" err="1"/>
              <a:t>this_thread</a:t>
            </a:r>
            <a:r>
              <a:rPr lang="en-US" dirty="0"/>
              <a:t>::</a:t>
            </a:r>
            <a:r>
              <a:rPr lang="en-US" dirty="0" err="1"/>
              <a:t>get_id</a:t>
            </a:r>
            <a:r>
              <a:rPr lang="en-US" dirty="0" smtClean="0"/>
              <a:t>()</a:t>
            </a:r>
          </a:p>
          <a:p>
            <a:pPr marL="457200" lvl="1" indent="0">
              <a:buNone/>
            </a:pPr>
            <a:r>
              <a:rPr lang="en-US" dirty="0" smtClean="0"/>
              <a:t>Returns unique thread </a:t>
            </a:r>
            <a:r>
              <a:rPr lang="en-US" dirty="0" err="1" smtClean="0"/>
              <a:t>identificator</a:t>
            </a:r>
            <a:r>
              <a:rPr lang="en-US" dirty="0" smtClean="0"/>
              <a:t>.</a:t>
            </a:r>
          </a:p>
          <a:p>
            <a:r>
              <a:rPr lang="en-US" dirty="0" err="1" smtClean="0"/>
              <a:t>std</a:t>
            </a:r>
            <a:r>
              <a:rPr lang="en-US" dirty="0" smtClean="0"/>
              <a:t>::</a:t>
            </a:r>
            <a:r>
              <a:rPr lang="en-US" dirty="0" err="1" smtClean="0"/>
              <a:t>this_thread</a:t>
            </a:r>
            <a:r>
              <a:rPr lang="en-US" dirty="0" smtClean="0"/>
              <a:t>::</a:t>
            </a:r>
            <a:r>
              <a:rPr lang="en-US" dirty="0" err="1" smtClean="0"/>
              <a:t>sleep_for</a:t>
            </a:r>
            <a:endParaRPr lang="en-US" dirty="0" smtClean="0"/>
          </a:p>
          <a:p>
            <a:r>
              <a:rPr lang="en-US" dirty="0" err="1" smtClean="0"/>
              <a:t>std</a:t>
            </a:r>
            <a:r>
              <a:rPr lang="en-US" dirty="0" smtClean="0"/>
              <a:t>::</a:t>
            </a:r>
            <a:r>
              <a:rPr lang="en-US" dirty="0" err="1" smtClean="0"/>
              <a:t>this_thread</a:t>
            </a:r>
            <a:r>
              <a:rPr lang="en-US" dirty="0" smtClean="0"/>
              <a:t>::</a:t>
            </a:r>
            <a:r>
              <a:rPr lang="en-US" dirty="0" err="1" smtClean="0"/>
              <a:t>sleep_until</a:t>
            </a:r>
            <a:endParaRPr lang="en-US" dirty="0" smtClean="0"/>
          </a:p>
          <a:p>
            <a:pPr marL="457200" lvl="1" indent="0">
              <a:buNone/>
            </a:pPr>
            <a:r>
              <a:rPr lang="en-US" dirty="0"/>
              <a:t>Blocks the execution of the current thread for </a:t>
            </a:r>
            <a:r>
              <a:rPr lang="en-US" i="1" dirty="0"/>
              <a:t>at least</a:t>
            </a:r>
            <a:r>
              <a:rPr lang="en-US" dirty="0"/>
              <a:t> the specified </a:t>
            </a:r>
            <a:r>
              <a:rPr lang="en-US" dirty="0" smtClean="0"/>
              <a:t>time.</a:t>
            </a:r>
          </a:p>
          <a:p>
            <a:r>
              <a:rPr lang="en-US" dirty="0" err="1"/>
              <a:t>std</a:t>
            </a:r>
            <a:r>
              <a:rPr lang="en-US" dirty="0"/>
              <a:t>::</a:t>
            </a:r>
            <a:r>
              <a:rPr lang="en-US" dirty="0" err="1"/>
              <a:t>this_thread</a:t>
            </a:r>
            <a:r>
              <a:rPr lang="en-US" dirty="0" smtClean="0"/>
              <a:t>::yield</a:t>
            </a:r>
          </a:p>
          <a:p>
            <a:pPr marL="400050" lvl="1" indent="0">
              <a:buNone/>
            </a:pPr>
            <a:r>
              <a:rPr lang="en-US" dirty="0" smtClean="0"/>
              <a:t>A </a:t>
            </a:r>
            <a:r>
              <a:rPr lang="en-US" dirty="0"/>
              <a:t>hint to the implementation to reschedule the execution of threads, allowing other threads to run. If there are no other threads </a:t>
            </a:r>
            <a:r>
              <a:rPr lang="en-US" dirty="0" smtClean="0"/>
              <a:t>waiting, </a:t>
            </a:r>
            <a:r>
              <a:rPr lang="en-US" dirty="0"/>
              <a:t>the yielded thread returns to its </a:t>
            </a:r>
            <a:r>
              <a:rPr lang="en-US" dirty="0" smtClean="0"/>
              <a:t>execution.</a:t>
            </a: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18312317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Threads</a:t>
            </a:r>
            <a:endParaRPr lang="en-US" dirty="0"/>
          </a:p>
        </p:txBody>
      </p:sp>
      <p:sp>
        <p:nvSpPr>
          <p:cNvPr id="3" name="Content Placeholder 2"/>
          <p:cNvSpPr>
            <a:spLocks noGrp="1"/>
          </p:cNvSpPr>
          <p:nvPr>
            <p:ph idx="1"/>
          </p:nvPr>
        </p:nvSpPr>
        <p:spPr/>
        <p:txBody>
          <a:bodyPr/>
          <a:lstStyle/>
          <a:p>
            <a:r>
              <a:rPr lang="en-US" dirty="0" smtClean="0"/>
              <a:t>You create </a:t>
            </a:r>
            <a:r>
              <a:rPr lang="en-US" dirty="0" err="1" smtClean="0"/>
              <a:t>std</a:t>
            </a:r>
            <a:r>
              <a:rPr lang="en-US" dirty="0" smtClean="0"/>
              <a:t>::thread to start a new thread of execution.</a:t>
            </a:r>
          </a:p>
          <a:p>
            <a:pPr lvl="1"/>
            <a:r>
              <a:rPr lang="en-US" dirty="0" smtClean="0"/>
              <a:t>You </a:t>
            </a:r>
            <a:r>
              <a:rPr lang="en-US" i="1" dirty="0" smtClean="0"/>
              <a:t>detach</a:t>
            </a:r>
            <a:r>
              <a:rPr lang="en-US" dirty="0" smtClean="0"/>
              <a:t> a thread to finish off at some point.</a:t>
            </a:r>
          </a:p>
          <a:p>
            <a:pPr lvl="1"/>
            <a:r>
              <a:rPr lang="en-US" dirty="0" smtClean="0"/>
              <a:t>You </a:t>
            </a:r>
            <a:r>
              <a:rPr lang="en-US" i="1" dirty="0" smtClean="0"/>
              <a:t>join</a:t>
            </a:r>
            <a:r>
              <a:rPr lang="en-US" dirty="0" smtClean="0"/>
              <a:t> a thread to synchronize on results.</a:t>
            </a:r>
          </a:p>
          <a:p>
            <a:r>
              <a:rPr lang="en-US" dirty="0" smtClean="0"/>
              <a:t>There is no support for thread pools.</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2310335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std</a:t>
            </a:r>
            <a:r>
              <a:rPr lang="en-US" dirty="0" smtClean="0"/>
              <a:t>::thread class</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id</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movable, not </a:t>
            </a:r>
            <a:r>
              <a:rPr lang="en-US" dirty="0" err="1">
                <a:solidFill>
                  <a:srgbClr val="008000"/>
                </a:solidFill>
                <a:highlight>
                  <a:srgbClr val="FFFFFF"/>
                </a:highlight>
                <a:latin typeface="Consolas"/>
              </a:rPr>
              <a:t>copyable</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template</a:t>
            </a:r>
            <a:r>
              <a:rPr lang="en-US" dirty="0">
                <a:solidFill>
                  <a:srgbClr val="000000"/>
                </a:solidFill>
                <a:highlight>
                  <a:srgbClr val="FFFFFF"/>
                </a:highlight>
                <a:latin typeface="Consolas"/>
              </a:rPr>
              <a:t> &lt;</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F</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Args</a:t>
            </a:r>
            <a:r>
              <a:rPr lang="en-US" dirty="0">
                <a:solidFill>
                  <a:srgbClr val="000000"/>
                </a:solidFill>
                <a:highlight>
                  <a:srgbClr val="FFFFFF"/>
                </a:highlight>
                <a:latin typeface="Consolas"/>
              </a:rPr>
              <a:t>&gt;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explicit</a:t>
            </a:r>
            <a:r>
              <a:rPr lang="en-US" dirty="0">
                <a:solidFill>
                  <a:srgbClr val="000000"/>
                </a:solidFill>
                <a:highlight>
                  <a:srgbClr val="FFFFFF"/>
                </a:highlight>
                <a:latin typeface="Consolas"/>
              </a:rPr>
              <a:t> thread(</a:t>
            </a:r>
            <a:r>
              <a:rPr lang="en-US" dirty="0">
                <a:solidFill>
                  <a:srgbClr val="2B91AF"/>
                </a:solidFill>
                <a:highlight>
                  <a:srgbClr val="FFFFFF"/>
                </a:highlight>
                <a:latin typeface="Consolas"/>
              </a:rPr>
              <a:t>F</a:t>
            </a:r>
            <a:r>
              <a:rPr lang="en-US" dirty="0">
                <a:solidFill>
                  <a:srgbClr val="000000"/>
                </a:solidFill>
                <a:highlight>
                  <a:srgbClr val="FFFFFF"/>
                </a:highlight>
                <a:latin typeface="Consolas"/>
              </a:rPr>
              <a:t>&amp;&amp; f, </a:t>
            </a:r>
            <a:r>
              <a:rPr lang="en-US" dirty="0" err="1">
                <a:solidFill>
                  <a:srgbClr val="2B91AF"/>
                </a:solidFill>
                <a:highlight>
                  <a:srgbClr val="FFFFFF"/>
                </a:highlight>
                <a:latin typeface="Consolas"/>
              </a:rPr>
              <a:t>Args</a:t>
            </a:r>
            <a:r>
              <a:rPr lang="en-US" dirty="0">
                <a:solidFill>
                  <a:srgbClr val="000000"/>
                </a:solidFill>
                <a:highlight>
                  <a:srgbClr val="FFFFFF"/>
                </a:highlight>
                <a:latin typeface="Consolas"/>
              </a:rPr>
              <a:t>&amp;&amp;... </a:t>
            </a:r>
            <a:r>
              <a:rPr lang="en-US" dirty="0" err="1">
                <a:solidFill>
                  <a:srgbClr val="000000"/>
                </a:solidFill>
                <a:highlight>
                  <a:srgbClr val="FFFFFF"/>
                </a:highlight>
                <a:latin typeface="Consolas"/>
              </a:rPr>
              <a:t>args</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bool</a:t>
            </a:r>
            <a:r>
              <a:rPr lang="en-US" dirty="0">
                <a:solidFill>
                  <a:srgbClr val="000000"/>
                </a:solidFill>
                <a:highlight>
                  <a:srgbClr val="FFFFFF"/>
                </a:highlight>
                <a:latin typeface="Consolas"/>
              </a:rPr>
              <a:t> joinable()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join();</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detach();</a:t>
            </a:r>
          </a:p>
          <a:p>
            <a:pPr marL="0" indent="0">
              <a:buNone/>
            </a:pP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get_id</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unsigned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hardware_concurrency</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 native handles, swap(), …</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p>
          <a:p>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21796667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std</a:t>
            </a:r>
            <a:r>
              <a:rPr lang="en-US" dirty="0" smtClean="0"/>
              <a:t>::thread methods</a:t>
            </a:r>
            <a:endParaRPr lang="en-US" dirty="0"/>
          </a:p>
        </p:txBody>
      </p:sp>
      <p:sp>
        <p:nvSpPr>
          <p:cNvPr id="3" name="Content Placeholder 2"/>
          <p:cNvSpPr>
            <a:spLocks noGrp="1"/>
          </p:cNvSpPr>
          <p:nvPr>
            <p:ph idx="1"/>
          </p:nvPr>
        </p:nvSpPr>
        <p:spPr/>
        <p:txBody>
          <a:bodyPr/>
          <a:lstStyle/>
          <a:p>
            <a:r>
              <a:rPr lang="en-US" dirty="0" err="1" smtClean="0"/>
              <a:t>hardware_concurrency</a:t>
            </a:r>
            <a:r>
              <a:rPr lang="en-US" dirty="0"/>
              <a:t>()</a:t>
            </a:r>
          </a:p>
          <a:p>
            <a:pPr marL="457200" lvl="1" indent="0">
              <a:buNone/>
            </a:pPr>
            <a:r>
              <a:rPr lang="en-US" dirty="0" smtClean="0"/>
              <a:t>Static method returning number </a:t>
            </a:r>
            <a:r>
              <a:rPr lang="en-US" dirty="0"/>
              <a:t>of hardware thread contexts</a:t>
            </a:r>
            <a:r>
              <a:rPr lang="en-US" dirty="0" smtClean="0"/>
              <a:t>.</a:t>
            </a:r>
          </a:p>
          <a:p>
            <a:pPr marL="514350" indent="-457200"/>
            <a:r>
              <a:rPr lang="en-US" dirty="0" err="1" smtClean="0"/>
              <a:t>native_handle</a:t>
            </a:r>
            <a:r>
              <a:rPr lang="en-US" dirty="0" smtClean="0"/>
              <a:t>()</a:t>
            </a:r>
          </a:p>
          <a:p>
            <a:pPr marL="457200" lvl="1" indent="0">
              <a:buNone/>
            </a:pPr>
            <a:r>
              <a:rPr lang="en-US" dirty="0" smtClean="0"/>
              <a:t>Returns platform specific thread handle.</a:t>
            </a:r>
            <a:endParaRPr lang="en-US" dirty="0"/>
          </a:p>
          <a:p>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5680684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Launch a tread</a:t>
            </a:r>
            <a:endParaRPr lang="en-US" dirty="0"/>
          </a:p>
        </p:txBody>
      </p:sp>
      <p:sp>
        <p:nvSpPr>
          <p:cNvPr id="4" name="Content Placeholder 3"/>
          <p:cNvSpPr>
            <a:spLocks noGrp="1"/>
          </p:cNvSpPr>
          <p:nvPr>
            <p:ph sz="half" idx="1"/>
          </p:nvPr>
        </p:nvSpPr>
        <p:spPr/>
        <p:txBody>
          <a:bodyPr>
            <a:noAutofit/>
          </a:bodyPr>
          <a:lstStyle/>
          <a:p>
            <a:pPr marL="0" indent="0">
              <a:buNone/>
            </a:pPr>
            <a:r>
              <a:rPr lang="en-US" sz="1200" dirty="0">
                <a:solidFill>
                  <a:srgbClr val="0000FF"/>
                </a:solidFill>
                <a:highlight>
                  <a:srgbClr val="FFFFFF"/>
                </a:highlight>
                <a:latin typeface="Courier New" pitchFamily="49" charset="0"/>
                <a:cs typeface="Courier New" pitchFamily="49" charset="0"/>
              </a:rPr>
              <a:t>#include</a:t>
            </a:r>
            <a:r>
              <a:rPr lang="en-US" sz="1200" dirty="0">
                <a:solidFill>
                  <a:srgbClr val="000000"/>
                </a:solidFill>
                <a:highlight>
                  <a:srgbClr val="FFFFFF"/>
                </a:highlight>
                <a:latin typeface="Courier New" pitchFamily="49" charset="0"/>
                <a:cs typeface="Courier New" pitchFamily="49" charset="0"/>
              </a:rPr>
              <a:t> </a:t>
            </a:r>
            <a:r>
              <a:rPr lang="en-US" sz="1200" dirty="0">
                <a:solidFill>
                  <a:srgbClr val="A31515"/>
                </a:solidFill>
                <a:highlight>
                  <a:srgbClr val="FFFFFF"/>
                </a:highlight>
                <a:latin typeface="Courier New" pitchFamily="49" charset="0"/>
                <a:cs typeface="Courier New" pitchFamily="49" charset="0"/>
              </a:rPr>
              <a:t>&lt;</a:t>
            </a:r>
            <a:r>
              <a:rPr lang="en-US" sz="1200" dirty="0" err="1">
                <a:solidFill>
                  <a:srgbClr val="A31515"/>
                </a:solidFill>
                <a:highlight>
                  <a:srgbClr val="FFFFFF"/>
                </a:highlight>
                <a:latin typeface="Courier New" pitchFamily="49" charset="0"/>
                <a:cs typeface="Courier New" pitchFamily="49" charset="0"/>
              </a:rPr>
              <a:t>iostream</a:t>
            </a:r>
            <a:r>
              <a:rPr lang="en-US" sz="1200" dirty="0">
                <a:solidFill>
                  <a:srgbClr val="A31515"/>
                </a:solidFill>
                <a:highlight>
                  <a:srgbClr val="FFFFFF"/>
                </a:highlight>
                <a:latin typeface="Courier New" pitchFamily="49" charset="0"/>
                <a:cs typeface="Courier New" pitchFamily="49" charset="0"/>
              </a:rPr>
              <a:t>&gt;</a:t>
            </a:r>
            <a:endParaRPr lang="en-US" sz="1200" dirty="0">
              <a:solidFill>
                <a:srgbClr val="000000"/>
              </a:solidFill>
              <a:highlight>
                <a:srgbClr val="FFFFFF"/>
              </a:highlight>
              <a:latin typeface="Courier New" pitchFamily="49" charset="0"/>
              <a:cs typeface="Courier New" pitchFamily="49" charset="0"/>
            </a:endParaRPr>
          </a:p>
          <a:p>
            <a:pPr marL="0" indent="0">
              <a:buNone/>
            </a:pPr>
            <a:r>
              <a:rPr lang="en-US" sz="1200" dirty="0">
                <a:solidFill>
                  <a:srgbClr val="0000FF"/>
                </a:solidFill>
                <a:highlight>
                  <a:srgbClr val="FFFFFF"/>
                </a:highlight>
                <a:latin typeface="Courier New" pitchFamily="49" charset="0"/>
                <a:cs typeface="Courier New" pitchFamily="49" charset="0"/>
              </a:rPr>
              <a:t>#include</a:t>
            </a:r>
            <a:r>
              <a:rPr lang="en-US" sz="1200" dirty="0">
                <a:solidFill>
                  <a:srgbClr val="000000"/>
                </a:solidFill>
                <a:highlight>
                  <a:srgbClr val="FFFFFF"/>
                </a:highlight>
                <a:latin typeface="Courier New" pitchFamily="49" charset="0"/>
                <a:cs typeface="Courier New" pitchFamily="49" charset="0"/>
              </a:rPr>
              <a:t> </a:t>
            </a:r>
            <a:r>
              <a:rPr lang="en-US" sz="1200" dirty="0">
                <a:solidFill>
                  <a:srgbClr val="A31515"/>
                </a:solidFill>
                <a:highlight>
                  <a:srgbClr val="FFFFFF"/>
                </a:highlight>
                <a:latin typeface="Courier New" pitchFamily="49" charset="0"/>
                <a:cs typeface="Courier New" pitchFamily="49" charset="0"/>
              </a:rPr>
              <a:t>&lt;thread&gt;</a:t>
            </a:r>
            <a:endParaRPr lang="en-US" sz="1200" dirty="0">
              <a:solidFill>
                <a:srgbClr val="000000"/>
              </a:solidFill>
              <a:highlight>
                <a:srgbClr val="FFFFFF"/>
              </a:highlight>
              <a:latin typeface="Courier New" pitchFamily="49" charset="0"/>
              <a:cs typeface="Courier New" pitchFamily="49" charset="0"/>
            </a:endParaRPr>
          </a:p>
          <a:p>
            <a:pPr marL="0" indent="0">
              <a:buNone/>
            </a:pPr>
            <a:endParaRPr lang="en-US" sz="1200" dirty="0">
              <a:solidFill>
                <a:srgbClr val="000000"/>
              </a:solidFill>
              <a:highlight>
                <a:srgbClr val="FFFFFF"/>
              </a:highlight>
              <a:latin typeface="Courier New" pitchFamily="49" charset="0"/>
              <a:cs typeface="Courier New" pitchFamily="49" charset="0"/>
            </a:endParaRPr>
          </a:p>
          <a:p>
            <a:pPr marL="0" indent="0">
              <a:buNone/>
            </a:pPr>
            <a:r>
              <a:rPr lang="en-US" sz="1200" dirty="0">
                <a:solidFill>
                  <a:srgbClr val="0000FF"/>
                </a:solidFill>
                <a:highlight>
                  <a:srgbClr val="FFFFFF"/>
                </a:highlight>
                <a:latin typeface="Courier New" pitchFamily="49" charset="0"/>
                <a:cs typeface="Courier New" pitchFamily="49" charset="0"/>
              </a:rPr>
              <a:t>void</a:t>
            </a:r>
            <a:r>
              <a:rPr lang="en-US" sz="1200" dirty="0">
                <a:solidFill>
                  <a:srgbClr val="000000"/>
                </a:solidFill>
                <a:highlight>
                  <a:srgbClr val="FFFFFF"/>
                </a:highlight>
                <a:latin typeface="Courier New" pitchFamily="49" charset="0"/>
                <a:cs typeface="Courier New" pitchFamily="49" charset="0"/>
              </a:rPr>
              <a:t> </a:t>
            </a:r>
            <a:r>
              <a:rPr lang="en-US" sz="1200" dirty="0" err="1">
                <a:solidFill>
                  <a:srgbClr val="000000"/>
                </a:solidFill>
                <a:highlight>
                  <a:srgbClr val="FFFFFF"/>
                </a:highlight>
                <a:latin typeface="Courier New" pitchFamily="49" charset="0"/>
                <a:cs typeface="Courier New" pitchFamily="49" charset="0"/>
              </a:rPr>
              <a:t>non_member_fn</a:t>
            </a:r>
            <a:r>
              <a:rPr lang="en-US" sz="1200" dirty="0">
                <a:solidFill>
                  <a:srgbClr val="000000"/>
                </a:solidFill>
                <a:highlight>
                  <a:srgbClr val="FFFFFF"/>
                </a:highlight>
                <a:latin typeface="Courier New" pitchFamily="49" charset="0"/>
                <a:cs typeface="Courier New" pitchFamily="49" charset="0"/>
              </a:rPr>
              <a:t>()</a:t>
            </a:r>
          </a:p>
          <a:p>
            <a:pPr marL="0" indent="0">
              <a:buNone/>
            </a:pPr>
            <a:r>
              <a:rPr lang="en-US" sz="1200" dirty="0">
                <a:solidFill>
                  <a:srgbClr val="000000"/>
                </a:solidFill>
                <a:highlight>
                  <a:srgbClr val="FFFFFF"/>
                </a:highlight>
                <a:latin typeface="Courier New" pitchFamily="49" charset="0"/>
                <a:cs typeface="Courier New" pitchFamily="49" charset="0"/>
              </a:rPr>
              <a:t>{</a:t>
            </a:r>
          </a:p>
          <a:p>
            <a:pPr marL="0" indent="0">
              <a:buNone/>
            </a:pPr>
            <a:r>
              <a:rPr lang="en-US" sz="1200" dirty="0">
                <a:solidFill>
                  <a:srgbClr val="000000"/>
                </a:solidFill>
                <a:highlight>
                  <a:srgbClr val="FFFFFF"/>
                </a:highlight>
                <a:latin typeface="Courier New" pitchFamily="49" charset="0"/>
                <a:cs typeface="Courier New" pitchFamily="49" charset="0"/>
              </a:rPr>
              <a:t>   </a:t>
            </a:r>
            <a:r>
              <a:rPr lang="en-US" sz="1200" dirty="0" err="1">
                <a:solidFill>
                  <a:srgbClr val="000000"/>
                </a:solidFill>
                <a:highlight>
                  <a:srgbClr val="FFFFFF"/>
                </a:highlight>
                <a:latin typeface="Courier New" pitchFamily="49" charset="0"/>
                <a:cs typeface="Courier New" pitchFamily="49" charset="0"/>
              </a:rPr>
              <a:t>std</a:t>
            </a:r>
            <a:r>
              <a:rPr lang="en-US" sz="1200" dirty="0">
                <a:solidFill>
                  <a:srgbClr val="000000"/>
                </a:solidFill>
                <a:highlight>
                  <a:srgbClr val="FFFFFF"/>
                </a:highlight>
                <a:latin typeface="Courier New" pitchFamily="49" charset="0"/>
                <a:cs typeface="Courier New" pitchFamily="49" charset="0"/>
              </a:rPr>
              <a:t>::</a:t>
            </a:r>
            <a:r>
              <a:rPr lang="en-US" sz="1200" dirty="0" err="1">
                <a:solidFill>
                  <a:srgbClr val="000000"/>
                </a:solidFill>
                <a:highlight>
                  <a:srgbClr val="FFFFFF"/>
                </a:highlight>
                <a:latin typeface="Courier New" pitchFamily="49" charset="0"/>
                <a:cs typeface="Courier New" pitchFamily="49" charset="0"/>
              </a:rPr>
              <a:t>cout</a:t>
            </a:r>
            <a:r>
              <a:rPr lang="en-US" sz="1200" dirty="0">
                <a:solidFill>
                  <a:srgbClr val="000000"/>
                </a:solidFill>
                <a:highlight>
                  <a:srgbClr val="FFFFFF"/>
                </a:highlight>
                <a:latin typeface="Courier New" pitchFamily="49" charset="0"/>
                <a:cs typeface="Courier New" pitchFamily="49" charset="0"/>
              </a:rPr>
              <a:t> &lt;&lt; </a:t>
            </a:r>
            <a:r>
              <a:rPr lang="en-US" sz="1200" dirty="0">
                <a:solidFill>
                  <a:srgbClr val="A31515"/>
                </a:solidFill>
                <a:highlight>
                  <a:srgbClr val="FFFFFF"/>
                </a:highlight>
                <a:latin typeface="Courier New" pitchFamily="49" charset="0"/>
                <a:cs typeface="Courier New" pitchFamily="49" charset="0"/>
              </a:rPr>
              <a:t>"</a:t>
            </a:r>
            <a:r>
              <a:rPr lang="en-US" sz="1200" dirty="0" err="1">
                <a:solidFill>
                  <a:srgbClr val="A31515"/>
                </a:solidFill>
                <a:highlight>
                  <a:srgbClr val="FFFFFF"/>
                </a:highlight>
                <a:latin typeface="Courier New" pitchFamily="49" charset="0"/>
                <a:cs typeface="Courier New" pitchFamily="49" charset="0"/>
              </a:rPr>
              <a:t>non_member_fn</a:t>
            </a:r>
            <a:r>
              <a:rPr lang="en-US" sz="1200" dirty="0">
                <a:solidFill>
                  <a:srgbClr val="A31515"/>
                </a:solidFill>
                <a:highlight>
                  <a:srgbClr val="FFFFFF"/>
                </a:highlight>
                <a:latin typeface="Courier New" pitchFamily="49" charset="0"/>
                <a:cs typeface="Courier New" pitchFamily="49" charset="0"/>
              </a:rPr>
              <a:t> </a:t>
            </a:r>
            <a:r>
              <a:rPr lang="en-US" sz="1200" dirty="0" err="1">
                <a:solidFill>
                  <a:srgbClr val="A31515"/>
                </a:solidFill>
                <a:highlight>
                  <a:srgbClr val="FFFFFF"/>
                </a:highlight>
                <a:latin typeface="Courier New" pitchFamily="49" charset="0"/>
                <a:cs typeface="Courier New" pitchFamily="49" charset="0"/>
              </a:rPr>
              <a:t>tid</a:t>
            </a:r>
            <a:r>
              <a:rPr lang="en-US" sz="1200" dirty="0">
                <a:solidFill>
                  <a:srgbClr val="A31515"/>
                </a:solidFill>
                <a:highlight>
                  <a:srgbClr val="FFFFFF"/>
                </a:highlight>
                <a:latin typeface="Courier New" pitchFamily="49" charset="0"/>
                <a:cs typeface="Courier New" pitchFamily="49" charset="0"/>
              </a:rPr>
              <a:t> = "</a:t>
            </a:r>
            <a:endParaRPr lang="en-US" sz="1200" dirty="0">
              <a:solidFill>
                <a:srgbClr val="000000"/>
              </a:solidFill>
              <a:highlight>
                <a:srgbClr val="FFFFFF"/>
              </a:highlight>
              <a:latin typeface="Courier New" pitchFamily="49" charset="0"/>
              <a:cs typeface="Courier New" pitchFamily="49" charset="0"/>
            </a:endParaRPr>
          </a:p>
          <a:p>
            <a:pPr marL="0" indent="0">
              <a:buNone/>
            </a:pPr>
            <a:r>
              <a:rPr lang="en-US" sz="1200" dirty="0">
                <a:solidFill>
                  <a:srgbClr val="000000"/>
                </a:solidFill>
                <a:highlight>
                  <a:srgbClr val="FFFFFF"/>
                </a:highlight>
                <a:latin typeface="Courier New" pitchFamily="49" charset="0"/>
                <a:cs typeface="Courier New" pitchFamily="49" charset="0"/>
              </a:rPr>
              <a:t>      &lt;&lt; </a:t>
            </a:r>
            <a:r>
              <a:rPr lang="en-US" sz="1200" dirty="0" err="1">
                <a:solidFill>
                  <a:srgbClr val="000000"/>
                </a:solidFill>
                <a:highlight>
                  <a:srgbClr val="FFFFFF"/>
                </a:highlight>
                <a:latin typeface="Courier New" pitchFamily="49" charset="0"/>
                <a:cs typeface="Courier New" pitchFamily="49" charset="0"/>
              </a:rPr>
              <a:t>std</a:t>
            </a:r>
            <a:r>
              <a:rPr lang="en-US" sz="1200" dirty="0">
                <a:solidFill>
                  <a:srgbClr val="000000"/>
                </a:solidFill>
                <a:highlight>
                  <a:srgbClr val="FFFFFF"/>
                </a:highlight>
                <a:latin typeface="Courier New" pitchFamily="49" charset="0"/>
                <a:cs typeface="Courier New" pitchFamily="49" charset="0"/>
              </a:rPr>
              <a:t>::</a:t>
            </a:r>
            <a:r>
              <a:rPr lang="en-US" sz="1200" dirty="0" err="1">
                <a:solidFill>
                  <a:srgbClr val="000000"/>
                </a:solidFill>
                <a:highlight>
                  <a:srgbClr val="FFFFFF"/>
                </a:highlight>
                <a:latin typeface="Courier New" pitchFamily="49" charset="0"/>
                <a:cs typeface="Courier New" pitchFamily="49" charset="0"/>
              </a:rPr>
              <a:t>this_thread</a:t>
            </a:r>
            <a:r>
              <a:rPr lang="en-US" sz="1200" dirty="0">
                <a:solidFill>
                  <a:srgbClr val="000000"/>
                </a:solidFill>
                <a:highlight>
                  <a:srgbClr val="FFFFFF"/>
                </a:highlight>
                <a:latin typeface="Courier New" pitchFamily="49" charset="0"/>
                <a:cs typeface="Courier New" pitchFamily="49" charset="0"/>
              </a:rPr>
              <a:t>::</a:t>
            </a:r>
            <a:r>
              <a:rPr lang="en-US" sz="1200" dirty="0" err="1">
                <a:solidFill>
                  <a:srgbClr val="000000"/>
                </a:solidFill>
                <a:highlight>
                  <a:srgbClr val="FFFFFF"/>
                </a:highlight>
                <a:latin typeface="Courier New" pitchFamily="49" charset="0"/>
                <a:cs typeface="Courier New" pitchFamily="49" charset="0"/>
              </a:rPr>
              <a:t>get_id</a:t>
            </a:r>
            <a:r>
              <a:rPr lang="en-US" sz="1200" dirty="0">
                <a:solidFill>
                  <a:srgbClr val="000000"/>
                </a:solidFill>
                <a:highlight>
                  <a:srgbClr val="FFFFFF"/>
                </a:highlight>
                <a:latin typeface="Courier New" pitchFamily="49" charset="0"/>
                <a:cs typeface="Courier New" pitchFamily="49" charset="0"/>
              </a:rPr>
              <a:t>() </a:t>
            </a:r>
          </a:p>
          <a:p>
            <a:pPr marL="0" indent="0">
              <a:buNone/>
            </a:pPr>
            <a:r>
              <a:rPr lang="en-US" sz="1200" dirty="0">
                <a:solidFill>
                  <a:srgbClr val="000000"/>
                </a:solidFill>
                <a:highlight>
                  <a:srgbClr val="FFFFFF"/>
                </a:highlight>
                <a:latin typeface="Courier New" pitchFamily="49" charset="0"/>
                <a:cs typeface="Courier New" pitchFamily="49" charset="0"/>
              </a:rPr>
              <a:t>      &lt;&lt; </a:t>
            </a:r>
            <a:r>
              <a:rPr lang="en-US" sz="1200" dirty="0">
                <a:solidFill>
                  <a:srgbClr val="A31515"/>
                </a:solidFill>
                <a:highlight>
                  <a:srgbClr val="FFFFFF"/>
                </a:highlight>
                <a:latin typeface="Courier New" pitchFamily="49" charset="0"/>
                <a:cs typeface="Courier New" pitchFamily="49" charset="0"/>
              </a:rPr>
              <a:t>"\n"</a:t>
            </a:r>
            <a:r>
              <a:rPr lang="en-US" sz="1200" dirty="0">
                <a:solidFill>
                  <a:srgbClr val="000000"/>
                </a:solidFill>
                <a:highlight>
                  <a:srgbClr val="FFFFFF"/>
                </a:highlight>
                <a:latin typeface="Courier New" pitchFamily="49" charset="0"/>
                <a:cs typeface="Courier New" pitchFamily="49" charset="0"/>
              </a:rPr>
              <a:t>;</a:t>
            </a:r>
          </a:p>
          <a:p>
            <a:pPr marL="0" indent="0">
              <a:buNone/>
            </a:pPr>
            <a:r>
              <a:rPr lang="en-US" sz="1200" dirty="0">
                <a:solidFill>
                  <a:srgbClr val="000000"/>
                </a:solidFill>
                <a:highlight>
                  <a:srgbClr val="FFFFFF"/>
                </a:highlight>
                <a:latin typeface="Courier New" pitchFamily="49" charset="0"/>
                <a:cs typeface="Courier New" pitchFamily="49" charset="0"/>
              </a:rPr>
              <a:t>}</a:t>
            </a:r>
          </a:p>
          <a:p>
            <a:pPr marL="0" indent="0">
              <a:buNone/>
            </a:pPr>
            <a:endParaRPr lang="en-US" sz="1200" dirty="0">
              <a:solidFill>
                <a:srgbClr val="000000"/>
              </a:solidFill>
              <a:highlight>
                <a:srgbClr val="FFFFFF"/>
              </a:highlight>
              <a:latin typeface="Courier New" pitchFamily="49" charset="0"/>
              <a:cs typeface="Courier New" pitchFamily="49" charset="0"/>
            </a:endParaRPr>
          </a:p>
          <a:p>
            <a:pPr marL="0" indent="0">
              <a:buNone/>
            </a:pPr>
            <a:r>
              <a:rPr lang="en-US" sz="1200" dirty="0">
                <a:solidFill>
                  <a:srgbClr val="0000FF"/>
                </a:solidFill>
                <a:highlight>
                  <a:srgbClr val="FFFFFF"/>
                </a:highlight>
                <a:latin typeface="Courier New" pitchFamily="49" charset="0"/>
                <a:cs typeface="Courier New" pitchFamily="49" charset="0"/>
              </a:rPr>
              <a:t>void</a:t>
            </a:r>
            <a:r>
              <a:rPr lang="en-US" sz="1200" dirty="0">
                <a:solidFill>
                  <a:srgbClr val="000000"/>
                </a:solidFill>
                <a:highlight>
                  <a:srgbClr val="FFFFFF"/>
                </a:highlight>
                <a:latin typeface="Courier New" pitchFamily="49" charset="0"/>
                <a:cs typeface="Courier New" pitchFamily="49" charset="0"/>
              </a:rPr>
              <a:t> </a:t>
            </a:r>
            <a:r>
              <a:rPr lang="en-US" sz="1200" dirty="0" err="1">
                <a:solidFill>
                  <a:srgbClr val="000000"/>
                </a:solidFill>
                <a:highlight>
                  <a:srgbClr val="FFFFFF"/>
                </a:highlight>
                <a:latin typeface="Courier New" pitchFamily="49" charset="0"/>
                <a:cs typeface="Courier New" pitchFamily="49" charset="0"/>
              </a:rPr>
              <a:t>hello_world</a:t>
            </a:r>
            <a:r>
              <a:rPr lang="en-US" sz="1200" dirty="0">
                <a:solidFill>
                  <a:srgbClr val="000000"/>
                </a:solidFill>
                <a:highlight>
                  <a:srgbClr val="FFFFFF"/>
                </a:highlight>
                <a:latin typeface="Courier New" pitchFamily="49" charset="0"/>
                <a:cs typeface="Courier New" pitchFamily="49" charset="0"/>
              </a:rPr>
              <a:t>()</a:t>
            </a:r>
          </a:p>
          <a:p>
            <a:pPr marL="0" indent="0">
              <a:buNone/>
            </a:pPr>
            <a:r>
              <a:rPr lang="en-US" sz="1200" dirty="0">
                <a:solidFill>
                  <a:srgbClr val="000000"/>
                </a:solidFill>
                <a:highlight>
                  <a:srgbClr val="FFFFFF"/>
                </a:highlight>
                <a:latin typeface="Courier New" pitchFamily="49" charset="0"/>
                <a:cs typeface="Courier New" pitchFamily="49" charset="0"/>
              </a:rPr>
              <a:t>{</a:t>
            </a:r>
          </a:p>
          <a:p>
            <a:pPr marL="0" indent="0">
              <a:buNone/>
            </a:pPr>
            <a:r>
              <a:rPr lang="en-US" sz="1200" dirty="0">
                <a:solidFill>
                  <a:srgbClr val="000000"/>
                </a:solidFill>
                <a:highlight>
                  <a:srgbClr val="FFFFFF"/>
                </a:highlight>
                <a:latin typeface="Courier New" pitchFamily="49" charset="0"/>
                <a:cs typeface="Courier New" pitchFamily="49" charset="0"/>
              </a:rPr>
              <a:t>   </a:t>
            </a:r>
            <a:r>
              <a:rPr lang="en-US" sz="1200" dirty="0" err="1">
                <a:solidFill>
                  <a:srgbClr val="000000"/>
                </a:solidFill>
                <a:highlight>
                  <a:srgbClr val="FFFFFF"/>
                </a:highlight>
                <a:latin typeface="Courier New" pitchFamily="49" charset="0"/>
                <a:cs typeface="Courier New" pitchFamily="49" charset="0"/>
              </a:rPr>
              <a:t>std</a:t>
            </a:r>
            <a:r>
              <a:rPr lang="en-US" sz="1200" dirty="0">
                <a:solidFill>
                  <a:srgbClr val="000000"/>
                </a:solidFill>
                <a:highlight>
                  <a:srgbClr val="FFFFFF"/>
                </a:highlight>
                <a:latin typeface="Courier New" pitchFamily="49" charset="0"/>
                <a:cs typeface="Courier New" pitchFamily="49" charset="0"/>
              </a:rPr>
              <a:t>::</a:t>
            </a:r>
            <a:r>
              <a:rPr lang="en-US" sz="1200" dirty="0">
                <a:solidFill>
                  <a:srgbClr val="2B91AF"/>
                </a:solidFill>
                <a:highlight>
                  <a:srgbClr val="FFFFFF"/>
                </a:highlight>
                <a:latin typeface="Courier New" pitchFamily="49" charset="0"/>
                <a:cs typeface="Courier New" pitchFamily="49" charset="0"/>
              </a:rPr>
              <a:t>thread</a:t>
            </a:r>
            <a:r>
              <a:rPr lang="en-US" sz="1200" dirty="0">
                <a:solidFill>
                  <a:srgbClr val="000000"/>
                </a:solidFill>
                <a:highlight>
                  <a:srgbClr val="FFFFFF"/>
                </a:highlight>
                <a:latin typeface="Courier New" pitchFamily="49" charset="0"/>
                <a:cs typeface="Courier New" pitchFamily="49" charset="0"/>
              </a:rPr>
              <a:t> t</a:t>
            </a:r>
            <a:r>
              <a:rPr lang="en-US" sz="1200" dirty="0" smtClean="0">
                <a:solidFill>
                  <a:srgbClr val="000000"/>
                </a:solidFill>
                <a:highlight>
                  <a:srgbClr val="FFFFFF"/>
                </a:highlight>
                <a:latin typeface="Courier New" pitchFamily="49" charset="0"/>
                <a:cs typeface="Courier New" pitchFamily="49" charset="0"/>
              </a:rPr>
              <a:t>( &amp;</a:t>
            </a:r>
            <a:r>
              <a:rPr lang="en-US" sz="1200" dirty="0" err="1" smtClean="0">
                <a:solidFill>
                  <a:srgbClr val="000000"/>
                </a:solidFill>
                <a:highlight>
                  <a:srgbClr val="FFFFFF"/>
                </a:highlight>
                <a:latin typeface="Courier New" pitchFamily="49" charset="0"/>
                <a:cs typeface="Courier New" pitchFamily="49" charset="0"/>
              </a:rPr>
              <a:t>non_member_fn</a:t>
            </a:r>
            <a:r>
              <a:rPr lang="en-US" sz="1200" dirty="0" smtClean="0">
                <a:solidFill>
                  <a:srgbClr val="000000"/>
                </a:solidFill>
                <a:highlight>
                  <a:srgbClr val="FFFFFF"/>
                </a:highlight>
                <a:latin typeface="Courier New" pitchFamily="49" charset="0"/>
                <a:cs typeface="Courier New" pitchFamily="49" charset="0"/>
              </a:rPr>
              <a:t> );</a:t>
            </a:r>
            <a:endParaRPr lang="en-US" sz="1200" dirty="0">
              <a:solidFill>
                <a:srgbClr val="000000"/>
              </a:solidFill>
              <a:highlight>
                <a:srgbClr val="FFFFFF"/>
              </a:highlight>
              <a:latin typeface="Courier New" pitchFamily="49" charset="0"/>
              <a:cs typeface="Courier New" pitchFamily="49" charset="0"/>
            </a:endParaRPr>
          </a:p>
          <a:p>
            <a:pPr marL="0" indent="0">
              <a:buNone/>
            </a:pPr>
            <a:r>
              <a:rPr lang="en-US" sz="1200" dirty="0">
                <a:solidFill>
                  <a:srgbClr val="000000"/>
                </a:solidFill>
                <a:highlight>
                  <a:srgbClr val="FFFFFF"/>
                </a:highlight>
                <a:latin typeface="Courier New" pitchFamily="49" charset="0"/>
                <a:cs typeface="Courier New" pitchFamily="49" charset="0"/>
              </a:rPr>
              <a:t>   </a:t>
            </a:r>
            <a:r>
              <a:rPr lang="en-US" sz="1200" dirty="0" err="1">
                <a:solidFill>
                  <a:srgbClr val="000000"/>
                </a:solidFill>
                <a:highlight>
                  <a:srgbClr val="FFFFFF"/>
                </a:highlight>
                <a:latin typeface="Courier New" pitchFamily="49" charset="0"/>
                <a:cs typeface="Courier New" pitchFamily="49" charset="0"/>
              </a:rPr>
              <a:t>t.join</a:t>
            </a:r>
            <a:r>
              <a:rPr lang="en-US" sz="1200" dirty="0">
                <a:solidFill>
                  <a:srgbClr val="000000"/>
                </a:solidFill>
                <a:highlight>
                  <a:srgbClr val="FFFFFF"/>
                </a:highlight>
                <a:latin typeface="Courier New" pitchFamily="49" charset="0"/>
                <a:cs typeface="Courier New" pitchFamily="49" charset="0"/>
              </a:rPr>
              <a:t>();</a:t>
            </a:r>
          </a:p>
          <a:p>
            <a:pPr marL="0" indent="0">
              <a:buNone/>
            </a:pPr>
            <a:r>
              <a:rPr lang="en-US" sz="1200" dirty="0">
                <a:solidFill>
                  <a:srgbClr val="000000"/>
                </a:solidFill>
                <a:highlight>
                  <a:srgbClr val="FFFFFF"/>
                </a:highlight>
                <a:latin typeface="Courier New" pitchFamily="49" charset="0"/>
                <a:cs typeface="Courier New" pitchFamily="49" charset="0"/>
              </a:rPr>
              <a:t>}</a:t>
            </a:r>
            <a:endParaRPr lang="en-US" sz="1200" dirty="0">
              <a:latin typeface="Courier New" pitchFamily="49" charset="0"/>
              <a:cs typeface="Courier New" pitchFamily="49" charset="0"/>
            </a:endParaRPr>
          </a:p>
        </p:txBody>
      </p:sp>
      <p:sp>
        <p:nvSpPr>
          <p:cNvPr id="5" name="Content Placeholder 4"/>
          <p:cNvSpPr>
            <a:spLocks noGrp="1"/>
          </p:cNvSpPr>
          <p:nvPr>
            <p:ph sz="half" idx="2"/>
          </p:nvPr>
        </p:nvSpPr>
        <p:spPr/>
        <p:txBody>
          <a:bodyPr>
            <a:normAutofit/>
          </a:bodyPr>
          <a:lstStyle/>
          <a:p>
            <a:pPr marL="514350" indent="-514350">
              <a:buFont typeface="+mj-lt"/>
              <a:buAutoNum type="arabicPeriod"/>
            </a:pPr>
            <a:r>
              <a:rPr lang="en-US" dirty="0" smtClean="0"/>
              <a:t>Thread procedure in a form of non member function without parameters.</a:t>
            </a:r>
          </a:p>
          <a:p>
            <a:pPr marL="514350" indent="-514350">
              <a:buFont typeface="+mj-lt"/>
              <a:buAutoNum type="arabicPeriod"/>
            </a:pPr>
            <a:r>
              <a:rPr lang="en-US" dirty="0" smtClean="0"/>
              <a:t>Function </a:t>
            </a:r>
            <a:r>
              <a:rPr lang="en-US" dirty="0" err="1" smtClean="0"/>
              <a:t>get_id</a:t>
            </a:r>
            <a:r>
              <a:rPr lang="en-US" dirty="0" smtClean="0"/>
              <a:t>() from </a:t>
            </a:r>
            <a:r>
              <a:rPr lang="en-US" dirty="0" err="1" smtClean="0"/>
              <a:t>std</a:t>
            </a:r>
            <a:r>
              <a:rPr lang="en-US" dirty="0" smtClean="0"/>
              <a:t>::</a:t>
            </a:r>
            <a:r>
              <a:rPr lang="en-US" dirty="0" err="1" smtClean="0"/>
              <a:t>this_thread</a:t>
            </a:r>
            <a:r>
              <a:rPr lang="en-US" dirty="0" smtClean="0"/>
              <a:t> namespace returns a unique thread </a:t>
            </a:r>
            <a:r>
              <a:rPr lang="en-US" dirty="0" err="1" smtClean="0"/>
              <a:t>identificator</a:t>
            </a:r>
            <a:r>
              <a:rPr lang="en-US" dirty="0" smtClean="0"/>
              <a:t>.</a:t>
            </a:r>
          </a:p>
          <a:p>
            <a:pPr marL="514350" indent="-514350">
              <a:buFont typeface="+mj-lt"/>
              <a:buAutoNum type="arabicPeriod"/>
            </a:pPr>
            <a:r>
              <a:rPr lang="en-US" dirty="0" smtClean="0"/>
              <a:t>Named thread object. Constructor launches a new thread.</a:t>
            </a:r>
          </a:p>
          <a:p>
            <a:pPr marL="514350" indent="-514350">
              <a:buFont typeface="+mj-lt"/>
              <a:buAutoNum type="arabicPeriod"/>
            </a:pPr>
            <a:r>
              <a:rPr lang="en-US" dirty="0" smtClean="0"/>
              <a:t>Join call blocks main thread until new thread is finished.</a:t>
            </a:r>
            <a:endParaRPr lang="en-US" dirty="0"/>
          </a:p>
        </p:txBody>
      </p:sp>
      <p:sp>
        <p:nvSpPr>
          <p:cNvPr id="8" name="Dodecagon 7"/>
          <p:cNvSpPr/>
          <p:nvPr/>
        </p:nvSpPr>
        <p:spPr>
          <a:xfrm>
            <a:off x="2667000" y="22860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11" name="Dodecagon 10"/>
          <p:cNvSpPr/>
          <p:nvPr/>
        </p:nvSpPr>
        <p:spPr>
          <a:xfrm>
            <a:off x="4114800" y="28956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12" name="Dodecagon 11"/>
          <p:cNvSpPr/>
          <p:nvPr/>
        </p:nvSpPr>
        <p:spPr>
          <a:xfrm>
            <a:off x="4114800" y="42672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3</a:t>
            </a:r>
            <a:endParaRPr lang="en-US" sz="1400" dirty="0"/>
          </a:p>
        </p:txBody>
      </p:sp>
      <p:sp>
        <p:nvSpPr>
          <p:cNvPr id="13" name="Dodecagon 12"/>
          <p:cNvSpPr/>
          <p:nvPr/>
        </p:nvSpPr>
        <p:spPr>
          <a:xfrm>
            <a:off x="2667000" y="44958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26100741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 </a:t>
            </a:r>
            <a:r>
              <a:rPr lang="en-US" dirty="0" err="1" smtClean="0"/>
              <a:t>moveability</a:t>
            </a:r>
            <a:endParaRPr lang="en-US" dirty="0"/>
          </a:p>
        </p:txBody>
      </p:sp>
      <p:sp>
        <p:nvSpPr>
          <p:cNvPr id="3" name="Content Placeholder 2"/>
          <p:cNvSpPr>
            <a:spLocks noGrp="1"/>
          </p:cNvSpPr>
          <p:nvPr>
            <p:ph sz="half" idx="1"/>
          </p:nvPr>
        </p:nvSpPr>
        <p:spPr/>
        <p:txBody>
          <a:bodyPr>
            <a:normAutofit fontScale="85000" lnSpcReduction="20000"/>
          </a:bodyPr>
          <a:lstStyle/>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&lt;</a:t>
            </a:r>
            <a:r>
              <a:rPr lang="en-US" dirty="0" err="1">
                <a:solidFill>
                  <a:srgbClr val="A31515"/>
                </a:solidFill>
                <a:highlight>
                  <a:srgbClr val="FFFFFF"/>
                </a:highlight>
                <a:latin typeface="Consolas"/>
              </a:rPr>
              <a:t>iostream</a:t>
            </a:r>
            <a:r>
              <a:rPr lang="en-US" dirty="0">
                <a:solidFill>
                  <a:srgbClr val="A31515"/>
                </a:solidFill>
                <a:highlight>
                  <a:srgbClr val="FFFFFF"/>
                </a:highlight>
                <a:latin typeface="Consolas"/>
              </a:rPr>
              <a:t>&gt;</a:t>
            </a: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&lt;thread&gt;</a:t>
            </a: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&lt;</a:t>
            </a:r>
            <a:r>
              <a:rPr lang="en-US" dirty="0" err="1">
                <a:solidFill>
                  <a:srgbClr val="A31515"/>
                </a:solidFill>
                <a:highlight>
                  <a:srgbClr val="FFFFFF"/>
                </a:highlight>
                <a:latin typeface="Consolas"/>
              </a:rPr>
              <a:t>cassert</a:t>
            </a:r>
            <a:r>
              <a:rPr lang="en-US" dirty="0">
                <a:solidFill>
                  <a:srgbClr val="A31515"/>
                </a:solidFill>
                <a:highlight>
                  <a:srgbClr val="FFFFFF"/>
                </a:highlight>
                <a:latin typeface="Consolas"/>
              </a:rPr>
              <a:t>&gt;</a:t>
            </a:r>
            <a:endParaRPr lang="en-US" dirty="0">
              <a:solidFill>
                <a:srgbClr val="000000"/>
              </a:solidFill>
              <a:highlight>
                <a:srgbClr val="FFFFFF"/>
              </a:highlight>
              <a:latin typeface="Consolas"/>
            </a:endParaRP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non_member_fn</a:t>
            </a: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launch()</a:t>
            </a:r>
          </a:p>
          <a:p>
            <a:pPr marL="0" indent="0">
              <a:buNone/>
            </a:pPr>
            <a:r>
              <a:rPr lang="en-US" dirty="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   return</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&amp;</a:t>
            </a:r>
            <a:r>
              <a:rPr lang="en-US" dirty="0" err="1">
                <a:solidFill>
                  <a:srgbClr val="000000"/>
                </a:solidFill>
                <a:highlight>
                  <a:srgbClr val="FFFFFF"/>
                </a:highlight>
                <a:latin typeface="Consolas"/>
              </a:rPr>
              <a:t>non_member_fn</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thread_moveability</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a;</a:t>
            </a:r>
          </a:p>
          <a:p>
            <a:pPr marL="0" indent="0">
              <a:buNone/>
            </a:pPr>
            <a:r>
              <a:rPr lang="en-US" dirty="0">
                <a:solidFill>
                  <a:srgbClr val="000000"/>
                </a:solidFill>
                <a:highlight>
                  <a:srgbClr val="FFFFFF"/>
                </a:highlight>
                <a:latin typeface="Consolas"/>
              </a:rPr>
              <a:t>   </a:t>
            </a:r>
            <a:r>
              <a:rPr lang="en-US" dirty="0">
                <a:solidFill>
                  <a:srgbClr val="6F008A"/>
                </a:solidFill>
                <a:highlight>
                  <a:srgbClr val="FFFFFF"/>
                </a:highlight>
                <a:latin typeface="Consolas"/>
              </a:rPr>
              <a:t>assert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a.joinable</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b = launch();</a:t>
            </a:r>
          </a:p>
          <a:p>
            <a:pPr marL="0" indent="0">
              <a:buNone/>
            </a:pPr>
            <a:r>
              <a:rPr lang="en-US" dirty="0">
                <a:solidFill>
                  <a:srgbClr val="000000"/>
                </a:solidFill>
                <a:highlight>
                  <a:srgbClr val="FFFFFF"/>
                </a:highlight>
                <a:latin typeface="Consolas"/>
              </a:rPr>
              <a:t>   </a:t>
            </a:r>
            <a:r>
              <a:rPr lang="en-US" dirty="0">
                <a:solidFill>
                  <a:srgbClr val="6F008A"/>
                </a:solidFill>
                <a:highlight>
                  <a:srgbClr val="FFFFFF"/>
                </a:highlight>
                <a:latin typeface="Consolas"/>
              </a:rPr>
              <a:t>assert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b.joinable</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::move(b);</a:t>
            </a:r>
          </a:p>
          <a:p>
            <a:pPr marL="0" indent="0">
              <a:buNone/>
            </a:pPr>
            <a:r>
              <a:rPr lang="en-US" dirty="0">
                <a:solidFill>
                  <a:srgbClr val="000000"/>
                </a:solidFill>
                <a:highlight>
                  <a:srgbClr val="FFFFFF"/>
                </a:highlight>
                <a:latin typeface="Consolas"/>
              </a:rPr>
              <a:t>   </a:t>
            </a:r>
            <a:r>
              <a:rPr lang="en-US" dirty="0">
                <a:solidFill>
                  <a:srgbClr val="6F008A"/>
                </a:solidFill>
                <a:highlight>
                  <a:srgbClr val="FFFFFF"/>
                </a:highlight>
                <a:latin typeface="Consolas"/>
              </a:rPr>
              <a:t>assert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a.joinable</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6F008A"/>
                </a:solidFill>
                <a:highlight>
                  <a:srgbClr val="FFFFFF"/>
                </a:highlight>
                <a:latin typeface="Consolas"/>
              </a:rPr>
              <a:t>assert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b.joinable</a:t>
            </a:r>
            <a:r>
              <a:rPr lang="en-US" dirty="0">
                <a:solidFill>
                  <a:srgbClr val="000000"/>
                </a:solidFill>
                <a:highlight>
                  <a:srgbClr val="FFFFFF"/>
                </a:highlight>
                <a:latin typeface="Consolas"/>
              </a:rPr>
              <a:t>() );</a:t>
            </a:r>
          </a:p>
          <a:p>
            <a:pPr marL="0" indent="0">
              <a:buNone/>
            </a:pP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a.join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4" name="Content Placeholder 3"/>
          <p:cNvSpPr>
            <a:spLocks noGrp="1"/>
          </p:cNvSpPr>
          <p:nvPr>
            <p:ph sz="half" idx="2"/>
          </p:nvPr>
        </p:nvSpPr>
        <p:spPr/>
        <p:txBody>
          <a:bodyPr>
            <a:normAutofit fontScale="85000" lnSpcReduction="20000"/>
          </a:bodyPr>
          <a:lstStyle/>
          <a:p>
            <a:pPr marL="457200" indent="-457200">
              <a:buFont typeface="+mj-lt"/>
              <a:buAutoNum type="arabicPeriod"/>
            </a:pPr>
            <a:r>
              <a:rPr lang="en-US" dirty="0" smtClean="0"/>
              <a:t>Ownership of a thread can be transferred out of a function.</a:t>
            </a:r>
          </a:p>
          <a:p>
            <a:pPr marL="457200" indent="-457200">
              <a:buFont typeface="+mj-lt"/>
              <a:buAutoNum type="arabicPeriod"/>
            </a:pPr>
            <a:r>
              <a:rPr lang="en-US" dirty="0" smtClean="0"/>
              <a:t>Default constructor creates object with no associated thread of execution.</a:t>
            </a:r>
          </a:p>
          <a:p>
            <a:pPr marL="457200" indent="-457200">
              <a:buFont typeface="+mj-lt"/>
              <a:buAutoNum type="arabicPeriod"/>
            </a:pPr>
            <a:r>
              <a:rPr lang="en-US" dirty="0" smtClean="0"/>
              <a:t>A thread object can be initialized from a temporary.</a:t>
            </a:r>
          </a:p>
          <a:p>
            <a:pPr marL="457200" indent="-457200">
              <a:buFont typeface="+mj-lt"/>
              <a:buAutoNum type="arabicPeriod"/>
            </a:pPr>
            <a:r>
              <a:rPr lang="en-US" dirty="0" smtClean="0"/>
              <a:t>Transfer of thread ownership on named variables requires explicit call to </a:t>
            </a:r>
            <a:r>
              <a:rPr lang="en-US" dirty="0" err="1" smtClean="0"/>
              <a:t>std</a:t>
            </a:r>
            <a:r>
              <a:rPr lang="en-US" dirty="0" smtClean="0"/>
              <a:t>::move.</a:t>
            </a:r>
            <a:endParaRPr lang="en-US" dirty="0"/>
          </a:p>
        </p:txBody>
      </p:sp>
      <p:sp>
        <p:nvSpPr>
          <p:cNvPr id="5" name="Dodecagon 4"/>
          <p:cNvSpPr/>
          <p:nvPr/>
        </p:nvSpPr>
        <p:spPr>
          <a:xfrm>
            <a:off x="3276600" y="26670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6" name="Dodecagon 5"/>
          <p:cNvSpPr/>
          <p:nvPr/>
        </p:nvSpPr>
        <p:spPr>
          <a:xfrm>
            <a:off x="3276600" y="40386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Dodecagon 6"/>
          <p:cNvSpPr/>
          <p:nvPr/>
        </p:nvSpPr>
        <p:spPr>
          <a:xfrm>
            <a:off x="3276600" y="44196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a:t>
            </a:r>
          </a:p>
        </p:txBody>
      </p:sp>
      <p:sp>
        <p:nvSpPr>
          <p:cNvPr id="8" name="Dodecagon 7"/>
          <p:cNvSpPr/>
          <p:nvPr/>
        </p:nvSpPr>
        <p:spPr>
          <a:xfrm>
            <a:off x="3276600" y="48006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9" name="Date Placeholder 8"/>
          <p:cNvSpPr>
            <a:spLocks noGrp="1"/>
          </p:cNvSpPr>
          <p:nvPr>
            <p:ph type="dt" sz="half" idx="10"/>
          </p:nvPr>
        </p:nvSpPr>
        <p:spPr/>
        <p:txBody>
          <a:bodyPr/>
          <a:lstStyle/>
          <a:p>
            <a:r>
              <a:rPr lang="cs-CZ" smtClean="0"/>
              <a:t>19.1.2014</a:t>
            </a:r>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9705705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4"/>
          <p:cNvSpPr txBox="1">
            <a:spLocks/>
          </p:cNvSpPr>
          <p:nvPr/>
        </p:nvSpPr>
        <p:spPr>
          <a:xfrm>
            <a:off x="304800" y="1265237"/>
            <a:ext cx="8591550" cy="1401763"/>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2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buNone/>
            </a:pPr>
            <a:r>
              <a:rPr lang="en-US" dirty="0" smtClean="0"/>
              <a:t>Suspended </a:t>
            </a:r>
            <a:r>
              <a:rPr lang="en-US" dirty="0"/>
              <a:t>thread is the one that is not currently running. </a:t>
            </a:r>
            <a:endParaRPr lang="en-US" dirty="0" smtClean="0"/>
          </a:p>
          <a:p>
            <a:pPr>
              <a:buFont typeface="Wingdings" panose="05000000000000000000" pitchFamily="2" charset="2"/>
              <a:buChar char="Ø"/>
            </a:pPr>
            <a:r>
              <a:rPr lang="en-US" dirty="0" smtClean="0"/>
              <a:t>The </a:t>
            </a:r>
            <a:r>
              <a:rPr lang="en-US" dirty="0"/>
              <a:t>C++ standard doesn't provide such a facility; probably because there exist operating systems capable of running C++ programs that don't support it</a:t>
            </a:r>
            <a:r>
              <a:rPr lang="en-US" dirty="0" smtClean="0"/>
              <a:t>.</a:t>
            </a:r>
          </a:p>
          <a:p>
            <a:pPr>
              <a:buFont typeface="Wingdings" panose="05000000000000000000" pitchFamily="2" charset="2"/>
              <a:buChar char="Ø"/>
            </a:pPr>
            <a:r>
              <a:rPr lang="en-US" dirty="0" smtClean="0"/>
              <a:t>Use mutex.</a:t>
            </a:r>
            <a:endParaRPr lang="en-US" dirty="0"/>
          </a:p>
        </p:txBody>
      </p:sp>
      <p:sp>
        <p:nvSpPr>
          <p:cNvPr id="2" name="Title 1"/>
          <p:cNvSpPr>
            <a:spLocks noGrp="1"/>
          </p:cNvSpPr>
          <p:nvPr>
            <p:ph type="title"/>
          </p:nvPr>
        </p:nvSpPr>
        <p:spPr/>
        <p:txBody>
          <a:bodyPr/>
          <a:lstStyle/>
          <a:p>
            <a:r>
              <a:rPr lang="en-US" dirty="0" smtClean="0"/>
              <a:t>Deferred, suspended start</a:t>
            </a:r>
            <a:endParaRPr lang="en-US" dirty="0"/>
          </a:p>
        </p:txBody>
      </p:sp>
      <p:sp>
        <p:nvSpPr>
          <p:cNvPr id="4" name="Content Placeholder 3"/>
          <p:cNvSpPr>
            <a:spLocks noGrp="1"/>
          </p:cNvSpPr>
          <p:nvPr>
            <p:ph sz="half" idx="1"/>
          </p:nvPr>
        </p:nvSpPr>
        <p:spPr>
          <a:xfrm>
            <a:off x="457200" y="3009900"/>
            <a:ext cx="4038600" cy="3116263"/>
          </a:xfrm>
        </p:spPr>
        <p:txBody>
          <a:bodyPr>
            <a:noAutofit/>
          </a:bodyPr>
          <a:lstStyle/>
          <a:p>
            <a:pPr marL="0" indent="0">
              <a:buNone/>
            </a:pPr>
            <a:endParaRPr lang="en-US" sz="1200" dirty="0">
              <a:solidFill>
                <a:srgbClr val="000000"/>
              </a:solidFill>
              <a:highlight>
                <a:srgbClr val="FFFFFF"/>
              </a:highlight>
              <a:latin typeface="Courier New" pitchFamily="49" charset="0"/>
              <a:cs typeface="Courier New" pitchFamily="49" charset="0"/>
            </a:endParaRPr>
          </a:p>
          <a:p>
            <a:pPr marL="0" indent="0">
              <a:buNone/>
            </a:pPr>
            <a:r>
              <a:rPr lang="en-US" sz="1200" dirty="0">
                <a:solidFill>
                  <a:srgbClr val="0000FF"/>
                </a:solidFill>
                <a:highlight>
                  <a:srgbClr val="FFFFFF"/>
                </a:highlight>
                <a:latin typeface="Courier New" pitchFamily="49" charset="0"/>
                <a:cs typeface="Courier New" pitchFamily="49" charset="0"/>
              </a:rPr>
              <a:t>void</a:t>
            </a:r>
            <a:r>
              <a:rPr lang="en-US" sz="1200" dirty="0">
                <a:solidFill>
                  <a:srgbClr val="000000"/>
                </a:solidFill>
                <a:highlight>
                  <a:srgbClr val="FFFFFF"/>
                </a:highlight>
                <a:latin typeface="Courier New" pitchFamily="49" charset="0"/>
                <a:cs typeface="Courier New" pitchFamily="49" charset="0"/>
              </a:rPr>
              <a:t> </a:t>
            </a:r>
            <a:r>
              <a:rPr lang="en-US" sz="1200" dirty="0" err="1" smtClean="0">
                <a:solidFill>
                  <a:srgbClr val="000000"/>
                </a:solidFill>
                <a:highlight>
                  <a:srgbClr val="FFFFFF"/>
                </a:highlight>
                <a:latin typeface="Courier New" pitchFamily="49" charset="0"/>
                <a:cs typeface="Courier New" pitchFamily="49" charset="0"/>
              </a:rPr>
              <a:t>lazy_thread_initialization</a:t>
            </a:r>
            <a:r>
              <a:rPr lang="en-US" sz="1200" dirty="0" smtClean="0">
                <a:solidFill>
                  <a:srgbClr val="000000"/>
                </a:solidFill>
                <a:highlight>
                  <a:srgbClr val="FFFFFF"/>
                </a:highlight>
                <a:latin typeface="Courier New" pitchFamily="49" charset="0"/>
                <a:cs typeface="Courier New" pitchFamily="49" charset="0"/>
              </a:rPr>
              <a:t>()</a:t>
            </a:r>
            <a:endParaRPr lang="en-US" sz="1200" dirty="0">
              <a:solidFill>
                <a:srgbClr val="000000"/>
              </a:solidFill>
              <a:highlight>
                <a:srgbClr val="FFFFFF"/>
              </a:highlight>
              <a:latin typeface="Courier New" pitchFamily="49" charset="0"/>
              <a:cs typeface="Courier New" pitchFamily="49" charset="0"/>
            </a:endParaRPr>
          </a:p>
          <a:p>
            <a:pPr marL="0" indent="0">
              <a:buNone/>
            </a:pPr>
            <a:r>
              <a:rPr lang="en-US" sz="1200" dirty="0">
                <a:solidFill>
                  <a:srgbClr val="000000"/>
                </a:solidFill>
                <a:highlight>
                  <a:srgbClr val="FFFFFF"/>
                </a:highlight>
                <a:latin typeface="Courier New" pitchFamily="49" charset="0"/>
                <a:cs typeface="Courier New" pitchFamily="49" charset="0"/>
              </a:rPr>
              <a:t>{</a:t>
            </a:r>
          </a:p>
          <a:p>
            <a:pPr marL="0" indent="0">
              <a:buNone/>
            </a:pPr>
            <a:r>
              <a:rPr lang="en-US" sz="1200" dirty="0">
                <a:solidFill>
                  <a:srgbClr val="000000"/>
                </a:solidFill>
                <a:highlight>
                  <a:srgbClr val="FFFFFF"/>
                </a:highlight>
                <a:latin typeface="Courier New" pitchFamily="49" charset="0"/>
                <a:cs typeface="Courier New" pitchFamily="49" charset="0"/>
              </a:rPr>
              <a:t>   </a:t>
            </a:r>
            <a:r>
              <a:rPr lang="en-US" sz="1200" dirty="0" err="1">
                <a:solidFill>
                  <a:srgbClr val="000000"/>
                </a:solidFill>
                <a:highlight>
                  <a:srgbClr val="FFFFFF"/>
                </a:highlight>
                <a:latin typeface="Courier New" pitchFamily="49" charset="0"/>
                <a:cs typeface="Courier New" pitchFamily="49" charset="0"/>
              </a:rPr>
              <a:t>std</a:t>
            </a:r>
            <a:r>
              <a:rPr lang="en-US" sz="1200" dirty="0">
                <a:solidFill>
                  <a:srgbClr val="000000"/>
                </a:solidFill>
                <a:highlight>
                  <a:srgbClr val="FFFFFF"/>
                </a:highlight>
                <a:latin typeface="Courier New" pitchFamily="49" charset="0"/>
                <a:cs typeface="Courier New" pitchFamily="49" charset="0"/>
              </a:rPr>
              <a:t>::</a:t>
            </a:r>
            <a:r>
              <a:rPr lang="en-US" sz="1200" dirty="0">
                <a:solidFill>
                  <a:srgbClr val="2B91AF"/>
                </a:solidFill>
                <a:highlight>
                  <a:srgbClr val="FFFFFF"/>
                </a:highlight>
                <a:latin typeface="Courier New" pitchFamily="49" charset="0"/>
                <a:cs typeface="Courier New" pitchFamily="49" charset="0"/>
              </a:rPr>
              <a:t>thread</a:t>
            </a:r>
            <a:r>
              <a:rPr lang="en-US" sz="1200" dirty="0">
                <a:solidFill>
                  <a:srgbClr val="000000"/>
                </a:solidFill>
                <a:highlight>
                  <a:srgbClr val="FFFFFF"/>
                </a:highlight>
                <a:latin typeface="Courier New" pitchFamily="49" charset="0"/>
                <a:cs typeface="Courier New" pitchFamily="49" charset="0"/>
              </a:rPr>
              <a:t> </a:t>
            </a:r>
            <a:r>
              <a:rPr lang="en-US" sz="1200" dirty="0" smtClean="0">
                <a:solidFill>
                  <a:srgbClr val="000000"/>
                </a:solidFill>
                <a:highlight>
                  <a:srgbClr val="FFFFFF"/>
                </a:highlight>
                <a:latin typeface="Courier New" pitchFamily="49" charset="0"/>
                <a:cs typeface="Courier New" pitchFamily="49" charset="0"/>
              </a:rPr>
              <a:t>t;</a:t>
            </a:r>
          </a:p>
          <a:p>
            <a:pPr marL="0" indent="0">
              <a:buNone/>
            </a:pPr>
            <a:r>
              <a:rPr lang="en-US" sz="1200" dirty="0" smtClean="0">
                <a:solidFill>
                  <a:srgbClr val="008000"/>
                </a:solidFill>
                <a:highlight>
                  <a:srgbClr val="FFFFFF"/>
                </a:highlight>
                <a:latin typeface="Consolas"/>
              </a:rPr>
              <a:t>   // …</a:t>
            </a:r>
            <a:endParaRPr lang="en-US" sz="1200" dirty="0" smtClean="0">
              <a:solidFill>
                <a:srgbClr val="000000"/>
              </a:solidFill>
              <a:highlight>
                <a:srgbClr val="FFFFFF"/>
              </a:highlight>
              <a:latin typeface="Courier New" pitchFamily="49" charset="0"/>
              <a:cs typeface="Courier New" pitchFamily="49" charset="0"/>
            </a:endParaRPr>
          </a:p>
          <a:p>
            <a:pPr marL="0" indent="0">
              <a:buNone/>
            </a:pPr>
            <a:r>
              <a:rPr lang="en-US" sz="1200" dirty="0">
                <a:solidFill>
                  <a:srgbClr val="000000"/>
                </a:solidFill>
                <a:highlight>
                  <a:srgbClr val="FFFFFF"/>
                </a:highlight>
              </a:rPr>
              <a:t> </a:t>
            </a:r>
            <a:r>
              <a:rPr lang="en-US" sz="1200" dirty="0" smtClean="0">
                <a:solidFill>
                  <a:srgbClr val="000000"/>
                </a:solidFill>
                <a:highlight>
                  <a:srgbClr val="FFFFFF"/>
                </a:highlight>
              </a:rPr>
              <a:t>  t = </a:t>
            </a:r>
            <a:r>
              <a:rPr lang="en-US" sz="1200" dirty="0" err="1" smtClean="0">
                <a:solidFill>
                  <a:srgbClr val="000000"/>
                </a:solidFill>
                <a:highlight>
                  <a:srgbClr val="FFFFFF"/>
                </a:highlight>
              </a:rPr>
              <a:t>std</a:t>
            </a:r>
            <a:r>
              <a:rPr lang="en-US" sz="1200" dirty="0">
                <a:solidFill>
                  <a:srgbClr val="000000"/>
                </a:solidFill>
                <a:highlight>
                  <a:srgbClr val="FFFFFF"/>
                </a:highlight>
              </a:rPr>
              <a:t>::</a:t>
            </a:r>
            <a:r>
              <a:rPr lang="en-US" sz="1200" dirty="0" smtClean="0">
                <a:solidFill>
                  <a:srgbClr val="2B91AF"/>
                </a:solidFill>
                <a:highlight>
                  <a:srgbClr val="FFFFFF"/>
                </a:highlight>
              </a:rPr>
              <a:t>thread</a:t>
            </a:r>
            <a:r>
              <a:rPr lang="en-US" sz="1200" dirty="0" smtClean="0">
                <a:solidFill>
                  <a:srgbClr val="000000"/>
                </a:solidFill>
                <a:highlight>
                  <a:srgbClr val="FFFFFF"/>
                </a:highlight>
              </a:rPr>
              <a:t>( </a:t>
            </a:r>
            <a:r>
              <a:rPr lang="en-US" sz="1200" dirty="0">
                <a:solidFill>
                  <a:srgbClr val="000000"/>
                </a:solidFill>
                <a:highlight>
                  <a:srgbClr val="FFFFFF"/>
                </a:highlight>
              </a:rPr>
              <a:t>&amp;</a:t>
            </a:r>
            <a:r>
              <a:rPr lang="en-US" sz="1200" dirty="0" err="1">
                <a:solidFill>
                  <a:srgbClr val="000000"/>
                </a:solidFill>
                <a:highlight>
                  <a:srgbClr val="FFFFFF"/>
                </a:highlight>
              </a:rPr>
              <a:t>non_member_fn</a:t>
            </a:r>
            <a:r>
              <a:rPr lang="en-US" sz="1200" dirty="0">
                <a:solidFill>
                  <a:srgbClr val="000000"/>
                </a:solidFill>
                <a:highlight>
                  <a:srgbClr val="FFFFFF"/>
                </a:highlight>
              </a:rPr>
              <a:t> </a:t>
            </a:r>
            <a:r>
              <a:rPr lang="en-US" sz="1200" dirty="0" smtClean="0">
                <a:solidFill>
                  <a:srgbClr val="000000"/>
                </a:solidFill>
                <a:highlight>
                  <a:srgbClr val="FFFFFF"/>
                </a:highlight>
              </a:rPr>
              <a:t>);</a:t>
            </a:r>
          </a:p>
          <a:p>
            <a:pPr marL="0" indent="0">
              <a:buNone/>
            </a:pPr>
            <a:r>
              <a:rPr lang="en-US" sz="1200" dirty="0" smtClean="0">
                <a:solidFill>
                  <a:srgbClr val="008000"/>
                </a:solidFill>
                <a:highlight>
                  <a:srgbClr val="FFFFFF"/>
                </a:highlight>
                <a:latin typeface="Consolas"/>
              </a:rPr>
              <a:t>   // …</a:t>
            </a:r>
          </a:p>
          <a:p>
            <a:pPr marL="0" indent="0">
              <a:buNone/>
            </a:pPr>
            <a:r>
              <a:rPr lang="en-US" sz="1200" dirty="0">
                <a:solidFill>
                  <a:srgbClr val="008000"/>
                </a:solidFill>
                <a:highlight>
                  <a:srgbClr val="FFFFFF"/>
                </a:highlight>
                <a:latin typeface="Consolas"/>
              </a:rPr>
              <a:t> </a:t>
            </a:r>
            <a:r>
              <a:rPr lang="en-US" sz="1200" dirty="0" smtClean="0">
                <a:solidFill>
                  <a:srgbClr val="008000"/>
                </a:solidFill>
                <a:highlight>
                  <a:srgbClr val="FFFFFF"/>
                </a:highlight>
                <a:latin typeface="Consolas"/>
              </a:rPr>
              <a:t>  </a:t>
            </a:r>
            <a:r>
              <a:rPr lang="en-US" sz="1200" dirty="0" smtClean="0">
                <a:solidFill>
                  <a:srgbClr val="0000FF"/>
                </a:solidFill>
                <a:highlight>
                  <a:srgbClr val="FFFFFF"/>
                </a:highlight>
                <a:latin typeface="Consolas"/>
              </a:rPr>
              <a:t>if</a:t>
            </a:r>
            <a:r>
              <a:rPr lang="en-US" sz="1200" dirty="0" smtClean="0">
                <a:solidFill>
                  <a:srgbClr val="000000"/>
                </a:solidFill>
                <a:highlight>
                  <a:srgbClr val="FFFFFF"/>
                </a:highlight>
                <a:latin typeface="Consolas"/>
              </a:rPr>
              <a:t>( </a:t>
            </a:r>
            <a:r>
              <a:rPr lang="en-US" sz="1200" dirty="0" err="1" smtClean="0">
                <a:solidFill>
                  <a:srgbClr val="000000"/>
                </a:solidFill>
                <a:highlight>
                  <a:srgbClr val="FFFFFF"/>
                </a:highlight>
                <a:latin typeface="Consolas"/>
              </a:rPr>
              <a:t>t.joinable</a:t>
            </a:r>
            <a:r>
              <a:rPr lang="en-US" sz="1200" dirty="0" smtClean="0">
                <a:solidFill>
                  <a:srgbClr val="000000"/>
                </a:solidFill>
                <a:highlight>
                  <a:srgbClr val="FFFFFF"/>
                </a:highlight>
                <a:latin typeface="Consolas"/>
              </a:rPr>
              <a:t>( ))</a:t>
            </a:r>
            <a:endParaRPr lang="en-US" sz="1200" dirty="0">
              <a:solidFill>
                <a:srgbClr val="000000"/>
              </a:solidFill>
              <a:highlight>
                <a:srgbClr val="FFFFFF"/>
              </a:highlight>
              <a:latin typeface="Consolas"/>
            </a:endParaRPr>
          </a:p>
          <a:p>
            <a:pPr marL="0" indent="0">
              <a:buNone/>
            </a:pPr>
            <a:r>
              <a:rPr lang="en-US" sz="1200" dirty="0" smtClean="0">
                <a:solidFill>
                  <a:srgbClr val="000000"/>
                </a:solidFill>
                <a:highlight>
                  <a:srgbClr val="FFFFFF"/>
                </a:highlight>
                <a:latin typeface="Consolas"/>
              </a:rPr>
              <a:t>      </a:t>
            </a:r>
            <a:r>
              <a:rPr lang="en-US" sz="1200" dirty="0" err="1" smtClean="0">
                <a:solidFill>
                  <a:srgbClr val="000000"/>
                </a:solidFill>
                <a:highlight>
                  <a:srgbClr val="FFFFFF"/>
                </a:highlight>
                <a:latin typeface="Consolas"/>
              </a:rPr>
              <a:t>t.join</a:t>
            </a:r>
            <a:r>
              <a:rPr lang="en-US" sz="1200" dirty="0" smtClean="0">
                <a:solidFill>
                  <a:srgbClr val="000000"/>
                </a:solidFill>
                <a:highlight>
                  <a:srgbClr val="FFFFFF"/>
                </a:highlight>
                <a:latin typeface="Consolas"/>
              </a:rPr>
              <a:t>();</a:t>
            </a:r>
          </a:p>
          <a:p>
            <a:pPr marL="0" indent="0">
              <a:buNone/>
            </a:pPr>
            <a:r>
              <a:rPr lang="en-US" sz="1200" dirty="0" smtClean="0">
                <a:solidFill>
                  <a:srgbClr val="000000"/>
                </a:solidFill>
                <a:highlight>
                  <a:srgbClr val="FFFFFF"/>
                </a:highlight>
                <a:latin typeface="Courier New" pitchFamily="49" charset="0"/>
                <a:cs typeface="Courier New" pitchFamily="49" charset="0"/>
              </a:rPr>
              <a:t>}</a:t>
            </a:r>
            <a:endParaRPr lang="en-US" sz="1200" dirty="0">
              <a:latin typeface="Courier New" pitchFamily="49" charset="0"/>
              <a:cs typeface="Courier New" pitchFamily="49" charset="0"/>
            </a:endParaRPr>
          </a:p>
        </p:txBody>
      </p:sp>
      <p:sp>
        <p:nvSpPr>
          <p:cNvPr id="5" name="Content Placeholder 4"/>
          <p:cNvSpPr>
            <a:spLocks noGrp="1"/>
          </p:cNvSpPr>
          <p:nvPr>
            <p:ph sz="half" idx="2"/>
          </p:nvPr>
        </p:nvSpPr>
        <p:spPr>
          <a:xfrm>
            <a:off x="4648200" y="3009900"/>
            <a:ext cx="4038600" cy="3116263"/>
          </a:xfrm>
        </p:spPr>
        <p:txBody>
          <a:bodyPr>
            <a:normAutofit/>
          </a:bodyPr>
          <a:lstStyle/>
          <a:p>
            <a:pPr marL="514350" indent="-514350">
              <a:buFont typeface="+mj-lt"/>
              <a:buAutoNum type="arabicPeriod"/>
            </a:pPr>
            <a:r>
              <a:rPr lang="en-US" dirty="0" smtClean="0"/>
              <a:t>Default constructor does not launch any thread.</a:t>
            </a:r>
          </a:p>
          <a:p>
            <a:pPr marL="514350" indent="-514350">
              <a:buFont typeface="+mj-lt"/>
              <a:buAutoNum type="arabicPeriod"/>
            </a:pPr>
            <a:r>
              <a:rPr lang="en-US" dirty="0" smtClean="0"/>
              <a:t>Create a temporary thread and use move assignment for lazy initialization.</a:t>
            </a:r>
          </a:p>
          <a:p>
            <a:pPr marL="514350" indent="-514350">
              <a:buFont typeface="+mj-lt"/>
              <a:buAutoNum type="arabicPeriod"/>
            </a:pPr>
            <a:r>
              <a:rPr lang="en-US" dirty="0" smtClean="0"/>
              <a:t>Join only if thread is running.</a:t>
            </a:r>
            <a:endParaRPr lang="en-US" dirty="0"/>
          </a:p>
        </p:txBody>
      </p:sp>
      <p:sp>
        <p:nvSpPr>
          <p:cNvPr id="8" name="Dodecagon 7"/>
          <p:cNvSpPr/>
          <p:nvPr/>
        </p:nvSpPr>
        <p:spPr>
          <a:xfrm>
            <a:off x="2638425" y="36957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11" name="Dodecagon 10"/>
          <p:cNvSpPr/>
          <p:nvPr/>
        </p:nvSpPr>
        <p:spPr>
          <a:xfrm>
            <a:off x="4076700" y="413385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12" name="Dodecagon 11"/>
          <p:cNvSpPr/>
          <p:nvPr/>
        </p:nvSpPr>
        <p:spPr>
          <a:xfrm>
            <a:off x="2447925" y="462915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3</a:t>
            </a:r>
            <a:endParaRPr lang="en-US" sz="1400"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8423864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std</a:t>
            </a:r>
            <a:r>
              <a:rPr lang="en-US" dirty="0" smtClean="0"/>
              <a:t>::thread destructor</a:t>
            </a:r>
            <a:endParaRPr lang="en-US" dirty="0"/>
          </a:p>
        </p:txBody>
      </p:sp>
      <p:sp>
        <p:nvSpPr>
          <p:cNvPr id="3" name="Content Placeholder 2"/>
          <p:cNvSpPr>
            <a:spLocks noGrp="1"/>
          </p:cNvSpPr>
          <p:nvPr>
            <p:ph sz="half" idx="1"/>
          </p:nvPr>
        </p:nvSpPr>
        <p:spPr/>
        <p:txBody>
          <a:bodyPr/>
          <a:lstStyle/>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a:t>
            </a:r>
            <a:r>
              <a:rPr lang="en-US" dirty="0" err="1">
                <a:solidFill>
                  <a:srgbClr val="A31515"/>
                </a:solidFill>
                <a:highlight>
                  <a:srgbClr val="FFFFFF"/>
                </a:highlight>
              </a:rPr>
              <a:t>iostream</a:t>
            </a:r>
            <a:r>
              <a:rPr lang="en-US" dirty="0" smtClean="0">
                <a:solidFill>
                  <a:srgbClr val="A31515"/>
                </a:solidFill>
                <a:highlight>
                  <a:srgbClr val="FFFFFF"/>
                </a:highlight>
              </a:rPr>
              <a:t>&gt;</a:t>
            </a:r>
          </a:p>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smtClean="0">
                <a:solidFill>
                  <a:srgbClr val="A31515"/>
                </a:solidFill>
                <a:highlight>
                  <a:srgbClr val="FFFFFF"/>
                </a:highlight>
              </a:rPr>
              <a:t>&lt;</a:t>
            </a:r>
            <a:r>
              <a:rPr lang="en-US" dirty="0" err="1" smtClean="0">
                <a:solidFill>
                  <a:srgbClr val="A31515"/>
                </a:solidFill>
                <a:highlight>
                  <a:srgbClr val="FFFFFF"/>
                </a:highlight>
              </a:rPr>
              <a:t>cassert</a:t>
            </a:r>
            <a:r>
              <a:rPr lang="en-US" dirty="0" smtClean="0">
                <a:solidFill>
                  <a:srgbClr val="A31515"/>
                </a:solidFill>
                <a:highlight>
                  <a:srgbClr val="FFFFFF"/>
                </a:highlight>
              </a:rPr>
              <a:t>&gt;</a:t>
            </a:r>
            <a:endParaRPr lang="en-US" dirty="0">
              <a:solidFill>
                <a:srgbClr val="000000"/>
              </a:solidFill>
              <a:highlight>
                <a:srgbClr val="FFFFFF"/>
              </a:highlight>
            </a:endParaRPr>
          </a:p>
          <a:p>
            <a:pPr marL="0" indent="0">
              <a:buNone/>
            </a:pPr>
            <a:r>
              <a:rPr lang="en-US" dirty="0" smtClean="0">
                <a:solidFill>
                  <a:srgbClr val="0000FF"/>
                </a:solidFill>
                <a:highlight>
                  <a:srgbClr val="FFFFFF"/>
                </a:highlight>
              </a:rPr>
              <a:t>#</a:t>
            </a: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&lt;thread&gt;</a:t>
            </a:r>
            <a:endParaRPr lang="en-US" dirty="0">
              <a:solidFill>
                <a:srgbClr val="000000"/>
              </a:solidFill>
              <a:highlight>
                <a:srgbClr val="FFFFFF"/>
              </a:highlight>
            </a:endParaRP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non_member_fn</a:t>
            </a:r>
            <a:r>
              <a:rPr lang="en-US" dirty="0">
                <a:solidFill>
                  <a:srgbClr val="000000"/>
                </a:solidFill>
                <a:highlight>
                  <a:srgbClr val="FFFFFF"/>
                </a:highlight>
              </a:rPr>
              <a:t>();</a:t>
            </a: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thread_dtor_may_terminate</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a:solidFill>
                  <a:srgbClr val="2B91AF"/>
                </a:solidFill>
                <a:highlight>
                  <a:srgbClr val="FFFFFF"/>
                </a:highlight>
              </a:rPr>
              <a:t>thread</a:t>
            </a:r>
            <a:r>
              <a:rPr lang="en-US" dirty="0">
                <a:solidFill>
                  <a:srgbClr val="000000"/>
                </a:solidFill>
                <a:highlight>
                  <a:srgbClr val="FFFFFF"/>
                </a:highlight>
              </a:rPr>
              <a:t> t( &amp;</a:t>
            </a:r>
            <a:r>
              <a:rPr lang="en-US" dirty="0" err="1">
                <a:solidFill>
                  <a:srgbClr val="000000"/>
                </a:solidFill>
                <a:highlight>
                  <a:srgbClr val="FFFFFF"/>
                </a:highlight>
              </a:rPr>
              <a:t>non_member_fn</a:t>
            </a:r>
            <a:r>
              <a:rPr lang="en-US" dirty="0">
                <a:solidFill>
                  <a:srgbClr val="000000"/>
                </a:solidFill>
                <a:highlight>
                  <a:srgbClr val="FFFFFF"/>
                </a:highlight>
              </a:rPr>
              <a:t> </a:t>
            </a:r>
            <a:r>
              <a:rPr lang="en-US" dirty="0" smtClean="0">
                <a:solidFill>
                  <a:srgbClr val="000000"/>
                </a:solidFill>
                <a:highlight>
                  <a:srgbClr val="FFFFFF"/>
                </a:highlight>
              </a:rPr>
              <a:t>);</a:t>
            </a:r>
          </a:p>
          <a:p>
            <a:pPr marL="0" indent="0">
              <a:buNone/>
            </a:pPr>
            <a:r>
              <a:rPr lang="en-US" dirty="0">
                <a:solidFill>
                  <a:srgbClr val="000000"/>
                </a:solidFill>
                <a:highlight>
                  <a:srgbClr val="FFFFFF"/>
                </a:highlight>
              </a:rPr>
              <a:t> </a:t>
            </a:r>
            <a:r>
              <a:rPr lang="en-US" dirty="0" smtClean="0">
                <a:solidFill>
                  <a:srgbClr val="000000"/>
                </a:solidFill>
                <a:highlight>
                  <a:srgbClr val="FFFFFF"/>
                </a:highlight>
              </a:rPr>
              <a:t>  assert( </a:t>
            </a:r>
            <a:r>
              <a:rPr lang="en-US" dirty="0" err="1" smtClean="0">
                <a:solidFill>
                  <a:srgbClr val="000000"/>
                </a:solidFill>
                <a:highlight>
                  <a:srgbClr val="FFFFFF"/>
                </a:highlight>
              </a:rPr>
              <a:t>t.joinable</a:t>
            </a:r>
            <a:r>
              <a:rPr lang="en-US" dirty="0" smtClean="0">
                <a:solidFill>
                  <a:srgbClr val="000000"/>
                </a:solidFill>
                <a:highlight>
                  <a:srgbClr val="FFFFFF"/>
                </a:highlight>
              </a:rPr>
              <a:t>() );</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a:t>
            </a:r>
            <a:r>
              <a:rPr lang="en-US" dirty="0">
                <a:solidFill>
                  <a:srgbClr val="008000"/>
                </a:solidFill>
                <a:highlight>
                  <a:srgbClr val="FFFFFF"/>
                </a:highlight>
              </a:rPr>
              <a:t>// One of following functions</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a:t>
            </a:r>
            <a:r>
              <a:rPr lang="en-US" dirty="0">
                <a:solidFill>
                  <a:srgbClr val="008000"/>
                </a:solidFill>
                <a:highlight>
                  <a:srgbClr val="FFFFFF"/>
                </a:highlight>
              </a:rPr>
              <a:t>// must be called here!</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a:t>
            </a:r>
            <a:r>
              <a:rPr lang="en-US" dirty="0">
                <a:solidFill>
                  <a:srgbClr val="008000"/>
                </a:solidFill>
                <a:highlight>
                  <a:srgbClr val="FFFFFF"/>
                </a:highlight>
              </a:rPr>
              <a:t>// </a:t>
            </a:r>
            <a:r>
              <a:rPr lang="en-US" dirty="0" err="1">
                <a:solidFill>
                  <a:srgbClr val="008000"/>
                </a:solidFill>
                <a:highlight>
                  <a:srgbClr val="FFFFFF"/>
                </a:highlight>
              </a:rPr>
              <a:t>t.join</a:t>
            </a:r>
            <a:r>
              <a:rPr lang="en-US" dirty="0">
                <a:solidFill>
                  <a:srgbClr val="008000"/>
                </a:solidFill>
                <a:highlight>
                  <a:srgbClr val="FFFFFF"/>
                </a:highlight>
              </a:rPr>
              <a:t>();</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a:t>
            </a:r>
            <a:r>
              <a:rPr lang="en-US" dirty="0">
                <a:solidFill>
                  <a:srgbClr val="008000"/>
                </a:solidFill>
                <a:highlight>
                  <a:srgbClr val="FFFFFF"/>
                </a:highlight>
              </a:rPr>
              <a:t>// </a:t>
            </a:r>
            <a:r>
              <a:rPr lang="en-US" dirty="0" err="1">
                <a:solidFill>
                  <a:srgbClr val="008000"/>
                </a:solidFill>
                <a:highlight>
                  <a:srgbClr val="FFFFFF"/>
                </a:highlight>
              </a:rPr>
              <a:t>t.detach</a:t>
            </a:r>
            <a:r>
              <a:rPr lang="en-US" dirty="0">
                <a:solidFill>
                  <a:srgbClr val="008000"/>
                </a:solidFill>
                <a:highlight>
                  <a:srgbClr val="FFFFFF"/>
                </a:highlight>
              </a:rPr>
              <a:t>();</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cout</a:t>
            </a:r>
            <a:r>
              <a:rPr lang="en-US" dirty="0">
                <a:solidFill>
                  <a:srgbClr val="000000"/>
                </a:solidFill>
                <a:highlight>
                  <a:srgbClr val="FFFFFF"/>
                </a:highlight>
              </a:rPr>
              <a:t> &lt;&lt; </a:t>
            </a:r>
            <a:r>
              <a:rPr lang="en-US" dirty="0">
                <a:solidFill>
                  <a:srgbClr val="A31515"/>
                </a:solidFill>
                <a:highlight>
                  <a:srgbClr val="FFFFFF"/>
                </a:highlight>
              </a:rPr>
              <a:t>"</a:t>
            </a:r>
            <a:r>
              <a:rPr lang="en-US" dirty="0" smtClean="0">
                <a:solidFill>
                  <a:srgbClr val="A31515"/>
                </a:solidFill>
                <a:highlight>
                  <a:srgbClr val="FFFFFF"/>
                </a:highlight>
              </a:rPr>
              <a:t>terminated...\n</a:t>
            </a:r>
            <a:r>
              <a:rPr lang="en-US" dirty="0">
                <a:solidFill>
                  <a:srgbClr val="A31515"/>
                </a:solidFill>
                <a:highlight>
                  <a:srgbClr val="FFFFFF"/>
                </a:highlight>
              </a:rPr>
              <a:t>"</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endParaRPr lang="en-US" dirty="0"/>
          </a:p>
        </p:txBody>
      </p:sp>
      <p:sp>
        <p:nvSpPr>
          <p:cNvPr id="4" name="Content Placeholder 3"/>
          <p:cNvSpPr>
            <a:spLocks noGrp="1"/>
          </p:cNvSpPr>
          <p:nvPr>
            <p:ph sz="half" idx="2"/>
          </p:nvPr>
        </p:nvSpPr>
        <p:spPr/>
        <p:txBody>
          <a:bodyPr/>
          <a:lstStyle/>
          <a:p>
            <a:r>
              <a:rPr lang="en-US" dirty="0" smtClean="0"/>
              <a:t>Destructor of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::thread </a:t>
            </a:r>
            <a:r>
              <a:rPr lang="en-US" dirty="0" smtClean="0"/>
              <a:t>calls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::terminate </a:t>
            </a:r>
            <a:r>
              <a:rPr lang="en-US" dirty="0" smtClean="0"/>
              <a:t>if the thread is still in </a:t>
            </a:r>
            <a:r>
              <a:rPr lang="en-US" dirty="0" smtClean="0">
                <a:latin typeface="Courier New" pitchFamily="49" charset="0"/>
                <a:cs typeface="Courier New" pitchFamily="49" charset="0"/>
              </a:rPr>
              <a:t>joinable</a:t>
            </a:r>
            <a:r>
              <a:rPr lang="en-US" dirty="0" smtClean="0"/>
              <a:t> state.</a:t>
            </a:r>
          </a:p>
          <a:p>
            <a:r>
              <a:rPr lang="en-US" dirty="0" smtClean="0"/>
              <a:t>Once you’ve started a thread, you have to explicitly call either </a:t>
            </a:r>
            <a:r>
              <a:rPr lang="en-US" dirty="0" smtClean="0">
                <a:latin typeface="Courier New" pitchFamily="49" charset="0"/>
                <a:cs typeface="Courier New" pitchFamily="49" charset="0"/>
              </a:rPr>
              <a:t>join</a:t>
            </a:r>
            <a:r>
              <a:rPr lang="en-US" dirty="0" smtClean="0"/>
              <a:t> or </a:t>
            </a:r>
            <a:r>
              <a:rPr lang="en-US" dirty="0" smtClean="0">
                <a:latin typeface="Courier New" pitchFamily="49" charset="0"/>
                <a:cs typeface="Courier New" pitchFamily="49" charset="0"/>
              </a:rPr>
              <a:t>detach</a:t>
            </a:r>
            <a:r>
              <a:rPr lang="en-US" dirty="0" smtClean="0"/>
              <a:t> methods.</a:t>
            </a:r>
          </a:p>
          <a:p>
            <a:r>
              <a:rPr lang="en-US" dirty="0" smtClean="0"/>
              <a:t>It must be ensured even in the presence of exceptions!</a:t>
            </a:r>
            <a:endParaRPr lang="en-US"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22354472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Fork and join</a:t>
            </a:r>
            <a:endParaRPr lang="en-US" dirty="0"/>
          </a:p>
        </p:txBody>
      </p:sp>
      <p:sp>
        <p:nvSpPr>
          <p:cNvPr id="5" name="Content Placeholder 4"/>
          <p:cNvSpPr>
            <a:spLocks noGrp="1"/>
          </p:cNvSpPr>
          <p:nvPr>
            <p:ph idx="1"/>
          </p:nvPr>
        </p:nvSpPr>
        <p:spPr>
          <a:xfrm>
            <a:off x="4495800" y="1600200"/>
            <a:ext cx="4191000" cy="4525963"/>
          </a:xfrm>
        </p:spPr>
        <p:txBody>
          <a:bodyPr/>
          <a:lstStyle/>
          <a:p>
            <a:r>
              <a:rPr lang="en-US" dirty="0" smtClean="0"/>
              <a:t>Thread constructor makes a fork.</a:t>
            </a:r>
          </a:p>
          <a:p>
            <a:r>
              <a:rPr lang="en-US" dirty="0" smtClean="0"/>
              <a:t>Threads run in parallel until join is called.</a:t>
            </a:r>
            <a:endParaRPr lang="en-US" dirty="0"/>
          </a:p>
        </p:txBody>
      </p:sp>
      <p:sp>
        <p:nvSpPr>
          <p:cNvPr id="6" name="Rectangle 5"/>
          <p:cNvSpPr/>
          <p:nvPr/>
        </p:nvSpPr>
        <p:spPr>
          <a:xfrm>
            <a:off x="1941759" y="1698266"/>
            <a:ext cx="762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Fork</a:t>
            </a:r>
            <a:endParaRPr lang="en-US" dirty="0"/>
          </a:p>
        </p:txBody>
      </p:sp>
      <p:sp>
        <p:nvSpPr>
          <p:cNvPr id="7" name="Rectangle 6"/>
          <p:cNvSpPr/>
          <p:nvPr/>
        </p:nvSpPr>
        <p:spPr>
          <a:xfrm>
            <a:off x="1941759" y="5047863"/>
            <a:ext cx="762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Join</a:t>
            </a:r>
            <a:endParaRPr lang="en-US" dirty="0"/>
          </a:p>
        </p:txBody>
      </p:sp>
      <p:cxnSp>
        <p:nvCxnSpPr>
          <p:cNvPr id="9" name="Straight Arrow Connector 8"/>
          <p:cNvCxnSpPr/>
          <p:nvPr/>
        </p:nvCxnSpPr>
        <p:spPr>
          <a:xfrm>
            <a:off x="1371600" y="1517852"/>
            <a:ext cx="0" cy="74506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668867" y="2262919"/>
            <a:ext cx="702733" cy="7027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371600" y="2262919"/>
            <a:ext cx="702733" cy="7027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68867" y="2965652"/>
            <a:ext cx="0" cy="1447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074333" y="2965652"/>
            <a:ext cx="0" cy="1447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68867" y="4413452"/>
            <a:ext cx="685800" cy="685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1388533" y="4413452"/>
            <a:ext cx="685800" cy="685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1371600" y="5099252"/>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 name="Date Placeholder 2"/>
          <p:cNvSpPr>
            <a:spLocks noGrp="1"/>
          </p:cNvSpPr>
          <p:nvPr>
            <p:ph type="dt" sz="half" idx="10"/>
          </p:nvPr>
        </p:nvSpPr>
        <p:spPr/>
        <p:txBody>
          <a:bodyPr/>
          <a:lstStyle/>
          <a:p>
            <a:r>
              <a:rPr lang="cs-CZ" smtClean="0"/>
              <a:t>19.1.2014</a:t>
            </a:r>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0050913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 creation overhead</a:t>
            </a:r>
            <a:endParaRPr lang="en-US" dirty="0"/>
          </a:p>
        </p:txBody>
      </p:sp>
      <p:sp>
        <p:nvSpPr>
          <p:cNvPr id="3" name="Content Placeholder 2"/>
          <p:cNvSpPr>
            <a:spLocks noGrp="1"/>
          </p:cNvSpPr>
          <p:nvPr>
            <p:ph idx="1"/>
          </p:nvPr>
        </p:nvSpPr>
        <p:spPr>
          <a:xfrm>
            <a:off x="4572000" y="1600200"/>
            <a:ext cx="4114800" cy="4525963"/>
          </a:xfrm>
        </p:spPr>
        <p:txBody>
          <a:bodyPr/>
          <a:lstStyle/>
          <a:p>
            <a:r>
              <a:rPr lang="en-US" dirty="0" smtClean="0"/>
              <a:t>Creating a thread is expensive.</a:t>
            </a:r>
          </a:p>
          <a:p>
            <a:r>
              <a:rPr lang="en-US" dirty="0" smtClean="0"/>
              <a:t>Join usually blocks calling thread.</a:t>
            </a:r>
          </a:p>
          <a:p>
            <a:r>
              <a:rPr lang="en-US" dirty="0" smtClean="0"/>
              <a:t>Thread creation overhead is avoided by thread pools.</a:t>
            </a:r>
            <a:endParaRPr lang="en-US" dirty="0"/>
          </a:p>
        </p:txBody>
      </p:sp>
      <p:cxnSp>
        <p:nvCxnSpPr>
          <p:cNvPr id="5" name="Straight Arrow Connector 4"/>
          <p:cNvCxnSpPr/>
          <p:nvPr/>
        </p:nvCxnSpPr>
        <p:spPr>
          <a:xfrm>
            <a:off x="1684361" y="1828800"/>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1684361" y="2590800"/>
            <a:ext cx="0" cy="685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84361" y="2590800"/>
            <a:ext cx="685800" cy="68580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370161" y="3276600"/>
            <a:ext cx="0" cy="68580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370161" y="3962400"/>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684361" y="4724400"/>
            <a:ext cx="685800" cy="685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684361" y="3276600"/>
            <a:ext cx="0" cy="213360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1684361" y="5410200"/>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590800" y="2980289"/>
            <a:ext cx="1828800" cy="523220"/>
          </a:xfrm>
          <a:prstGeom prst="rect">
            <a:avLst/>
          </a:prstGeom>
          <a:noFill/>
        </p:spPr>
        <p:txBody>
          <a:bodyPr wrap="square" rtlCol="0">
            <a:spAutoFit/>
          </a:bodyPr>
          <a:lstStyle/>
          <a:p>
            <a:r>
              <a:rPr lang="en-US" sz="1400" dirty="0" smtClean="0">
                <a:solidFill>
                  <a:schemeClr val="accent6">
                    <a:lumMod val="75000"/>
                  </a:schemeClr>
                </a:solidFill>
              </a:rPr>
              <a:t>Thread creation overhead</a:t>
            </a:r>
            <a:endParaRPr lang="en-US" sz="1400" dirty="0">
              <a:solidFill>
                <a:schemeClr val="accent6">
                  <a:lumMod val="75000"/>
                </a:schemeClr>
              </a:solidFill>
            </a:endParaRPr>
          </a:p>
        </p:txBody>
      </p:sp>
      <p:sp>
        <p:nvSpPr>
          <p:cNvPr id="23" name="TextBox 22"/>
          <p:cNvSpPr txBox="1"/>
          <p:nvPr/>
        </p:nvSpPr>
        <p:spPr>
          <a:xfrm>
            <a:off x="175457" y="3886200"/>
            <a:ext cx="1424743" cy="307777"/>
          </a:xfrm>
          <a:prstGeom prst="rect">
            <a:avLst/>
          </a:prstGeom>
          <a:noFill/>
        </p:spPr>
        <p:txBody>
          <a:bodyPr wrap="square" rtlCol="0">
            <a:spAutoFit/>
          </a:bodyPr>
          <a:lstStyle/>
          <a:p>
            <a:r>
              <a:rPr lang="en-US" sz="1400" dirty="0" smtClean="0">
                <a:solidFill>
                  <a:schemeClr val="accent6">
                    <a:lumMod val="75000"/>
                  </a:schemeClr>
                </a:solidFill>
              </a:rPr>
              <a:t>Thread blocked</a:t>
            </a:r>
            <a:endParaRPr lang="en-US" sz="1400" dirty="0">
              <a:solidFill>
                <a:schemeClr val="accent6">
                  <a:lumMod val="75000"/>
                </a:schemeClr>
              </a:solidFill>
            </a:endParaRPr>
          </a:p>
        </p:txBody>
      </p:sp>
      <p:sp>
        <p:nvSpPr>
          <p:cNvPr id="24" name="TextBox 23"/>
          <p:cNvSpPr txBox="1"/>
          <p:nvPr/>
        </p:nvSpPr>
        <p:spPr>
          <a:xfrm>
            <a:off x="240102" y="2436911"/>
            <a:ext cx="1219200" cy="307777"/>
          </a:xfrm>
          <a:prstGeom prst="rect">
            <a:avLst/>
          </a:prstGeom>
          <a:noFill/>
        </p:spPr>
        <p:txBody>
          <a:bodyPr wrap="square" rtlCol="0">
            <a:spAutoFit/>
          </a:bodyPr>
          <a:lstStyle/>
          <a:p>
            <a:pPr algn="r"/>
            <a:r>
              <a:rPr lang="en-US" sz="1400" dirty="0" err="1"/>
              <a:t>s</a:t>
            </a:r>
            <a:r>
              <a:rPr lang="en-US" sz="1400" dirty="0" err="1" smtClean="0"/>
              <a:t>td</a:t>
            </a:r>
            <a:r>
              <a:rPr lang="en-US" sz="1400" dirty="0" smtClean="0"/>
              <a:t>::thread</a:t>
            </a:r>
            <a:endParaRPr lang="en-US" sz="1400" dirty="0"/>
          </a:p>
        </p:txBody>
      </p:sp>
      <p:sp>
        <p:nvSpPr>
          <p:cNvPr id="25" name="TextBox 24"/>
          <p:cNvSpPr txBox="1"/>
          <p:nvPr/>
        </p:nvSpPr>
        <p:spPr>
          <a:xfrm>
            <a:off x="240102" y="3122711"/>
            <a:ext cx="1219200" cy="307777"/>
          </a:xfrm>
          <a:prstGeom prst="rect">
            <a:avLst/>
          </a:prstGeom>
          <a:noFill/>
        </p:spPr>
        <p:txBody>
          <a:bodyPr wrap="square" rtlCol="0">
            <a:spAutoFit/>
          </a:bodyPr>
          <a:lstStyle/>
          <a:p>
            <a:pPr algn="r"/>
            <a:r>
              <a:rPr lang="en-US" sz="1400" dirty="0" smtClean="0"/>
              <a:t>join</a:t>
            </a:r>
            <a:endParaRPr lang="en-US" sz="1400"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3396215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 barrier</a:t>
            </a:r>
            <a:endParaRPr lang="en-US" dirty="0"/>
          </a:p>
        </p:txBody>
      </p:sp>
      <p:sp>
        <p:nvSpPr>
          <p:cNvPr id="3" name="Content Placeholder 2"/>
          <p:cNvSpPr>
            <a:spLocks noGrp="1"/>
          </p:cNvSpPr>
          <p:nvPr>
            <p:ph idx="1"/>
          </p:nvPr>
        </p:nvSpPr>
        <p:spPr>
          <a:xfrm>
            <a:off x="4572000" y="1600200"/>
            <a:ext cx="4343400" cy="4525963"/>
          </a:xfrm>
        </p:spPr>
        <p:txBody>
          <a:bodyPr>
            <a:normAutofit fontScale="55000" lnSpcReduction="20000"/>
          </a:bodyPr>
          <a:lstStyle/>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thread_barrier</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vector</a:t>
            </a:r>
            <a:r>
              <a:rPr lang="en-US" dirty="0">
                <a:solidFill>
                  <a:srgbClr val="000000"/>
                </a:solidFill>
                <a:highlight>
                  <a:srgbClr val="FFFFFF"/>
                </a:highlight>
                <a:latin typeface="Consolas"/>
              </a:rPr>
              <a:t>&lt;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&gt; v;</a:t>
            </a:r>
          </a:p>
          <a:p>
            <a:pPr marL="0" indent="0">
              <a:buNone/>
            </a:pP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for</a:t>
            </a: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int</a:t>
            </a:r>
            <a:r>
              <a:rPr lang="nn-NO" dirty="0">
                <a:solidFill>
                  <a:srgbClr val="000000"/>
                </a:solidFill>
                <a:highlight>
                  <a:srgbClr val="FFFFFF"/>
                </a:highlight>
                <a:latin typeface="Consolas"/>
              </a:rPr>
              <a:t> i=0; i&lt;10; ++i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v.emplace_back</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"thread "</a:t>
            </a:r>
            <a:r>
              <a:rPr lang="en-US" dirty="0">
                <a:solidFill>
                  <a:srgbClr val="000000"/>
                </a:solidFill>
                <a:highlight>
                  <a:srgbClr val="FFFFFF"/>
                </a:highlight>
                <a:latin typeface="Consolas"/>
              </a:rPr>
              <a:t> </a:t>
            </a:r>
            <a:endParaRPr lang="en-US" dirty="0" smtClean="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&lt;&lt; </a:t>
            </a:r>
            <a:r>
              <a:rPr lang="en-US" dirty="0" err="1">
                <a:solidFill>
                  <a:srgbClr val="000000"/>
                </a:solidFill>
                <a:highlight>
                  <a:srgbClr val="FFFFFF"/>
                </a:highlight>
                <a:latin typeface="Consolas"/>
              </a:rPr>
              <a:t>i</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smtClean="0">
                <a:solidFill>
                  <a:srgbClr val="A31515"/>
                </a:solidFill>
                <a:highlight>
                  <a:srgbClr val="FFFFFF"/>
                </a:highlight>
                <a:latin typeface="Consolas"/>
              </a:rPr>
              <a:t>“barrier\n</a:t>
            </a:r>
            <a:r>
              <a:rPr lang="en-US" dirty="0">
                <a:solidFill>
                  <a:srgbClr val="A31515"/>
                </a:solidFill>
                <a:highlight>
                  <a:srgbClr val="FFFFFF"/>
                </a:highlight>
                <a:latin typeface="Consolas"/>
              </a:rPr>
              <a: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for</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&amp; t : v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endParaRPr lang="en-US" dirty="0"/>
          </a:p>
        </p:txBody>
      </p:sp>
      <p:cxnSp>
        <p:nvCxnSpPr>
          <p:cNvPr id="5" name="Straight Arrow Connector 4"/>
          <p:cNvCxnSpPr/>
          <p:nvPr/>
        </p:nvCxnSpPr>
        <p:spPr>
          <a:xfrm>
            <a:off x="1828800" y="2015947"/>
            <a:ext cx="0" cy="685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381000" y="2701747"/>
            <a:ext cx="1447800" cy="685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1143000" y="2701747"/>
            <a:ext cx="685800" cy="685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828800" y="2701747"/>
            <a:ext cx="0" cy="2209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828800" y="2701747"/>
            <a:ext cx="685800" cy="685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828800" y="2701747"/>
            <a:ext cx="1447800" cy="685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81000" y="3387547"/>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1143000" y="3387547"/>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2514600" y="3387547"/>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3276600" y="3387547"/>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381000" y="4149547"/>
            <a:ext cx="1447800" cy="762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1143000" y="4149547"/>
            <a:ext cx="685800" cy="762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1828800" y="4149547"/>
            <a:ext cx="685800" cy="762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1828800" y="4149547"/>
            <a:ext cx="1447800" cy="762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1828800" y="4911547"/>
            <a:ext cx="0" cy="685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2438400" y="2247750"/>
            <a:ext cx="838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Fork</a:t>
            </a:r>
            <a:endParaRPr lang="en-US" dirty="0"/>
          </a:p>
        </p:txBody>
      </p:sp>
      <p:sp>
        <p:nvSpPr>
          <p:cNvPr id="46" name="Rectangle 45"/>
          <p:cNvSpPr/>
          <p:nvPr/>
        </p:nvSpPr>
        <p:spPr>
          <a:xfrm>
            <a:off x="2438400" y="4911547"/>
            <a:ext cx="838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Barrier</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5074726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Non-determinism</a:t>
            </a:r>
            <a:endParaRPr lang="en-US" dirty="0"/>
          </a:p>
        </p:txBody>
      </p:sp>
      <p:sp>
        <p:nvSpPr>
          <p:cNvPr id="3" name="Content Placeholder 2"/>
          <p:cNvSpPr>
            <a:spLocks noGrp="1"/>
          </p:cNvSpPr>
          <p:nvPr>
            <p:ph idx="1"/>
          </p:nvPr>
        </p:nvSpPr>
        <p:spPr>
          <a:xfrm>
            <a:off x="4572000" y="1600200"/>
            <a:ext cx="4114800" cy="4525963"/>
          </a:xfrm>
        </p:spPr>
        <p:txBody>
          <a:bodyPr>
            <a:normAutofit lnSpcReduction="10000"/>
          </a:bodyPr>
          <a:lstStyle/>
          <a:p>
            <a:r>
              <a:rPr lang="en-US" dirty="0" smtClean="0"/>
              <a:t>Concurrent programs are not deterministic.</a:t>
            </a:r>
          </a:p>
          <a:p>
            <a:r>
              <a:rPr lang="en-US" dirty="0" smtClean="0"/>
              <a:t>Every time the previous sample is run, the result is different.</a:t>
            </a:r>
          </a:p>
          <a:p>
            <a:r>
              <a:rPr lang="en-US" dirty="0" smtClean="0"/>
              <a:t>Access to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cout</a:t>
            </a:r>
            <a:r>
              <a:rPr lang="en-US" dirty="0" smtClean="0"/>
              <a:t> needs to be synchronized.</a:t>
            </a:r>
            <a:endParaRPr lang="en-US" dirty="0"/>
          </a:p>
        </p:txBody>
      </p:sp>
      <p:sp>
        <p:nvSpPr>
          <p:cNvPr id="12" name="TextBox 11"/>
          <p:cNvSpPr txBox="1"/>
          <p:nvPr/>
        </p:nvSpPr>
        <p:spPr>
          <a:xfrm>
            <a:off x="254509" y="1676400"/>
            <a:ext cx="1295400" cy="2123658"/>
          </a:xfrm>
          <a:prstGeom prst="rect">
            <a:avLst/>
          </a:prstGeom>
          <a:noFill/>
        </p:spPr>
        <p:txBody>
          <a:bodyPr wrap="square" rtlCol="0">
            <a:spAutoFit/>
          </a:bodyPr>
          <a:lstStyle/>
          <a:p>
            <a:r>
              <a:rPr lang="en-US" sz="1200" dirty="0"/>
              <a:t>thread </a:t>
            </a:r>
            <a:r>
              <a:rPr lang="en-US" sz="1200" dirty="0" err="1"/>
              <a:t>thread</a:t>
            </a:r>
            <a:r>
              <a:rPr lang="en-US" sz="1200" dirty="0"/>
              <a:t> 5</a:t>
            </a:r>
          </a:p>
          <a:p>
            <a:r>
              <a:rPr lang="en-US" sz="1200" dirty="0"/>
              <a:t>thread 1</a:t>
            </a:r>
          </a:p>
          <a:p>
            <a:r>
              <a:rPr lang="en-US" sz="1200" dirty="0"/>
              <a:t>thread 3</a:t>
            </a:r>
          </a:p>
          <a:p>
            <a:r>
              <a:rPr lang="en-US" sz="1200" dirty="0"/>
              <a:t>0</a:t>
            </a:r>
          </a:p>
          <a:p>
            <a:r>
              <a:rPr lang="en-US" sz="1200" dirty="0"/>
              <a:t>thread 6</a:t>
            </a:r>
          </a:p>
          <a:p>
            <a:r>
              <a:rPr lang="en-US" sz="1200" dirty="0"/>
              <a:t>thread 8</a:t>
            </a:r>
          </a:p>
          <a:p>
            <a:r>
              <a:rPr lang="en-US" sz="1200" dirty="0"/>
              <a:t>thread 2</a:t>
            </a:r>
          </a:p>
          <a:p>
            <a:r>
              <a:rPr lang="en-US" sz="1200" dirty="0"/>
              <a:t>thread 7</a:t>
            </a:r>
          </a:p>
          <a:p>
            <a:r>
              <a:rPr lang="en-US" sz="1200" dirty="0"/>
              <a:t>thread 4</a:t>
            </a:r>
          </a:p>
          <a:p>
            <a:r>
              <a:rPr lang="en-US" sz="1200" dirty="0"/>
              <a:t>thread 9</a:t>
            </a:r>
          </a:p>
          <a:p>
            <a:r>
              <a:rPr lang="en-US" sz="1200" dirty="0"/>
              <a:t>main</a:t>
            </a:r>
          </a:p>
        </p:txBody>
      </p:sp>
      <p:sp>
        <p:nvSpPr>
          <p:cNvPr id="13" name="TextBox 12"/>
          <p:cNvSpPr txBox="1"/>
          <p:nvPr/>
        </p:nvSpPr>
        <p:spPr>
          <a:xfrm>
            <a:off x="1702309" y="1676400"/>
            <a:ext cx="1295400" cy="2123658"/>
          </a:xfrm>
          <a:prstGeom prst="rect">
            <a:avLst/>
          </a:prstGeom>
          <a:noFill/>
        </p:spPr>
        <p:txBody>
          <a:bodyPr wrap="square" rtlCol="0">
            <a:spAutoFit/>
          </a:bodyPr>
          <a:lstStyle/>
          <a:p>
            <a:r>
              <a:rPr lang="en-US" sz="1200" dirty="0"/>
              <a:t>thread </a:t>
            </a:r>
            <a:r>
              <a:rPr lang="en-US" sz="1200" dirty="0" err="1"/>
              <a:t>thread</a:t>
            </a:r>
            <a:r>
              <a:rPr lang="en-US" sz="1200" dirty="0"/>
              <a:t> 1</a:t>
            </a:r>
          </a:p>
          <a:p>
            <a:r>
              <a:rPr lang="en-US" sz="1200" dirty="0"/>
              <a:t>thread 9</a:t>
            </a:r>
          </a:p>
          <a:p>
            <a:r>
              <a:rPr lang="en-US" sz="1200" dirty="0"/>
              <a:t>thread 6</a:t>
            </a:r>
          </a:p>
          <a:p>
            <a:r>
              <a:rPr lang="en-US" sz="1200" dirty="0"/>
              <a:t>thread 8</a:t>
            </a:r>
          </a:p>
          <a:p>
            <a:r>
              <a:rPr lang="en-US" sz="1200" dirty="0"/>
              <a:t>main</a:t>
            </a:r>
          </a:p>
          <a:p>
            <a:r>
              <a:rPr lang="en-US" sz="1200" dirty="0"/>
              <a:t>thread 4</a:t>
            </a:r>
          </a:p>
          <a:p>
            <a:r>
              <a:rPr lang="en-US" sz="1200" dirty="0"/>
              <a:t>thread 2</a:t>
            </a:r>
          </a:p>
          <a:p>
            <a:r>
              <a:rPr lang="en-US" sz="1200" dirty="0"/>
              <a:t>thread 5</a:t>
            </a:r>
          </a:p>
          <a:p>
            <a:r>
              <a:rPr lang="en-US" sz="1200" dirty="0"/>
              <a:t>thread 3</a:t>
            </a:r>
          </a:p>
          <a:p>
            <a:r>
              <a:rPr lang="en-US" sz="1200" dirty="0"/>
              <a:t>0</a:t>
            </a:r>
          </a:p>
          <a:p>
            <a:r>
              <a:rPr lang="en-US" sz="1200" dirty="0"/>
              <a:t>thread 7</a:t>
            </a:r>
          </a:p>
        </p:txBody>
      </p:sp>
      <p:sp>
        <p:nvSpPr>
          <p:cNvPr id="14" name="TextBox 13"/>
          <p:cNvSpPr txBox="1"/>
          <p:nvPr/>
        </p:nvSpPr>
        <p:spPr>
          <a:xfrm>
            <a:off x="254509" y="4191000"/>
            <a:ext cx="1295400" cy="2123658"/>
          </a:xfrm>
          <a:prstGeom prst="rect">
            <a:avLst/>
          </a:prstGeom>
          <a:noFill/>
        </p:spPr>
        <p:txBody>
          <a:bodyPr wrap="square" rtlCol="0">
            <a:spAutoFit/>
          </a:bodyPr>
          <a:lstStyle/>
          <a:p>
            <a:r>
              <a:rPr lang="en-US" sz="1200" dirty="0"/>
              <a:t>thread </a:t>
            </a:r>
            <a:r>
              <a:rPr lang="en-US" sz="1200" dirty="0" err="1"/>
              <a:t>thread</a:t>
            </a:r>
            <a:r>
              <a:rPr lang="en-US" sz="1200" dirty="0"/>
              <a:t> 4</a:t>
            </a:r>
          </a:p>
          <a:p>
            <a:r>
              <a:rPr lang="en-US" sz="1200" dirty="0"/>
              <a:t>thread 3</a:t>
            </a:r>
          </a:p>
          <a:p>
            <a:r>
              <a:rPr lang="en-US" sz="1200" dirty="0"/>
              <a:t>thread 6</a:t>
            </a:r>
          </a:p>
          <a:p>
            <a:r>
              <a:rPr lang="en-US" sz="1200" dirty="0"/>
              <a:t>thread 8</a:t>
            </a:r>
          </a:p>
          <a:p>
            <a:r>
              <a:rPr lang="en-US" sz="1200" dirty="0"/>
              <a:t>main</a:t>
            </a:r>
          </a:p>
          <a:p>
            <a:r>
              <a:rPr lang="en-US" sz="1200" dirty="0"/>
              <a:t>0</a:t>
            </a:r>
          </a:p>
          <a:p>
            <a:r>
              <a:rPr lang="en-US" sz="1200" dirty="0"/>
              <a:t>thread 7</a:t>
            </a:r>
          </a:p>
          <a:p>
            <a:r>
              <a:rPr lang="en-US" sz="1200" dirty="0"/>
              <a:t>thread 2</a:t>
            </a:r>
          </a:p>
          <a:p>
            <a:r>
              <a:rPr lang="en-US" sz="1200" dirty="0"/>
              <a:t>thread 9</a:t>
            </a:r>
          </a:p>
          <a:p>
            <a:r>
              <a:rPr lang="en-US" sz="1200" dirty="0"/>
              <a:t>thread 5</a:t>
            </a:r>
          </a:p>
          <a:p>
            <a:r>
              <a:rPr lang="en-US" sz="1200" dirty="0"/>
              <a:t>thread 1</a:t>
            </a:r>
          </a:p>
        </p:txBody>
      </p:sp>
      <p:sp>
        <p:nvSpPr>
          <p:cNvPr id="15" name="TextBox 14"/>
          <p:cNvSpPr txBox="1"/>
          <p:nvPr/>
        </p:nvSpPr>
        <p:spPr>
          <a:xfrm>
            <a:off x="1702309" y="4191000"/>
            <a:ext cx="1909877" cy="2123658"/>
          </a:xfrm>
          <a:prstGeom prst="rect">
            <a:avLst/>
          </a:prstGeom>
          <a:noFill/>
        </p:spPr>
        <p:txBody>
          <a:bodyPr wrap="square" rtlCol="0">
            <a:spAutoFit/>
          </a:bodyPr>
          <a:lstStyle/>
          <a:p>
            <a:r>
              <a:rPr lang="en-US" sz="1200" dirty="0"/>
              <a:t>thread 0</a:t>
            </a:r>
          </a:p>
          <a:p>
            <a:r>
              <a:rPr lang="en-US" sz="1200" dirty="0"/>
              <a:t>thread 2</a:t>
            </a:r>
          </a:p>
          <a:p>
            <a:r>
              <a:rPr lang="en-US" sz="1200" dirty="0"/>
              <a:t>thread 4</a:t>
            </a:r>
          </a:p>
          <a:p>
            <a:r>
              <a:rPr lang="en-US" sz="1200" dirty="0"/>
              <a:t>thread 3thread 6thread 7</a:t>
            </a:r>
          </a:p>
          <a:p>
            <a:r>
              <a:rPr lang="en-US" sz="1200" dirty="0"/>
              <a:t>main</a:t>
            </a:r>
          </a:p>
          <a:p>
            <a:r>
              <a:rPr lang="en-US" sz="1200" dirty="0"/>
              <a:t>thread 5</a:t>
            </a:r>
          </a:p>
          <a:p>
            <a:endParaRPr lang="en-US" sz="1200" dirty="0"/>
          </a:p>
          <a:p>
            <a:r>
              <a:rPr lang="en-US" sz="1200" dirty="0"/>
              <a:t>thread 8</a:t>
            </a:r>
          </a:p>
          <a:p>
            <a:endParaRPr lang="en-US" sz="1200" dirty="0"/>
          </a:p>
          <a:p>
            <a:r>
              <a:rPr lang="en-US" sz="1200" dirty="0"/>
              <a:t>thread 9</a:t>
            </a:r>
          </a:p>
          <a:p>
            <a:r>
              <a:rPr lang="en-US" sz="1200" dirty="0"/>
              <a:t>thread 1</a:t>
            </a:r>
          </a:p>
        </p:txBody>
      </p:sp>
      <p:sp>
        <p:nvSpPr>
          <p:cNvPr id="16" name="TextBox 15"/>
          <p:cNvSpPr txBox="1"/>
          <p:nvPr/>
        </p:nvSpPr>
        <p:spPr>
          <a:xfrm>
            <a:off x="1702309" y="1297838"/>
            <a:ext cx="914400" cy="381000"/>
          </a:xfrm>
          <a:prstGeom prst="rect">
            <a:avLst/>
          </a:prstGeom>
          <a:noFill/>
        </p:spPr>
        <p:txBody>
          <a:bodyPr wrap="square" rtlCol="0">
            <a:spAutoFit/>
          </a:bodyPr>
          <a:lstStyle/>
          <a:p>
            <a:r>
              <a:rPr lang="en-US" b="1" dirty="0" smtClean="0"/>
              <a:t>RUN #2</a:t>
            </a:r>
            <a:endParaRPr lang="en-US" b="1" dirty="0"/>
          </a:p>
        </p:txBody>
      </p:sp>
      <p:sp>
        <p:nvSpPr>
          <p:cNvPr id="17" name="TextBox 16"/>
          <p:cNvSpPr txBox="1"/>
          <p:nvPr/>
        </p:nvSpPr>
        <p:spPr>
          <a:xfrm>
            <a:off x="254509" y="1297838"/>
            <a:ext cx="914400" cy="381000"/>
          </a:xfrm>
          <a:prstGeom prst="rect">
            <a:avLst/>
          </a:prstGeom>
          <a:noFill/>
        </p:spPr>
        <p:txBody>
          <a:bodyPr wrap="square" rtlCol="0">
            <a:spAutoFit/>
          </a:bodyPr>
          <a:lstStyle/>
          <a:p>
            <a:r>
              <a:rPr lang="en-US" b="1" dirty="0" smtClean="0"/>
              <a:t>RUN #1</a:t>
            </a:r>
            <a:endParaRPr lang="en-US" b="1" dirty="0"/>
          </a:p>
        </p:txBody>
      </p:sp>
      <p:sp>
        <p:nvSpPr>
          <p:cNvPr id="18" name="TextBox 17"/>
          <p:cNvSpPr txBox="1"/>
          <p:nvPr/>
        </p:nvSpPr>
        <p:spPr>
          <a:xfrm>
            <a:off x="254509" y="3810000"/>
            <a:ext cx="914400" cy="381000"/>
          </a:xfrm>
          <a:prstGeom prst="rect">
            <a:avLst/>
          </a:prstGeom>
          <a:noFill/>
        </p:spPr>
        <p:txBody>
          <a:bodyPr wrap="square" rtlCol="0">
            <a:spAutoFit/>
          </a:bodyPr>
          <a:lstStyle/>
          <a:p>
            <a:r>
              <a:rPr lang="en-US" b="1" dirty="0" smtClean="0"/>
              <a:t>RUN #3</a:t>
            </a:r>
            <a:endParaRPr lang="en-US" b="1" dirty="0"/>
          </a:p>
        </p:txBody>
      </p:sp>
      <p:sp>
        <p:nvSpPr>
          <p:cNvPr id="19" name="TextBox 18"/>
          <p:cNvSpPr txBox="1"/>
          <p:nvPr/>
        </p:nvSpPr>
        <p:spPr>
          <a:xfrm>
            <a:off x="1702309" y="3810000"/>
            <a:ext cx="914400" cy="381000"/>
          </a:xfrm>
          <a:prstGeom prst="rect">
            <a:avLst/>
          </a:prstGeom>
          <a:noFill/>
        </p:spPr>
        <p:txBody>
          <a:bodyPr wrap="square" rtlCol="0">
            <a:spAutoFit/>
          </a:bodyPr>
          <a:lstStyle/>
          <a:p>
            <a:r>
              <a:rPr lang="en-US" b="1" dirty="0" smtClean="0"/>
              <a:t>RUN #4</a:t>
            </a:r>
            <a:endParaRPr lang="en-US" b="1"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19761117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function objects</a:t>
            </a:r>
            <a:endParaRPr lang="en-US" dirty="0"/>
          </a:p>
        </p:txBody>
      </p:sp>
      <p:sp>
        <p:nvSpPr>
          <p:cNvPr id="3" name="Content Placeholder 2"/>
          <p:cNvSpPr>
            <a:spLocks noGrp="1"/>
          </p:cNvSpPr>
          <p:nvPr>
            <p:ph sz="half" idx="1"/>
          </p:nvPr>
        </p:nvSpPr>
        <p:spPr/>
        <p:txBody>
          <a:bodyPr>
            <a:noAutofit/>
          </a:bodyPr>
          <a:lstStyle/>
          <a:p>
            <a:pPr marL="0" indent="0">
              <a:buNone/>
            </a:pPr>
            <a:r>
              <a:rPr lang="en-US" sz="1200" dirty="0">
                <a:solidFill>
                  <a:srgbClr val="0000FF"/>
                </a:solidFill>
                <a:highlight>
                  <a:srgbClr val="FFFFFF"/>
                </a:highlight>
              </a:rPr>
              <a:t>#include</a:t>
            </a:r>
            <a:r>
              <a:rPr lang="en-US" sz="1200" dirty="0">
                <a:solidFill>
                  <a:srgbClr val="000000"/>
                </a:solidFill>
                <a:highlight>
                  <a:srgbClr val="FFFFFF"/>
                </a:highlight>
              </a:rPr>
              <a:t> </a:t>
            </a:r>
            <a:r>
              <a:rPr lang="en-US" sz="1200" dirty="0">
                <a:solidFill>
                  <a:srgbClr val="A31515"/>
                </a:solidFill>
                <a:highlight>
                  <a:srgbClr val="FFFFFF"/>
                </a:highlight>
              </a:rPr>
              <a:t>&lt;</a:t>
            </a:r>
            <a:r>
              <a:rPr lang="en-US" sz="1200" dirty="0" err="1">
                <a:solidFill>
                  <a:srgbClr val="A31515"/>
                </a:solidFill>
                <a:highlight>
                  <a:srgbClr val="FFFFFF"/>
                </a:highlight>
              </a:rPr>
              <a:t>iostream</a:t>
            </a:r>
            <a:r>
              <a:rPr lang="en-US" sz="1200" dirty="0">
                <a:solidFill>
                  <a:srgbClr val="A31515"/>
                </a:solidFill>
                <a:highlight>
                  <a:srgbClr val="FFFFFF"/>
                </a:highlight>
              </a:rPr>
              <a:t>&gt;</a:t>
            </a:r>
            <a:endParaRPr lang="en-US" sz="1200" dirty="0">
              <a:solidFill>
                <a:srgbClr val="000000"/>
              </a:solidFill>
              <a:highlight>
                <a:srgbClr val="FFFFFF"/>
              </a:highlight>
            </a:endParaRPr>
          </a:p>
          <a:p>
            <a:pPr marL="0" indent="0">
              <a:buNone/>
            </a:pPr>
            <a:r>
              <a:rPr lang="en-US" sz="1200" dirty="0">
                <a:solidFill>
                  <a:srgbClr val="0000FF"/>
                </a:solidFill>
                <a:highlight>
                  <a:srgbClr val="FFFFFF"/>
                </a:highlight>
              </a:rPr>
              <a:t>#include</a:t>
            </a:r>
            <a:r>
              <a:rPr lang="en-US" sz="1200" dirty="0">
                <a:solidFill>
                  <a:srgbClr val="000000"/>
                </a:solidFill>
                <a:highlight>
                  <a:srgbClr val="FFFFFF"/>
                </a:highlight>
              </a:rPr>
              <a:t> </a:t>
            </a:r>
            <a:r>
              <a:rPr lang="en-US" sz="1200" dirty="0">
                <a:solidFill>
                  <a:srgbClr val="A31515"/>
                </a:solidFill>
                <a:highlight>
                  <a:srgbClr val="FFFFFF"/>
                </a:highlight>
              </a:rPr>
              <a:t>&lt;thread&gt;</a:t>
            </a:r>
            <a:endParaRPr lang="en-US" sz="1200" dirty="0">
              <a:solidFill>
                <a:srgbClr val="000000"/>
              </a:solidFill>
              <a:highlight>
                <a:srgbClr val="FFFFFF"/>
              </a:highlight>
            </a:endParaRPr>
          </a:p>
          <a:p>
            <a:pPr marL="0" indent="0">
              <a:buNone/>
            </a:pPr>
            <a:endParaRPr lang="en-US" sz="1200" dirty="0">
              <a:solidFill>
                <a:srgbClr val="000000"/>
              </a:solidFill>
              <a:highlight>
                <a:srgbClr val="FFFFFF"/>
              </a:highlight>
            </a:endParaRPr>
          </a:p>
          <a:p>
            <a:pPr marL="0" indent="0">
              <a:buNone/>
            </a:pPr>
            <a:r>
              <a:rPr lang="en-US" sz="1200" dirty="0">
                <a:solidFill>
                  <a:srgbClr val="0000FF"/>
                </a:solidFill>
                <a:highlight>
                  <a:srgbClr val="FFFFFF"/>
                </a:highlight>
              </a:rPr>
              <a:t>class</a:t>
            </a:r>
            <a:r>
              <a:rPr lang="en-US" sz="1200" dirty="0">
                <a:solidFill>
                  <a:srgbClr val="000000"/>
                </a:solidFill>
                <a:highlight>
                  <a:srgbClr val="FFFFFF"/>
                </a:highlight>
              </a:rPr>
              <a:t> </a:t>
            </a:r>
            <a:r>
              <a:rPr lang="en-US" sz="1200" dirty="0" err="1">
                <a:solidFill>
                  <a:srgbClr val="2B91AF"/>
                </a:solidFill>
                <a:highlight>
                  <a:srgbClr val="FFFFFF"/>
                </a:highlight>
              </a:rPr>
              <a:t>do_in_background</a:t>
            </a:r>
            <a:endParaRPr lang="en-US" sz="1200" dirty="0">
              <a:solidFill>
                <a:srgbClr val="000000"/>
              </a:solidFill>
              <a:highlight>
                <a:srgbClr val="FFFFFF"/>
              </a:highlight>
            </a:endParaRPr>
          </a:p>
          <a:p>
            <a:pPr marL="0" indent="0">
              <a:buNone/>
            </a:pPr>
            <a:r>
              <a:rPr lang="en-US" sz="1200" dirty="0">
                <a:solidFill>
                  <a:srgbClr val="000000"/>
                </a:solidFill>
                <a:highlight>
                  <a:srgbClr val="FFFFFF"/>
                </a:highlight>
              </a:rPr>
              <a:t>{</a:t>
            </a:r>
          </a:p>
          <a:p>
            <a:pPr marL="0" indent="0">
              <a:buNone/>
            </a:pPr>
            <a:r>
              <a:rPr lang="en-US" sz="1200" dirty="0">
                <a:solidFill>
                  <a:srgbClr val="0000FF"/>
                </a:solidFill>
                <a:highlight>
                  <a:srgbClr val="FFFFFF"/>
                </a:highlight>
              </a:rPr>
              <a:t>public</a:t>
            </a:r>
            <a:r>
              <a:rPr lang="en-US" sz="1200" dirty="0">
                <a:solidFill>
                  <a:srgbClr val="000000"/>
                </a:solidFill>
                <a:highlight>
                  <a:srgbClr val="FFFFFF"/>
                </a:highlight>
              </a:rPr>
              <a:t>:</a:t>
            </a:r>
          </a:p>
          <a:p>
            <a:pPr marL="0" indent="0">
              <a:buNone/>
            </a:pPr>
            <a:r>
              <a:rPr lang="en-US" sz="1200" dirty="0">
                <a:solidFill>
                  <a:srgbClr val="000000"/>
                </a:solidFill>
                <a:highlight>
                  <a:srgbClr val="FFFFFF"/>
                </a:highlight>
              </a:rPr>
              <a:t>   </a:t>
            </a:r>
            <a:r>
              <a:rPr lang="en-US" sz="1200" dirty="0">
                <a:solidFill>
                  <a:srgbClr val="0000FF"/>
                </a:solidFill>
                <a:highlight>
                  <a:srgbClr val="FFFFFF"/>
                </a:highlight>
              </a:rPr>
              <a:t>void</a:t>
            </a:r>
            <a:r>
              <a:rPr lang="en-US" sz="1200" dirty="0">
                <a:solidFill>
                  <a:srgbClr val="000000"/>
                </a:solidFill>
                <a:highlight>
                  <a:srgbClr val="FFFFFF"/>
                </a:highlight>
              </a:rPr>
              <a:t> operator () () </a:t>
            </a:r>
            <a:r>
              <a:rPr lang="en-US" sz="1200" dirty="0" err="1">
                <a:solidFill>
                  <a:srgbClr val="0000FF"/>
                </a:solidFill>
                <a:highlight>
                  <a:srgbClr val="FFFFFF"/>
                </a:highlight>
              </a:rPr>
              <a:t>const</a:t>
            </a:r>
            <a:endParaRPr lang="en-US" sz="1200" dirty="0">
              <a:solidFill>
                <a:srgbClr val="000000"/>
              </a:solidFill>
              <a:highlight>
                <a:srgbClr val="FFFFFF"/>
              </a:highlight>
            </a:endParaRPr>
          </a:p>
          <a:p>
            <a:pPr marL="0" indent="0">
              <a:buNone/>
            </a:pPr>
            <a:r>
              <a:rPr lang="en-US" sz="1200" dirty="0">
                <a:solidFill>
                  <a:srgbClr val="000000"/>
                </a:solidFill>
                <a:highlight>
                  <a:srgbClr val="FFFFFF"/>
                </a:highlight>
              </a:rPr>
              <a:t>   {</a:t>
            </a:r>
          </a:p>
          <a:p>
            <a:pPr marL="0" indent="0">
              <a:buNone/>
            </a:pPr>
            <a:r>
              <a:rPr lang="en-US" sz="1200" dirty="0">
                <a:solidFill>
                  <a:srgbClr val="000000"/>
                </a:solidFill>
                <a:highlight>
                  <a:srgbClr val="FFFFFF"/>
                </a:highlight>
              </a:rPr>
              <a:t>      </a:t>
            </a:r>
            <a:r>
              <a:rPr lang="en-US" sz="1200" dirty="0" err="1">
                <a:solidFill>
                  <a:srgbClr val="000000"/>
                </a:solidFill>
                <a:highlight>
                  <a:srgbClr val="FFFFFF"/>
                </a:highlight>
              </a:rPr>
              <a:t>std</a:t>
            </a:r>
            <a:r>
              <a:rPr lang="en-US" sz="1200" dirty="0">
                <a:solidFill>
                  <a:srgbClr val="000000"/>
                </a:solidFill>
                <a:highlight>
                  <a:srgbClr val="FFFFFF"/>
                </a:highlight>
              </a:rPr>
              <a:t>::</a:t>
            </a:r>
            <a:r>
              <a:rPr lang="en-US" sz="1200" dirty="0" err="1">
                <a:solidFill>
                  <a:srgbClr val="000000"/>
                </a:solidFill>
                <a:highlight>
                  <a:srgbClr val="FFFFFF"/>
                </a:highlight>
              </a:rPr>
              <a:t>cout</a:t>
            </a:r>
            <a:r>
              <a:rPr lang="en-US" sz="1200" dirty="0">
                <a:solidFill>
                  <a:srgbClr val="000000"/>
                </a:solidFill>
                <a:highlight>
                  <a:srgbClr val="FFFFFF"/>
                </a:highlight>
              </a:rPr>
              <a:t> &lt;&lt; </a:t>
            </a:r>
            <a:r>
              <a:rPr lang="en-US" sz="1200" dirty="0">
                <a:solidFill>
                  <a:srgbClr val="A31515"/>
                </a:solidFill>
                <a:highlight>
                  <a:srgbClr val="FFFFFF"/>
                </a:highlight>
              </a:rPr>
              <a:t>"operator() </a:t>
            </a:r>
            <a:r>
              <a:rPr lang="en-US" sz="1200" dirty="0" err="1">
                <a:solidFill>
                  <a:srgbClr val="A31515"/>
                </a:solidFill>
                <a:highlight>
                  <a:srgbClr val="FFFFFF"/>
                </a:highlight>
              </a:rPr>
              <a:t>tid</a:t>
            </a:r>
            <a:r>
              <a:rPr lang="en-US" sz="1200" dirty="0">
                <a:solidFill>
                  <a:srgbClr val="A31515"/>
                </a:solidFill>
                <a:highlight>
                  <a:srgbClr val="FFFFFF"/>
                </a:highlight>
              </a:rPr>
              <a:t> = "</a:t>
            </a:r>
            <a:endParaRPr lang="en-US" sz="1200" dirty="0">
              <a:solidFill>
                <a:srgbClr val="000000"/>
              </a:solidFill>
              <a:highlight>
                <a:srgbClr val="FFFFFF"/>
              </a:highlight>
            </a:endParaRPr>
          </a:p>
          <a:p>
            <a:pPr marL="0" indent="0">
              <a:buNone/>
            </a:pPr>
            <a:r>
              <a:rPr lang="en-US" sz="1200" dirty="0">
                <a:solidFill>
                  <a:srgbClr val="000000"/>
                </a:solidFill>
                <a:highlight>
                  <a:srgbClr val="FFFFFF"/>
                </a:highlight>
              </a:rPr>
              <a:t>      &lt;&lt; </a:t>
            </a:r>
            <a:r>
              <a:rPr lang="en-US" sz="1200" dirty="0" err="1">
                <a:solidFill>
                  <a:srgbClr val="000000"/>
                </a:solidFill>
                <a:highlight>
                  <a:srgbClr val="FFFFFF"/>
                </a:highlight>
              </a:rPr>
              <a:t>std</a:t>
            </a:r>
            <a:r>
              <a:rPr lang="en-US" sz="1200" dirty="0">
                <a:solidFill>
                  <a:srgbClr val="000000"/>
                </a:solidFill>
                <a:highlight>
                  <a:srgbClr val="FFFFFF"/>
                </a:highlight>
              </a:rPr>
              <a:t>::</a:t>
            </a:r>
            <a:r>
              <a:rPr lang="en-US" sz="1200" dirty="0" err="1">
                <a:solidFill>
                  <a:srgbClr val="000000"/>
                </a:solidFill>
                <a:highlight>
                  <a:srgbClr val="FFFFFF"/>
                </a:highlight>
              </a:rPr>
              <a:t>this_thread</a:t>
            </a:r>
            <a:r>
              <a:rPr lang="en-US" sz="1200" dirty="0">
                <a:solidFill>
                  <a:srgbClr val="000000"/>
                </a:solidFill>
                <a:highlight>
                  <a:srgbClr val="FFFFFF"/>
                </a:highlight>
              </a:rPr>
              <a:t>::</a:t>
            </a:r>
            <a:r>
              <a:rPr lang="en-US" sz="1200" dirty="0" err="1">
                <a:solidFill>
                  <a:srgbClr val="000000"/>
                </a:solidFill>
                <a:highlight>
                  <a:srgbClr val="FFFFFF"/>
                </a:highlight>
              </a:rPr>
              <a:t>get_id</a:t>
            </a:r>
            <a:r>
              <a:rPr lang="en-US" sz="1200" dirty="0">
                <a:solidFill>
                  <a:srgbClr val="000000"/>
                </a:solidFill>
                <a:highlight>
                  <a:srgbClr val="FFFFFF"/>
                </a:highlight>
              </a:rPr>
              <a:t>() </a:t>
            </a:r>
          </a:p>
          <a:p>
            <a:pPr marL="0" indent="0">
              <a:buNone/>
            </a:pPr>
            <a:r>
              <a:rPr lang="en-US" sz="1200" dirty="0">
                <a:solidFill>
                  <a:srgbClr val="000000"/>
                </a:solidFill>
                <a:highlight>
                  <a:srgbClr val="FFFFFF"/>
                </a:highlight>
              </a:rPr>
              <a:t>      &lt;&lt; </a:t>
            </a:r>
            <a:r>
              <a:rPr lang="en-US" sz="1200" dirty="0">
                <a:solidFill>
                  <a:srgbClr val="A31515"/>
                </a:solidFill>
                <a:highlight>
                  <a:srgbClr val="FFFFFF"/>
                </a:highlight>
              </a:rPr>
              <a:t>"\n"</a:t>
            </a:r>
            <a:r>
              <a:rPr lang="en-US" sz="1200" dirty="0">
                <a:solidFill>
                  <a:srgbClr val="000000"/>
                </a:solidFill>
                <a:highlight>
                  <a:srgbClr val="FFFFFF"/>
                </a:highlight>
              </a:rPr>
              <a:t>;</a:t>
            </a:r>
          </a:p>
          <a:p>
            <a:pPr marL="0" indent="0">
              <a:buNone/>
            </a:pPr>
            <a:r>
              <a:rPr lang="en-US" sz="1200" dirty="0">
                <a:solidFill>
                  <a:srgbClr val="000000"/>
                </a:solidFill>
                <a:highlight>
                  <a:srgbClr val="FFFFFF"/>
                </a:highlight>
              </a:rPr>
              <a:t>   }</a:t>
            </a:r>
          </a:p>
          <a:p>
            <a:pPr marL="0" indent="0">
              <a:buNone/>
            </a:pPr>
            <a:r>
              <a:rPr lang="en-US" sz="1200" dirty="0">
                <a:solidFill>
                  <a:srgbClr val="000000"/>
                </a:solidFill>
                <a:highlight>
                  <a:srgbClr val="FFFFFF"/>
                </a:highlight>
              </a:rPr>
              <a:t>};</a:t>
            </a:r>
          </a:p>
          <a:p>
            <a:pPr marL="0" indent="0">
              <a:buNone/>
            </a:pPr>
            <a:endParaRPr lang="en-US" sz="1200" dirty="0">
              <a:solidFill>
                <a:srgbClr val="000000"/>
              </a:solidFill>
              <a:highlight>
                <a:srgbClr val="FFFFFF"/>
              </a:highlight>
            </a:endParaRPr>
          </a:p>
          <a:p>
            <a:pPr marL="0" indent="0">
              <a:buNone/>
            </a:pPr>
            <a:r>
              <a:rPr lang="en-US" sz="1200" dirty="0">
                <a:solidFill>
                  <a:srgbClr val="0000FF"/>
                </a:solidFill>
                <a:highlight>
                  <a:srgbClr val="FFFFFF"/>
                </a:highlight>
              </a:rPr>
              <a:t>void</a:t>
            </a:r>
            <a:r>
              <a:rPr lang="en-US" sz="1200" dirty="0">
                <a:solidFill>
                  <a:srgbClr val="000000"/>
                </a:solidFill>
                <a:highlight>
                  <a:srgbClr val="FFFFFF"/>
                </a:highlight>
              </a:rPr>
              <a:t> </a:t>
            </a:r>
            <a:r>
              <a:rPr lang="en-US" sz="1200" dirty="0" err="1">
                <a:solidFill>
                  <a:srgbClr val="000000"/>
                </a:solidFill>
                <a:highlight>
                  <a:srgbClr val="FFFFFF"/>
                </a:highlight>
              </a:rPr>
              <a:t>function_objects</a:t>
            </a:r>
            <a:r>
              <a:rPr lang="en-US" sz="1200" dirty="0">
                <a:solidFill>
                  <a:srgbClr val="000000"/>
                </a:solidFill>
                <a:highlight>
                  <a:srgbClr val="FFFFFF"/>
                </a:highlight>
              </a:rPr>
              <a:t>()</a:t>
            </a:r>
          </a:p>
          <a:p>
            <a:pPr marL="0" indent="0">
              <a:buNone/>
            </a:pPr>
            <a:r>
              <a:rPr lang="en-US" sz="1200" dirty="0">
                <a:solidFill>
                  <a:srgbClr val="000000"/>
                </a:solidFill>
                <a:highlight>
                  <a:srgbClr val="FFFFFF"/>
                </a:highlight>
              </a:rPr>
              <a:t>{</a:t>
            </a:r>
          </a:p>
          <a:p>
            <a:pPr marL="0" indent="0">
              <a:buNone/>
            </a:pPr>
            <a:r>
              <a:rPr lang="en-US" sz="1200" dirty="0">
                <a:solidFill>
                  <a:srgbClr val="000000"/>
                </a:solidFill>
                <a:highlight>
                  <a:srgbClr val="FFFFFF"/>
                </a:highlight>
              </a:rPr>
              <a:t>   </a:t>
            </a:r>
            <a:r>
              <a:rPr lang="en-US" sz="1200" dirty="0" err="1">
                <a:solidFill>
                  <a:srgbClr val="000000"/>
                </a:solidFill>
                <a:highlight>
                  <a:srgbClr val="FFFFFF"/>
                </a:highlight>
              </a:rPr>
              <a:t>std</a:t>
            </a:r>
            <a:r>
              <a:rPr lang="en-US" sz="1200" dirty="0">
                <a:solidFill>
                  <a:srgbClr val="000000"/>
                </a:solidFill>
                <a:highlight>
                  <a:srgbClr val="FFFFFF"/>
                </a:highlight>
              </a:rPr>
              <a:t>::</a:t>
            </a:r>
            <a:r>
              <a:rPr lang="en-US" sz="1200" dirty="0">
                <a:solidFill>
                  <a:srgbClr val="2B91AF"/>
                </a:solidFill>
                <a:highlight>
                  <a:srgbClr val="FFFFFF"/>
                </a:highlight>
              </a:rPr>
              <a:t>thread</a:t>
            </a:r>
            <a:r>
              <a:rPr lang="en-US" sz="1200" dirty="0">
                <a:solidFill>
                  <a:srgbClr val="000000"/>
                </a:solidFill>
                <a:highlight>
                  <a:srgbClr val="FFFFFF"/>
                </a:highlight>
              </a:rPr>
              <a:t> t(( </a:t>
            </a:r>
            <a:r>
              <a:rPr lang="en-US" sz="1200" dirty="0" err="1">
                <a:solidFill>
                  <a:srgbClr val="2B91AF"/>
                </a:solidFill>
                <a:highlight>
                  <a:srgbClr val="FFFFFF"/>
                </a:highlight>
              </a:rPr>
              <a:t>do_in_background</a:t>
            </a:r>
            <a:r>
              <a:rPr lang="en-US" sz="1200" dirty="0">
                <a:solidFill>
                  <a:srgbClr val="000000"/>
                </a:solidFill>
                <a:highlight>
                  <a:srgbClr val="FFFFFF"/>
                </a:highlight>
              </a:rPr>
              <a:t>() ));</a:t>
            </a:r>
          </a:p>
          <a:p>
            <a:pPr marL="0" indent="0">
              <a:buNone/>
            </a:pPr>
            <a:r>
              <a:rPr lang="en-US" sz="1200" dirty="0">
                <a:solidFill>
                  <a:srgbClr val="000000"/>
                </a:solidFill>
                <a:highlight>
                  <a:srgbClr val="FFFFFF"/>
                </a:highlight>
              </a:rPr>
              <a:t>   </a:t>
            </a:r>
            <a:r>
              <a:rPr lang="en-US" sz="1200" dirty="0" err="1">
                <a:solidFill>
                  <a:srgbClr val="000000"/>
                </a:solidFill>
                <a:highlight>
                  <a:srgbClr val="FFFFFF"/>
                </a:highlight>
              </a:rPr>
              <a:t>t.join</a:t>
            </a:r>
            <a:r>
              <a:rPr lang="en-US" sz="1200" dirty="0">
                <a:solidFill>
                  <a:srgbClr val="000000"/>
                </a:solidFill>
                <a:highlight>
                  <a:srgbClr val="FFFFFF"/>
                </a:highlight>
              </a:rPr>
              <a:t>();</a:t>
            </a:r>
          </a:p>
          <a:p>
            <a:pPr marL="0" indent="0">
              <a:buNone/>
            </a:pPr>
            <a:r>
              <a:rPr lang="en-US" sz="1200" dirty="0">
                <a:solidFill>
                  <a:srgbClr val="000000"/>
                </a:solidFill>
                <a:highlight>
                  <a:srgbClr val="FFFFFF"/>
                </a:highlight>
              </a:rPr>
              <a:t>}</a:t>
            </a:r>
            <a:endParaRPr lang="en-US" sz="1200" dirty="0"/>
          </a:p>
        </p:txBody>
      </p:sp>
      <p:sp>
        <p:nvSpPr>
          <p:cNvPr id="4" name="Content Placeholder 3"/>
          <p:cNvSpPr>
            <a:spLocks noGrp="1"/>
          </p:cNvSpPr>
          <p:nvPr>
            <p:ph sz="half" idx="2"/>
          </p:nvPr>
        </p:nvSpPr>
        <p:spPr/>
        <p:txBody>
          <a:bodyPr>
            <a:normAutofit/>
          </a:bodyPr>
          <a:lstStyle/>
          <a:p>
            <a:pPr marL="514350" indent="-514350">
              <a:buFont typeface="+mj-lt"/>
              <a:buAutoNum type="arabicPeriod"/>
            </a:pPr>
            <a:r>
              <a:rPr lang="en-US" sz="2200" dirty="0" smtClean="0">
                <a:latin typeface="Calibri" pitchFamily="34" charset="0"/>
              </a:rPr>
              <a:t>Any callable type can be used as function procedure.</a:t>
            </a:r>
          </a:p>
          <a:p>
            <a:pPr marL="514350" indent="-514350">
              <a:buFont typeface="+mj-lt"/>
              <a:buAutoNum type="arabicPeriod"/>
            </a:pPr>
            <a:r>
              <a:rPr lang="en-US" sz="2200" dirty="0" smtClean="0">
                <a:latin typeface="Calibri" pitchFamily="34" charset="0"/>
              </a:rPr>
              <a:t>An extra set of parentheses is needed to avoid so called “C++ most vexing parse”.  Without extra parentheses the compiler sees forward function declaration.</a:t>
            </a:r>
            <a:endParaRPr lang="en-US" sz="2200" dirty="0">
              <a:latin typeface="Calibri" pitchFamily="34" charset="0"/>
            </a:endParaRPr>
          </a:p>
        </p:txBody>
      </p:sp>
      <p:sp>
        <p:nvSpPr>
          <p:cNvPr id="5" name="Dodecagon 4"/>
          <p:cNvSpPr/>
          <p:nvPr/>
        </p:nvSpPr>
        <p:spPr>
          <a:xfrm>
            <a:off x="2667000" y="22860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6" name="Dodecagon 5"/>
          <p:cNvSpPr/>
          <p:nvPr/>
        </p:nvSpPr>
        <p:spPr>
          <a:xfrm>
            <a:off x="4419600" y="51054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Date Placeholder 6"/>
          <p:cNvSpPr>
            <a:spLocks noGrp="1"/>
          </p:cNvSpPr>
          <p:nvPr>
            <p:ph type="dt" sz="half" idx="10"/>
          </p:nvPr>
        </p:nvSpPr>
        <p:spPr/>
        <p:txBody>
          <a:bodyPr/>
          <a:lstStyle/>
          <a:p>
            <a:r>
              <a:rPr lang="cs-CZ" smtClean="0"/>
              <a:t>19.1.2014</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14157933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lambdas</a:t>
            </a:r>
            <a:endParaRPr lang="en-US" dirty="0"/>
          </a:p>
        </p:txBody>
      </p:sp>
      <p:sp>
        <p:nvSpPr>
          <p:cNvPr id="3" name="Content Placeholder 2"/>
          <p:cNvSpPr>
            <a:spLocks noGrp="1"/>
          </p:cNvSpPr>
          <p:nvPr>
            <p:ph sz="half" idx="1"/>
          </p:nvPr>
        </p:nvSpPr>
        <p:spPr/>
        <p:txBody>
          <a:bodyPr/>
          <a:lstStyle/>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a:t>
            </a:r>
            <a:r>
              <a:rPr lang="en-US" dirty="0" err="1">
                <a:solidFill>
                  <a:srgbClr val="A31515"/>
                </a:solidFill>
                <a:highlight>
                  <a:srgbClr val="FFFFFF"/>
                </a:highlight>
              </a:rPr>
              <a:t>iostream</a:t>
            </a:r>
            <a:r>
              <a:rPr lang="en-US" dirty="0">
                <a:solidFill>
                  <a:srgbClr val="A31515"/>
                </a:solidFill>
                <a:highlight>
                  <a:srgbClr val="FFFFFF"/>
                </a:highlight>
              </a:rPr>
              <a:t>&gt;</a:t>
            </a:r>
            <a:endParaRPr lang="en-US" dirty="0">
              <a:solidFill>
                <a:srgbClr val="000000"/>
              </a:solidFill>
              <a:highlight>
                <a:srgbClr val="FFFFFF"/>
              </a:highlight>
            </a:endParaRPr>
          </a:p>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&lt;thread&gt;</a:t>
            </a:r>
            <a:endParaRPr lang="en-US" dirty="0">
              <a:solidFill>
                <a:srgbClr val="000000"/>
              </a:solidFill>
              <a:highlight>
                <a:srgbClr val="FFFFFF"/>
              </a:highlight>
            </a:endParaRP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lambda_function</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a:solidFill>
                  <a:srgbClr val="2B91AF"/>
                </a:solidFill>
                <a:highlight>
                  <a:srgbClr val="FFFFFF"/>
                </a:highlight>
              </a:rPr>
              <a:t>thread</a:t>
            </a:r>
            <a:r>
              <a:rPr lang="en-US" dirty="0">
                <a:solidFill>
                  <a:srgbClr val="000000"/>
                </a:solidFill>
                <a:highlight>
                  <a:srgbClr val="FFFFFF"/>
                </a:highlight>
              </a:rPr>
              <a:t> t( []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cout</a:t>
            </a:r>
            <a:r>
              <a:rPr lang="en-US" dirty="0">
                <a:solidFill>
                  <a:srgbClr val="000000"/>
                </a:solidFill>
                <a:highlight>
                  <a:srgbClr val="FFFFFF"/>
                </a:highlight>
              </a:rPr>
              <a:t> &lt;&lt; </a:t>
            </a:r>
            <a:r>
              <a:rPr lang="en-US" dirty="0">
                <a:solidFill>
                  <a:srgbClr val="A31515"/>
                </a:solidFill>
                <a:highlight>
                  <a:srgbClr val="FFFFFF"/>
                </a:highlight>
              </a:rPr>
              <a:t>"lambda </a:t>
            </a:r>
            <a:r>
              <a:rPr lang="en-US" dirty="0" err="1">
                <a:solidFill>
                  <a:srgbClr val="A31515"/>
                </a:solidFill>
                <a:highlight>
                  <a:srgbClr val="FFFFFF"/>
                </a:highlight>
              </a:rPr>
              <a:t>tid</a:t>
            </a:r>
            <a:r>
              <a:rPr lang="en-US" dirty="0">
                <a:solidFill>
                  <a:srgbClr val="A31515"/>
                </a:solidFill>
                <a:highlight>
                  <a:srgbClr val="FFFFFF"/>
                </a:highlight>
              </a:rPr>
              <a:t> = "</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&lt;&lt;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this_thread</a:t>
            </a:r>
            <a:r>
              <a:rPr lang="en-US" dirty="0">
                <a:solidFill>
                  <a:srgbClr val="000000"/>
                </a:solidFill>
                <a:highlight>
                  <a:srgbClr val="FFFFFF"/>
                </a:highlight>
              </a:rPr>
              <a:t>::</a:t>
            </a:r>
            <a:r>
              <a:rPr lang="en-US" dirty="0" err="1">
                <a:solidFill>
                  <a:srgbClr val="000000"/>
                </a:solidFill>
                <a:highlight>
                  <a:srgbClr val="FFFFFF"/>
                </a:highlight>
              </a:rPr>
              <a:t>get_id</a:t>
            </a:r>
            <a:r>
              <a:rPr lang="en-US" dirty="0">
                <a:solidFill>
                  <a:srgbClr val="000000"/>
                </a:solidFill>
                <a:highlight>
                  <a:srgbClr val="FFFFFF"/>
                </a:highlight>
              </a:rPr>
              <a:t>() </a:t>
            </a:r>
          </a:p>
          <a:p>
            <a:pPr marL="0" indent="0">
              <a:buNone/>
            </a:pPr>
            <a:r>
              <a:rPr lang="en-US" dirty="0">
                <a:solidFill>
                  <a:srgbClr val="000000"/>
                </a:solidFill>
                <a:highlight>
                  <a:srgbClr val="FFFFFF"/>
                </a:highlight>
              </a:rPr>
              <a:t>      &lt;&lt; </a:t>
            </a:r>
            <a:r>
              <a:rPr lang="en-US" dirty="0">
                <a:solidFill>
                  <a:srgbClr val="A31515"/>
                </a:solidFill>
                <a:highlight>
                  <a:srgbClr val="FFFFFF"/>
                </a:highlight>
              </a:rPr>
              <a:t>"\n"</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t.join</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endParaRPr lang="en-US" dirty="0"/>
          </a:p>
        </p:txBody>
      </p:sp>
      <p:sp>
        <p:nvSpPr>
          <p:cNvPr id="4" name="Content Placeholder 3"/>
          <p:cNvSpPr>
            <a:spLocks noGrp="1"/>
          </p:cNvSpPr>
          <p:nvPr>
            <p:ph sz="half" idx="2"/>
          </p:nvPr>
        </p:nvSpPr>
        <p:spPr/>
        <p:txBody>
          <a:bodyPr/>
          <a:lstStyle/>
          <a:p>
            <a:r>
              <a:rPr lang="en-US" dirty="0" smtClean="0"/>
              <a:t>Lambda function is a simple way to create local function objects.</a:t>
            </a:r>
          </a:p>
          <a:p>
            <a:r>
              <a:rPr lang="en-US" dirty="0" smtClean="0"/>
              <a:t>Avoids problems with </a:t>
            </a:r>
            <a:r>
              <a:rPr lang="en-US" dirty="0">
                <a:latin typeface="Calibri" pitchFamily="34" charset="0"/>
              </a:rPr>
              <a:t>“C++ most vexing parse”. </a:t>
            </a:r>
            <a:endParaRPr lang="en-US" dirty="0" smtClean="0">
              <a:latin typeface="Calibri" pitchFamily="34" charset="0"/>
            </a:endParaRPr>
          </a:p>
          <a:p>
            <a:r>
              <a:rPr lang="en-US" dirty="0" smtClean="0">
                <a:latin typeface="Calibri" pitchFamily="34" charset="0"/>
              </a:rPr>
              <a:t>Avoids parameter passing by binding local variables in capture clause.</a:t>
            </a:r>
            <a:endParaRPr lang="en-US"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15051835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Passing parameters</a:t>
            </a:r>
            <a:endParaRPr lang="en-US" dirty="0"/>
          </a:p>
        </p:txBody>
      </p:sp>
      <p:sp>
        <p:nvSpPr>
          <p:cNvPr id="3" name="Content Placeholder 2"/>
          <p:cNvSpPr>
            <a:spLocks noGrp="1"/>
          </p:cNvSpPr>
          <p:nvPr>
            <p:ph sz="half" idx="1"/>
          </p:nvPr>
        </p:nvSpPr>
        <p:spPr/>
        <p:txBody>
          <a:bodyPr>
            <a:normAutofit lnSpcReduction="10000"/>
          </a:bodyPr>
          <a:lstStyle/>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a:t>
            </a:r>
            <a:r>
              <a:rPr lang="en-US" dirty="0" err="1">
                <a:solidFill>
                  <a:srgbClr val="A31515"/>
                </a:solidFill>
                <a:highlight>
                  <a:srgbClr val="FFFFFF"/>
                </a:highlight>
              </a:rPr>
              <a:t>iostream</a:t>
            </a:r>
            <a:r>
              <a:rPr lang="en-US" dirty="0">
                <a:solidFill>
                  <a:srgbClr val="A31515"/>
                </a:solidFill>
                <a:highlight>
                  <a:srgbClr val="FFFFFF"/>
                </a:highlight>
              </a:rPr>
              <a:t>&gt;</a:t>
            </a:r>
            <a:endParaRPr lang="en-US" dirty="0">
              <a:solidFill>
                <a:srgbClr val="000000"/>
              </a:solidFill>
              <a:highlight>
                <a:srgbClr val="FFFFFF"/>
              </a:highlight>
            </a:endParaRPr>
          </a:p>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&lt;thread&gt;</a:t>
            </a:r>
            <a:endParaRPr lang="en-US" dirty="0">
              <a:solidFill>
                <a:srgbClr val="000000"/>
              </a:solidFill>
              <a:highlight>
                <a:srgbClr val="FFFFFF"/>
              </a:highlight>
            </a:endParaRP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square( </a:t>
            </a:r>
            <a:r>
              <a:rPr lang="en-US" dirty="0" err="1">
                <a:solidFill>
                  <a:srgbClr val="0000FF"/>
                </a:solidFill>
                <a:highlight>
                  <a:srgbClr val="FFFFFF"/>
                </a:highlight>
              </a:rPr>
              <a:t>int</a:t>
            </a:r>
            <a:r>
              <a:rPr lang="en-US" dirty="0">
                <a:solidFill>
                  <a:srgbClr val="000000"/>
                </a:solidFill>
                <a:highlight>
                  <a:srgbClr val="FFFFFF"/>
                </a:highlight>
              </a:rPr>
              <a:t> </a:t>
            </a:r>
            <a:r>
              <a:rPr lang="en-US" dirty="0" err="1">
                <a:solidFill>
                  <a:srgbClr val="808080"/>
                </a:solidFill>
                <a:highlight>
                  <a:srgbClr val="FFFFFF"/>
                </a:highlight>
              </a:rPr>
              <a:t>val</a:t>
            </a:r>
            <a:r>
              <a:rPr lang="en-US" dirty="0">
                <a:solidFill>
                  <a:srgbClr val="000000"/>
                </a:solidFill>
                <a:highlight>
                  <a:srgbClr val="FFFFFF"/>
                </a:highlight>
              </a:rPr>
              <a:t>, </a:t>
            </a:r>
            <a:r>
              <a:rPr lang="en-US" dirty="0" err="1">
                <a:solidFill>
                  <a:srgbClr val="0000FF"/>
                </a:solidFill>
                <a:highlight>
                  <a:srgbClr val="FFFFFF"/>
                </a:highlight>
              </a:rPr>
              <a:t>int</a:t>
            </a:r>
            <a:r>
              <a:rPr lang="en-US" dirty="0">
                <a:solidFill>
                  <a:srgbClr val="000000"/>
                </a:solidFill>
                <a:highlight>
                  <a:srgbClr val="FFFFFF"/>
                </a:highlight>
              </a:rPr>
              <a:t>&amp; </a:t>
            </a:r>
            <a:r>
              <a:rPr lang="en-US" dirty="0">
                <a:solidFill>
                  <a:srgbClr val="808080"/>
                </a:solidFill>
                <a:highlight>
                  <a:srgbClr val="FFFFFF"/>
                </a:highlight>
              </a:rPr>
              <a:t>out</a:t>
            </a:r>
            <a:r>
              <a:rPr lang="en-US" dirty="0">
                <a:solidFill>
                  <a:srgbClr val="000000"/>
                </a:solidFill>
                <a:highlight>
                  <a:srgbClr val="FFFFFF"/>
                </a:highlight>
              </a:rPr>
              <a:t> )</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a:solidFill>
                  <a:srgbClr val="808080"/>
                </a:solidFill>
                <a:highlight>
                  <a:srgbClr val="FFFFFF"/>
                </a:highlight>
              </a:rPr>
              <a:t>out</a:t>
            </a:r>
            <a:r>
              <a:rPr lang="en-US" dirty="0">
                <a:solidFill>
                  <a:srgbClr val="000000"/>
                </a:solidFill>
                <a:highlight>
                  <a:srgbClr val="FFFFFF"/>
                </a:highlight>
              </a:rPr>
              <a:t> = </a:t>
            </a:r>
            <a:r>
              <a:rPr lang="en-US" dirty="0" err="1">
                <a:solidFill>
                  <a:srgbClr val="808080"/>
                </a:solidFill>
                <a:highlight>
                  <a:srgbClr val="FFFFFF"/>
                </a:highlight>
              </a:rPr>
              <a:t>val</a:t>
            </a:r>
            <a:r>
              <a:rPr lang="en-US" dirty="0">
                <a:solidFill>
                  <a:srgbClr val="000000"/>
                </a:solidFill>
                <a:highlight>
                  <a:srgbClr val="FFFFFF"/>
                </a:highlight>
              </a:rPr>
              <a:t> * </a:t>
            </a:r>
            <a:r>
              <a:rPr lang="en-US" dirty="0" err="1">
                <a:solidFill>
                  <a:srgbClr val="808080"/>
                </a:solidFill>
                <a:highlight>
                  <a:srgbClr val="FFFFFF"/>
                </a:highlight>
              </a:rPr>
              <a:t>val</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passing_parameters</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FF"/>
                </a:solidFill>
                <a:highlight>
                  <a:srgbClr val="FFFFFF"/>
                </a:highlight>
              </a:rPr>
              <a:t>const</a:t>
            </a:r>
            <a:r>
              <a:rPr lang="en-US" dirty="0">
                <a:solidFill>
                  <a:srgbClr val="000000"/>
                </a:solidFill>
                <a:highlight>
                  <a:srgbClr val="FFFFFF"/>
                </a:highlight>
              </a:rPr>
              <a:t> </a:t>
            </a:r>
            <a:r>
              <a:rPr lang="en-US" dirty="0" err="1">
                <a:solidFill>
                  <a:srgbClr val="0000FF"/>
                </a:solidFill>
                <a:highlight>
                  <a:srgbClr val="FFFFFF"/>
                </a:highlight>
              </a:rPr>
              <a:t>int</a:t>
            </a:r>
            <a:r>
              <a:rPr lang="en-US" dirty="0">
                <a:solidFill>
                  <a:srgbClr val="000000"/>
                </a:solidFill>
                <a:highlight>
                  <a:srgbClr val="FFFFFF"/>
                </a:highlight>
              </a:rPr>
              <a:t> </a:t>
            </a:r>
            <a:r>
              <a:rPr lang="en-US" dirty="0" err="1">
                <a:solidFill>
                  <a:srgbClr val="000000"/>
                </a:solidFill>
                <a:highlight>
                  <a:srgbClr val="FFFFFF"/>
                </a:highlight>
              </a:rPr>
              <a:t>val</a:t>
            </a:r>
            <a:r>
              <a:rPr lang="en-US" dirty="0">
                <a:solidFill>
                  <a:srgbClr val="000000"/>
                </a:solidFill>
                <a:highlight>
                  <a:srgbClr val="FFFFFF"/>
                </a:highlight>
              </a:rPr>
              <a:t> = 10;</a:t>
            </a:r>
          </a:p>
          <a:p>
            <a:pPr marL="0" indent="0">
              <a:buNone/>
            </a:pPr>
            <a:r>
              <a:rPr lang="en-US" dirty="0">
                <a:solidFill>
                  <a:srgbClr val="000000"/>
                </a:solidFill>
                <a:highlight>
                  <a:srgbClr val="FFFFFF"/>
                </a:highlight>
              </a:rPr>
              <a:t>   </a:t>
            </a:r>
            <a:r>
              <a:rPr lang="en-US" dirty="0" err="1">
                <a:solidFill>
                  <a:srgbClr val="0000FF"/>
                </a:solidFill>
                <a:highlight>
                  <a:srgbClr val="FFFFFF"/>
                </a:highlight>
              </a:rPr>
              <a:t>int</a:t>
            </a:r>
            <a:r>
              <a:rPr lang="en-US" dirty="0">
                <a:solidFill>
                  <a:srgbClr val="000000"/>
                </a:solidFill>
                <a:highlight>
                  <a:srgbClr val="FFFFFF"/>
                </a:highlight>
              </a:rPr>
              <a:t> res = 0;</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a:solidFill>
                  <a:srgbClr val="2B91AF"/>
                </a:solidFill>
                <a:highlight>
                  <a:srgbClr val="FFFFFF"/>
                </a:highlight>
              </a:rPr>
              <a:t>thread</a:t>
            </a:r>
            <a:r>
              <a:rPr lang="en-US" dirty="0">
                <a:solidFill>
                  <a:srgbClr val="000000"/>
                </a:solidFill>
                <a:highlight>
                  <a:srgbClr val="FFFFFF"/>
                </a:highlight>
              </a:rPr>
              <a:t> t( </a:t>
            </a:r>
            <a:r>
              <a:rPr lang="en-US" dirty="0" smtClean="0">
                <a:solidFill>
                  <a:srgbClr val="000000"/>
                </a:solidFill>
                <a:highlight>
                  <a:srgbClr val="FFFFFF"/>
                </a:highlight>
              </a:rPr>
              <a:t>&amp;square</a:t>
            </a: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val</a:t>
            </a: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::ref( res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t.join</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cout</a:t>
            </a:r>
            <a:r>
              <a:rPr lang="en-US" dirty="0">
                <a:solidFill>
                  <a:srgbClr val="000000"/>
                </a:solidFill>
                <a:highlight>
                  <a:srgbClr val="FFFFFF"/>
                </a:highlight>
              </a:rPr>
              <a:t> &lt;&lt; </a:t>
            </a:r>
            <a:r>
              <a:rPr lang="en-US" dirty="0">
                <a:solidFill>
                  <a:srgbClr val="A31515"/>
                </a:solidFill>
                <a:highlight>
                  <a:srgbClr val="FFFFFF"/>
                </a:highlight>
              </a:rPr>
              <a:t>"square = "</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&lt;&lt; res &lt;&lt; </a:t>
            </a:r>
            <a:r>
              <a:rPr lang="en-US" dirty="0">
                <a:solidFill>
                  <a:srgbClr val="A31515"/>
                </a:solidFill>
                <a:highlight>
                  <a:srgbClr val="FFFFFF"/>
                </a:highlight>
              </a:rPr>
              <a:t>"\n"</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endParaRPr lang="en-US" dirty="0"/>
          </a:p>
        </p:txBody>
      </p:sp>
      <p:sp>
        <p:nvSpPr>
          <p:cNvPr id="4" name="Content Placeholder 3"/>
          <p:cNvSpPr>
            <a:spLocks noGrp="1"/>
          </p:cNvSpPr>
          <p:nvPr>
            <p:ph sz="half" idx="2"/>
          </p:nvPr>
        </p:nvSpPr>
        <p:spPr/>
        <p:txBody>
          <a:bodyPr>
            <a:normAutofit lnSpcReduction="10000"/>
          </a:bodyPr>
          <a:lstStyle/>
          <a:p>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::thread </a:t>
            </a:r>
            <a:r>
              <a:rPr lang="en-US" dirty="0" smtClean="0"/>
              <a:t>constructor is a </a:t>
            </a:r>
            <a:r>
              <a:rPr lang="en-US" dirty="0" err="1" smtClean="0"/>
              <a:t>variadic</a:t>
            </a:r>
            <a:r>
              <a:rPr lang="en-US" dirty="0" smtClean="0"/>
              <a:t> template.</a:t>
            </a:r>
          </a:p>
          <a:p>
            <a:r>
              <a:rPr lang="en-US" dirty="0" smtClean="0"/>
              <a:t>By default all arguments are copied to new thread.</a:t>
            </a:r>
          </a:p>
          <a:p>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::ref </a:t>
            </a:r>
            <a:r>
              <a:rPr lang="en-US" dirty="0" smtClean="0"/>
              <a:t>tells compiler to pass a reference rather than copy.</a:t>
            </a:r>
          </a:p>
          <a:p>
            <a:r>
              <a:rPr lang="en-US" dirty="0" smtClean="0"/>
              <a:t>When passing data by reference a lifetime issues may occur.</a:t>
            </a:r>
            <a:endParaRPr lang="en-US"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19149522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ways of passing arguments</a:t>
            </a:r>
            <a:endParaRPr lang="en-US" dirty="0"/>
          </a:p>
        </p:txBody>
      </p:sp>
      <p:sp>
        <p:nvSpPr>
          <p:cNvPr id="5" name="Content Placeholder 4"/>
          <p:cNvSpPr>
            <a:spLocks noGrp="1"/>
          </p:cNvSpPr>
          <p:nvPr>
            <p:ph idx="1"/>
          </p:nvPr>
        </p:nvSpPr>
        <p:spPr/>
        <p:txBody>
          <a:bodyPr>
            <a:normAutofit fontScale="47500" lnSpcReduction="20000"/>
          </a:bodyPr>
          <a:lstStyle/>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square(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val</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&amp; out );</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three_ways</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val</a:t>
            </a:r>
            <a:r>
              <a:rPr lang="en-US" dirty="0">
                <a:solidFill>
                  <a:srgbClr val="000000"/>
                </a:solidFill>
                <a:highlight>
                  <a:srgbClr val="FFFFFF"/>
                </a:highlight>
                <a:latin typeface="Consolas"/>
              </a:rPr>
              <a:t> = 10;</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res = 0;</a:t>
            </a:r>
          </a:p>
          <a:p>
            <a:pPr marL="0" indent="0">
              <a:buNone/>
            </a:pP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vector</a:t>
            </a:r>
            <a:r>
              <a:rPr lang="en-US" dirty="0">
                <a:solidFill>
                  <a:srgbClr val="000000"/>
                </a:solidFill>
                <a:highlight>
                  <a:srgbClr val="FFFFFF"/>
                </a:highlight>
                <a:latin typeface="Consolas"/>
              </a:rPr>
              <a:t>&lt;</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&gt; t(3);</a:t>
            </a: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a:t>
            </a:r>
            <a:r>
              <a:rPr lang="en-US" dirty="0" err="1">
                <a:solidFill>
                  <a:srgbClr val="008000"/>
                </a:solidFill>
                <a:highlight>
                  <a:srgbClr val="FFFFFF"/>
                </a:highlight>
                <a:latin typeface="Consolas"/>
              </a:rPr>
              <a:t>variadic</a:t>
            </a:r>
            <a:r>
              <a:rPr lang="en-US" dirty="0">
                <a:solidFill>
                  <a:srgbClr val="008000"/>
                </a:solidFill>
                <a:highlight>
                  <a:srgbClr val="FFFFFF"/>
                </a:highlight>
                <a:latin typeface="Consolas"/>
              </a:rPr>
              <a:t> template</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t[0]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&amp;square, </a:t>
            </a:r>
            <a:r>
              <a:rPr lang="en-US" dirty="0" err="1">
                <a:solidFill>
                  <a:srgbClr val="000000"/>
                </a:solidFill>
                <a:highlight>
                  <a:srgbClr val="FFFFFF"/>
                </a:highlight>
                <a:latin typeface="Consolas"/>
              </a:rPr>
              <a:t>val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::ref( res ));</a:t>
            </a: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lambda function</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t[1]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[&amp;]{ </a:t>
            </a:r>
            <a:r>
              <a:rPr lang="en-US" dirty="0">
                <a:solidFill>
                  <a:srgbClr val="000000"/>
                </a:solidFill>
                <a:highlight>
                  <a:srgbClr val="FFFFFF"/>
                </a:highlight>
                <a:latin typeface="Consolas"/>
              </a:rPr>
              <a:t>square( </a:t>
            </a:r>
            <a:r>
              <a:rPr lang="en-US" dirty="0" err="1">
                <a:solidFill>
                  <a:srgbClr val="000000"/>
                </a:solidFill>
                <a:highlight>
                  <a:srgbClr val="FFFFFF"/>
                </a:highlight>
                <a:latin typeface="Consolas"/>
              </a:rPr>
              <a:t>val</a:t>
            </a:r>
            <a:r>
              <a:rPr lang="en-US" dirty="0">
                <a:solidFill>
                  <a:srgbClr val="000000"/>
                </a:solidFill>
                <a:highlight>
                  <a:srgbClr val="FFFFFF"/>
                </a:highlight>
                <a:latin typeface="Consolas"/>
              </a:rPr>
              <a:t>, res ); });</a:t>
            </a: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binder</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t[2]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::bind( &amp;square, </a:t>
            </a:r>
            <a:r>
              <a:rPr lang="en-US" dirty="0" err="1">
                <a:solidFill>
                  <a:srgbClr val="000000"/>
                </a:solidFill>
                <a:highlight>
                  <a:srgbClr val="FFFFFF"/>
                </a:highlight>
                <a:latin typeface="Consolas"/>
              </a:rPr>
              <a:t>val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::ref( res )));</a:t>
            </a:r>
          </a:p>
          <a:p>
            <a:pPr marL="0" indent="0">
              <a:buNone/>
            </a:pPr>
            <a:r>
              <a:rPr lang="en-US" dirty="0">
                <a:solidFill>
                  <a:srgbClr val="000000"/>
                </a:solidFill>
                <a:highlight>
                  <a:srgbClr val="FFFFFF"/>
                </a:highlight>
                <a:latin typeface="Consolas"/>
              </a:rPr>
              <a:t>   </a:t>
            </a:r>
          </a:p>
          <a:p>
            <a:pPr marL="0" indent="0">
              <a:buNone/>
            </a:pP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for</a:t>
            </a:r>
            <a:r>
              <a:rPr lang="nn-NO" dirty="0">
                <a:solidFill>
                  <a:srgbClr val="000000"/>
                </a:solidFill>
                <a:highlight>
                  <a:srgbClr val="FFFFFF"/>
                </a:highlight>
                <a:latin typeface="Consolas"/>
              </a:rPr>
              <a:t>( </a:t>
            </a:r>
            <a:r>
              <a:rPr lang="nn-NO" dirty="0">
                <a:solidFill>
                  <a:srgbClr val="2B91AF"/>
                </a:solidFill>
                <a:highlight>
                  <a:srgbClr val="FFFFFF"/>
                </a:highlight>
                <a:latin typeface="Consolas"/>
              </a:rPr>
              <a:t>size_t</a:t>
            </a:r>
            <a:r>
              <a:rPr lang="nn-NO" dirty="0">
                <a:solidFill>
                  <a:srgbClr val="000000"/>
                </a:solidFill>
                <a:highlight>
                  <a:srgbClr val="FFFFFF"/>
                </a:highlight>
                <a:latin typeface="Consolas"/>
              </a:rPr>
              <a:t> i=0; i &lt; t.size(); ++i )</a:t>
            </a:r>
          </a:p>
          <a:p>
            <a:pPr marL="0" indent="0">
              <a:buNone/>
            </a:pPr>
            <a:r>
              <a:rPr lang="en-US" dirty="0">
                <a:solidFill>
                  <a:srgbClr val="000000"/>
                </a:solidFill>
                <a:highlight>
                  <a:srgbClr val="FFFFFF"/>
                </a:highlight>
                <a:latin typeface="Consolas"/>
              </a:rPr>
              <a:t>      t[</a:t>
            </a:r>
            <a:r>
              <a:rPr lang="en-US" dirty="0" err="1">
                <a:solidFill>
                  <a:srgbClr val="000000"/>
                </a:solidFill>
                <a:highlight>
                  <a:srgbClr val="FFFFFF"/>
                </a:highlight>
                <a:latin typeface="Consolas"/>
              </a:rPr>
              <a:t>i</a:t>
            </a:r>
            <a:r>
              <a:rPr lang="en-US" dirty="0">
                <a:solidFill>
                  <a:srgbClr val="000000"/>
                </a:solidFill>
                <a:highlight>
                  <a:srgbClr val="FFFFFF"/>
                </a:highlight>
                <a:latin typeface="Consolas"/>
              </a:rPr>
              <a:t>].join();</a:t>
            </a:r>
          </a:p>
          <a:p>
            <a:pPr marL="0" indent="0">
              <a:buNone/>
            </a:pPr>
            <a:r>
              <a:rPr lang="en-US" dirty="0">
                <a:solidFill>
                  <a:srgbClr val="000000"/>
                </a:solidFill>
                <a:highlight>
                  <a:srgbClr val="FFFFFF"/>
                </a:highlight>
                <a:latin typeface="Consolas"/>
              </a:rPr>
              <a:t>}</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8578517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Passing parameters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By value</a:t>
            </a:r>
          </a:p>
          <a:p>
            <a:pPr lvl="1"/>
            <a:r>
              <a:rPr lang="en-US" dirty="0" smtClean="0"/>
              <a:t>Safe, if deep copy is made.</a:t>
            </a:r>
          </a:p>
          <a:p>
            <a:r>
              <a:rPr lang="en-US" dirty="0" smtClean="0"/>
              <a:t>By move</a:t>
            </a:r>
          </a:p>
          <a:p>
            <a:pPr lvl="1"/>
            <a:r>
              <a:rPr lang="en-US" dirty="0" smtClean="0"/>
              <a:t>Safe, as long as deep move is made.</a:t>
            </a:r>
          </a:p>
          <a:p>
            <a:r>
              <a:rPr lang="en-US" dirty="0" smtClean="0"/>
              <a:t>By </a:t>
            </a:r>
            <a:r>
              <a:rPr lang="en-US" dirty="0" err="1" smtClean="0"/>
              <a:t>const</a:t>
            </a:r>
            <a:r>
              <a:rPr lang="en-US" dirty="0" smtClean="0"/>
              <a:t> reference</a:t>
            </a:r>
          </a:p>
          <a:p>
            <a:pPr lvl="1"/>
            <a:r>
              <a:rPr lang="en-US" dirty="0" smtClean="0"/>
              <a:t>Safe as long as object is deep immutable and life-time guaranty is provided.</a:t>
            </a:r>
          </a:p>
          <a:p>
            <a:r>
              <a:rPr lang="en-US" dirty="0" smtClean="0"/>
              <a:t>By non-</a:t>
            </a:r>
            <a:r>
              <a:rPr lang="en-US" dirty="0" err="1" smtClean="0"/>
              <a:t>const</a:t>
            </a:r>
            <a:r>
              <a:rPr lang="en-US" dirty="0" smtClean="0"/>
              <a:t> reference</a:t>
            </a:r>
          </a:p>
          <a:p>
            <a:pPr lvl="1"/>
            <a:r>
              <a:rPr lang="en-US" dirty="0" smtClean="0"/>
              <a:t>Unsafe, introduces data sharing. Safe for </a:t>
            </a:r>
            <a:r>
              <a:rPr lang="en-US" i="1" dirty="0" smtClean="0"/>
              <a:t>“Monitor”  </a:t>
            </a:r>
            <a:r>
              <a:rPr lang="en-US" dirty="0" smtClean="0"/>
              <a:t>classes.</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1666094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time issues</a:t>
            </a:r>
            <a:endParaRPr lang="en-US" dirty="0"/>
          </a:p>
        </p:txBody>
      </p:sp>
      <p:sp>
        <p:nvSpPr>
          <p:cNvPr id="4" name="Content Placeholder 3"/>
          <p:cNvSpPr>
            <a:spLocks noGrp="1"/>
          </p:cNvSpPr>
          <p:nvPr>
            <p:ph sz="half" idx="1"/>
          </p:nvPr>
        </p:nvSpPr>
        <p:spPr/>
        <p:txBody>
          <a:bodyPr>
            <a:normAutofit fontScale="85000" lnSpcReduction="20000"/>
          </a:bodyPr>
          <a:lstStyle/>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take_ref</a:t>
            </a:r>
            <a:r>
              <a:rPr lang="en-US" dirty="0">
                <a:solidFill>
                  <a:srgbClr val="000000"/>
                </a:solidFill>
                <a:highlight>
                  <a:srgbClr val="FFFFFF"/>
                </a:highlight>
                <a:latin typeface="Consolas"/>
              </a:rPr>
              <a:t>( </a:t>
            </a:r>
            <a:r>
              <a:rPr lang="en-US" b="1" dirty="0" err="1">
                <a:solidFill>
                  <a:srgbClr val="FF0000"/>
                </a:solidFill>
                <a:highlight>
                  <a:srgbClr val="FFFFFF"/>
                </a:highlight>
                <a:latin typeface="Consolas"/>
              </a:rPr>
              <a:t>int</a:t>
            </a:r>
            <a:r>
              <a:rPr lang="en-US" b="1" dirty="0">
                <a:solidFill>
                  <a:srgbClr val="FF0000"/>
                </a:solidFill>
                <a:highlight>
                  <a:srgbClr val="FFFFFF"/>
                </a:highlight>
                <a:latin typeface="Consolas"/>
              </a:rPr>
              <a:t>&amp; </a:t>
            </a:r>
            <a:r>
              <a:rPr lang="en-US" b="1" dirty="0" err="1">
                <a:solidFill>
                  <a:srgbClr val="FF0000"/>
                </a:solidFill>
                <a:highlight>
                  <a:srgbClr val="FFFFFF"/>
                </a:highlight>
                <a:latin typeface="Consolas"/>
              </a:rPr>
              <a:t>i</a:t>
            </a:r>
            <a:r>
              <a:rPr lang="en-US" b="1" dirty="0">
                <a:solidFill>
                  <a:srgbClr val="000000"/>
                </a:solidFill>
                <a:highlight>
                  <a:srgbClr val="FFFFFF"/>
                </a:highlight>
                <a:latin typeface="Consolas"/>
              </a:rPr>
              <a:t> </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"thread "</a:t>
            </a:r>
            <a:r>
              <a:rPr lang="en-US" dirty="0">
                <a:solidFill>
                  <a:srgbClr val="000000"/>
                </a:solidFill>
                <a:highlight>
                  <a:srgbClr val="FFFFFF"/>
                </a:highlight>
                <a:latin typeface="Consolas"/>
              </a:rPr>
              <a:t> &lt;&lt; </a:t>
            </a:r>
            <a:r>
              <a:rPr lang="en-US" dirty="0" err="1">
                <a:solidFill>
                  <a:srgbClr val="808080"/>
                </a:solidFill>
                <a:highlight>
                  <a:srgbClr val="FFFFFF"/>
                </a:highlight>
                <a:latin typeface="Consolas"/>
              </a:rPr>
              <a:t>i</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fork(</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vector</a:t>
            </a:r>
            <a:r>
              <a:rPr lang="en-US" dirty="0">
                <a:solidFill>
                  <a:srgbClr val="000000"/>
                </a:solidFill>
                <a:highlight>
                  <a:srgbClr val="FFFFFF"/>
                </a:highlight>
                <a:latin typeface="Consolas"/>
              </a:rPr>
              <a:t>&lt;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&gt;&amp; </a:t>
            </a:r>
            <a:r>
              <a:rPr lang="en-US" dirty="0">
                <a:solidFill>
                  <a:srgbClr val="808080"/>
                </a:solidFill>
                <a:highlight>
                  <a:srgbClr val="FFFFFF"/>
                </a:highlight>
                <a:latin typeface="Consolas"/>
              </a:rPr>
              <a:t>v</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for</a:t>
            </a:r>
            <a:r>
              <a:rPr lang="nn-NO" dirty="0">
                <a:solidFill>
                  <a:srgbClr val="000000"/>
                </a:solidFill>
                <a:highlight>
                  <a:srgbClr val="FFFFFF"/>
                </a:highlight>
                <a:latin typeface="Consolas"/>
              </a:rPr>
              <a:t>( </a:t>
            </a:r>
            <a:r>
              <a:rPr lang="nn-NO" b="1" dirty="0">
                <a:solidFill>
                  <a:srgbClr val="FF0000"/>
                </a:solidFill>
                <a:highlight>
                  <a:srgbClr val="FFFFFF"/>
                </a:highlight>
                <a:latin typeface="Consolas"/>
              </a:rPr>
              <a:t>int i</a:t>
            </a:r>
            <a:r>
              <a:rPr lang="nn-NO" dirty="0">
                <a:solidFill>
                  <a:srgbClr val="000000"/>
                </a:solidFill>
                <a:highlight>
                  <a:srgbClr val="FFFFFF"/>
                </a:highlight>
                <a:latin typeface="Consolas"/>
              </a:rPr>
              <a:t>=0; i&lt;10; ++i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v</a:t>
            </a:r>
            <a:r>
              <a:rPr lang="en-US" dirty="0" err="1">
                <a:solidFill>
                  <a:srgbClr val="000000"/>
                </a:solidFill>
                <a:highlight>
                  <a:srgbClr val="FFFFFF"/>
                </a:highlight>
                <a:latin typeface="Consolas"/>
              </a:rPr>
              <a:t>.emplace_back</a:t>
            </a:r>
            <a:r>
              <a:rPr lang="en-US" dirty="0" smtClean="0">
                <a:solidFill>
                  <a:srgbClr val="000000"/>
                </a:solidFill>
                <a:highlight>
                  <a:srgbClr val="FFFFFF"/>
                </a:highlight>
                <a:latin typeface="Consolas"/>
              </a:rPr>
              <a:t>(&amp;</a:t>
            </a:r>
            <a:r>
              <a:rPr lang="en-US" dirty="0" err="1" smtClean="0">
                <a:solidFill>
                  <a:srgbClr val="000000"/>
                </a:solidFill>
                <a:highlight>
                  <a:srgbClr val="FFFFFF"/>
                </a:highlight>
                <a:latin typeface="Consolas"/>
              </a:rPr>
              <a:t>take_ref,</a:t>
            </a:r>
            <a:r>
              <a:rPr lang="en-US" b="1" dirty="0" err="1" smtClean="0">
                <a:solidFill>
                  <a:srgbClr val="000000"/>
                </a:solidFill>
                <a:highlight>
                  <a:srgbClr val="FFFFFF"/>
                </a:highlight>
                <a:latin typeface="Consolas"/>
              </a:rPr>
              <a:t>std</a:t>
            </a:r>
            <a:r>
              <a:rPr lang="en-US" b="1" dirty="0">
                <a:solidFill>
                  <a:srgbClr val="000000"/>
                </a:solidFill>
                <a:highlight>
                  <a:srgbClr val="FFFFFF"/>
                </a:highlight>
                <a:latin typeface="Consolas"/>
              </a:rPr>
              <a:t>::</a:t>
            </a:r>
            <a:r>
              <a:rPr lang="en-US" b="1" dirty="0" smtClean="0">
                <a:solidFill>
                  <a:srgbClr val="000000"/>
                </a:solidFill>
                <a:highlight>
                  <a:srgbClr val="FFFFFF"/>
                </a:highlight>
                <a:latin typeface="Consolas"/>
              </a:rPr>
              <a:t>ref(</a:t>
            </a:r>
            <a:r>
              <a:rPr lang="en-US" b="1" dirty="0" err="1" smtClean="0">
                <a:solidFill>
                  <a:srgbClr val="000000"/>
                </a:solidFill>
                <a:highlight>
                  <a:srgbClr val="FFFFFF"/>
                </a:highlight>
                <a:latin typeface="Consolas"/>
              </a:rPr>
              <a:t>i</a:t>
            </a:r>
            <a:r>
              <a:rPr lang="en-US" b="1" dirty="0" smtClean="0">
                <a:solidFill>
                  <a:srgbClr val="000000"/>
                </a:solidFill>
                <a:highlight>
                  <a:srgbClr val="FFFFFF"/>
                </a:highlight>
                <a:latin typeface="Consolas"/>
              </a:rPr>
              <a:t>)</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life_time_issue</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vector</a:t>
            </a:r>
            <a:r>
              <a:rPr lang="en-US" dirty="0">
                <a:solidFill>
                  <a:srgbClr val="000000"/>
                </a:solidFill>
                <a:highlight>
                  <a:srgbClr val="FFFFFF"/>
                </a:highlight>
                <a:latin typeface="Consolas"/>
              </a:rPr>
              <a:t>&lt;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&gt; v;</a:t>
            </a:r>
          </a:p>
          <a:p>
            <a:pPr marL="0" indent="0">
              <a:buNone/>
            </a:pPr>
            <a:r>
              <a:rPr lang="en-US" dirty="0">
                <a:solidFill>
                  <a:srgbClr val="000000"/>
                </a:solidFill>
                <a:highlight>
                  <a:srgbClr val="FFFFFF"/>
                </a:highlight>
                <a:latin typeface="Consolas"/>
              </a:rPr>
              <a:t>   fork( v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"main\n"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for</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&amp; t : v ) </a:t>
            </a:r>
          </a:p>
          <a:p>
            <a:pPr marL="0" indent="0">
              <a:buNone/>
            </a:pPr>
            <a:r>
              <a:rPr lang="en-US" dirty="0">
                <a:solidFill>
                  <a:srgbClr val="000000"/>
                </a:solidFill>
                <a:highlight>
                  <a:srgbClr val="FFFFFF"/>
                </a:highlight>
                <a:latin typeface="Consolas"/>
              </a:rPr>
              <a:t>   {</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t.join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fontScale="85000" lnSpcReduction="20000"/>
          </a:bodyPr>
          <a:lstStyle/>
          <a:p>
            <a:r>
              <a:rPr lang="en-US" dirty="0" smtClean="0"/>
              <a:t>Passing data to threads by value is safe (but slow).</a:t>
            </a:r>
          </a:p>
          <a:p>
            <a:r>
              <a:rPr lang="en-US" dirty="0" smtClean="0"/>
              <a:t>Passing by reference introduces life-time issues (but fast).</a:t>
            </a:r>
          </a:p>
          <a:p>
            <a:r>
              <a:rPr lang="en-US" dirty="0" smtClean="0"/>
              <a:t>The example is </a:t>
            </a:r>
            <a:r>
              <a:rPr lang="en-US" b="1" dirty="0" smtClean="0"/>
              <a:t>wrong</a:t>
            </a:r>
            <a:r>
              <a:rPr lang="en-US" dirty="0" smtClean="0"/>
              <a:t>.</a:t>
            </a:r>
          </a:p>
          <a:p>
            <a:r>
              <a:rPr lang="en-US" dirty="0" smtClean="0"/>
              <a:t>Thread keeps reference to variable, which is already out of the scope.</a:t>
            </a:r>
          </a:p>
          <a:p>
            <a:r>
              <a:rPr lang="en-US" dirty="0" smtClean="0"/>
              <a:t>All threads are sharing pointer to the same location.</a:t>
            </a:r>
          </a:p>
          <a:p>
            <a:r>
              <a:rPr lang="en-US" dirty="0" smtClean="0"/>
              <a:t>The value the thread is seeing depends on timing -&gt; </a:t>
            </a:r>
            <a:r>
              <a:rPr lang="en-US" b="1" dirty="0" smtClean="0"/>
              <a:t>data race</a:t>
            </a:r>
            <a:r>
              <a:rPr lang="en-US" dirty="0" smtClean="0"/>
              <a:t>.</a:t>
            </a:r>
          </a:p>
        </p:txBody>
      </p:sp>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a:p>
        </p:txBody>
      </p:sp>
      <p:sp>
        <p:nvSpPr>
          <p:cNvPr id="15" name="Freeform 14"/>
          <p:cNvSpPr/>
          <p:nvPr/>
        </p:nvSpPr>
        <p:spPr>
          <a:xfrm>
            <a:off x="1466850" y="3048000"/>
            <a:ext cx="2231475" cy="819150"/>
          </a:xfrm>
          <a:custGeom>
            <a:avLst/>
            <a:gdLst>
              <a:gd name="connsiteX0" fmla="*/ 0 w 2231475"/>
              <a:gd name="connsiteY0" fmla="*/ 0 h 819150"/>
              <a:gd name="connsiteX1" fmla="*/ 9525 w 2231475"/>
              <a:gd name="connsiteY1" fmla="*/ 66675 h 819150"/>
              <a:gd name="connsiteX2" fmla="*/ 19050 w 2231475"/>
              <a:gd name="connsiteY2" fmla="*/ 142875 h 819150"/>
              <a:gd name="connsiteX3" fmla="*/ 38100 w 2231475"/>
              <a:gd name="connsiteY3" fmla="*/ 200025 h 819150"/>
              <a:gd name="connsiteX4" fmla="*/ 47625 w 2231475"/>
              <a:gd name="connsiteY4" fmla="*/ 228600 h 819150"/>
              <a:gd name="connsiteX5" fmla="*/ 66675 w 2231475"/>
              <a:gd name="connsiteY5" fmla="*/ 342900 h 819150"/>
              <a:gd name="connsiteX6" fmla="*/ 95250 w 2231475"/>
              <a:gd name="connsiteY6" fmla="*/ 371475 h 819150"/>
              <a:gd name="connsiteX7" fmla="*/ 142875 w 2231475"/>
              <a:gd name="connsiteY7" fmla="*/ 438150 h 819150"/>
              <a:gd name="connsiteX8" fmla="*/ 200025 w 2231475"/>
              <a:gd name="connsiteY8" fmla="*/ 495300 h 819150"/>
              <a:gd name="connsiteX9" fmla="*/ 257175 w 2231475"/>
              <a:gd name="connsiteY9" fmla="*/ 514350 h 819150"/>
              <a:gd name="connsiteX10" fmla="*/ 304800 w 2231475"/>
              <a:gd name="connsiteY10" fmla="*/ 561975 h 819150"/>
              <a:gd name="connsiteX11" fmla="*/ 333375 w 2231475"/>
              <a:gd name="connsiteY11" fmla="*/ 571500 h 819150"/>
              <a:gd name="connsiteX12" fmla="*/ 457200 w 2231475"/>
              <a:gd name="connsiteY12" fmla="*/ 619125 h 819150"/>
              <a:gd name="connsiteX13" fmla="*/ 485775 w 2231475"/>
              <a:gd name="connsiteY13" fmla="*/ 628650 h 819150"/>
              <a:gd name="connsiteX14" fmla="*/ 552450 w 2231475"/>
              <a:gd name="connsiteY14" fmla="*/ 647700 h 819150"/>
              <a:gd name="connsiteX15" fmla="*/ 590550 w 2231475"/>
              <a:gd name="connsiteY15" fmla="*/ 666750 h 819150"/>
              <a:gd name="connsiteX16" fmla="*/ 723900 w 2231475"/>
              <a:gd name="connsiteY16" fmla="*/ 704850 h 819150"/>
              <a:gd name="connsiteX17" fmla="*/ 762000 w 2231475"/>
              <a:gd name="connsiteY17" fmla="*/ 714375 h 819150"/>
              <a:gd name="connsiteX18" fmla="*/ 819150 w 2231475"/>
              <a:gd name="connsiteY18" fmla="*/ 742950 h 819150"/>
              <a:gd name="connsiteX19" fmla="*/ 847725 w 2231475"/>
              <a:gd name="connsiteY19" fmla="*/ 752475 h 819150"/>
              <a:gd name="connsiteX20" fmla="*/ 933450 w 2231475"/>
              <a:gd name="connsiteY20" fmla="*/ 790575 h 819150"/>
              <a:gd name="connsiteX21" fmla="*/ 1028700 w 2231475"/>
              <a:gd name="connsiteY21" fmla="*/ 800100 h 819150"/>
              <a:gd name="connsiteX22" fmla="*/ 1171575 w 2231475"/>
              <a:gd name="connsiteY22" fmla="*/ 819150 h 819150"/>
              <a:gd name="connsiteX23" fmla="*/ 1809750 w 2231475"/>
              <a:gd name="connsiteY23" fmla="*/ 809625 h 819150"/>
              <a:gd name="connsiteX24" fmla="*/ 1847850 w 2231475"/>
              <a:gd name="connsiteY24" fmla="*/ 790575 h 819150"/>
              <a:gd name="connsiteX25" fmla="*/ 1876425 w 2231475"/>
              <a:gd name="connsiteY25" fmla="*/ 781050 h 819150"/>
              <a:gd name="connsiteX26" fmla="*/ 1962150 w 2231475"/>
              <a:gd name="connsiteY26" fmla="*/ 714375 h 819150"/>
              <a:gd name="connsiteX27" fmla="*/ 1990725 w 2231475"/>
              <a:gd name="connsiteY27" fmla="*/ 695325 h 819150"/>
              <a:gd name="connsiteX28" fmla="*/ 2019300 w 2231475"/>
              <a:gd name="connsiteY28" fmla="*/ 676275 h 819150"/>
              <a:gd name="connsiteX29" fmla="*/ 2105025 w 2231475"/>
              <a:gd name="connsiteY29" fmla="*/ 638175 h 819150"/>
              <a:gd name="connsiteX30" fmla="*/ 2181225 w 2231475"/>
              <a:gd name="connsiteY30" fmla="*/ 619125 h 819150"/>
              <a:gd name="connsiteX31" fmla="*/ 2209800 w 2231475"/>
              <a:gd name="connsiteY31" fmla="*/ 609600 h 819150"/>
              <a:gd name="connsiteX32" fmla="*/ 2228850 w 2231475"/>
              <a:gd name="connsiteY32" fmla="*/ 428625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31475" h="819150">
                <a:moveTo>
                  <a:pt x="0" y="0"/>
                </a:moveTo>
                <a:cubicBezTo>
                  <a:pt x="3175" y="22225"/>
                  <a:pt x="6558" y="44421"/>
                  <a:pt x="9525" y="66675"/>
                </a:cubicBezTo>
                <a:cubicBezTo>
                  <a:pt x="12908" y="92048"/>
                  <a:pt x="13687" y="117846"/>
                  <a:pt x="19050" y="142875"/>
                </a:cubicBezTo>
                <a:cubicBezTo>
                  <a:pt x="23257" y="162510"/>
                  <a:pt x="31750" y="180975"/>
                  <a:pt x="38100" y="200025"/>
                </a:cubicBezTo>
                <a:cubicBezTo>
                  <a:pt x="41275" y="209550"/>
                  <a:pt x="45974" y="218696"/>
                  <a:pt x="47625" y="228600"/>
                </a:cubicBezTo>
                <a:cubicBezTo>
                  <a:pt x="53975" y="266700"/>
                  <a:pt x="54461" y="306257"/>
                  <a:pt x="66675" y="342900"/>
                </a:cubicBezTo>
                <a:cubicBezTo>
                  <a:pt x="70935" y="355679"/>
                  <a:pt x="86626" y="361127"/>
                  <a:pt x="95250" y="371475"/>
                </a:cubicBezTo>
                <a:cubicBezTo>
                  <a:pt x="153223" y="441042"/>
                  <a:pt x="65667" y="352363"/>
                  <a:pt x="142875" y="438150"/>
                </a:cubicBezTo>
                <a:cubicBezTo>
                  <a:pt x="160897" y="458175"/>
                  <a:pt x="174467" y="486781"/>
                  <a:pt x="200025" y="495300"/>
                </a:cubicBezTo>
                <a:lnTo>
                  <a:pt x="257175" y="514350"/>
                </a:lnTo>
                <a:cubicBezTo>
                  <a:pt x="276225" y="542925"/>
                  <a:pt x="273050" y="546100"/>
                  <a:pt x="304800" y="561975"/>
                </a:cubicBezTo>
                <a:cubicBezTo>
                  <a:pt x="313780" y="566465"/>
                  <a:pt x="324598" y="566624"/>
                  <a:pt x="333375" y="571500"/>
                </a:cubicBezTo>
                <a:cubicBezTo>
                  <a:pt x="429621" y="624970"/>
                  <a:pt x="347841" y="603502"/>
                  <a:pt x="457200" y="619125"/>
                </a:cubicBezTo>
                <a:cubicBezTo>
                  <a:pt x="466725" y="622300"/>
                  <a:pt x="476121" y="625892"/>
                  <a:pt x="485775" y="628650"/>
                </a:cubicBezTo>
                <a:cubicBezTo>
                  <a:pt x="509942" y="635555"/>
                  <a:pt x="529612" y="637912"/>
                  <a:pt x="552450" y="647700"/>
                </a:cubicBezTo>
                <a:cubicBezTo>
                  <a:pt x="565501" y="653293"/>
                  <a:pt x="577080" y="662260"/>
                  <a:pt x="590550" y="666750"/>
                </a:cubicBezTo>
                <a:cubicBezTo>
                  <a:pt x="634406" y="681369"/>
                  <a:pt x="679052" y="693638"/>
                  <a:pt x="723900" y="704850"/>
                </a:cubicBezTo>
                <a:cubicBezTo>
                  <a:pt x="736600" y="708025"/>
                  <a:pt x="749845" y="709513"/>
                  <a:pt x="762000" y="714375"/>
                </a:cubicBezTo>
                <a:cubicBezTo>
                  <a:pt x="781775" y="722285"/>
                  <a:pt x="799687" y="734300"/>
                  <a:pt x="819150" y="742950"/>
                </a:cubicBezTo>
                <a:cubicBezTo>
                  <a:pt x="828325" y="747028"/>
                  <a:pt x="838745" y="747985"/>
                  <a:pt x="847725" y="752475"/>
                </a:cubicBezTo>
                <a:cubicBezTo>
                  <a:pt x="899065" y="778145"/>
                  <a:pt x="854814" y="775831"/>
                  <a:pt x="933450" y="790575"/>
                </a:cubicBezTo>
                <a:cubicBezTo>
                  <a:pt x="964812" y="796455"/>
                  <a:pt x="996967" y="796760"/>
                  <a:pt x="1028700" y="800100"/>
                </a:cubicBezTo>
                <a:cubicBezTo>
                  <a:pt x="1123627" y="810092"/>
                  <a:pt x="1092777" y="806017"/>
                  <a:pt x="1171575" y="819150"/>
                </a:cubicBezTo>
                <a:cubicBezTo>
                  <a:pt x="1384300" y="815975"/>
                  <a:pt x="1597191" y="818606"/>
                  <a:pt x="1809750" y="809625"/>
                </a:cubicBezTo>
                <a:cubicBezTo>
                  <a:pt x="1823936" y="809026"/>
                  <a:pt x="1834799" y="796168"/>
                  <a:pt x="1847850" y="790575"/>
                </a:cubicBezTo>
                <a:cubicBezTo>
                  <a:pt x="1857078" y="786620"/>
                  <a:pt x="1866900" y="784225"/>
                  <a:pt x="1876425" y="781050"/>
                </a:cubicBezTo>
                <a:cubicBezTo>
                  <a:pt x="1921189" y="736286"/>
                  <a:pt x="1893792" y="759947"/>
                  <a:pt x="1962150" y="714375"/>
                </a:cubicBezTo>
                <a:lnTo>
                  <a:pt x="1990725" y="695325"/>
                </a:lnTo>
                <a:cubicBezTo>
                  <a:pt x="2000250" y="688975"/>
                  <a:pt x="2009061" y="681395"/>
                  <a:pt x="2019300" y="676275"/>
                </a:cubicBezTo>
                <a:cubicBezTo>
                  <a:pt x="2048453" y="661698"/>
                  <a:pt x="2073405" y="647904"/>
                  <a:pt x="2105025" y="638175"/>
                </a:cubicBezTo>
                <a:cubicBezTo>
                  <a:pt x="2130049" y="630475"/>
                  <a:pt x="2156387" y="627404"/>
                  <a:pt x="2181225" y="619125"/>
                </a:cubicBezTo>
                <a:lnTo>
                  <a:pt x="2209800" y="609600"/>
                </a:lnTo>
                <a:cubicBezTo>
                  <a:pt x="2241902" y="513293"/>
                  <a:pt x="2228850" y="572530"/>
                  <a:pt x="2228850" y="428625"/>
                </a:cubicBezTo>
              </a:path>
            </a:pathLst>
          </a:custGeom>
          <a:noFill/>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a:off x="2056570" y="1112701"/>
            <a:ext cx="2239205" cy="2097224"/>
          </a:xfrm>
          <a:custGeom>
            <a:avLst/>
            <a:gdLst>
              <a:gd name="connsiteX0" fmla="*/ 1639130 w 2239205"/>
              <a:gd name="connsiteY0" fmla="*/ 2097224 h 2097224"/>
              <a:gd name="connsiteX1" fmla="*/ 1772480 w 2239205"/>
              <a:gd name="connsiteY1" fmla="*/ 2068649 h 2097224"/>
              <a:gd name="connsiteX2" fmla="*/ 1801055 w 2239205"/>
              <a:gd name="connsiteY2" fmla="*/ 2040074 h 2097224"/>
              <a:gd name="connsiteX3" fmla="*/ 1829630 w 2239205"/>
              <a:gd name="connsiteY3" fmla="*/ 2030549 h 2097224"/>
              <a:gd name="connsiteX4" fmla="*/ 1924880 w 2239205"/>
              <a:gd name="connsiteY4" fmla="*/ 1916249 h 2097224"/>
              <a:gd name="connsiteX5" fmla="*/ 1953455 w 2239205"/>
              <a:gd name="connsiteY5" fmla="*/ 1859099 h 2097224"/>
              <a:gd name="connsiteX6" fmla="*/ 1962980 w 2239205"/>
              <a:gd name="connsiteY6" fmla="*/ 1830524 h 2097224"/>
              <a:gd name="connsiteX7" fmla="*/ 2010605 w 2239205"/>
              <a:gd name="connsiteY7" fmla="*/ 1763849 h 2097224"/>
              <a:gd name="connsiteX8" fmla="*/ 2067755 w 2239205"/>
              <a:gd name="connsiteY8" fmla="*/ 1659074 h 2097224"/>
              <a:gd name="connsiteX9" fmla="*/ 2077280 w 2239205"/>
              <a:gd name="connsiteY9" fmla="*/ 1630499 h 2097224"/>
              <a:gd name="connsiteX10" fmla="*/ 2086805 w 2239205"/>
              <a:gd name="connsiteY10" fmla="*/ 1563824 h 2097224"/>
              <a:gd name="connsiteX11" fmla="*/ 2096330 w 2239205"/>
              <a:gd name="connsiteY11" fmla="*/ 1373324 h 2097224"/>
              <a:gd name="connsiteX12" fmla="*/ 2143955 w 2239205"/>
              <a:gd name="connsiteY12" fmla="*/ 1239974 h 2097224"/>
              <a:gd name="connsiteX13" fmla="*/ 2172530 w 2239205"/>
              <a:gd name="connsiteY13" fmla="*/ 1135199 h 2097224"/>
              <a:gd name="connsiteX14" fmla="*/ 2191580 w 2239205"/>
              <a:gd name="connsiteY14" fmla="*/ 1087574 h 2097224"/>
              <a:gd name="connsiteX15" fmla="*/ 2201105 w 2239205"/>
              <a:gd name="connsiteY15" fmla="*/ 1058999 h 2097224"/>
              <a:gd name="connsiteX16" fmla="*/ 2210630 w 2239205"/>
              <a:gd name="connsiteY16" fmla="*/ 992324 h 2097224"/>
              <a:gd name="connsiteX17" fmla="*/ 2229680 w 2239205"/>
              <a:gd name="connsiteY17" fmla="*/ 944699 h 2097224"/>
              <a:gd name="connsiteX18" fmla="*/ 2239205 w 2239205"/>
              <a:gd name="connsiteY18" fmla="*/ 906599 h 2097224"/>
              <a:gd name="connsiteX19" fmla="*/ 2229680 w 2239205"/>
              <a:gd name="connsiteY19" fmla="*/ 677999 h 2097224"/>
              <a:gd name="connsiteX20" fmla="*/ 2191580 w 2239205"/>
              <a:gd name="connsiteY20" fmla="*/ 630374 h 2097224"/>
              <a:gd name="connsiteX21" fmla="*/ 2153480 w 2239205"/>
              <a:gd name="connsiteY21" fmla="*/ 573224 h 2097224"/>
              <a:gd name="connsiteX22" fmla="*/ 2124905 w 2239205"/>
              <a:gd name="connsiteY22" fmla="*/ 544649 h 2097224"/>
              <a:gd name="connsiteX23" fmla="*/ 2105855 w 2239205"/>
              <a:gd name="connsiteY23" fmla="*/ 506549 h 2097224"/>
              <a:gd name="connsiteX24" fmla="*/ 2048705 w 2239205"/>
              <a:gd name="connsiteY24" fmla="*/ 449399 h 2097224"/>
              <a:gd name="connsiteX25" fmla="*/ 2020130 w 2239205"/>
              <a:gd name="connsiteY25" fmla="*/ 420824 h 2097224"/>
              <a:gd name="connsiteX26" fmla="*/ 1972505 w 2239205"/>
              <a:gd name="connsiteY26" fmla="*/ 382724 h 2097224"/>
              <a:gd name="connsiteX27" fmla="*/ 1896305 w 2239205"/>
              <a:gd name="connsiteY27" fmla="*/ 325574 h 2097224"/>
              <a:gd name="connsiteX28" fmla="*/ 1791530 w 2239205"/>
              <a:gd name="connsiteY28" fmla="*/ 287474 h 2097224"/>
              <a:gd name="connsiteX29" fmla="*/ 1743905 w 2239205"/>
              <a:gd name="connsiteY29" fmla="*/ 268424 h 2097224"/>
              <a:gd name="connsiteX30" fmla="*/ 1677230 w 2239205"/>
              <a:gd name="connsiteY30" fmla="*/ 249374 h 2097224"/>
              <a:gd name="connsiteX31" fmla="*/ 1572455 w 2239205"/>
              <a:gd name="connsiteY31" fmla="*/ 192224 h 2097224"/>
              <a:gd name="connsiteX32" fmla="*/ 1515305 w 2239205"/>
              <a:gd name="connsiteY32" fmla="*/ 173174 h 2097224"/>
              <a:gd name="connsiteX33" fmla="*/ 1420055 w 2239205"/>
              <a:gd name="connsiteY33" fmla="*/ 154124 h 2097224"/>
              <a:gd name="connsiteX34" fmla="*/ 1305755 w 2239205"/>
              <a:gd name="connsiteY34" fmla="*/ 87449 h 2097224"/>
              <a:gd name="connsiteX35" fmla="*/ 1258130 w 2239205"/>
              <a:gd name="connsiteY35" fmla="*/ 68399 h 2097224"/>
              <a:gd name="connsiteX36" fmla="*/ 1143830 w 2239205"/>
              <a:gd name="connsiteY36" fmla="*/ 58874 h 2097224"/>
              <a:gd name="connsiteX37" fmla="*/ 1029530 w 2239205"/>
              <a:gd name="connsiteY37" fmla="*/ 39824 h 2097224"/>
              <a:gd name="connsiteX38" fmla="*/ 1000955 w 2239205"/>
              <a:gd name="connsiteY38" fmla="*/ 20774 h 2097224"/>
              <a:gd name="connsiteX39" fmla="*/ 372305 w 2239205"/>
              <a:gd name="connsiteY39" fmla="*/ 11249 h 2097224"/>
              <a:gd name="connsiteX40" fmla="*/ 324680 w 2239205"/>
              <a:gd name="connsiteY40" fmla="*/ 20774 h 2097224"/>
              <a:gd name="connsiteX41" fmla="*/ 296105 w 2239205"/>
              <a:gd name="connsiteY41" fmla="*/ 30299 h 2097224"/>
              <a:gd name="connsiteX42" fmla="*/ 258005 w 2239205"/>
              <a:gd name="connsiteY42" fmla="*/ 39824 h 2097224"/>
              <a:gd name="connsiteX43" fmla="*/ 219905 w 2239205"/>
              <a:gd name="connsiteY43" fmla="*/ 68399 h 2097224"/>
              <a:gd name="connsiteX44" fmla="*/ 153230 w 2239205"/>
              <a:gd name="connsiteY44" fmla="*/ 106499 h 2097224"/>
              <a:gd name="connsiteX45" fmla="*/ 86555 w 2239205"/>
              <a:gd name="connsiteY45" fmla="*/ 192224 h 2097224"/>
              <a:gd name="connsiteX46" fmla="*/ 57980 w 2239205"/>
              <a:gd name="connsiteY46" fmla="*/ 220799 h 2097224"/>
              <a:gd name="connsiteX47" fmla="*/ 29405 w 2239205"/>
              <a:gd name="connsiteY47" fmla="*/ 325574 h 2097224"/>
              <a:gd name="connsiteX48" fmla="*/ 19880 w 2239205"/>
              <a:gd name="connsiteY48" fmla="*/ 354149 h 2097224"/>
              <a:gd name="connsiteX49" fmla="*/ 830 w 2239205"/>
              <a:gd name="connsiteY49" fmla="*/ 420824 h 2097224"/>
              <a:gd name="connsiteX50" fmla="*/ 830 w 2239205"/>
              <a:gd name="connsiteY50" fmla="*/ 449399 h 209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239205" h="2097224">
                <a:moveTo>
                  <a:pt x="1639130" y="2097224"/>
                </a:moveTo>
                <a:cubicBezTo>
                  <a:pt x="1683580" y="2087699"/>
                  <a:pt x="1729613" y="2083779"/>
                  <a:pt x="1772480" y="2068649"/>
                </a:cubicBezTo>
                <a:cubicBezTo>
                  <a:pt x="1785182" y="2064166"/>
                  <a:pt x="1789847" y="2047546"/>
                  <a:pt x="1801055" y="2040074"/>
                </a:cubicBezTo>
                <a:cubicBezTo>
                  <a:pt x="1809409" y="2034505"/>
                  <a:pt x="1820105" y="2033724"/>
                  <a:pt x="1829630" y="2030549"/>
                </a:cubicBezTo>
                <a:cubicBezTo>
                  <a:pt x="1897556" y="1939981"/>
                  <a:pt x="1864329" y="1976800"/>
                  <a:pt x="1924880" y="1916249"/>
                </a:cubicBezTo>
                <a:cubicBezTo>
                  <a:pt x="1948821" y="1844425"/>
                  <a:pt x="1916526" y="1932957"/>
                  <a:pt x="1953455" y="1859099"/>
                </a:cubicBezTo>
                <a:cubicBezTo>
                  <a:pt x="1957945" y="1850119"/>
                  <a:pt x="1958490" y="1839504"/>
                  <a:pt x="1962980" y="1830524"/>
                </a:cubicBezTo>
                <a:cubicBezTo>
                  <a:pt x="1970463" y="1815559"/>
                  <a:pt x="2003414" y="1773916"/>
                  <a:pt x="2010605" y="1763849"/>
                </a:cubicBezTo>
                <a:cubicBezTo>
                  <a:pt x="2032343" y="1733415"/>
                  <a:pt x="2056944" y="1691508"/>
                  <a:pt x="2067755" y="1659074"/>
                </a:cubicBezTo>
                <a:lnTo>
                  <a:pt x="2077280" y="1630499"/>
                </a:lnTo>
                <a:cubicBezTo>
                  <a:pt x="2080455" y="1608274"/>
                  <a:pt x="2085147" y="1586213"/>
                  <a:pt x="2086805" y="1563824"/>
                </a:cubicBezTo>
                <a:cubicBezTo>
                  <a:pt x="2091502" y="1500418"/>
                  <a:pt x="2089042" y="1436484"/>
                  <a:pt x="2096330" y="1373324"/>
                </a:cubicBezTo>
                <a:cubicBezTo>
                  <a:pt x="2097869" y="1359988"/>
                  <a:pt x="2143574" y="1241021"/>
                  <a:pt x="2143955" y="1239974"/>
                </a:cubicBezTo>
                <a:cubicBezTo>
                  <a:pt x="2165216" y="1181506"/>
                  <a:pt x="2142031" y="1234320"/>
                  <a:pt x="2172530" y="1135199"/>
                </a:cubicBezTo>
                <a:cubicBezTo>
                  <a:pt x="2177558" y="1118857"/>
                  <a:pt x="2185577" y="1103583"/>
                  <a:pt x="2191580" y="1087574"/>
                </a:cubicBezTo>
                <a:cubicBezTo>
                  <a:pt x="2195105" y="1078173"/>
                  <a:pt x="2197930" y="1068524"/>
                  <a:pt x="2201105" y="1058999"/>
                </a:cubicBezTo>
                <a:cubicBezTo>
                  <a:pt x="2204280" y="1036774"/>
                  <a:pt x="2205185" y="1014104"/>
                  <a:pt x="2210630" y="992324"/>
                </a:cubicBezTo>
                <a:cubicBezTo>
                  <a:pt x="2214777" y="975737"/>
                  <a:pt x="2224273" y="960919"/>
                  <a:pt x="2229680" y="944699"/>
                </a:cubicBezTo>
                <a:cubicBezTo>
                  <a:pt x="2233820" y="932280"/>
                  <a:pt x="2236030" y="919299"/>
                  <a:pt x="2239205" y="906599"/>
                </a:cubicBezTo>
                <a:cubicBezTo>
                  <a:pt x="2236030" y="830399"/>
                  <a:pt x="2242638" y="753156"/>
                  <a:pt x="2229680" y="677999"/>
                </a:cubicBezTo>
                <a:cubicBezTo>
                  <a:pt x="2226226" y="657965"/>
                  <a:pt x="2203537" y="646816"/>
                  <a:pt x="2191580" y="630374"/>
                </a:cubicBezTo>
                <a:cubicBezTo>
                  <a:pt x="2178114" y="611858"/>
                  <a:pt x="2169669" y="589413"/>
                  <a:pt x="2153480" y="573224"/>
                </a:cubicBezTo>
                <a:cubicBezTo>
                  <a:pt x="2143955" y="563699"/>
                  <a:pt x="2132735" y="555610"/>
                  <a:pt x="2124905" y="544649"/>
                </a:cubicBezTo>
                <a:cubicBezTo>
                  <a:pt x="2116652" y="533095"/>
                  <a:pt x="2114725" y="517637"/>
                  <a:pt x="2105855" y="506549"/>
                </a:cubicBezTo>
                <a:cubicBezTo>
                  <a:pt x="2089025" y="485512"/>
                  <a:pt x="2067755" y="468449"/>
                  <a:pt x="2048705" y="449399"/>
                </a:cubicBezTo>
                <a:cubicBezTo>
                  <a:pt x="2039180" y="439874"/>
                  <a:pt x="2030649" y="429239"/>
                  <a:pt x="2020130" y="420824"/>
                </a:cubicBezTo>
                <a:cubicBezTo>
                  <a:pt x="2004255" y="408124"/>
                  <a:pt x="1987700" y="396230"/>
                  <a:pt x="1972505" y="382724"/>
                </a:cubicBezTo>
                <a:cubicBezTo>
                  <a:pt x="1910610" y="327707"/>
                  <a:pt x="1961343" y="358093"/>
                  <a:pt x="1896305" y="325574"/>
                </a:cubicBezTo>
                <a:cubicBezTo>
                  <a:pt x="1858204" y="268423"/>
                  <a:pt x="1896425" y="309951"/>
                  <a:pt x="1791530" y="287474"/>
                </a:cubicBezTo>
                <a:cubicBezTo>
                  <a:pt x="1774812" y="283891"/>
                  <a:pt x="1760125" y="273831"/>
                  <a:pt x="1743905" y="268424"/>
                </a:cubicBezTo>
                <a:cubicBezTo>
                  <a:pt x="1721977" y="261115"/>
                  <a:pt x="1698804" y="257672"/>
                  <a:pt x="1677230" y="249374"/>
                </a:cubicBezTo>
                <a:cubicBezTo>
                  <a:pt x="1567474" y="207160"/>
                  <a:pt x="1669676" y="236415"/>
                  <a:pt x="1572455" y="192224"/>
                </a:cubicBezTo>
                <a:cubicBezTo>
                  <a:pt x="1554174" y="183915"/>
                  <a:pt x="1534539" y="178944"/>
                  <a:pt x="1515305" y="173174"/>
                </a:cubicBezTo>
                <a:cubicBezTo>
                  <a:pt x="1479782" y="162517"/>
                  <a:pt x="1458674" y="160561"/>
                  <a:pt x="1420055" y="154124"/>
                </a:cubicBezTo>
                <a:cubicBezTo>
                  <a:pt x="1373675" y="119339"/>
                  <a:pt x="1370326" y="113277"/>
                  <a:pt x="1305755" y="87449"/>
                </a:cubicBezTo>
                <a:cubicBezTo>
                  <a:pt x="1289880" y="81099"/>
                  <a:pt x="1274968" y="71370"/>
                  <a:pt x="1258130" y="68399"/>
                </a:cubicBezTo>
                <a:cubicBezTo>
                  <a:pt x="1220480" y="61755"/>
                  <a:pt x="1181872" y="62678"/>
                  <a:pt x="1143830" y="58874"/>
                </a:cubicBezTo>
                <a:cubicBezTo>
                  <a:pt x="1069505" y="51442"/>
                  <a:pt x="1084861" y="53657"/>
                  <a:pt x="1029530" y="39824"/>
                </a:cubicBezTo>
                <a:cubicBezTo>
                  <a:pt x="1020005" y="33474"/>
                  <a:pt x="1012218" y="22822"/>
                  <a:pt x="1000955" y="20774"/>
                </a:cubicBezTo>
                <a:cubicBezTo>
                  <a:pt x="795711" y="-16543"/>
                  <a:pt x="575086" y="6935"/>
                  <a:pt x="372305" y="11249"/>
                </a:cubicBezTo>
                <a:cubicBezTo>
                  <a:pt x="356430" y="14424"/>
                  <a:pt x="340386" y="16847"/>
                  <a:pt x="324680" y="20774"/>
                </a:cubicBezTo>
                <a:cubicBezTo>
                  <a:pt x="314940" y="23209"/>
                  <a:pt x="305759" y="27541"/>
                  <a:pt x="296105" y="30299"/>
                </a:cubicBezTo>
                <a:cubicBezTo>
                  <a:pt x="283518" y="33895"/>
                  <a:pt x="270705" y="36649"/>
                  <a:pt x="258005" y="39824"/>
                </a:cubicBezTo>
                <a:cubicBezTo>
                  <a:pt x="245305" y="49349"/>
                  <a:pt x="233367" y="59985"/>
                  <a:pt x="219905" y="68399"/>
                </a:cubicBezTo>
                <a:cubicBezTo>
                  <a:pt x="182640" y="91690"/>
                  <a:pt x="184691" y="80281"/>
                  <a:pt x="153230" y="106499"/>
                </a:cubicBezTo>
                <a:cubicBezTo>
                  <a:pt x="72793" y="173530"/>
                  <a:pt x="192758" y="86021"/>
                  <a:pt x="86555" y="192224"/>
                </a:cubicBezTo>
                <a:lnTo>
                  <a:pt x="57980" y="220799"/>
                </a:lnTo>
                <a:cubicBezTo>
                  <a:pt x="23567" y="306833"/>
                  <a:pt x="50993" y="228429"/>
                  <a:pt x="29405" y="325574"/>
                </a:cubicBezTo>
                <a:cubicBezTo>
                  <a:pt x="27227" y="335375"/>
                  <a:pt x="22765" y="344532"/>
                  <a:pt x="19880" y="354149"/>
                </a:cubicBezTo>
                <a:cubicBezTo>
                  <a:pt x="13238" y="376289"/>
                  <a:pt x="5363" y="398159"/>
                  <a:pt x="830" y="420824"/>
                </a:cubicBezTo>
                <a:cubicBezTo>
                  <a:pt x="-1038" y="430164"/>
                  <a:pt x="830" y="439874"/>
                  <a:pt x="830" y="449399"/>
                </a:cubicBezTo>
              </a:path>
            </a:pathLst>
          </a:custGeom>
          <a:noFill/>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26345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member functions</a:t>
            </a:r>
            <a:endParaRPr lang="en-US" dirty="0"/>
          </a:p>
        </p:txBody>
      </p:sp>
      <p:sp>
        <p:nvSpPr>
          <p:cNvPr id="3" name="Content Placeholder 2"/>
          <p:cNvSpPr>
            <a:spLocks noGrp="1"/>
          </p:cNvSpPr>
          <p:nvPr>
            <p:ph sz="half" idx="1"/>
          </p:nvPr>
        </p:nvSpPr>
        <p:spPr/>
        <p:txBody>
          <a:bodyPr>
            <a:normAutofit fontScale="92500" lnSpcReduction="10000"/>
          </a:bodyPr>
          <a:lstStyle/>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a:t>
            </a:r>
            <a:r>
              <a:rPr lang="en-US" dirty="0" err="1">
                <a:solidFill>
                  <a:srgbClr val="A31515"/>
                </a:solidFill>
                <a:highlight>
                  <a:srgbClr val="FFFFFF"/>
                </a:highlight>
              </a:rPr>
              <a:t>iostream</a:t>
            </a:r>
            <a:r>
              <a:rPr lang="en-US" dirty="0">
                <a:solidFill>
                  <a:srgbClr val="A31515"/>
                </a:solidFill>
                <a:highlight>
                  <a:srgbClr val="FFFFFF"/>
                </a:highlight>
              </a:rPr>
              <a:t>&gt;</a:t>
            </a:r>
            <a:endParaRPr lang="en-US" dirty="0">
              <a:solidFill>
                <a:srgbClr val="000000"/>
              </a:solidFill>
              <a:highlight>
                <a:srgbClr val="FFFFFF"/>
              </a:highlight>
            </a:endParaRPr>
          </a:p>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&lt;thread&gt;</a:t>
            </a:r>
            <a:endParaRPr lang="en-US" dirty="0">
              <a:solidFill>
                <a:srgbClr val="000000"/>
              </a:solidFill>
              <a:highlight>
                <a:srgbClr val="FFFFFF"/>
              </a:highlight>
            </a:endParaRP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class</a:t>
            </a:r>
            <a:r>
              <a:rPr lang="en-US" dirty="0">
                <a:solidFill>
                  <a:srgbClr val="000000"/>
                </a:solidFill>
                <a:highlight>
                  <a:srgbClr val="FFFFFF"/>
                </a:highlight>
              </a:rPr>
              <a:t> </a:t>
            </a:r>
            <a:r>
              <a:rPr lang="en-US" dirty="0">
                <a:solidFill>
                  <a:srgbClr val="2B91AF"/>
                </a:solidFill>
                <a:highlight>
                  <a:srgbClr val="FFFFFF"/>
                </a:highlight>
              </a:rPr>
              <a:t>T</a:t>
            </a:r>
            <a:endParaRPr lang="en-US" dirty="0">
              <a:solidFill>
                <a:srgbClr val="000000"/>
              </a:solidFill>
              <a:highlight>
                <a:srgbClr val="FFFFFF"/>
              </a:highlight>
            </a:endParaRPr>
          </a:p>
          <a:p>
            <a:pPr marL="0" indent="0">
              <a:buNone/>
            </a:pPr>
            <a:r>
              <a:rPr lang="en-US" dirty="0">
                <a:solidFill>
                  <a:srgbClr val="000000"/>
                </a:solidFill>
                <a:highlight>
                  <a:srgbClr val="FFFFFF"/>
                </a:highlight>
              </a:rPr>
              <a:t>{</a:t>
            </a:r>
          </a:p>
          <a:p>
            <a:pPr marL="0" indent="0">
              <a:buNone/>
            </a:pPr>
            <a:r>
              <a:rPr lang="en-US" dirty="0">
                <a:solidFill>
                  <a:srgbClr val="0000FF"/>
                </a:solidFill>
                <a:highlight>
                  <a:srgbClr val="FFFFFF"/>
                </a:highlight>
              </a:rPr>
              <a:t>public</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member_fn</a:t>
            </a:r>
            <a:r>
              <a:rPr lang="en-US" dirty="0">
                <a:solidFill>
                  <a:srgbClr val="000000"/>
                </a:solidFill>
                <a:highlight>
                  <a:srgbClr val="FFFFFF"/>
                </a:highlight>
              </a:rPr>
              <a:t>( </a:t>
            </a:r>
            <a:r>
              <a:rPr lang="en-US" dirty="0" err="1">
                <a:solidFill>
                  <a:srgbClr val="0000FF"/>
                </a:solidFill>
                <a:highlight>
                  <a:srgbClr val="FFFFFF"/>
                </a:highlight>
              </a:rPr>
              <a:t>int</a:t>
            </a:r>
            <a:r>
              <a:rPr lang="en-US" dirty="0">
                <a:solidFill>
                  <a:srgbClr val="000000"/>
                </a:solidFill>
                <a:highlight>
                  <a:srgbClr val="FFFFFF"/>
                </a:highlight>
              </a:rPr>
              <a:t> </a:t>
            </a:r>
            <a:r>
              <a:rPr lang="en-US" dirty="0" err="1">
                <a:solidFill>
                  <a:srgbClr val="808080"/>
                </a:solidFill>
                <a:highlight>
                  <a:srgbClr val="FFFFFF"/>
                </a:highlight>
              </a:rPr>
              <a:t>arg</a:t>
            </a:r>
            <a:r>
              <a:rPr lang="en-US" dirty="0">
                <a:solidFill>
                  <a:srgbClr val="000000"/>
                </a:solidFill>
                <a:highlight>
                  <a:srgbClr val="FFFFFF"/>
                </a:highlight>
              </a:rPr>
              <a:t> ) </a:t>
            </a:r>
            <a:r>
              <a:rPr lang="en-US" dirty="0" err="1">
                <a:solidFill>
                  <a:srgbClr val="0000FF"/>
                </a:solidFill>
                <a:highlight>
                  <a:srgbClr val="FFFFFF"/>
                </a:highlight>
              </a:rPr>
              <a:t>const</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cout</a:t>
            </a:r>
            <a:r>
              <a:rPr lang="en-US" dirty="0">
                <a:solidFill>
                  <a:srgbClr val="000000"/>
                </a:solidFill>
                <a:highlight>
                  <a:srgbClr val="FFFFFF"/>
                </a:highlight>
              </a:rPr>
              <a:t> &lt;&lt; </a:t>
            </a:r>
            <a:r>
              <a:rPr lang="en-US" dirty="0">
                <a:solidFill>
                  <a:srgbClr val="A31515"/>
                </a:solidFill>
                <a:highlight>
                  <a:srgbClr val="FFFFFF"/>
                </a:highlight>
              </a:rPr>
              <a:t>"</a:t>
            </a:r>
            <a:r>
              <a:rPr lang="en-US" dirty="0" err="1">
                <a:solidFill>
                  <a:srgbClr val="A31515"/>
                </a:solidFill>
                <a:highlight>
                  <a:srgbClr val="FFFFFF"/>
                </a:highlight>
              </a:rPr>
              <a:t>member_fn</a:t>
            </a:r>
            <a:r>
              <a:rPr lang="en-US" dirty="0">
                <a:solidFill>
                  <a:srgbClr val="A31515"/>
                </a:solidFill>
                <a:highlight>
                  <a:srgbClr val="FFFFFF"/>
                </a:highlight>
              </a:rPr>
              <a:t> </a:t>
            </a:r>
            <a:r>
              <a:rPr lang="en-US" dirty="0" err="1">
                <a:solidFill>
                  <a:srgbClr val="A31515"/>
                </a:solidFill>
                <a:highlight>
                  <a:srgbClr val="FFFFFF"/>
                </a:highlight>
              </a:rPr>
              <a:t>arg</a:t>
            </a:r>
            <a:r>
              <a:rPr lang="en-US" dirty="0">
                <a:solidFill>
                  <a:srgbClr val="A31515"/>
                </a:solidFill>
                <a:highlight>
                  <a:srgbClr val="FFFFFF"/>
                </a:highlight>
              </a:rPr>
              <a:t> = "</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&lt;&lt; </a:t>
            </a:r>
            <a:r>
              <a:rPr lang="en-US" dirty="0" err="1">
                <a:solidFill>
                  <a:srgbClr val="808080"/>
                </a:solidFill>
                <a:highlight>
                  <a:srgbClr val="FFFFFF"/>
                </a:highlight>
              </a:rPr>
              <a:t>arg</a:t>
            </a:r>
            <a:r>
              <a:rPr lang="en-US" dirty="0">
                <a:solidFill>
                  <a:srgbClr val="000000"/>
                </a:solidFill>
                <a:highlight>
                  <a:srgbClr val="FFFFFF"/>
                </a:highlight>
              </a:rPr>
              <a:t> &lt;&lt; </a:t>
            </a:r>
            <a:r>
              <a:rPr lang="en-US" dirty="0">
                <a:solidFill>
                  <a:srgbClr val="A31515"/>
                </a:solidFill>
                <a:highlight>
                  <a:srgbClr val="FFFFFF"/>
                </a:highlight>
              </a:rPr>
              <a:t>"\n"</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a:t>
            </a: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member_function_call</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a:solidFill>
                  <a:srgbClr val="2B91AF"/>
                </a:solidFill>
                <a:highlight>
                  <a:srgbClr val="FFFFFF"/>
                </a:highlight>
              </a:rPr>
              <a:t>T</a:t>
            </a:r>
            <a:r>
              <a:rPr lang="en-US" dirty="0">
                <a:solidFill>
                  <a:srgbClr val="000000"/>
                </a:solidFill>
                <a:highlight>
                  <a:srgbClr val="FFFFFF"/>
                </a:highlight>
              </a:rPr>
              <a:t> data;</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a:solidFill>
                  <a:srgbClr val="2B91AF"/>
                </a:solidFill>
                <a:highlight>
                  <a:srgbClr val="FFFFFF"/>
                </a:highlight>
              </a:rPr>
              <a:t>thread</a:t>
            </a:r>
            <a:r>
              <a:rPr lang="en-US" dirty="0">
                <a:solidFill>
                  <a:srgbClr val="000000"/>
                </a:solidFill>
                <a:highlight>
                  <a:srgbClr val="FFFFFF"/>
                </a:highlight>
              </a:rPr>
              <a:t> t( &amp;</a:t>
            </a:r>
            <a:r>
              <a:rPr lang="en-US" dirty="0">
                <a:solidFill>
                  <a:srgbClr val="2B91AF"/>
                </a:solidFill>
                <a:highlight>
                  <a:srgbClr val="FFFFFF"/>
                </a:highlight>
              </a:rPr>
              <a:t>T</a:t>
            </a:r>
            <a:r>
              <a:rPr lang="en-US" dirty="0">
                <a:solidFill>
                  <a:srgbClr val="000000"/>
                </a:solidFill>
                <a:highlight>
                  <a:srgbClr val="FFFFFF"/>
                </a:highlight>
              </a:rPr>
              <a:t>::</a:t>
            </a:r>
            <a:r>
              <a:rPr lang="en-US" dirty="0" err="1">
                <a:solidFill>
                  <a:srgbClr val="000000"/>
                </a:solidFill>
                <a:highlight>
                  <a:srgbClr val="FFFFFF"/>
                </a:highlight>
              </a:rPr>
              <a:t>member_fn</a:t>
            </a:r>
            <a:r>
              <a:rPr lang="en-US" dirty="0">
                <a:solidFill>
                  <a:srgbClr val="000000"/>
                </a:solidFill>
                <a:highlight>
                  <a:srgbClr val="FFFFFF"/>
                </a:highlight>
              </a:rPr>
              <a:t>, </a:t>
            </a:r>
            <a:endParaRPr lang="en-US" dirty="0" smtClean="0">
              <a:solidFill>
                <a:srgbClr val="000000"/>
              </a:solidFill>
              <a:highlight>
                <a:srgbClr val="FFFFFF"/>
              </a:highlight>
            </a:endParaRPr>
          </a:p>
          <a:p>
            <a:pPr marL="0" indent="0">
              <a:buNone/>
            </a:pPr>
            <a:r>
              <a:rPr lang="en-US" dirty="0">
                <a:solidFill>
                  <a:srgbClr val="000000"/>
                </a:solidFill>
                <a:highlight>
                  <a:srgbClr val="FFFFFF"/>
                </a:highlight>
              </a:rPr>
              <a:t> </a:t>
            </a:r>
            <a:r>
              <a:rPr lang="en-US" dirty="0" smtClean="0">
                <a:solidFill>
                  <a:srgbClr val="000000"/>
                </a:solidFill>
                <a:highlight>
                  <a:srgbClr val="FFFFFF"/>
                </a:highlight>
              </a:rPr>
              <a:t>     &amp;</a:t>
            </a:r>
            <a:r>
              <a:rPr lang="en-US" dirty="0">
                <a:solidFill>
                  <a:srgbClr val="000000"/>
                </a:solidFill>
                <a:highlight>
                  <a:srgbClr val="FFFFFF"/>
                </a:highlight>
              </a:rPr>
              <a:t>data, 10 );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t.join</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endParaRPr lang="en-US" dirty="0"/>
          </a:p>
        </p:txBody>
      </p:sp>
      <p:sp>
        <p:nvSpPr>
          <p:cNvPr id="4" name="Content Placeholder 3"/>
          <p:cNvSpPr>
            <a:spLocks noGrp="1"/>
          </p:cNvSpPr>
          <p:nvPr>
            <p:ph sz="half" idx="2"/>
          </p:nvPr>
        </p:nvSpPr>
        <p:spPr/>
        <p:txBody>
          <a:bodyPr>
            <a:normAutofit fontScale="92500" lnSpcReduction="10000"/>
          </a:bodyPr>
          <a:lstStyle/>
          <a:p>
            <a:r>
              <a:rPr lang="en-US" dirty="0" smtClean="0"/>
              <a:t>In order to call a member function asynchronously, an instance has to be provided as the first argument. Actual method parameters follows the instance.</a:t>
            </a:r>
          </a:p>
          <a:p>
            <a:r>
              <a:rPr lang="en-US" dirty="0" smtClean="0"/>
              <a:t>If instance is passed by pointer, then thread is working directly with your instance.</a:t>
            </a:r>
          </a:p>
          <a:p>
            <a:r>
              <a:rPr lang="en-US" dirty="0" smtClean="0"/>
              <a:t>Without pointer a copy of instance is created for new thread.</a:t>
            </a:r>
            <a:endParaRPr lang="en-US"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14649001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Detaching threads</a:t>
            </a:r>
            <a:endParaRPr lang="en-US" dirty="0"/>
          </a:p>
        </p:txBody>
      </p:sp>
      <p:sp>
        <p:nvSpPr>
          <p:cNvPr id="3" name="Content Placeholder 2"/>
          <p:cNvSpPr>
            <a:spLocks noGrp="1"/>
          </p:cNvSpPr>
          <p:nvPr>
            <p:ph sz="half" idx="1"/>
          </p:nvPr>
        </p:nvSpPr>
        <p:spPr/>
        <p:txBody>
          <a:bodyPr>
            <a:normAutofit fontScale="92500" lnSpcReduction="20000"/>
          </a:bodyPr>
          <a:lstStyle/>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a:t>
            </a:r>
            <a:r>
              <a:rPr lang="en-US" dirty="0" err="1">
                <a:solidFill>
                  <a:srgbClr val="A31515"/>
                </a:solidFill>
                <a:highlight>
                  <a:srgbClr val="FFFFFF"/>
                </a:highlight>
              </a:rPr>
              <a:t>iostream</a:t>
            </a:r>
            <a:r>
              <a:rPr lang="en-US" dirty="0">
                <a:solidFill>
                  <a:srgbClr val="A31515"/>
                </a:solidFill>
                <a:highlight>
                  <a:srgbClr val="FFFFFF"/>
                </a:highlight>
              </a:rPr>
              <a:t>&gt;</a:t>
            </a:r>
            <a:endParaRPr lang="en-US" dirty="0">
              <a:solidFill>
                <a:srgbClr val="000000"/>
              </a:solidFill>
              <a:highlight>
                <a:srgbClr val="FFFFFF"/>
              </a:highlight>
            </a:endParaRPr>
          </a:p>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a:t>
            </a:r>
            <a:r>
              <a:rPr lang="en-US" dirty="0" err="1">
                <a:solidFill>
                  <a:srgbClr val="A31515"/>
                </a:solidFill>
                <a:highlight>
                  <a:srgbClr val="FFFFFF"/>
                </a:highlight>
              </a:rPr>
              <a:t>chrono</a:t>
            </a:r>
            <a:r>
              <a:rPr lang="en-US" dirty="0">
                <a:solidFill>
                  <a:srgbClr val="A31515"/>
                </a:solidFill>
                <a:highlight>
                  <a:srgbClr val="FFFFFF"/>
                </a:highlight>
              </a:rPr>
              <a:t>&gt;</a:t>
            </a:r>
            <a:endParaRPr lang="en-US" dirty="0">
              <a:solidFill>
                <a:srgbClr val="000000"/>
              </a:solidFill>
              <a:highlight>
                <a:srgbClr val="FFFFFF"/>
              </a:highlight>
            </a:endParaRPr>
          </a:p>
          <a:p>
            <a:pPr marL="0" indent="0">
              <a:buNone/>
            </a:pPr>
            <a:r>
              <a:rPr lang="en-US" dirty="0">
                <a:solidFill>
                  <a:srgbClr val="0000FF"/>
                </a:solidFill>
                <a:highlight>
                  <a:srgbClr val="FFFFFF"/>
                </a:highlight>
              </a:rPr>
              <a:t>#include</a:t>
            </a:r>
            <a:r>
              <a:rPr lang="en-US" dirty="0">
                <a:solidFill>
                  <a:srgbClr val="000000"/>
                </a:solidFill>
                <a:highlight>
                  <a:srgbClr val="FFFFFF"/>
                </a:highlight>
              </a:rPr>
              <a:t> </a:t>
            </a:r>
            <a:r>
              <a:rPr lang="en-US" dirty="0">
                <a:solidFill>
                  <a:srgbClr val="A31515"/>
                </a:solidFill>
                <a:highlight>
                  <a:srgbClr val="FFFFFF"/>
                </a:highlight>
              </a:rPr>
              <a:t>&lt;thread&gt;</a:t>
            </a:r>
            <a:endParaRPr lang="en-US" dirty="0">
              <a:solidFill>
                <a:srgbClr val="000000"/>
              </a:solidFill>
              <a:highlight>
                <a:srgbClr val="FFFFFF"/>
              </a:highlight>
            </a:endParaRP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lengthy_work</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cout</a:t>
            </a:r>
            <a:r>
              <a:rPr lang="en-US" dirty="0">
                <a:solidFill>
                  <a:srgbClr val="000000"/>
                </a:solidFill>
                <a:highlight>
                  <a:srgbClr val="FFFFFF"/>
                </a:highlight>
              </a:rPr>
              <a:t> &lt;&lt; </a:t>
            </a:r>
            <a:r>
              <a:rPr lang="en-US" dirty="0" smtClean="0">
                <a:solidFill>
                  <a:srgbClr val="A31515"/>
                </a:solidFill>
                <a:highlight>
                  <a:srgbClr val="FFFFFF"/>
                </a:highlight>
              </a:rPr>
              <a:t>"work </a:t>
            </a:r>
            <a:r>
              <a:rPr lang="en-US" dirty="0">
                <a:solidFill>
                  <a:srgbClr val="A31515"/>
                </a:solidFill>
                <a:highlight>
                  <a:srgbClr val="FFFFFF"/>
                </a:highlight>
              </a:rPr>
              <a:t>started\n"</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this_thread</a:t>
            </a:r>
            <a:r>
              <a:rPr lang="en-US" dirty="0">
                <a:solidFill>
                  <a:srgbClr val="000000"/>
                </a:solidFill>
                <a:highlight>
                  <a:srgbClr val="FFFFFF"/>
                </a:highlight>
              </a:rPr>
              <a:t>::</a:t>
            </a:r>
            <a:r>
              <a:rPr lang="en-US" dirty="0" err="1">
                <a:solidFill>
                  <a:srgbClr val="000000"/>
                </a:solidFill>
                <a:highlight>
                  <a:srgbClr val="FFFFFF"/>
                </a:highlight>
              </a:rPr>
              <a:t>sleep_for</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chrono</a:t>
            </a:r>
            <a:r>
              <a:rPr lang="en-US" dirty="0">
                <a:solidFill>
                  <a:srgbClr val="000000"/>
                </a:solidFill>
                <a:highlight>
                  <a:srgbClr val="FFFFFF"/>
                </a:highlight>
              </a:rPr>
              <a:t>::</a:t>
            </a:r>
            <a:r>
              <a:rPr lang="en-US" dirty="0">
                <a:solidFill>
                  <a:srgbClr val="2B91AF"/>
                </a:solidFill>
                <a:highlight>
                  <a:srgbClr val="FFFFFF"/>
                </a:highlight>
              </a:rPr>
              <a:t>milliseconds</a:t>
            </a:r>
            <a:r>
              <a:rPr lang="en-US" dirty="0">
                <a:solidFill>
                  <a:srgbClr val="000000"/>
                </a:solidFill>
                <a:highlight>
                  <a:srgbClr val="FFFFFF"/>
                </a:highlight>
              </a:rPr>
              <a:t>( 1000 )</a:t>
            </a: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cout</a:t>
            </a:r>
            <a:r>
              <a:rPr lang="en-US" dirty="0">
                <a:solidFill>
                  <a:srgbClr val="000000"/>
                </a:solidFill>
                <a:highlight>
                  <a:srgbClr val="FFFFFF"/>
                </a:highlight>
              </a:rPr>
              <a:t> &lt;&lt; </a:t>
            </a:r>
            <a:r>
              <a:rPr lang="en-US" dirty="0" smtClean="0">
                <a:solidFill>
                  <a:srgbClr val="A31515"/>
                </a:solidFill>
                <a:highlight>
                  <a:srgbClr val="FFFFFF"/>
                </a:highlight>
              </a:rPr>
              <a:t>"work </a:t>
            </a:r>
            <a:r>
              <a:rPr lang="en-US" dirty="0">
                <a:solidFill>
                  <a:srgbClr val="A31515"/>
                </a:solidFill>
                <a:highlight>
                  <a:srgbClr val="FFFFFF"/>
                </a:highlight>
              </a:rPr>
              <a:t>finished\n"</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detaching_threads</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a:solidFill>
                  <a:srgbClr val="2B91AF"/>
                </a:solidFill>
                <a:highlight>
                  <a:srgbClr val="FFFFFF"/>
                </a:highlight>
              </a:rPr>
              <a:t>thread</a:t>
            </a:r>
            <a:r>
              <a:rPr lang="en-US" dirty="0">
                <a:solidFill>
                  <a:srgbClr val="000000"/>
                </a:solidFill>
                <a:highlight>
                  <a:srgbClr val="FFFFFF"/>
                </a:highlight>
              </a:rPr>
              <a:t> t( &amp;</a:t>
            </a:r>
            <a:r>
              <a:rPr lang="en-US" dirty="0" err="1">
                <a:solidFill>
                  <a:srgbClr val="000000"/>
                </a:solidFill>
                <a:highlight>
                  <a:srgbClr val="FFFFFF"/>
                </a:highlight>
              </a:rPr>
              <a:t>lengthy_work</a:t>
            </a: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t.detach</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000000"/>
                </a:solidFill>
                <a:highlight>
                  <a:srgbClr val="FFFFFF"/>
                </a:highlight>
              </a:rPr>
              <a:t>cout</a:t>
            </a:r>
            <a:r>
              <a:rPr lang="en-US" dirty="0">
                <a:solidFill>
                  <a:srgbClr val="000000"/>
                </a:solidFill>
                <a:highlight>
                  <a:srgbClr val="FFFFFF"/>
                </a:highlight>
              </a:rPr>
              <a:t> &lt;&lt; </a:t>
            </a:r>
            <a:r>
              <a:rPr lang="en-US" dirty="0">
                <a:solidFill>
                  <a:srgbClr val="A31515"/>
                </a:solidFill>
                <a:highlight>
                  <a:srgbClr val="FFFFFF"/>
                </a:highlight>
              </a:rPr>
              <a:t>"thread detached\n"</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endParaRPr lang="en-US" dirty="0"/>
          </a:p>
        </p:txBody>
      </p:sp>
      <p:sp>
        <p:nvSpPr>
          <p:cNvPr id="4" name="Content Placeholder 3"/>
          <p:cNvSpPr>
            <a:spLocks noGrp="1"/>
          </p:cNvSpPr>
          <p:nvPr>
            <p:ph sz="half" idx="2"/>
          </p:nvPr>
        </p:nvSpPr>
        <p:spPr/>
        <p:txBody>
          <a:bodyPr>
            <a:normAutofit fontScale="92500" lnSpcReduction="20000"/>
          </a:bodyPr>
          <a:lstStyle/>
          <a:p>
            <a:r>
              <a:rPr lang="en-US" dirty="0" smtClean="0"/>
              <a:t>Detached threads runs in background.</a:t>
            </a:r>
          </a:p>
          <a:p>
            <a:r>
              <a:rPr lang="en-US" dirty="0" smtClean="0"/>
              <a:t>Typically long running threads.</a:t>
            </a:r>
          </a:p>
          <a:p>
            <a:r>
              <a:rPr lang="en-US" dirty="0" smtClean="0"/>
              <a:t>“Fire and forget” tasks.</a:t>
            </a:r>
          </a:p>
          <a:p>
            <a:r>
              <a:rPr lang="en-US" dirty="0" smtClean="0"/>
              <a:t>No direct communication is possible.</a:t>
            </a:r>
          </a:p>
          <a:p>
            <a:r>
              <a:rPr lang="en-US" dirty="0" smtClean="0"/>
              <a:t>Ownership is passed to C++ runtime, which makes cleanup when thread is finished.</a:t>
            </a:r>
          </a:p>
          <a:p>
            <a:r>
              <a:rPr lang="en-US" dirty="0" smtClean="0"/>
              <a:t>If detached thread references to shared data, then ensuring sufficient lifetime is difficult.</a:t>
            </a:r>
          </a:p>
          <a:p>
            <a:r>
              <a:rPr lang="en-US" dirty="0"/>
              <a:t>Not recommended for non-primitive threads (problems with destructors of shared data</a:t>
            </a:r>
            <a:r>
              <a:rPr lang="en-US" dirty="0" smtClean="0"/>
              <a:t>).</a:t>
            </a:r>
            <a:endParaRPr lang="en-US"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8234696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 safety</a:t>
            </a:r>
            <a:endParaRPr lang="en-US" dirty="0"/>
          </a:p>
        </p:txBody>
      </p:sp>
      <p:sp>
        <p:nvSpPr>
          <p:cNvPr id="3" name="Content Placeholder 2"/>
          <p:cNvSpPr>
            <a:spLocks noGrp="1"/>
          </p:cNvSpPr>
          <p:nvPr>
            <p:ph sz="half" idx="1"/>
          </p:nvPr>
        </p:nvSpPr>
        <p:spPr/>
        <p:txBody>
          <a:bodyPr>
            <a:normAutofit fontScale="92500" lnSpcReduction="20000"/>
          </a:bodyPr>
          <a:lstStyle/>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non_member_fn</a:t>
            </a:r>
            <a:r>
              <a:rPr lang="en-US" dirty="0">
                <a:solidFill>
                  <a:srgbClr val="000000"/>
                </a:solidFill>
                <a:highlight>
                  <a:srgbClr val="FFFFFF"/>
                </a:highlight>
              </a:rPr>
              <a:t>();</a:t>
            </a: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do_something_and_throw</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a:solidFill>
                  <a:srgbClr val="0000FF"/>
                </a:solidFill>
                <a:highlight>
                  <a:srgbClr val="FFFFFF"/>
                </a:highlight>
              </a:rPr>
              <a:t>throw</a:t>
            </a: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err="1">
                <a:solidFill>
                  <a:srgbClr val="2B91AF"/>
                </a:solidFill>
                <a:highlight>
                  <a:srgbClr val="FFFFFF"/>
                </a:highlight>
              </a:rPr>
              <a:t>logic_error</a:t>
            </a:r>
            <a:r>
              <a:rPr lang="en-US" dirty="0">
                <a:solidFill>
                  <a:srgbClr val="000000"/>
                </a:solidFill>
                <a:highlight>
                  <a:srgbClr val="FFFFFF"/>
                </a:highlight>
              </a:rPr>
              <a:t>(</a:t>
            </a:r>
            <a:r>
              <a:rPr lang="en-US" dirty="0">
                <a:solidFill>
                  <a:srgbClr val="A31515"/>
                </a:solidFill>
                <a:highlight>
                  <a:srgbClr val="FFFFFF"/>
                </a:highlight>
              </a:rPr>
              <a:t>"watch me"</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exception_safety</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a:solidFill>
                  <a:srgbClr val="2B91AF"/>
                </a:solidFill>
                <a:highlight>
                  <a:srgbClr val="FFFFFF"/>
                </a:highlight>
              </a:rPr>
              <a:t>thread</a:t>
            </a:r>
            <a:r>
              <a:rPr lang="en-US" dirty="0">
                <a:solidFill>
                  <a:srgbClr val="000000"/>
                </a:solidFill>
                <a:highlight>
                  <a:srgbClr val="FFFFFF"/>
                </a:highlight>
              </a:rPr>
              <a:t> t( &amp;</a:t>
            </a:r>
            <a:r>
              <a:rPr lang="en-US" dirty="0" err="1">
                <a:solidFill>
                  <a:srgbClr val="000000"/>
                </a:solidFill>
                <a:highlight>
                  <a:srgbClr val="FFFFFF"/>
                </a:highlight>
              </a:rPr>
              <a:t>non_member_fn</a:t>
            </a: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a:solidFill>
                  <a:srgbClr val="0000FF"/>
                </a:solidFill>
                <a:highlight>
                  <a:srgbClr val="FFFFFF"/>
                </a:highlight>
              </a:rPr>
              <a:t>try</a:t>
            </a:r>
            <a:endParaRPr lang="en-US" dirty="0">
              <a:solidFill>
                <a:srgbClr val="000000"/>
              </a:solidFill>
              <a:highlight>
                <a:srgbClr val="FFFFFF"/>
              </a:highlight>
            </a:endParaRP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do_something_and_throw</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a:solidFill>
                  <a:srgbClr val="0000FF"/>
                </a:solidFill>
                <a:highlight>
                  <a:srgbClr val="FFFFFF"/>
                </a:highlight>
              </a:rPr>
              <a:t>catch</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t.join</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a:solidFill>
                  <a:srgbClr val="0000FF"/>
                </a:solidFill>
                <a:highlight>
                  <a:srgbClr val="FFFFFF"/>
                </a:highlight>
              </a:rPr>
              <a:t>throw</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t.join</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endParaRPr lang="en-US" dirty="0"/>
          </a:p>
        </p:txBody>
      </p:sp>
      <p:sp>
        <p:nvSpPr>
          <p:cNvPr id="4" name="Content Placeholder 3"/>
          <p:cNvSpPr>
            <a:spLocks noGrp="1"/>
          </p:cNvSpPr>
          <p:nvPr>
            <p:ph sz="half" idx="2"/>
          </p:nvPr>
        </p:nvSpPr>
        <p:spPr/>
        <p:txBody>
          <a:bodyPr>
            <a:normAutofit fontScale="92500" lnSpcReduction="20000"/>
          </a:bodyPr>
          <a:lstStyle/>
          <a:p>
            <a:r>
              <a:rPr lang="en-US" dirty="0" smtClean="0"/>
              <a:t>After thread has been started, either </a:t>
            </a:r>
            <a:r>
              <a:rPr lang="en-US" dirty="0" smtClean="0">
                <a:latin typeface="Courier New" pitchFamily="49" charset="0"/>
                <a:cs typeface="Courier New" pitchFamily="49" charset="0"/>
              </a:rPr>
              <a:t>detach</a:t>
            </a:r>
            <a:r>
              <a:rPr lang="en-US" dirty="0" smtClean="0"/>
              <a:t> or </a:t>
            </a:r>
            <a:r>
              <a:rPr lang="en-US" dirty="0" smtClean="0">
                <a:latin typeface="Courier New" pitchFamily="49" charset="0"/>
                <a:cs typeface="Courier New" pitchFamily="49" charset="0"/>
              </a:rPr>
              <a:t>join</a:t>
            </a:r>
            <a:r>
              <a:rPr lang="en-US" dirty="0" smtClean="0"/>
              <a:t> must be called.</a:t>
            </a:r>
          </a:p>
          <a:p>
            <a:r>
              <a:rPr lang="en-US" dirty="0" smtClean="0"/>
              <a:t>Detach can be called on next line after thread is started. This is not a problem.</a:t>
            </a:r>
          </a:p>
          <a:p>
            <a:r>
              <a:rPr lang="en-US" dirty="0">
                <a:latin typeface="Courier New" pitchFamily="49" charset="0"/>
                <a:cs typeface="Courier New" pitchFamily="49" charset="0"/>
              </a:rPr>
              <a:t>j</a:t>
            </a:r>
            <a:r>
              <a:rPr lang="en-US" dirty="0" smtClean="0">
                <a:latin typeface="Courier New" pitchFamily="49" charset="0"/>
                <a:cs typeface="Courier New" pitchFamily="49" charset="0"/>
              </a:rPr>
              <a:t>oin</a:t>
            </a:r>
            <a:r>
              <a:rPr lang="en-US" dirty="0" smtClean="0"/>
              <a:t> must be called before thread object goes out of the scope.</a:t>
            </a:r>
          </a:p>
          <a:p>
            <a:r>
              <a:rPr lang="en-US" dirty="0" smtClean="0"/>
              <a:t>There are 2 statements to watch: return and throw.</a:t>
            </a:r>
          </a:p>
          <a:p>
            <a:r>
              <a:rPr lang="en-US" dirty="0" smtClean="0"/>
              <a:t>It is much better to create a wrapper class calling </a:t>
            </a:r>
            <a:r>
              <a:rPr lang="en-US" dirty="0" smtClean="0">
                <a:latin typeface="Courier New" pitchFamily="49" charset="0"/>
                <a:cs typeface="Courier New" pitchFamily="49" charset="0"/>
              </a:rPr>
              <a:t>join</a:t>
            </a:r>
            <a:r>
              <a:rPr lang="en-US" dirty="0" smtClean="0"/>
              <a:t> in destructor. RAII idiom.</a:t>
            </a:r>
            <a:endParaRPr lang="en-US"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7155622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RAII thread guard</a:t>
            </a:r>
            <a:endParaRPr lang="en-US" dirty="0"/>
          </a:p>
        </p:txBody>
      </p:sp>
      <p:sp>
        <p:nvSpPr>
          <p:cNvPr id="3" name="Content Placeholder 2"/>
          <p:cNvSpPr>
            <a:spLocks noGrp="1"/>
          </p:cNvSpPr>
          <p:nvPr>
            <p:ph sz="half" idx="1"/>
          </p:nvPr>
        </p:nvSpPr>
        <p:spPr/>
        <p:txBody>
          <a:bodyPr>
            <a:normAutofit fontScale="77500" lnSpcReduction="20000"/>
          </a:bodyPr>
          <a:lstStyle/>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non_member_fn</a:t>
            </a:r>
            <a:r>
              <a:rPr lang="en-US" dirty="0">
                <a:solidFill>
                  <a:srgbClr val="000000"/>
                </a:solidFill>
                <a:highlight>
                  <a:srgbClr val="FFFFFF"/>
                </a:highlight>
              </a:rPr>
              <a:t>();</a:t>
            </a: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do_something_and_throw</a:t>
            </a:r>
            <a:r>
              <a:rPr lang="en-US" dirty="0" smtClean="0">
                <a:solidFill>
                  <a:srgbClr val="000000"/>
                </a:solidFill>
                <a:highlight>
                  <a:srgbClr val="FFFFFF"/>
                </a:highlight>
              </a:rPr>
              <a:t>();</a:t>
            </a:r>
            <a:endParaRPr lang="en-US" dirty="0">
              <a:solidFill>
                <a:srgbClr val="000000"/>
              </a:solidFill>
              <a:highlight>
                <a:srgbClr val="FFFFFF"/>
              </a:highlight>
            </a:endParaRP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class</a:t>
            </a:r>
            <a:r>
              <a:rPr lang="en-US" dirty="0">
                <a:solidFill>
                  <a:srgbClr val="000000"/>
                </a:solidFill>
                <a:highlight>
                  <a:srgbClr val="FFFFFF"/>
                </a:highlight>
              </a:rPr>
              <a:t> </a:t>
            </a:r>
            <a:r>
              <a:rPr lang="en-US" dirty="0" err="1">
                <a:solidFill>
                  <a:srgbClr val="2B91AF"/>
                </a:solidFill>
                <a:highlight>
                  <a:srgbClr val="FFFFFF"/>
                </a:highlight>
              </a:rPr>
              <a:t>thread_guard</a:t>
            </a:r>
            <a:endParaRPr lang="en-US" dirty="0">
              <a:solidFill>
                <a:srgbClr val="000000"/>
              </a:solidFill>
              <a:highlight>
                <a:srgbClr val="FFFFFF"/>
              </a:highlight>
            </a:endParaRP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a:solidFill>
                  <a:srgbClr val="2B91AF"/>
                </a:solidFill>
                <a:highlight>
                  <a:srgbClr val="FFFFFF"/>
                </a:highlight>
              </a:rPr>
              <a:t>thread</a:t>
            </a:r>
            <a:r>
              <a:rPr lang="en-US" dirty="0">
                <a:solidFill>
                  <a:srgbClr val="000000"/>
                </a:solidFill>
                <a:highlight>
                  <a:srgbClr val="FFFFFF"/>
                </a:highlight>
              </a:rPr>
              <a:t>&amp; </a:t>
            </a:r>
            <a:r>
              <a:rPr lang="en-US" dirty="0" err="1">
                <a:solidFill>
                  <a:srgbClr val="000000"/>
                </a:solidFill>
                <a:highlight>
                  <a:srgbClr val="FFFFFF"/>
                </a:highlight>
              </a:rPr>
              <a:t>m_thread</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thread_guard</a:t>
            </a:r>
            <a:r>
              <a:rPr lang="en-US" dirty="0">
                <a:solidFill>
                  <a:srgbClr val="000000"/>
                </a:solidFill>
                <a:highlight>
                  <a:srgbClr val="FFFFFF"/>
                </a:highlight>
              </a:rPr>
              <a:t>( </a:t>
            </a:r>
            <a:r>
              <a:rPr lang="en-US" dirty="0" err="1">
                <a:solidFill>
                  <a:srgbClr val="0000FF"/>
                </a:solidFill>
                <a:highlight>
                  <a:srgbClr val="FFFFFF"/>
                </a:highlight>
              </a:rPr>
              <a:t>const</a:t>
            </a:r>
            <a:r>
              <a:rPr lang="en-US" dirty="0">
                <a:solidFill>
                  <a:srgbClr val="000000"/>
                </a:solidFill>
                <a:highlight>
                  <a:srgbClr val="FFFFFF"/>
                </a:highlight>
              </a:rPr>
              <a:t> </a:t>
            </a:r>
            <a:r>
              <a:rPr lang="en-US" dirty="0" err="1">
                <a:solidFill>
                  <a:srgbClr val="2B91AF"/>
                </a:solidFill>
                <a:highlight>
                  <a:srgbClr val="FFFFFF"/>
                </a:highlight>
              </a:rPr>
              <a:t>thread_guard</a:t>
            </a:r>
            <a:r>
              <a:rPr lang="en-US" dirty="0">
                <a:solidFill>
                  <a:srgbClr val="000000"/>
                </a:solidFill>
                <a:highlight>
                  <a:srgbClr val="FFFFFF"/>
                </a:highlight>
              </a:rPr>
              <a:t>&amp; );</a:t>
            </a:r>
          </a:p>
          <a:p>
            <a:pPr marL="0" indent="0">
              <a:buNone/>
            </a:pPr>
            <a:r>
              <a:rPr lang="en-US" dirty="0">
                <a:solidFill>
                  <a:srgbClr val="000000"/>
                </a:solidFill>
                <a:highlight>
                  <a:srgbClr val="FFFFFF"/>
                </a:highlight>
              </a:rPr>
              <a:t>   </a:t>
            </a:r>
            <a:r>
              <a:rPr lang="en-US" dirty="0" err="1">
                <a:solidFill>
                  <a:srgbClr val="2B91AF"/>
                </a:solidFill>
                <a:highlight>
                  <a:srgbClr val="FFFFFF"/>
                </a:highlight>
              </a:rPr>
              <a:t>thread_guard</a:t>
            </a:r>
            <a:r>
              <a:rPr lang="en-US" dirty="0">
                <a:solidFill>
                  <a:srgbClr val="000000"/>
                </a:solidFill>
                <a:highlight>
                  <a:srgbClr val="FFFFFF"/>
                </a:highlight>
              </a:rPr>
              <a:t>&amp; operator</a:t>
            </a:r>
            <a:r>
              <a:rPr lang="en-US" dirty="0" smtClean="0">
                <a:solidFill>
                  <a:srgbClr val="000000"/>
                </a:solidFill>
                <a:highlight>
                  <a:srgbClr val="FFFFFF"/>
                </a:highlight>
              </a:rPr>
              <a:t>=</a:t>
            </a:r>
          </a:p>
          <a:p>
            <a:pPr marL="0" indent="0">
              <a:buNone/>
            </a:pPr>
            <a:r>
              <a:rPr lang="en-US" dirty="0" smtClean="0">
                <a:solidFill>
                  <a:srgbClr val="000000"/>
                </a:solidFill>
                <a:highlight>
                  <a:srgbClr val="FFFFFF"/>
                </a:highlight>
              </a:rPr>
              <a:t>      ( </a:t>
            </a:r>
            <a:r>
              <a:rPr lang="en-US" dirty="0" err="1" smtClean="0">
                <a:solidFill>
                  <a:srgbClr val="0000FF"/>
                </a:solidFill>
                <a:highlight>
                  <a:srgbClr val="FFFFFF"/>
                </a:highlight>
              </a:rPr>
              <a:t>const</a:t>
            </a:r>
            <a:r>
              <a:rPr lang="en-US" dirty="0" smtClean="0">
                <a:solidFill>
                  <a:srgbClr val="000000"/>
                </a:solidFill>
                <a:highlight>
                  <a:srgbClr val="FFFFFF"/>
                </a:highlight>
              </a:rPr>
              <a:t> </a:t>
            </a:r>
            <a:r>
              <a:rPr lang="en-US" dirty="0" err="1" smtClean="0">
                <a:solidFill>
                  <a:srgbClr val="2B91AF"/>
                </a:solidFill>
                <a:highlight>
                  <a:srgbClr val="FFFFFF"/>
                </a:highlight>
              </a:rPr>
              <a:t>thread_guard</a:t>
            </a:r>
            <a:r>
              <a:rPr lang="en-US" dirty="0">
                <a:solidFill>
                  <a:srgbClr val="000000"/>
                </a:solidFill>
                <a:highlight>
                  <a:srgbClr val="FFFFFF"/>
                </a:highlight>
              </a:rPr>
              <a:t>&amp; );</a:t>
            </a:r>
          </a:p>
          <a:p>
            <a:pPr marL="0" indent="0">
              <a:buNone/>
            </a:pPr>
            <a:r>
              <a:rPr lang="en-US" dirty="0">
                <a:solidFill>
                  <a:srgbClr val="0000FF"/>
                </a:solidFill>
                <a:highlight>
                  <a:srgbClr val="FFFFFF"/>
                </a:highlight>
              </a:rPr>
              <a:t>public</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thread_guard</a:t>
            </a: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a:solidFill>
                  <a:srgbClr val="2B91AF"/>
                </a:solidFill>
                <a:highlight>
                  <a:srgbClr val="FFFFFF"/>
                </a:highlight>
              </a:rPr>
              <a:t>thread</a:t>
            </a:r>
            <a:r>
              <a:rPr lang="en-US" dirty="0">
                <a:solidFill>
                  <a:srgbClr val="000000"/>
                </a:solidFill>
                <a:highlight>
                  <a:srgbClr val="FFFFFF"/>
                </a:highlight>
              </a:rPr>
              <a:t>&amp; </a:t>
            </a:r>
            <a:r>
              <a:rPr lang="en-US" dirty="0">
                <a:solidFill>
                  <a:srgbClr val="808080"/>
                </a:solidFill>
                <a:highlight>
                  <a:srgbClr val="FFFFFF"/>
                </a:highlight>
              </a:rPr>
              <a:t>t</a:t>
            </a:r>
            <a:r>
              <a:rPr lang="en-US" dirty="0">
                <a:solidFill>
                  <a:srgbClr val="000000"/>
                </a:solidFill>
                <a:highlight>
                  <a:srgbClr val="FFFFFF"/>
                </a:highlight>
              </a:rPr>
              <a:t> )</a:t>
            </a:r>
          </a:p>
          <a:p>
            <a:pPr marL="0" indent="0">
              <a:buNone/>
            </a:pPr>
            <a:r>
              <a:rPr lang="en-US" dirty="0">
                <a:solidFill>
                  <a:srgbClr val="000000"/>
                </a:solidFill>
                <a:highlight>
                  <a:srgbClr val="FFFFFF"/>
                </a:highlight>
              </a:rPr>
              <a:t>      : </a:t>
            </a:r>
            <a:r>
              <a:rPr lang="en-US" dirty="0" err="1">
                <a:solidFill>
                  <a:srgbClr val="000000"/>
                </a:solidFill>
                <a:highlight>
                  <a:srgbClr val="FFFFFF"/>
                </a:highlight>
              </a:rPr>
              <a:t>m_thread</a:t>
            </a:r>
            <a:r>
              <a:rPr lang="en-US" dirty="0">
                <a:solidFill>
                  <a:srgbClr val="000000"/>
                </a:solidFill>
                <a:highlight>
                  <a:srgbClr val="FFFFFF"/>
                </a:highlight>
              </a:rPr>
              <a:t>(</a:t>
            </a:r>
            <a:r>
              <a:rPr lang="en-US" dirty="0">
                <a:solidFill>
                  <a:srgbClr val="808080"/>
                </a:solidFill>
                <a:highlight>
                  <a:srgbClr val="FFFFFF"/>
                </a:highlight>
              </a:rPr>
              <a:t>t</a:t>
            </a:r>
            <a:r>
              <a:rPr lang="en-US" dirty="0">
                <a:solidFill>
                  <a:srgbClr val="000000"/>
                </a:solidFill>
                <a:highlight>
                  <a:srgbClr val="FFFFFF"/>
                </a:highlight>
              </a:rPr>
              <a:t>)</a:t>
            </a:r>
          </a:p>
          <a:p>
            <a:pPr marL="0" indent="0">
              <a:buNone/>
            </a:pPr>
            <a:r>
              <a:rPr lang="en-US" dirty="0">
                <a:solidFill>
                  <a:srgbClr val="000000"/>
                </a:solidFill>
                <a:highlight>
                  <a:srgbClr val="FFFFFF"/>
                </a:highlight>
              </a:rPr>
              <a:t>   {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thread_guard</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a:solidFill>
                  <a:srgbClr val="0000FF"/>
                </a:solidFill>
                <a:highlight>
                  <a:srgbClr val="FFFFFF"/>
                </a:highlight>
              </a:rPr>
              <a:t>if</a:t>
            </a:r>
            <a:r>
              <a:rPr lang="en-US" dirty="0">
                <a:solidFill>
                  <a:srgbClr val="000000"/>
                </a:solidFill>
                <a:highlight>
                  <a:srgbClr val="FFFFFF"/>
                </a:highlight>
              </a:rPr>
              <a:t>( </a:t>
            </a:r>
            <a:r>
              <a:rPr lang="en-US" dirty="0" err="1">
                <a:solidFill>
                  <a:srgbClr val="000000"/>
                </a:solidFill>
                <a:highlight>
                  <a:srgbClr val="FFFFFF"/>
                </a:highlight>
              </a:rPr>
              <a:t>m_thread.joinable</a:t>
            </a: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m_thread.join</a:t>
            </a: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p>
          <a:p>
            <a:pPr marL="0" indent="0">
              <a:buNone/>
            </a:pPr>
            <a:r>
              <a:rPr lang="en-US" dirty="0">
                <a:solidFill>
                  <a:srgbClr val="000000"/>
                </a:solidFill>
                <a:highlight>
                  <a:srgbClr val="FFFFFF"/>
                </a:highlight>
              </a:rPr>
              <a:t>};</a:t>
            </a:r>
          </a:p>
          <a:p>
            <a:pPr marL="0" indent="0">
              <a:buNone/>
            </a:pPr>
            <a:endParaRPr lang="en-US" dirty="0">
              <a:solidFill>
                <a:srgbClr val="000000"/>
              </a:solidFill>
              <a:highlight>
                <a:srgbClr val="FFFFFF"/>
              </a:highlight>
            </a:endParaRPr>
          </a:p>
          <a:p>
            <a:pPr marL="0" indent="0">
              <a:buNone/>
            </a:pPr>
            <a:r>
              <a:rPr lang="en-US" dirty="0">
                <a:solidFill>
                  <a:srgbClr val="0000FF"/>
                </a:solidFill>
                <a:highlight>
                  <a:srgbClr val="FFFFFF"/>
                </a:highlight>
              </a:rPr>
              <a:t>void</a:t>
            </a:r>
            <a:r>
              <a:rPr lang="en-US" dirty="0">
                <a:solidFill>
                  <a:srgbClr val="000000"/>
                </a:solidFill>
                <a:highlight>
                  <a:srgbClr val="FFFFFF"/>
                </a:highlight>
              </a:rPr>
              <a:t> </a:t>
            </a:r>
            <a:r>
              <a:rPr lang="en-US" dirty="0" err="1">
                <a:solidFill>
                  <a:srgbClr val="000000"/>
                </a:solidFill>
                <a:highlight>
                  <a:srgbClr val="FFFFFF"/>
                </a:highlight>
              </a:rPr>
              <a:t>using_thread_guard</a:t>
            </a:r>
            <a:r>
              <a:rPr lang="en-US" dirty="0">
                <a:solidFill>
                  <a:srgbClr val="000000"/>
                </a:solidFill>
                <a:highlight>
                  <a:srgbClr val="FFFFFF"/>
                </a:highlight>
              </a:rPr>
              <a:t>()</a:t>
            </a:r>
          </a:p>
          <a:p>
            <a:pPr marL="0" indent="0">
              <a:buNone/>
            </a:pPr>
            <a:r>
              <a:rPr lang="en-US" dirty="0">
                <a:solidFill>
                  <a:srgbClr val="000000"/>
                </a:solidFill>
                <a:highlight>
                  <a:srgbClr val="FFFFFF"/>
                </a:highlight>
              </a:rPr>
              <a:t>{</a:t>
            </a:r>
          </a:p>
          <a:p>
            <a:pPr marL="0" indent="0">
              <a:buNone/>
            </a:pPr>
            <a:r>
              <a:rPr lang="en-US" dirty="0">
                <a:solidFill>
                  <a:srgbClr val="000000"/>
                </a:solidFill>
                <a:highlight>
                  <a:srgbClr val="FFFFFF"/>
                </a:highlight>
              </a:rPr>
              <a:t>   </a:t>
            </a:r>
            <a:r>
              <a:rPr lang="en-US" dirty="0" err="1">
                <a:solidFill>
                  <a:srgbClr val="000000"/>
                </a:solidFill>
                <a:highlight>
                  <a:srgbClr val="FFFFFF"/>
                </a:highlight>
              </a:rPr>
              <a:t>std</a:t>
            </a:r>
            <a:r>
              <a:rPr lang="en-US" dirty="0">
                <a:solidFill>
                  <a:srgbClr val="000000"/>
                </a:solidFill>
                <a:highlight>
                  <a:srgbClr val="FFFFFF"/>
                </a:highlight>
              </a:rPr>
              <a:t>::</a:t>
            </a:r>
            <a:r>
              <a:rPr lang="en-US" dirty="0">
                <a:solidFill>
                  <a:srgbClr val="2B91AF"/>
                </a:solidFill>
                <a:highlight>
                  <a:srgbClr val="FFFFFF"/>
                </a:highlight>
              </a:rPr>
              <a:t>thread</a:t>
            </a:r>
            <a:r>
              <a:rPr lang="en-US" dirty="0">
                <a:solidFill>
                  <a:srgbClr val="000000"/>
                </a:solidFill>
                <a:highlight>
                  <a:srgbClr val="FFFFFF"/>
                </a:highlight>
              </a:rPr>
              <a:t> t( &amp;</a:t>
            </a:r>
            <a:r>
              <a:rPr lang="en-US" dirty="0" err="1">
                <a:solidFill>
                  <a:srgbClr val="000000"/>
                </a:solidFill>
                <a:highlight>
                  <a:srgbClr val="FFFFFF"/>
                </a:highlight>
              </a:rPr>
              <a:t>non_member_fn</a:t>
            </a:r>
            <a:r>
              <a:rPr lang="en-US" dirty="0">
                <a:solidFill>
                  <a:srgbClr val="000000"/>
                </a:solidFill>
                <a:highlight>
                  <a:srgbClr val="FFFFFF"/>
                </a:highlight>
              </a:rPr>
              <a:t> );</a:t>
            </a:r>
          </a:p>
          <a:p>
            <a:pPr marL="0" indent="0">
              <a:buNone/>
            </a:pPr>
            <a:r>
              <a:rPr lang="en-US" dirty="0">
                <a:solidFill>
                  <a:srgbClr val="000000"/>
                </a:solidFill>
                <a:highlight>
                  <a:srgbClr val="FFFFFF"/>
                </a:highlight>
              </a:rPr>
              <a:t>   </a:t>
            </a:r>
            <a:r>
              <a:rPr lang="en-US" dirty="0" err="1">
                <a:solidFill>
                  <a:srgbClr val="2B91AF"/>
                </a:solidFill>
                <a:highlight>
                  <a:srgbClr val="FFFFFF"/>
                </a:highlight>
              </a:rPr>
              <a:t>thread_guard</a:t>
            </a:r>
            <a:r>
              <a:rPr lang="en-US" dirty="0">
                <a:solidFill>
                  <a:srgbClr val="000000"/>
                </a:solidFill>
                <a:highlight>
                  <a:srgbClr val="FFFFFF"/>
                </a:highlight>
              </a:rPr>
              <a:t> guard(t);</a:t>
            </a:r>
          </a:p>
          <a:p>
            <a:pPr marL="0" indent="0">
              <a:buNone/>
            </a:pPr>
            <a:r>
              <a:rPr lang="en-US" dirty="0">
                <a:solidFill>
                  <a:srgbClr val="000000"/>
                </a:solidFill>
                <a:highlight>
                  <a:srgbClr val="FFFFFF"/>
                </a:highlight>
              </a:rPr>
              <a:t>   </a:t>
            </a:r>
            <a:r>
              <a:rPr lang="en-US" dirty="0" err="1" smtClean="0">
                <a:solidFill>
                  <a:srgbClr val="000000"/>
                </a:solidFill>
                <a:highlight>
                  <a:srgbClr val="FFFFFF"/>
                </a:highlight>
              </a:rPr>
              <a:t>do_something_and_throw</a:t>
            </a:r>
            <a:r>
              <a:rPr lang="en-US" dirty="0" smtClean="0">
                <a:solidFill>
                  <a:srgbClr val="000000"/>
                </a:solidFill>
                <a:highlight>
                  <a:srgbClr val="FFFFFF"/>
                </a:highlight>
              </a:rPr>
              <a:t>();</a:t>
            </a:r>
            <a:endParaRPr lang="en-US" dirty="0">
              <a:solidFill>
                <a:srgbClr val="000000"/>
              </a:solidFill>
              <a:highlight>
                <a:srgbClr val="FFFFFF"/>
              </a:highlight>
            </a:endParaRPr>
          </a:p>
          <a:p>
            <a:pPr marL="0" indent="0">
              <a:buNone/>
            </a:pPr>
            <a:r>
              <a:rPr lang="en-US" dirty="0">
                <a:solidFill>
                  <a:srgbClr val="000000"/>
                </a:solidFill>
                <a:highlight>
                  <a:srgbClr val="FFFFFF"/>
                </a:highlight>
              </a:rPr>
              <a:t>}</a:t>
            </a:r>
            <a:endParaRPr lang="en-US" dirty="0"/>
          </a:p>
        </p:txBody>
      </p:sp>
      <p:sp>
        <p:nvSpPr>
          <p:cNvPr id="4" name="Content Placeholder 3"/>
          <p:cNvSpPr>
            <a:spLocks noGrp="1"/>
          </p:cNvSpPr>
          <p:nvPr>
            <p:ph sz="half" idx="2"/>
          </p:nvPr>
        </p:nvSpPr>
        <p:spPr/>
        <p:txBody>
          <a:bodyPr>
            <a:normAutofit fontScale="77500" lnSpcReduction="20000"/>
          </a:bodyPr>
          <a:lstStyle/>
          <a:p>
            <a:pPr marL="457200" indent="-457200">
              <a:buFont typeface="+mj-lt"/>
              <a:buAutoNum type="arabicPeriod"/>
            </a:pPr>
            <a:r>
              <a:rPr lang="en-US" dirty="0" smtClean="0"/>
              <a:t>Copy constructor and assignment operator of thread guard is deleted to prevent copies.</a:t>
            </a:r>
          </a:p>
          <a:p>
            <a:pPr marL="457200" indent="-457200">
              <a:buFont typeface="+mj-lt"/>
              <a:buAutoNum type="arabicPeriod"/>
            </a:pPr>
            <a:r>
              <a:rPr lang="en-US" dirty="0" smtClean="0"/>
              <a:t>Destructor of thread guard checks, whether thread object is joinable. If so, then join is called.</a:t>
            </a:r>
          </a:p>
          <a:p>
            <a:pPr marL="457200" indent="-457200">
              <a:buFont typeface="+mj-lt"/>
              <a:buAutoNum type="arabicPeriod"/>
            </a:pPr>
            <a:r>
              <a:rPr lang="en-US" dirty="0"/>
              <a:t>Before a function is finished, the stack  is unwound. D</a:t>
            </a:r>
            <a:r>
              <a:rPr lang="en-US" dirty="0" smtClean="0"/>
              <a:t>estructors of all local variables are called in reverse order of construction. It happens even if an exception is thrown</a:t>
            </a:r>
            <a:endParaRPr lang="en-US" dirty="0"/>
          </a:p>
        </p:txBody>
      </p:sp>
      <p:sp>
        <p:nvSpPr>
          <p:cNvPr id="5" name="Dodecagon 4"/>
          <p:cNvSpPr/>
          <p:nvPr/>
        </p:nvSpPr>
        <p:spPr>
          <a:xfrm>
            <a:off x="3886200" y="27432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6" name="Dodecagon 5"/>
          <p:cNvSpPr/>
          <p:nvPr/>
        </p:nvSpPr>
        <p:spPr>
          <a:xfrm>
            <a:off x="3886200" y="41148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Dodecagon 6"/>
          <p:cNvSpPr/>
          <p:nvPr/>
        </p:nvSpPr>
        <p:spPr>
          <a:xfrm>
            <a:off x="3886200" y="55118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3</a:t>
            </a:r>
            <a:endParaRPr lang="en-US" sz="1400" dirty="0"/>
          </a:p>
        </p:txBody>
      </p:sp>
      <p:sp>
        <p:nvSpPr>
          <p:cNvPr id="8" name="Date Placeholder 7"/>
          <p:cNvSpPr>
            <a:spLocks noGrp="1"/>
          </p:cNvSpPr>
          <p:nvPr>
            <p:ph type="dt" sz="half" idx="10"/>
          </p:nvPr>
        </p:nvSpPr>
        <p:spPr/>
        <p:txBody>
          <a:bodyPr/>
          <a:lstStyle/>
          <a:p>
            <a:r>
              <a:rPr lang="cs-CZ" smtClean="0"/>
              <a:t>19.1.2014</a:t>
            </a:r>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38294791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 across threads</a:t>
            </a:r>
            <a:endParaRPr lang="en-US" dirty="0"/>
          </a:p>
        </p:txBody>
      </p:sp>
      <p:sp>
        <p:nvSpPr>
          <p:cNvPr id="4" name="Content Placeholder 3"/>
          <p:cNvSpPr>
            <a:spLocks noGrp="1"/>
          </p:cNvSpPr>
          <p:nvPr>
            <p:ph sz="half" idx="1"/>
          </p:nvPr>
        </p:nvSpPr>
        <p:spPr/>
        <p:txBody>
          <a:bodyPr>
            <a:normAutofit fontScale="85000" lnSpcReduction="10000"/>
          </a:bodyPr>
          <a:lstStyle/>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do_something_and_throw</a:t>
            </a: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store_exc</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exception_ptr</a:t>
            </a:r>
            <a:r>
              <a:rPr lang="en-US" dirty="0">
                <a:solidFill>
                  <a:srgbClr val="000000"/>
                </a:solidFill>
                <a:highlight>
                  <a:srgbClr val="FFFFFF"/>
                </a:highlight>
                <a:latin typeface="Consolas"/>
              </a:rPr>
              <a:t>&amp; </a:t>
            </a:r>
            <a:r>
              <a:rPr lang="en-US" dirty="0">
                <a:solidFill>
                  <a:srgbClr val="808080"/>
                </a:solidFill>
                <a:highlight>
                  <a:srgbClr val="FFFFFF"/>
                </a:highlight>
                <a:latin typeface="Consolas"/>
              </a:rPr>
              <a:t>e</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try</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do_something_and_throw</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catch</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e</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current_exception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exception_transfer</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exception_ptr</a:t>
            </a:r>
            <a:r>
              <a:rPr lang="en-US" dirty="0">
                <a:solidFill>
                  <a:srgbClr val="000000"/>
                </a:solidFill>
                <a:highlight>
                  <a:srgbClr val="FFFFFF"/>
                </a:highlight>
                <a:latin typeface="Consolas"/>
              </a:rPr>
              <a:t> e;</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t( &amp;</a:t>
            </a:r>
            <a:r>
              <a:rPr lang="en-US" dirty="0" err="1">
                <a:solidFill>
                  <a:srgbClr val="000000"/>
                </a:solidFill>
                <a:highlight>
                  <a:srgbClr val="FFFFFF"/>
                </a:highlight>
                <a:latin typeface="Consolas"/>
              </a:rPr>
              <a:t>store_exc</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::ref(e));</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if</a:t>
            </a:r>
            <a:r>
              <a:rPr lang="en-US" dirty="0">
                <a:solidFill>
                  <a:srgbClr val="000000"/>
                </a:solidFill>
                <a:highlight>
                  <a:srgbClr val="FFFFFF"/>
                </a:highlight>
                <a:latin typeface="Consolas"/>
              </a:rPr>
              <a:t>(e)</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rethrow_exception</a:t>
            </a:r>
            <a:r>
              <a:rPr lang="en-US" dirty="0">
                <a:solidFill>
                  <a:srgbClr val="000000"/>
                </a:solidFill>
                <a:highlight>
                  <a:srgbClr val="FFFFFF"/>
                </a:highlight>
                <a:latin typeface="Consolas"/>
              </a:rPr>
              <a:t>( e );</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fontScale="85000" lnSpcReduction="10000"/>
          </a:bodyPr>
          <a:lstStyle/>
          <a:p>
            <a:r>
              <a:rPr lang="en-US" dirty="0" err="1" smtClean="0">
                <a:latin typeface="Courier New" pitchFamily="49" charset="0"/>
                <a:cs typeface="Courier New" pitchFamily="49" charset="0"/>
              </a:rPr>
              <a:t>exception_ptr</a:t>
            </a:r>
            <a:r>
              <a:rPr lang="en-US" dirty="0" smtClean="0"/>
              <a:t> is </a:t>
            </a:r>
            <a:r>
              <a:rPr lang="en-US" dirty="0" err="1" smtClean="0"/>
              <a:t>nullable</a:t>
            </a:r>
            <a:r>
              <a:rPr lang="en-US" dirty="0" smtClean="0"/>
              <a:t> pointer-like type for storing reference to an exception.</a:t>
            </a:r>
          </a:p>
          <a:p>
            <a:r>
              <a:rPr lang="en-US" dirty="0" err="1" smtClean="0">
                <a:latin typeface="Courier New" pitchFamily="49" charset="0"/>
                <a:cs typeface="Courier New" pitchFamily="49" charset="0"/>
              </a:rPr>
              <a:t>current_exception</a:t>
            </a:r>
            <a:r>
              <a:rPr lang="en-US" dirty="0" smtClean="0"/>
              <a:t> is called typically in a catch block. It captures current exception object and returns </a:t>
            </a:r>
            <a:r>
              <a:rPr lang="en-US" dirty="0" err="1" smtClean="0"/>
              <a:t>exeption_ptr</a:t>
            </a:r>
            <a:r>
              <a:rPr lang="en-US" dirty="0" smtClean="0"/>
              <a:t> that holds reference to it.</a:t>
            </a:r>
          </a:p>
          <a:p>
            <a:r>
              <a:rPr lang="en-US" dirty="0" err="1" smtClean="0">
                <a:latin typeface="Courier New" pitchFamily="49" charset="0"/>
                <a:cs typeface="Courier New" pitchFamily="49" charset="0"/>
              </a:rPr>
              <a:t>rethrow_exception</a:t>
            </a:r>
            <a:r>
              <a:rPr lang="en-US" dirty="0"/>
              <a:t> </a:t>
            </a:r>
            <a:r>
              <a:rPr lang="en-US" dirty="0" smtClean="0"/>
              <a:t>extracts and throws previously captured exception from an </a:t>
            </a:r>
            <a:r>
              <a:rPr lang="en-US" dirty="0" err="1" smtClean="0"/>
              <a:t>exception_ptr</a:t>
            </a:r>
            <a:r>
              <a:rPr lang="en-US" dirty="0" smtClean="0"/>
              <a:t> object.</a:t>
            </a:r>
          </a:p>
          <a:p>
            <a:r>
              <a:rPr lang="en-US" dirty="0" smtClean="0"/>
              <a:t>Embedded in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::promise </a:t>
            </a:r>
            <a:r>
              <a:rPr lang="en-US" dirty="0" smtClean="0"/>
              <a:t>and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::future</a:t>
            </a:r>
            <a:r>
              <a:rPr lang="en-US" dirty="0" smtClean="0"/>
              <a:t> classes.</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42422390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execution</a:t>
            </a:r>
            <a:endParaRPr lang="en-US" dirty="0"/>
          </a:p>
        </p:txBody>
      </p:sp>
      <p:sp>
        <p:nvSpPr>
          <p:cNvPr id="5" name="Content Placeholder 4"/>
          <p:cNvSpPr>
            <a:spLocks noGrp="1"/>
          </p:cNvSpPr>
          <p:nvPr>
            <p:ph idx="1"/>
          </p:nvPr>
        </p:nvSpPr>
        <p:spPr/>
        <p:txBody>
          <a:bodyPr>
            <a:normAutofit fontScale="85000" lnSpcReduction="20000"/>
          </a:bodyPr>
          <a:lstStyle/>
          <a:p>
            <a:pPr marL="0" indent="0">
              <a:buNone/>
            </a:pPr>
            <a:r>
              <a:rPr lang="en-US" dirty="0"/>
              <a:t>The most convenient and straight-forward way to perform an asynchronous com­pu­ta­tion is via the </a:t>
            </a:r>
            <a:r>
              <a:rPr lang="en-US" dirty="0" err="1">
                <a:latin typeface="Courier New" pitchFamily="49" charset="0"/>
                <a:cs typeface="Courier New" pitchFamily="49" charset="0"/>
              </a:rPr>
              <a:t>async</a:t>
            </a:r>
            <a:r>
              <a:rPr lang="en-US" dirty="0"/>
              <a:t> </a:t>
            </a:r>
            <a:r>
              <a:rPr lang="en-US" dirty="0" smtClean="0"/>
              <a:t>template. </a:t>
            </a:r>
          </a:p>
          <a:p>
            <a:pPr marL="0" indent="0">
              <a:buNone/>
            </a:pPr>
            <a:endParaRPr lang="en-US" dirty="0" smtClean="0"/>
          </a:p>
          <a:p>
            <a:pPr marL="0" indent="0">
              <a:buNone/>
            </a:pPr>
            <a:r>
              <a:rPr lang="en-US" dirty="0" smtClean="0"/>
              <a:t>Building blocks are:</a:t>
            </a:r>
          </a:p>
          <a:p>
            <a:r>
              <a:rPr lang="en-US" b="1" dirty="0" err="1" smtClean="0"/>
              <a:t>std</a:t>
            </a:r>
            <a:r>
              <a:rPr lang="en-US" b="1" dirty="0" smtClean="0"/>
              <a:t>::</a:t>
            </a:r>
            <a:r>
              <a:rPr lang="en-US" b="1" dirty="0" err="1" smtClean="0"/>
              <a:t>async</a:t>
            </a:r>
            <a:r>
              <a:rPr lang="en-US" b="1" dirty="0" smtClean="0"/>
              <a:t>: </a:t>
            </a:r>
            <a:r>
              <a:rPr lang="en-US" dirty="0" smtClean="0"/>
              <a:t>Higher-level utility function, which requests asynchronous execution of a function.</a:t>
            </a:r>
          </a:p>
          <a:p>
            <a:r>
              <a:rPr lang="en-US" b="1" dirty="0" err="1" smtClean="0"/>
              <a:t>std</a:t>
            </a:r>
            <a:r>
              <a:rPr lang="en-US" b="1" dirty="0" smtClean="0"/>
              <a:t>::future: </a:t>
            </a:r>
            <a:r>
              <a:rPr lang="en-US" dirty="0" smtClean="0"/>
              <a:t>Handle representing function result. </a:t>
            </a:r>
          </a:p>
          <a:p>
            <a:pPr marL="0" indent="0">
              <a:buNone/>
            </a:pPr>
            <a:r>
              <a:rPr lang="en-US" dirty="0" smtClean="0"/>
              <a:t>The advantage over raw use of </a:t>
            </a:r>
            <a:r>
              <a:rPr lang="en-US" dirty="0" err="1" smtClean="0"/>
              <a:t>std</a:t>
            </a:r>
            <a:r>
              <a:rPr lang="en-US" dirty="0" smtClean="0"/>
              <a:t>::thread:</a:t>
            </a:r>
          </a:p>
          <a:p>
            <a:r>
              <a:rPr lang="en-US" dirty="0" smtClean="0"/>
              <a:t>Allows values as well as exceptions to be returned.</a:t>
            </a:r>
          </a:p>
          <a:p>
            <a:r>
              <a:rPr lang="en-US" dirty="0" smtClean="0"/>
              <a:t>Resembles “normal” synchronous function call.</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7069266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std</a:t>
            </a:r>
            <a:r>
              <a:rPr lang="en-US" dirty="0" smtClean="0"/>
              <a:t>::thread vs. </a:t>
            </a:r>
            <a:r>
              <a:rPr lang="en-US" dirty="0" err="1" smtClean="0"/>
              <a:t>std</a:t>
            </a:r>
            <a:r>
              <a:rPr lang="en-US" dirty="0" smtClean="0"/>
              <a:t>::</a:t>
            </a:r>
            <a:r>
              <a:rPr lang="en-US" dirty="0" err="1" smtClean="0"/>
              <a:t>async</a:t>
            </a:r>
            <a:endParaRPr lang="en-US" dirty="0"/>
          </a:p>
        </p:txBody>
      </p:sp>
      <p:sp>
        <p:nvSpPr>
          <p:cNvPr id="3" name="Content Placeholder 2"/>
          <p:cNvSpPr>
            <a:spLocks noGrp="1"/>
          </p:cNvSpPr>
          <p:nvPr>
            <p:ph sz="half" idx="1"/>
          </p:nvPr>
        </p:nvSpPr>
        <p:spPr>
          <a:xfrm>
            <a:off x="457200" y="1600200"/>
            <a:ext cx="4038600" cy="4525963"/>
          </a:xfrm>
        </p:spPr>
        <p:txBody>
          <a:bodyPr>
            <a:normAutofit/>
          </a:bodyPr>
          <a:lstStyle/>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&lt;thread</a:t>
            </a:r>
            <a:r>
              <a:rPr lang="en-US" dirty="0" smtClean="0">
                <a:solidFill>
                  <a:srgbClr val="A31515"/>
                </a:solidFill>
                <a:highlight>
                  <a:srgbClr val="FFFFFF"/>
                </a:highlight>
                <a:latin typeface="Consolas"/>
              </a:rPr>
              <a:t>&gt;</a:t>
            </a:r>
          </a:p>
          <a:p>
            <a:pPr marL="0" indent="0">
              <a:buNone/>
            </a:pPr>
            <a:endParaRPr lang="en-US" dirty="0" smtClean="0">
              <a:solidFill>
                <a:srgbClr val="0000FF"/>
              </a:solidFill>
              <a:highlight>
                <a:srgbClr val="FFFFFF"/>
              </a:highlight>
              <a:latin typeface="Consolas"/>
            </a:endParaRPr>
          </a:p>
          <a:p>
            <a:pPr marL="0" indent="0">
              <a:buNone/>
            </a:pPr>
            <a:r>
              <a:rPr lang="en-US" dirty="0" err="1" smtClean="0">
                <a:solidFill>
                  <a:srgbClr val="0000FF"/>
                </a:solidFill>
                <a:highlight>
                  <a:srgbClr val="FFFFFF"/>
                </a:highlight>
                <a:latin typeface="Consolas"/>
              </a:rPr>
              <a:t>int</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task1</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err="1" smtClean="0">
                <a:solidFill>
                  <a:srgbClr val="0000FF"/>
                </a:solidFill>
                <a:highlight>
                  <a:srgbClr val="FFFFFF"/>
                </a:highlight>
                <a:latin typeface="Consolas"/>
              </a:rPr>
              <a:t>int</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task2</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endParaRPr lang="en-US" dirty="0">
              <a:solidFill>
                <a:srgbClr val="000000"/>
              </a:solidFill>
              <a:highlight>
                <a:srgbClr val="FFFFFF"/>
              </a:highlight>
              <a:latin typeface="Consolas"/>
            </a:endParaRPr>
          </a:p>
          <a:p>
            <a:pPr marL="0" indent="0">
              <a:buNone/>
            </a:pP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bad_example</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 b;</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t( [&amp;]{ b = task2(); });</a:t>
            </a: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what if task1, or task2 throws?</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 = task1();</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 + b;</a:t>
            </a:r>
          </a:p>
          <a:p>
            <a:pPr marL="0" indent="0">
              <a:buNone/>
            </a:pPr>
            <a:r>
              <a:rPr lang="en-US" dirty="0">
                <a:solidFill>
                  <a:srgbClr val="000000"/>
                </a:solidFill>
                <a:highlight>
                  <a:srgbClr val="FFFFFF"/>
                </a:highlight>
                <a:latin typeface="Consolas"/>
              </a:rPr>
              <a:t>}</a:t>
            </a:r>
            <a:endParaRPr lang="en-US" dirty="0"/>
          </a:p>
        </p:txBody>
      </p:sp>
      <p:sp>
        <p:nvSpPr>
          <p:cNvPr id="5" name="Content Placeholder 2"/>
          <p:cNvSpPr>
            <a:spLocks noGrp="1"/>
          </p:cNvSpPr>
          <p:nvPr>
            <p:ph sz="half" idx="1"/>
          </p:nvPr>
        </p:nvSpPr>
        <p:spPr>
          <a:xfrm>
            <a:off x="4724400" y="1600200"/>
            <a:ext cx="4038600" cy="4525963"/>
          </a:xfrm>
        </p:spPr>
        <p:txBody>
          <a:bodyPr>
            <a:normAutofit/>
          </a:bodyPr>
          <a:lstStyle/>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smtClean="0">
                <a:solidFill>
                  <a:srgbClr val="A31515"/>
                </a:solidFill>
                <a:highlight>
                  <a:srgbClr val="FFFFFF"/>
                </a:highlight>
                <a:latin typeface="Consolas"/>
              </a:rPr>
              <a:t>&lt;future&gt;</a:t>
            </a:r>
          </a:p>
          <a:p>
            <a:pPr marL="0" indent="0">
              <a:buNone/>
            </a:pPr>
            <a:endParaRPr lang="en-US" dirty="0" smtClean="0">
              <a:solidFill>
                <a:srgbClr val="0000FF"/>
              </a:solidFill>
              <a:highlight>
                <a:srgbClr val="FFFFFF"/>
              </a:highlight>
              <a:latin typeface="Consolas"/>
            </a:endParaRPr>
          </a:p>
          <a:p>
            <a:pPr marL="0" indent="0">
              <a:buNone/>
            </a:pPr>
            <a:r>
              <a:rPr lang="en-US" dirty="0" err="1" smtClean="0">
                <a:solidFill>
                  <a:srgbClr val="0000FF"/>
                </a:solidFill>
                <a:highlight>
                  <a:srgbClr val="FFFFFF"/>
                </a:highlight>
                <a:latin typeface="Consolas"/>
              </a:rPr>
              <a:t>int</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task1</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err="1" smtClean="0">
                <a:solidFill>
                  <a:srgbClr val="0000FF"/>
                </a:solidFill>
                <a:highlight>
                  <a:srgbClr val="FFFFFF"/>
                </a:highlight>
                <a:latin typeface="Consolas"/>
              </a:rPr>
              <a:t>int</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task2</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endParaRPr lang="en-US" dirty="0">
              <a:solidFill>
                <a:srgbClr val="000000"/>
              </a:solidFill>
              <a:highlight>
                <a:srgbClr val="FFFFFF"/>
              </a:highlight>
              <a:latin typeface="Consolas"/>
            </a:endParaRPr>
          </a:p>
          <a:p>
            <a:pPr marL="0" indent="0">
              <a:buNone/>
            </a:pP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good_example</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if task2 throws</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then </a:t>
            </a:r>
            <a:r>
              <a:rPr lang="en-US" dirty="0" err="1">
                <a:solidFill>
                  <a:srgbClr val="008000"/>
                </a:solidFill>
                <a:highlight>
                  <a:srgbClr val="FFFFFF"/>
                </a:highlight>
                <a:latin typeface="Consolas"/>
              </a:rPr>
              <a:t>b.get</a:t>
            </a:r>
            <a:r>
              <a:rPr lang="en-US" dirty="0">
                <a:solidFill>
                  <a:srgbClr val="008000"/>
                </a:solidFill>
                <a:highlight>
                  <a:srgbClr val="FFFFFF"/>
                </a:highlight>
                <a:latin typeface="Consolas"/>
              </a:rPr>
              <a:t>() will </a:t>
            </a:r>
            <a:r>
              <a:rPr lang="en-US" dirty="0" err="1" smtClean="0">
                <a:solidFill>
                  <a:srgbClr val="008000"/>
                </a:solidFill>
                <a:highlight>
                  <a:srgbClr val="FFFFFF"/>
                </a:highlight>
                <a:latin typeface="Consolas"/>
              </a:rPr>
              <a:t>rethrow</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b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async</a:t>
            </a:r>
            <a:r>
              <a:rPr lang="en-US" dirty="0">
                <a:solidFill>
                  <a:srgbClr val="000000"/>
                </a:solidFill>
                <a:highlight>
                  <a:srgbClr val="FFFFFF"/>
                </a:highlight>
                <a:latin typeface="Consolas"/>
              </a:rPr>
              <a:t>( &amp;task2 );</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 </a:t>
            </a:r>
            <a:r>
              <a:rPr lang="en-US" dirty="0">
                <a:solidFill>
                  <a:srgbClr val="000000"/>
                </a:solidFill>
                <a:highlight>
                  <a:srgbClr val="FFFFFF"/>
                </a:highlight>
                <a:latin typeface="Consolas"/>
              </a:rPr>
              <a:t>= task1();</a:t>
            </a:r>
          </a:p>
          <a:p>
            <a:pPr marL="0" indent="0">
              <a:buNone/>
            </a:pPr>
            <a:r>
              <a:rPr lang="en-US" dirty="0">
                <a:solidFill>
                  <a:srgbClr val="000000"/>
                </a:solidFill>
                <a:highlight>
                  <a:srgbClr val="FFFFFF"/>
                </a:highlight>
                <a:latin typeface="Consolas"/>
              </a:rPr>
              <a:t>   </a:t>
            </a:r>
            <a:r>
              <a:rPr lang="en-US">
                <a:solidFill>
                  <a:srgbClr val="008000"/>
                </a:solidFill>
                <a:highlight>
                  <a:srgbClr val="FFFFFF"/>
                </a:highlight>
                <a:latin typeface="Consolas"/>
              </a:rPr>
              <a:t>// </a:t>
            </a:r>
            <a:r>
              <a:rPr lang="en-US" smtClean="0">
                <a:solidFill>
                  <a:srgbClr val="008000"/>
                </a:solidFill>
                <a:highlight>
                  <a:srgbClr val="FFFFFF"/>
                </a:highlight>
                <a:latin typeface="Consolas"/>
              </a:rPr>
              <a:t>get</a:t>
            </a:r>
            <a:r>
              <a:rPr lang="en-US" dirty="0">
                <a:solidFill>
                  <a:srgbClr val="008000"/>
                </a:solidFill>
                <a:highlight>
                  <a:srgbClr val="FFFFFF"/>
                </a:highlight>
                <a:latin typeface="Consolas"/>
              </a:rPr>
              <a:t>() blocks </a:t>
            </a:r>
            <a:r>
              <a:rPr lang="en-US" dirty="0" smtClean="0">
                <a:solidFill>
                  <a:srgbClr val="008000"/>
                </a:solidFill>
                <a:highlight>
                  <a:srgbClr val="FFFFFF"/>
                </a:highlight>
                <a:latin typeface="Consolas"/>
              </a:rPr>
              <a:t>till task2 ends</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 + </a:t>
            </a:r>
            <a:r>
              <a:rPr lang="en-US" dirty="0" err="1">
                <a:solidFill>
                  <a:srgbClr val="000000"/>
                </a:solidFill>
                <a:highlight>
                  <a:srgbClr val="FFFFFF"/>
                </a:highlight>
                <a:latin typeface="Consolas"/>
              </a:rPr>
              <a:t>b.get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6" name="Rectangle 5"/>
          <p:cNvSpPr/>
          <p:nvPr/>
        </p:nvSpPr>
        <p:spPr>
          <a:xfrm>
            <a:off x="4526281" y="1600200"/>
            <a:ext cx="45719" cy="449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r>
              <a:rPr lang="cs-CZ" smtClean="0"/>
              <a:t>19.1.2014</a:t>
            </a:r>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32139807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How many threads</a:t>
            </a:r>
            <a:endParaRPr lang="en-US" dirty="0"/>
          </a:p>
        </p:txBody>
      </p:sp>
      <p:sp>
        <p:nvSpPr>
          <p:cNvPr id="6" name="Content Placeholder 5"/>
          <p:cNvSpPr>
            <a:spLocks noGrp="1"/>
          </p:cNvSpPr>
          <p:nvPr>
            <p:ph idx="1"/>
          </p:nvPr>
        </p:nvSpPr>
        <p:spPr/>
        <p:txBody>
          <a:bodyPr/>
          <a:lstStyle/>
          <a:p>
            <a:r>
              <a:rPr lang="en-US" dirty="0" smtClean="0"/>
              <a:t>Oversubscription – running more threads than hardware can accept. OS must perform time switching.</a:t>
            </a:r>
          </a:p>
          <a:p>
            <a:r>
              <a:rPr lang="en-US" b="1" dirty="0" err="1"/>
              <a:t>std</a:t>
            </a:r>
            <a:r>
              <a:rPr lang="en-US" b="1" dirty="0"/>
              <a:t>::thread::</a:t>
            </a:r>
            <a:r>
              <a:rPr lang="en-US" b="1" dirty="0" err="1"/>
              <a:t>hardware_concurrency</a:t>
            </a:r>
            <a:r>
              <a:rPr lang="en-US" b="1" dirty="0" smtClean="0"/>
              <a:t>() </a:t>
            </a:r>
            <a:r>
              <a:rPr lang="en-US" dirty="0" smtClean="0"/>
              <a:t>static method of </a:t>
            </a:r>
            <a:r>
              <a:rPr lang="en-US" dirty="0" err="1" smtClean="0"/>
              <a:t>std</a:t>
            </a:r>
            <a:r>
              <a:rPr lang="en-US" dirty="0" smtClean="0"/>
              <a:t>::tread class returns number of threads the hardware can run concurrently.</a:t>
            </a:r>
          </a:p>
          <a:p>
            <a:r>
              <a:rPr lang="en-US" b="1" dirty="0" err="1" smtClean="0"/>
              <a:t>std</a:t>
            </a:r>
            <a:r>
              <a:rPr lang="en-US" b="1" dirty="0" smtClean="0"/>
              <a:t>::</a:t>
            </a:r>
            <a:r>
              <a:rPr lang="en-US" b="1" dirty="0" err="1" smtClean="0"/>
              <a:t>async</a:t>
            </a:r>
            <a:r>
              <a:rPr lang="en-US" b="1" dirty="0" smtClean="0"/>
              <a:t> </a:t>
            </a:r>
            <a:r>
              <a:rPr lang="en-US" dirty="0" smtClean="0"/>
              <a:t>by default decides, whether a new thread shall be created or not.</a:t>
            </a:r>
          </a:p>
          <a:p>
            <a:endParaRPr lang="en-US" dirty="0"/>
          </a:p>
        </p:txBody>
      </p:sp>
      <p:sp>
        <p:nvSpPr>
          <p:cNvPr id="2" name="Date Placeholder 1"/>
          <p:cNvSpPr>
            <a:spLocks noGrp="1"/>
          </p:cNvSpPr>
          <p:nvPr>
            <p:ph type="dt" sz="half" idx="10"/>
          </p:nvPr>
        </p:nvSpPr>
        <p:spPr/>
        <p:txBody>
          <a:bodyPr/>
          <a:lstStyle/>
          <a:p>
            <a:r>
              <a:rPr lang="cs-CZ" smtClean="0"/>
              <a:t>19.1.2014</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6641618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
            </a:r>
            <a:r>
              <a:rPr lang="en-US" dirty="0" smtClean="0"/>
              <a:t>aunch policy of </a:t>
            </a:r>
            <a:r>
              <a:rPr lang="en-US" dirty="0" err="1"/>
              <a:t>std</a:t>
            </a:r>
            <a:r>
              <a:rPr lang="en-US" dirty="0"/>
              <a:t>::</a:t>
            </a:r>
            <a:r>
              <a:rPr lang="en-US" dirty="0" err="1"/>
              <a:t>async</a:t>
            </a:r>
            <a:r>
              <a:rPr lang="en-US" dirty="0"/>
              <a:t> </a:t>
            </a:r>
          </a:p>
        </p:txBody>
      </p:sp>
      <p:sp>
        <p:nvSpPr>
          <p:cNvPr id="3" name="Content Placeholder 2"/>
          <p:cNvSpPr>
            <a:spLocks noGrp="1"/>
          </p:cNvSpPr>
          <p:nvPr>
            <p:ph idx="1"/>
          </p:nvPr>
        </p:nvSpPr>
        <p:spPr/>
        <p:txBody>
          <a:bodyPr>
            <a:normAutofit fontScale="77500" lnSpcReduction="20000"/>
          </a:bodyPr>
          <a:lstStyle/>
          <a:p>
            <a:pPr marL="0" indent="0">
              <a:buNone/>
            </a:pPr>
            <a:r>
              <a:rPr lang="en-US" b="1" dirty="0" err="1"/>
              <a:t>s</a:t>
            </a:r>
            <a:r>
              <a:rPr lang="en-US" b="1" dirty="0" err="1" smtClean="0"/>
              <a:t>td</a:t>
            </a:r>
            <a:r>
              <a:rPr lang="en-US" b="1" dirty="0" smtClean="0"/>
              <a:t>::launch::</a:t>
            </a:r>
            <a:r>
              <a:rPr lang="en-US" b="1" dirty="0" err="1" smtClean="0"/>
              <a:t>async</a:t>
            </a:r>
            <a:r>
              <a:rPr lang="en-US" b="1" dirty="0" smtClean="0"/>
              <a:t> </a:t>
            </a:r>
            <a:r>
              <a:rPr lang="en-US" dirty="0" smtClean="0"/>
              <a:t>always creates a new thread.</a:t>
            </a:r>
          </a:p>
          <a:p>
            <a:pPr lvl="1"/>
            <a:r>
              <a:rPr lang="en-US" dirty="0" err="1" smtClean="0"/>
              <a:t>Usefull</a:t>
            </a:r>
            <a:r>
              <a:rPr lang="en-US" dirty="0" smtClean="0"/>
              <a:t> to ensure </a:t>
            </a:r>
            <a:r>
              <a:rPr lang="en-US" dirty="0"/>
              <a:t>responsiveness </a:t>
            </a:r>
            <a:r>
              <a:rPr lang="en-US" dirty="0" smtClean="0"/>
              <a:t>of calling thread.</a:t>
            </a:r>
          </a:p>
          <a:p>
            <a:pPr marL="457200" lvl="1" indent="0">
              <a:buNone/>
            </a:pPr>
            <a:r>
              <a:rPr lang="en-US" sz="2100" dirty="0" smtClean="0">
                <a:latin typeface="Courier New" pitchFamily="49" charset="0"/>
                <a:cs typeface="Courier New" pitchFamily="49" charset="0"/>
              </a:rPr>
              <a:t>auto f = </a:t>
            </a:r>
            <a:r>
              <a:rPr lang="en-US" sz="2100" dirty="0" err="1" smtClean="0">
                <a:latin typeface="Courier New" pitchFamily="49" charset="0"/>
                <a:cs typeface="Courier New" pitchFamily="49" charset="0"/>
              </a:rPr>
              <a:t>std</a:t>
            </a:r>
            <a:r>
              <a:rPr lang="en-US" sz="2100" dirty="0" smtClean="0">
                <a:latin typeface="Courier New" pitchFamily="49" charset="0"/>
                <a:cs typeface="Courier New" pitchFamily="49" charset="0"/>
              </a:rPr>
              <a:t>::</a:t>
            </a:r>
            <a:r>
              <a:rPr lang="en-US" sz="2100" dirty="0" err="1" smtClean="0">
                <a:latin typeface="Courier New" pitchFamily="49" charset="0"/>
                <a:cs typeface="Courier New" pitchFamily="49" charset="0"/>
              </a:rPr>
              <a:t>async</a:t>
            </a:r>
            <a:r>
              <a:rPr lang="en-US" sz="2100" dirty="0" smtClean="0">
                <a:latin typeface="Courier New" pitchFamily="49" charset="0"/>
                <a:cs typeface="Courier New" pitchFamily="49" charset="0"/>
              </a:rPr>
              <a:t>( </a:t>
            </a:r>
            <a:r>
              <a:rPr lang="en-US" sz="2100" dirty="0" err="1" smtClean="0">
                <a:latin typeface="Courier New" pitchFamily="49" charset="0"/>
                <a:cs typeface="Courier New" pitchFamily="49" charset="0"/>
              </a:rPr>
              <a:t>std</a:t>
            </a:r>
            <a:r>
              <a:rPr lang="en-US" sz="2100" dirty="0" smtClean="0">
                <a:latin typeface="Courier New" pitchFamily="49" charset="0"/>
                <a:cs typeface="Courier New" pitchFamily="49" charset="0"/>
              </a:rPr>
              <a:t>::launch::</a:t>
            </a:r>
            <a:r>
              <a:rPr lang="en-US" sz="2100" dirty="0" err="1" smtClean="0">
                <a:latin typeface="Courier New" pitchFamily="49" charset="0"/>
                <a:cs typeface="Courier New" pitchFamily="49" charset="0"/>
              </a:rPr>
              <a:t>async</a:t>
            </a:r>
            <a:r>
              <a:rPr lang="en-US" sz="2100" dirty="0" smtClean="0">
                <a:latin typeface="Courier New" pitchFamily="49" charset="0"/>
                <a:cs typeface="Courier New" pitchFamily="49" charset="0"/>
              </a:rPr>
              <a:t>, </a:t>
            </a:r>
            <a:r>
              <a:rPr lang="en-US" sz="2100" dirty="0" err="1" smtClean="0">
                <a:latin typeface="Courier New" pitchFamily="49" charset="0"/>
                <a:cs typeface="Courier New" pitchFamily="49" charset="0"/>
              </a:rPr>
              <a:t>myTask</a:t>
            </a:r>
            <a:r>
              <a:rPr lang="en-US" sz="2100" dirty="0" smtClean="0">
                <a:latin typeface="Courier New" pitchFamily="49" charset="0"/>
                <a:cs typeface="Courier New" pitchFamily="49" charset="0"/>
              </a:rPr>
              <a:t> );</a:t>
            </a:r>
          </a:p>
          <a:p>
            <a:pPr marL="57150" indent="0">
              <a:buNone/>
            </a:pPr>
            <a:r>
              <a:rPr lang="en-US" b="1" dirty="0" err="1" smtClean="0"/>
              <a:t>std</a:t>
            </a:r>
            <a:r>
              <a:rPr lang="en-US" b="1" dirty="0" smtClean="0"/>
              <a:t>::launch::</a:t>
            </a:r>
            <a:r>
              <a:rPr lang="en-US" b="1" dirty="0" err="1" smtClean="0"/>
              <a:t>deffered</a:t>
            </a:r>
            <a:r>
              <a:rPr lang="en-US" b="1" dirty="0" smtClean="0"/>
              <a:t> </a:t>
            </a:r>
            <a:r>
              <a:rPr lang="en-US" dirty="0" smtClean="0"/>
              <a:t>never creates a new thread. Task is performed on calling thread during </a:t>
            </a:r>
            <a:r>
              <a:rPr lang="en-US" i="1" dirty="0" smtClean="0"/>
              <a:t>get</a:t>
            </a:r>
            <a:r>
              <a:rPr lang="en-US" dirty="0" smtClean="0"/>
              <a:t> or </a:t>
            </a:r>
            <a:r>
              <a:rPr lang="en-US" i="1" dirty="0" smtClean="0"/>
              <a:t>wait</a:t>
            </a:r>
            <a:r>
              <a:rPr lang="en-US" dirty="0" smtClean="0"/>
              <a:t> call.</a:t>
            </a:r>
          </a:p>
          <a:p>
            <a:pPr marL="914400" lvl="1" indent="-457200"/>
            <a:r>
              <a:rPr lang="en-US" dirty="0" err="1" smtClean="0"/>
              <a:t>Usefull</a:t>
            </a:r>
            <a:r>
              <a:rPr lang="en-US" dirty="0" smtClean="0"/>
              <a:t> for debugging or performance tuning.</a:t>
            </a:r>
          </a:p>
          <a:p>
            <a:pPr marL="914400" lvl="1" indent="-457200"/>
            <a:r>
              <a:rPr lang="en-US" dirty="0" smtClean="0"/>
              <a:t>Lazy evaluation.</a:t>
            </a:r>
          </a:p>
          <a:p>
            <a:pPr marL="457200" lvl="1" indent="0">
              <a:buNone/>
            </a:pPr>
            <a:r>
              <a:rPr lang="en-US" sz="2100" dirty="0" smtClean="0">
                <a:latin typeface="Courier New" pitchFamily="49" charset="0"/>
                <a:cs typeface="Courier New" pitchFamily="49" charset="0"/>
              </a:rPr>
              <a:t>auto f = </a:t>
            </a:r>
            <a:r>
              <a:rPr lang="en-US" sz="2100" dirty="0" err="1" smtClean="0">
                <a:latin typeface="Courier New" pitchFamily="49" charset="0"/>
                <a:cs typeface="Courier New" pitchFamily="49" charset="0"/>
              </a:rPr>
              <a:t>std</a:t>
            </a:r>
            <a:r>
              <a:rPr lang="en-US" sz="2100" dirty="0" smtClean="0">
                <a:latin typeface="Courier New" pitchFamily="49" charset="0"/>
                <a:cs typeface="Courier New" pitchFamily="49" charset="0"/>
              </a:rPr>
              <a:t>::</a:t>
            </a:r>
            <a:r>
              <a:rPr lang="en-US" sz="2100" dirty="0" err="1" smtClean="0">
                <a:latin typeface="Courier New" pitchFamily="49" charset="0"/>
                <a:cs typeface="Courier New" pitchFamily="49" charset="0"/>
              </a:rPr>
              <a:t>async</a:t>
            </a:r>
            <a:r>
              <a:rPr lang="en-US" sz="2100" dirty="0" smtClean="0">
                <a:latin typeface="Courier New" pitchFamily="49" charset="0"/>
                <a:cs typeface="Courier New" pitchFamily="49" charset="0"/>
              </a:rPr>
              <a:t>( </a:t>
            </a:r>
            <a:r>
              <a:rPr lang="en-US" sz="2100" dirty="0" err="1" smtClean="0">
                <a:latin typeface="Courier New" pitchFamily="49" charset="0"/>
                <a:cs typeface="Courier New" pitchFamily="49" charset="0"/>
              </a:rPr>
              <a:t>std</a:t>
            </a:r>
            <a:r>
              <a:rPr lang="en-US" sz="2100" dirty="0" smtClean="0">
                <a:latin typeface="Courier New" pitchFamily="49" charset="0"/>
                <a:cs typeface="Courier New" pitchFamily="49" charset="0"/>
              </a:rPr>
              <a:t>::launch::</a:t>
            </a:r>
            <a:r>
              <a:rPr lang="en-US" sz="2100" dirty="0" err="1" smtClean="0">
                <a:latin typeface="Courier New" pitchFamily="49" charset="0"/>
                <a:cs typeface="Courier New" pitchFamily="49" charset="0"/>
              </a:rPr>
              <a:t>deffered</a:t>
            </a:r>
            <a:r>
              <a:rPr lang="en-US" sz="2100" dirty="0" smtClean="0">
                <a:latin typeface="Courier New" pitchFamily="49" charset="0"/>
                <a:cs typeface="Courier New" pitchFamily="49" charset="0"/>
              </a:rPr>
              <a:t>, </a:t>
            </a:r>
            <a:r>
              <a:rPr lang="en-US" sz="2100" dirty="0" err="1" smtClean="0">
                <a:latin typeface="Courier New" pitchFamily="49" charset="0"/>
                <a:cs typeface="Courier New" pitchFamily="49" charset="0"/>
              </a:rPr>
              <a:t>myTask</a:t>
            </a:r>
            <a:r>
              <a:rPr lang="en-US" sz="2100" dirty="0" smtClean="0">
                <a:latin typeface="Courier New" pitchFamily="49" charset="0"/>
                <a:cs typeface="Courier New" pitchFamily="49" charset="0"/>
              </a:rPr>
              <a:t> );</a:t>
            </a:r>
          </a:p>
          <a:p>
            <a:pPr marL="457200" lvl="1" indent="0">
              <a:buNone/>
            </a:pPr>
            <a:r>
              <a:rPr lang="en-US" sz="2100" dirty="0" smtClean="0">
                <a:latin typeface="Courier New" pitchFamily="49" charset="0"/>
                <a:cs typeface="Courier New" pitchFamily="49" charset="0"/>
              </a:rPr>
              <a:t>...</a:t>
            </a:r>
          </a:p>
          <a:p>
            <a:pPr marL="457200" lvl="1" indent="0">
              <a:buNone/>
            </a:pPr>
            <a:r>
              <a:rPr lang="en-US" sz="2100" dirty="0" smtClean="0">
                <a:latin typeface="Courier New" pitchFamily="49" charset="0"/>
                <a:cs typeface="Courier New" pitchFamily="49" charset="0"/>
              </a:rPr>
              <a:t>auto result = </a:t>
            </a:r>
            <a:r>
              <a:rPr lang="en-US" sz="2100" dirty="0" err="1" smtClean="0">
                <a:latin typeface="Courier New" pitchFamily="49" charset="0"/>
                <a:cs typeface="Courier New" pitchFamily="49" charset="0"/>
              </a:rPr>
              <a:t>f.get</a:t>
            </a:r>
            <a:r>
              <a:rPr lang="en-US" sz="2100" dirty="0" smtClean="0">
                <a:latin typeface="Courier New" pitchFamily="49" charset="0"/>
                <a:cs typeface="Courier New" pitchFamily="49" charset="0"/>
              </a:rPr>
              <a:t>();</a:t>
            </a:r>
          </a:p>
          <a:p>
            <a:pPr marL="0" indent="0">
              <a:buNone/>
            </a:pPr>
            <a:r>
              <a:rPr lang="en-US" dirty="0" smtClean="0"/>
              <a:t>By default, library decides. Goals:</a:t>
            </a:r>
          </a:p>
          <a:p>
            <a:pPr lvl="1"/>
            <a:r>
              <a:rPr lang="en-US" dirty="0" smtClean="0"/>
              <a:t>Performance scaling. </a:t>
            </a:r>
            <a:r>
              <a:rPr lang="en-US" dirty="0"/>
              <a:t>C++ runtime should start new threads </a:t>
            </a:r>
            <a:r>
              <a:rPr lang="en-US" dirty="0" smtClean="0"/>
              <a:t>as </a:t>
            </a:r>
            <a:r>
              <a:rPr lang="en-US" dirty="0"/>
              <a:t>long as there are unused CPU cores</a:t>
            </a:r>
            <a:r>
              <a:rPr lang="en-US" dirty="0" smtClean="0"/>
              <a:t>.</a:t>
            </a:r>
          </a:p>
          <a:p>
            <a:pPr lvl="1"/>
            <a:r>
              <a:rPr lang="en-US" dirty="0" smtClean="0"/>
              <a:t>Eliminate </a:t>
            </a:r>
            <a:r>
              <a:rPr lang="en-US" dirty="0"/>
              <a:t>oversubscription.</a:t>
            </a: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411983778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err="1" smtClean="0"/>
              <a:t>std</a:t>
            </a:r>
            <a:r>
              <a:rPr lang="en-US" b="1" dirty="0" smtClean="0"/>
              <a:t>::future&lt;T&gt;: </a:t>
            </a:r>
            <a:r>
              <a:rPr lang="en-US" dirty="0" smtClean="0"/>
              <a:t>formerly called </a:t>
            </a:r>
            <a:r>
              <a:rPr lang="en-US" dirty="0" err="1" smtClean="0"/>
              <a:t>unique_future</a:t>
            </a:r>
            <a:r>
              <a:rPr lang="en-US" dirty="0" smtClean="0"/>
              <a:t> allows only one access to result value.</a:t>
            </a:r>
          </a:p>
          <a:p>
            <a:pPr lvl="1"/>
            <a:r>
              <a:rPr lang="en-US" dirty="0" smtClean="0"/>
              <a:t>Moveable, but not </a:t>
            </a:r>
            <a:r>
              <a:rPr lang="en-US" dirty="0" err="1" smtClean="0"/>
              <a:t>copyable</a:t>
            </a:r>
            <a:r>
              <a:rPr lang="en-US" dirty="0" smtClean="0"/>
              <a:t>.</a:t>
            </a:r>
          </a:p>
          <a:p>
            <a:pPr lvl="1"/>
            <a:r>
              <a:rPr lang="en-US" dirty="0" smtClean="0"/>
              <a:t>get() method can be called only once</a:t>
            </a:r>
          </a:p>
          <a:p>
            <a:pPr lvl="1"/>
            <a:r>
              <a:rPr lang="en-US" dirty="0" smtClean="0"/>
              <a:t>Suitable for most use cases.</a:t>
            </a:r>
          </a:p>
          <a:p>
            <a:r>
              <a:rPr lang="en-US" b="1" dirty="0" err="1" smtClean="0"/>
              <a:t>std</a:t>
            </a:r>
            <a:r>
              <a:rPr lang="en-US" b="1" dirty="0" smtClean="0"/>
              <a:t>::</a:t>
            </a:r>
            <a:r>
              <a:rPr lang="en-US" b="1" dirty="0" err="1" smtClean="0"/>
              <a:t>shared_future</a:t>
            </a:r>
            <a:r>
              <a:rPr lang="en-US" b="1" dirty="0" smtClean="0"/>
              <a:t>&lt;T&gt;: </a:t>
            </a:r>
            <a:r>
              <a:rPr lang="en-US" dirty="0" smtClean="0"/>
              <a:t>allows accessing a single result multiple times (perhaps from multiple threads).</a:t>
            </a:r>
          </a:p>
          <a:p>
            <a:pPr lvl="1"/>
            <a:r>
              <a:rPr lang="en-US" dirty="0" smtClean="0"/>
              <a:t>Moveable as well as </a:t>
            </a:r>
            <a:r>
              <a:rPr lang="en-US" dirty="0" err="1" smtClean="0"/>
              <a:t>copyable</a:t>
            </a:r>
            <a:r>
              <a:rPr lang="en-US" dirty="0" smtClean="0"/>
              <a:t>.</a:t>
            </a:r>
          </a:p>
          <a:p>
            <a:pPr lvl="1"/>
            <a:r>
              <a:rPr lang="en-US" dirty="0" smtClean="0"/>
              <a:t>Creatable from </a:t>
            </a:r>
            <a:r>
              <a:rPr lang="en-US" dirty="0" err="1" smtClean="0"/>
              <a:t>std</a:t>
            </a:r>
            <a:r>
              <a:rPr lang="en-US" dirty="0" smtClean="0"/>
              <a:t>::future (ownership is moved) by calling </a:t>
            </a:r>
            <a:r>
              <a:rPr lang="en-US" i="1" dirty="0" smtClean="0"/>
              <a:t>share</a:t>
            </a:r>
            <a:r>
              <a:rPr lang="en-US" dirty="0" smtClean="0"/>
              <a:t> method.</a:t>
            </a:r>
          </a:p>
          <a:p>
            <a:pPr lvl="1"/>
            <a:r>
              <a:rPr lang="en-US" dirty="0" smtClean="0"/>
              <a:t>Appropriate when multiple threads needs to access a single result. Then each thread keeps it’s own instance of </a:t>
            </a:r>
            <a:r>
              <a:rPr lang="en-US" dirty="0" err="1" smtClean="0"/>
              <a:t>shared_future</a:t>
            </a:r>
            <a:r>
              <a:rPr lang="en-US" dirty="0" smtClean="0"/>
              <a:t>. No additional synchronization is needed.</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7332158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std</a:t>
            </a:r>
            <a:r>
              <a:rPr lang="en-US" dirty="0" smtClean="0"/>
              <a:t>::future (unique)</a:t>
            </a: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r>
              <a:rPr lang="en-US" dirty="0">
                <a:solidFill>
                  <a:srgbClr val="0000FF"/>
                </a:solidFill>
                <a:highlight>
                  <a:srgbClr val="FFFFFF"/>
                </a:highlight>
                <a:latin typeface="Consolas"/>
              </a:rPr>
              <a:t>template</a:t>
            </a:r>
            <a:r>
              <a:rPr lang="en-US" dirty="0">
                <a:solidFill>
                  <a:srgbClr val="000000"/>
                </a:solidFill>
                <a:highlight>
                  <a:srgbClr val="FFFFFF"/>
                </a:highlight>
                <a:latin typeface="Consolas"/>
              </a:rPr>
              <a:t> &lt;</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T</a:t>
            </a:r>
            <a:r>
              <a:rPr lang="en-US" dirty="0">
                <a:solidFill>
                  <a:srgbClr val="000000"/>
                </a:solidFill>
                <a:highlight>
                  <a:srgbClr val="FFFFFF"/>
                </a:highlight>
                <a:latin typeface="Consolas"/>
              </a:rPr>
              <a:t>&gt; </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future</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future</a:t>
            </a:r>
            <a:r>
              <a:rPr lang="en-US" dirty="0">
                <a:solidFill>
                  <a:srgbClr val="000000"/>
                </a:solidFill>
                <a:highlight>
                  <a:srgbClr val="FFFFFF"/>
                </a:highlight>
                <a:latin typeface="Consolas"/>
              </a:rPr>
              <a:t>();</a:t>
            </a:r>
          </a:p>
          <a:p>
            <a:pPr marL="0" indent="0">
              <a:buNone/>
            </a:pPr>
            <a:r>
              <a:rPr lang="en-US" dirty="0" smtClean="0">
                <a:solidFill>
                  <a:srgbClr val="008000"/>
                </a:solidFill>
                <a:highlight>
                  <a:srgbClr val="FFFFFF"/>
                </a:highlight>
                <a:latin typeface="Consolas"/>
              </a:rPr>
              <a:t>   // </a:t>
            </a:r>
            <a:r>
              <a:rPr lang="en-US" dirty="0">
                <a:solidFill>
                  <a:srgbClr val="008000"/>
                </a:solidFill>
                <a:highlight>
                  <a:srgbClr val="FFFFFF"/>
                </a:highlight>
                <a:latin typeface="Consolas"/>
              </a:rPr>
              <a:t>move-able, not copy-able</a:t>
            </a:r>
            <a:endParaRPr lang="en-US" dirty="0">
              <a:solidFill>
                <a:srgbClr val="000000"/>
              </a:solidFill>
              <a:highlight>
                <a:srgbClr val="FFFFFF"/>
              </a:highlight>
              <a:latin typeface="Consolas"/>
            </a:endParaRPr>
          </a:p>
          <a:p>
            <a:pPr marL="0" indent="0">
              <a:buNone/>
            </a:pPr>
            <a:r>
              <a:rPr lang="en-US" dirty="0" smtClean="0">
                <a:solidFill>
                  <a:srgbClr val="000000"/>
                </a:solidFill>
                <a:highlight>
                  <a:srgbClr val="FFFFFF"/>
                </a:highlight>
                <a:latin typeface="Consolas"/>
              </a:rPr>
              <a:t>   future(</a:t>
            </a:r>
            <a:r>
              <a:rPr lang="en-US" dirty="0" smtClean="0">
                <a:solidFill>
                  <a:srgbClr val="2B91AF"/>
                </a:solidFill>
                <a:highlight>
                  <a:srgbClr val="FFFFFF"/>
                </a:highlight>
                <a:latin typeface="Consolas"/>
              </a:rPr>
              <a:t>future</a:t>
            </a:r>
            <a:r>
              <a:rPr lang="en-US" dirty="0">
                <a:solidFill>
                  <a:srgbClr val="000000"/>
                </a:solidFill>
                <a:highlight>
                  <a:srgbClr val="FFFFFF"/>
                </a:highlight>
                <a:latin typeface="Consolas"/>
              </a:rPr>
              <a:t>&amp;&amp;);</a:t>
            </a:r>
          </a:p>
          <a:p>
            <a:pPr marL="0" indent="0">
              <a:buNone/>
            </a:pPr>
            <a:r>
              <a:rPr lang="en-US" dirty="0" smtClean="0">
                <a:solidFill>
                  <a:srgbClr val="000000"/>
                </a:solidFill>
                <a:highlight>
                  <a:srgbClr val="FFFFFF"/>
                </a:highlight>
                <a:latin typeface="Consolas"/>
              </a:rPr>
              <a:t>   future(</a:t>
            </a:r>
            <a:r>
              <a:rPr lang="en-US" dirty="0" err="1" smtClean="0">
                <a:solidFill>
                  <a:srgbClr val="0000FF"/>
                </a:solidFill>
                <a:highlight>
                  <a:srgbClr val="FFFFFF"/>
                </a:highlight>
                <a:latin typeface="Consolas"/>
              </a:rPr>
              <a:t>const</a:t>
            </a:r>
            <a:r>
              <a:rPr lang="en-US" dirty="0" smtClean="0">
                <a:solidFill>
                  <a:srgbClr val="000000"/>
                </a:solidFill>
                <a:highlight>
                  <a:srgbClr val="FFFFFF"/>
                </a:highlight>
                <a:latin typeface="Consolas"/>
              </a:rPr>
              <a:t> </a:t>
            </a:r>
            <a:r>
              <a:rPr lang="en-US" dirty="0">
                <a:solidFill>
                  <a:srgbClr val="2B91AF"/>
                </a:solidFill>
                <a:highlight>
                  <a:srgbClr val="FFFFFF"/>
                </a:highlight>
                <a:latin typeface="Consolas"/>
              </a:rPr>
              <a:t>future</a:t>
            </a:r>
            <a:r>
              <a:rPr lang="en-US" dirty="0">
                <a:solidFill>
                  <a:srgbClr val="000000"/>
                </a:solidFill>
                <a:highlight>
                  <a:srgbClr val="FFFFFF"/>
                </a:highlight>
                <a:latin typeface="Consolas"/>
              </a:rPr>
              <a:t>&amp;) = </a:t>
            </a:r>
            <a:r>
              <a:rPr lang="en-US" dirty="0">
                <a:solidFill>
                  <a:srgbClr val="0000FF"/>
                </a:solidFill>
                <a:highlight>
                  <a:srgbClr val="FFFFFF"/>
                </a:highlight>
                <a:latin typeface="Consolas"/>
              </a:rPr>
              <a:t>delete</a:t>
            </a: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smtClean="0">
                <a:solidFill>
                  <a:srgbClr val="2B91AF"/>
                </a:solidFill>
                <a:highlight>
                  <a:srgbClr val="FFFFFF"/>
                </a:highlight>
                <a:latin typeface="Consolas"/>
              </a:rPr>
              <a:t>   T</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get();</a:t>
            </a: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shared_future</a:t>
            </a:r>
            <a:r>
              <a:rPr lang="en-US" dirty="0" smtClean="0">
                <a:solidFill>
                  <a:srgbClr val="000000"/>
                </a:solidFill>
                <a:highlight>
                  <a:srgbClr val="FFFFFF"/>
                </a:highlight>
                <a:latin typeface="Consolas"/>
              </a:rPr>
              <a:t>&lt;</a:t>
            </a:r>
            <a:r>
              <a:rPr lang="en-US" dirty="0" smtClean="0">
                <a:solidFill>
                  <a:srgbClr val="2B91AF"/>
                </a:solidFill>
                <a:highlight>
                  <a:srgbClr val="FFFFFF"/>
                </a:highlight>
                <a:latin typeface="Consolas"/>
              </a:rPr>
              <a:t>T</a:t>
            </a:r>
            <a:r>
              <a:rPr lang="en-US" dirty="0">
                <a:solidFill>
                  <a:srgbClr val="000000"/>
                </a:solidFill>
                <a:highlight>
                  <a:srgbClr val="FFFFFF"/>
                </a:highlight>
                <a:latin typeface="Consolas"/>
              </a:rPr>
              <a:t>&gt; share();</a:t>
            </a:r>
          </a:p>
          <a:p>
            <a:pPr marL="0" indent="0">
              <a:buNone/>
            </a:pPr>
            <a:r>
              <a:rPr lang="en-US" dirty="0" smtClean="0">
                <a:solidFill>
                  <a:srgbClr val="0000FF"/>
                </a:solidFill>
                <a:highlight>
                  <a:srgbClr val="FFFFFF"/>
                </a:highlight>
                <a:latin typeface="Consolas"/>
              </a:rPr>
              <a:t>   </a:t>
            </a:r>
            <a:r>
              <a:rPr lang="en-US" dirty="0" err="1" smtClean="0">
                <a:solidFill>
                  <a:srgbClr val="0000FF"/>
                </a:solidFill>
                <a:highlight>
                  <a:srgbClr val="FFFFFF"/>
                </a:highlight>
                <a:latin typeface="Consolas"/>
              </a:rPr>
              <a:t>bool</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valid()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   void</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wait()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t>
            </a: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future_status</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wait_for</a:t>
            </a:r>
            <a:r>
              <a:rPr lang="en-US" dirty="0">
                <a:solidFill>
                  <a:srgbClr val="000000"/>
                </a:solidFill>
                <a:highlight>
                  <a:srgbClr val="FFFFFF"/>
                </a:highlight>
                <a:latin typeface="Consolas"/>
              </a:rPr>
              <a:t>(duration)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t>
            </a: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future_status</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wait_until</a:t>
            </a:r>
            <a:r>
              <a:rPr lang="en-US" dirty="0">
                <a:solidFill>
                  <a:srgbClr val="000000"/>
                </a:solidFill>
                <a:highlight>
                  <a:srgbClr val="FFFFFF"/>
                </a:highlight>
                <a:latin typeface="Consolas"/>
              </a:rPr>
              <a:t>(time)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2005102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std</a:t>
            </a:r>
            <a:r>
              <a:rPr lang="en-US" dirty="0" smtClean="0"/>
              <a:t>::</a:t>
            </a:r>
            <a:r>
              <a:rPr lang="en-US" dirty="0" err="1" smtClean="0"/>
              <a:t>shared_future</a:t>
            </a: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r>
              <a:rPr lang="en-US" dirty="0">
                <a:solidFill>
                  <a:srgbClr val="0000FF"/>
                </a:solidFill>
                <a:highlight>
                  <a:srgbClr val="FFFFFF"/>
                </a:highlight>
                <a:latin typeface="Consolas"/>
              </a:rPr>
              <a:t>template</a:t>
            </a:r>
            <a:r>
              <a:rPr lang="en-US" dirty="0">
                <a:solidFill>
                  <a:srgbClr val="000000"/>
                </a:solidFill>
                <a:highlight>
                  <a:srgbClr val="FFFFFF"/>
                </a:highlight>
                <a:latin typeface="Consolas"/>
              </a:rPr>
              <a:t> &lt;</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T</a:t>
            </a:r>
            <a:r>
              <a:rPr lang="en-US" dirty="0">
                <a:solidFill>
                  <a:srgbClr val="000000"/>
                </a:solidFill>
                <a:highlight>
                  <a:srgbClr val="FFFFFF"/>
                </a:highlight>
                <a:latin typeface="Consolas"/>
              </a:rPr>
              <a:t>&gt; </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sz="3300" b="1" dirty="0" err="1">
                <a:solidFill>
                  <a:srgbClr val="2B91AF"/>
                </a:solidFill>
                <a:highlight>
                  <a:srgbClr val="FFFFFF"/>
                </a:highlight>
                <a:latin typeface="Consolas"/>
              </a:rPr>
              <a:t>shared_</a:t>
            </a:r>
            <a:r>
              <a:rPr lang="en-US" dirty="0" err="1" smtClean="0">
                <a:solidFill>
                  <a:srgbClr val="2B91AF"/>
                </a:solidFill>
                <a:highlight>
                  <a:srgbClr val="FFFFFF"/>
                </a:highlight>
                <a:latin typeface="Consolas"/>
              </a:rPr>
              <a:t>future</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shared_future</a:t>
            </a:r>
            <a:r>
              <a:rPr lang="en-US" dirty="0">
                <a:solidFill>
                  <a:srgbClr val="000000"/>
                </a:solidFill>
                <a:highlight>
                  <a:srgbClr val="FFFFFF"/>
                </a:highlight>
                <a:latin typeface="Consolas"/>
              </a:rPr>
              <a:t>();</a:t>
            </a:r>
          </a:p>
          <a:p>
            <a:pPr marL="0" indent="0">
              <a:buNone/>
            </a:pPr>
            <a:r>
              <a:rPr lang="en-US" dirty="0">
                <a:solidFill>
                  <a:srgbClr val="008000"/>
                </a:solidFill>
                <a:highlight>
                  <a:srgbClr val="FFFFFF"/>
                </a:highlight>
                <a:latin typeface="Consolas"/>
              </a:rPr>
              <a:t>   // </a:t>
            </a:r>
            <a:r>
              <a:rPr lang="en-US" dirty="0" smtClean="0">
                <a:solidFill>
                  <a:srgbClr val="008000"/>
                </a:solidFill>
                <a:highlight>
                  <a:srgbClr val="FFFFFF"/>
                </a:highlight>
                <a:latin typeface="Consolas"/>
              </a:rPr>
              <a:t>move-able and </a:t>
            </a:r>
            <a:r>
              <a:rPr lang="en-US" b="1" dirty="0" smtClean="0">
                <a:solidFill>
                  <a:srgbClr val="008000"/>
                </a:solidFill>
                <a:highlight>
                  <a:srgbClr val="FFFFFF"/>
                </a:highlight>
                <a:latin typeface="Consolas"/>
              </a:rPr>
              <a:t>copy-able</a:t>
            </a:r>
            <a:endParaRPr lang="en-US" b="1"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shared_future</a:t>
            </a:r>
            <a:r>
              <a:rPr lang="en-US" dirty="0" smtClean="0">
                <a:solidFill>
                  <a:srgbClr val="000000"/>
                </a:solidFill>
                <a:highlight>
                  <a:srgbClr val="FFFFFF"/>
                </a:highlight>
                <a:latin typeface="Consolas"/>
              </a:rPr>
              <a:t>(</a:t>
            </a:r>
            <a:r>
              <a:rPr lang="en-US" dirty="0" err="1" smtClean="0">
                <a:solidFill>
                  <a:srgbClr val="2B91AF"/>
                </a:solidFill>
                <a:highlight>
                  <a:srgbClr val="FFFFFF"/>
                </a:highlight>
                <a:latin typeface="Consolas"/>
              </a:rPr>
              <a:t>shared_future</a:t>
            </a:r>
            <a:r>
              <a:rPr lang="en-US" dirty="0">
                <a:solidFill>
                  <a:srgbClr val="000000"/>
                </a:solidFill>
                <a:highlight>
                  <a:srgbClr val="FFFFFF"/>
                </a:highlight>
                <a:latin typeface="Consolas"/>
              </a:rPr>
              <a:t>&amp;&amp;);</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shared_</a:t>
            </a:r>
            <a:r>
              <a:rPr lang="en-US" dirty="0" err="1" smtClean="0">
                <a:solidFill>
                  <a:srgbClr val="000000"/>
                </a:solidFill>
                <a:highlight>
                  <a:srgbClr val="FFFFFF"/>
                </a:highlight>
                <a:latin typeface="Consolas"/>
              </a:rPr>
              <a:t>future</a:t>
            </a:r>
            <a:r>
              <a:rPr lang="en-US" dirty="0" smtClean="0">
                <a:solidFill>
                  <a:srgbClr val="000000"/>
                </a:solidFill>
                <a:highlight>
                  <a:srgbClr val="FFFFFF"/>
                </a:highlight>
                <a:latin typeface="Consolas"/>
              </a:rPr>
              <a:t>(</a:t>
            </a:r>
            <a:r>
              <a:rPr lang="en-US" dirty="0" err="1" smtClean="0">
                <a:solidFill>
                  <a:srgbClr val="0000FF"/>
                </a:solidFill>
                <a:highlight>
                  <a:srgbClr val="FFFFFF"/>
                </a:highlight>
                <a:latin typeface="Consolas"/>
              </a:rPr>
              <a:t>const</a:t>
            </a:r>
            <a:r>
              <a:rPr lang="en-US" dirty="0" smtClean="0">
                <a:solidFill>
                  <a:srgbClr val="000000"/>
                </a:solidFill>
                <a:highlight>
                  <a:srgbClr val="FFFFFF"/>
                </a:highlight>
                <a:latin typeface="Consolas"/>
              </a:rPr>
              <a:t> </a:t>
            </a:r>
            <a:r>
              <a:rPr lang="en-US" dirty="0" err="1" smtClean="0">
                <a:solidFill>
                  <a:srgbClr val="2B91AF"/>
                </a:solidFill>
                <a:highlight>
                  <a:srgbClr val="FFFFFF"/>
                </a:highlight>
                <a:latin typeface="Consolas"/>
              </a:rPr>
              <a:t>shared_future</a:t>
            </a:r>
            <a:r>
              <a:rPr lang="en-US" dirty="0" smtClean="0">
                <a:solidFill>
                  <a:srgbClr val="000000"/>
                </a:solidFill>
                <a:highlight>
                  <a:srgbClr val="FFFFFF"/>
                </a:highlight>
                <a:latin typeface="Consolas"/>
              </a:rPr>
              <a:t>&amp;);</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shared_future</a:t>
            </a:r>
            <a:r>
              <a:rPr lang="en-US" dirty="0" smtClean="0">
                <a:solidFill>
                  <a:srgbClr val="000000"/>
                </a:solidFill>
                <a:highlight>
                  <a:srgbClr val="FFFFFF"/>
                </a:highlight>
                <a:latin typeface="Consolas"/>
              </a:rPr>
              <a:t>(</a:t>
            </a:r>
            <a:r>
              <a:rPr lang="en-US" dirty="0" smtClean="0">
                <a:solidFill>
                  <a:srgbClr val="2B91AF"/>
                </a:solidFill>
                <a:highlight>
                  <a:srgbClr val="FFFFFF"/>
                </a:highlight>
                <a:latin typeface="Consolas"/>
              </a:rPr>
              <a:t>future</a:t>
            </a:r>
            <a:r>
              <a:rPr lang="en-US" dirty="0" smtClean="0">
                <a:solidFill>
                  <a:srgbClr val="000000"/>
                </a:solidFill>
                <a:highlight>
                  <a:srgbClr val="FFFFFF"/>
                </a:highlight>
                <a:latin typeface="Consolas"/>
              </a:rPr>
              <a:t>&amp;&amp;);</a:t>
            </a:r>
          </a:p>
          <a:p>
            <a:pPr marL="0" indent="0">
              <a:buNone/>
            </a:pPr>
            <a:endParaRPr lang="en-US" dirty="0">
              <a:solidFill>
                <a:srgbClr val="000000"/>
              </a:solidFill>
              <a:highlight>
                <a:srgbClr val="FFFFFF"/>
              </a:highlight>
              <a:latin typeface="Consolas"/>
            </a:endParaRPr>
          </a:p>
          <a:p>
            <a:pPr marL="0" indent="0">
              <a:buNone/>
            </a:pPr>
            <a:r>
              <a:rPr lang="en-US" dirty="0" smtClean="0">
                <a:solidFill>
                  <a:srgbClr val="2B91AF"/>
                </a:solidFill>
                <a:highlight>
                  <a:srgbClr val="FFFFFF"/>
                </a:highlight>
                <a:latin typeface="Consolas"/>
              </a:rPr>
              <a:t>   </a:t>
            </a:r>
            <a:r>
              <a:rPr lang="en-US" b="1" dirty="0" err="1" smtClean="0">
                <a:solidFill>
                  <a:srgbClr val="2B91AF"/>
                </a:solidFill>
                <a:highlight>
                  <a:srgbClr val="FFFFFF"/>
                </a:highlight>
                <a:latin typeface="Consolas"/>
              </a:rPr>
              <a:t>const</a:t>
            </a:r>
            <a:r>
              <a:rPr lang="en-US" b="1" dirty="0" smtClean="0">
                <a:solidFill>
                  <a:srgbClr val="2B91AF"/>
                </a:solidFill>
                <a:highlight>
                  <a:srgbClr val="FFFFFF"/>
                </a:highlight>
                <a:latin typeface="Consolas"/>
              </a:rPr>
              <a:t> T&amp;</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get();</a:t>
            </a:r>
          </a:p>
          <a:p>
            <a:pPr marL="0" indent="0">
              <a:buNone/>
            </a:pPr>
            <a:r>
              <a:rPr lang="en-US" dirty="0" smtClean="0">
                <a:solidFill>
                  <a:srgbClr val="0000FF"/>
                </a:solidFill>
                <a:highlight>
                  <a:srgbClr val="FFFFFF"/>
                </a:highlight>
                <a:latin typeface="Consolas"/>
              </a:rPr>
              <a:t>   </a:t>
            </a:r>
            <a:r>
              <a:rPr lang="en-US" dirty="0" err="1" smtClean="0">
                <a:solidFill>
                  <a:srgbClr val="0000FF"/>
                </a:solidFill>
                <a:highlight>
                  <a:srgbClr val="FFFFFF"/>
                </a:highlight>
                <a:latin typeface="Consolas"/>
              </a:rPr>
              <a:t>bool</a:t>
            </a:r>
            <a:r>
              <a:rPr lang="en-US" dirty="0" smtClean="0">
                <a:solidFill>
                  <a:srgbClr val="000000"/>
                </a:solidFill>
                <a:highlight>
                  <a:srgbClr val="FFFFFF"/>
                </a:highlight>
                <a:latin typeface="Consolas"/>
              </a:rPr>
              <a:t> valid() </a:t>
            </a:r>
            <a:r>
              <a:rPr lang="en-US" dirty="0" err="1" smtClean="0">
                <a:solidFill>
                  <a:srgbClr val="0000FF"/>
                </a:solidFill>
                <a:highlight>
                  <a:srgbClr val="FFFFFF"/>
                </a:highlight>
                <a:latin typeface="Consolas"/>
              </a:rPr>
              <a:t>const</a:t>
            </a:r>
            <a:r>
              <a:rPr lang="en-US" dirty="0" smtClean="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wait()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t>
            </a:r>
          </a:p>
          <a:p>
            <a:pPr marL="0" indent="0">
              <a:buNone/>
            </a:pPr>
            <a:r>
              <a:rPr lang="en-US" dirty="0">
                <a:solidFill>
                  <a:srgbClr val="2B91AF"/>
                </a:solidFill>
                <a:highlight>
                  <a:srgbClr val="FFFFFF"/>
                </a:highlight>
                <a:latin typeface="Consolas"/>
              </a:rPr>
              <a:t>   </a:t>
            </a:r>
            <a:r>
              <a:rPr lang="en-US" dirty="0" err="1">
                <a:solidFill>
                  <a:srgbClr val="2B91AF"/>
                </a:solidFill>
                <a:highlight>
                  <a:srgbClr val="FFFFFF"/>
                </a:highlight>
                <a:latin typeface="Consolas"/>
              </a:rPr>
              <a:t>future_status</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wait_for</a:t>
            </a:r>
            <a:r>
              <a:rPr lang="en-US" dirty="0">
                <a:solidFill>
                  <a:srgbClr val="000000"/>
                </a:solidFill>
                <a:highlight>
                  <a:srgbClr val="FFFFFF"/>
                </a:highlight>
                <a:latin typeface="Consolas"/>
              </a:rPr>
              <a:t>(duration)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t>
            </a:r>
          </a:p>
          <a:p>
            <a:pPr marL="0" indent="0">
              <a:buNone/>
            </a:pPr>
            <a:r>
              <a:rPr lang="en-US" dirty="0">
                <a:solidFill>
                  <a:srgbClr val="2B91AF"/>
                </a:solidFill>
                <a:highlight>
                  <a:srgbClr val="FFFFFF"/>
                </a:highlight>
                <a:latin typeface="Consolas"/>
              </a:rPr>
              <a:t>   </a:t>
            </a:r>
            <a:r>
              <a:rPr lang="en-US" dirty="0" err="1">
                <a:solidFill>
                  <a:srgbClr val="2B91AF"/>
                </a:solidFill>
                <a:highlight>
                  <a:srgbClr val="FFFFFF"/>
                </a:highlight>
                <a:latin typeface="Consolas"/>
              </a:rPr>
              <a:t>future_status</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wait_until</a:t>
            </a:r>
            <a:r>
              <a:rPr lang="en-US" dirty="0">
                <a:solidFill>
                  <a:srgbClr val="000000"/>
                </a:solidFill>
                <a:highlight>
                  <a:srgbClr val="FFFFFF"/>
                </a:highlight>
                <a:latin typeface="Consolas"/>
              </a:rPr>
              <a:t>(time)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endParaRPr lang="en-US" dirty="0"/>
          </a:p>
          <a:p>
            <a:pPr marL="0" indent="0">
              <a:buNone/>
            </a:pP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417635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future::get</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Retrieves result of asynchronous operation.</a:t>
            </a:r>
          </a:p>
          <a:p>
            <a:r>
              <a:rPr lang="en-US" dirty="0" smtClean="0"/>
              <a:t>It blocks until a return value is available.</a:t>
            </a:r>
          </a:p>
          <a:p>
            <a:r>
              <a:rPr lang="en-US" dirty="0"/>
              <a:t>Operation result may be an exception.</a:t>
            </a:r>
          </a:p>
          <a:p>
            <a:r>
              <a:rPr lang="en-US" dirty="0" smtClean="0"/>
              <a:t>future&lt;T&gt; returns result by value, copying or moving if possible.</a:t>
            </a:r>
          </a:p>
          <a:p>
            <a:r>
              <a:rPr lang="en-US" dirty="0" err="1" smtClean="0"/>
              <a:t>shared_future</a:t>
            </a:r>
            <a:r>
              <a:rPr lang="en-US" dirty="0" smtClean="0"/>
              <a:t>&lt;T&gt; returns a reference to return value.</a:t>
            </a:r>
          </a:p>
          <a:p>
            <a:r>
              <a:rPr lang="en-US" dirty="0" smtClean="0"/>
              <a:t>Calling get on future multiple times has undefined </a:t>
            </a:r>
            <a:r>
              <a:rPr lang="en-US" dirty="0" err="1" smtClean="0"/>
              <a:t>behaviour</a:t>
            </a:r>
            <a:r>
              <a:rPr lang="en-US" dirty="0" smtClean="0"/>
              <a:t>.</a:t>
            </a:r>
          </a:p>
          <a:p>
            <a:r>
              <a:rPr lang="en-US" dirty="0" smtClean="0"/>
              <a:t>Calling get on </a:t>
            </a:r>
            <a:r>
              <a:rPr lang="en-US" dirty="0" err="1" smtClean="0"/>
              <a:t>shared_future</a:t>
            </a:r>
            <a:r>
              <a:rPr lang="en-US" dirty="0" smtClean="0"/>
              <a:t> multiple times provide always the same result.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15967373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Waiting for a future</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latin typeface="Courier New" pitchFamily="49" charset="0"/>
                <a:cs typeface="Courier New" pitchFamily="49" charset="0"/>
              </a:rPr>
              <a:t>wait()</a:t>
            </a:r>
          </a:p>
          <a:p>
            <a:pPr marL="0" indent="0">
              <a:buNone/>
            </a:pPr>
            <a:r>
              <a:rPr lang="en-US" dirty="0" err="1" smtClean="0">
                <a:latin typeface="Courier New" pitchFamily="49" charset="0"/>
                <a:cs typeface="Courier New" pitchFamily="49" charset="0"/>
              </a:rPr>
              <a:t>wait_for</a:t>
            </a:r>
            <a:r>
              <a:rPr lang="en-US" dirty="0" smtClean="0">
                <a:latin typeface="Courier New" pitchFamily="49" charset="0"/>
                <a:cs typeface="Courier New" pitchFamily="49" charset="0"/>
              </a:rPr>
              <a:t>( duration )</a:t>
            </a:r>
          </a:p>
          <a:p>
            <a:pPr marL="0" indent="0">
              <a:buNone/>
            </a:pPr>
            <a:r>
              <a:rPr lang="en-US" dirty="0" err="1" smtClean="0">
                <a:latin typeface="Courier New" pitchFamily="49" charset="0"/>
                <a:cs typeface="Courier New" pitchFamily="49" charset="0"/>
              </a:rPr>
              <a:t>wait_until</a:t>
            </a: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time_point</a:t>
            </a:r>
            <a:r>
              <a:rPr lang="en-US" dirty="0" smtClean="0">
                <a:latin typeface="Courier New" pitchFamily="49" charset="0"/>
                <a:cs typeface="Courier New" pitchFamily="49" charset="0"/>
              </a:rPr>
              <a:t> )</a:t>
            </a:r>
          </a:p>
          <a:p>
            <a:pPr marL="0" indent="0">
              <a:buNone/>
            </a:pPr>
            <a:endParaRPr lang="en-US" dirty="0" smtClean="0"/>
          </a:p>
          <a:p>
            <a:r>
              <a:rPr lang="en-US" dirty="0" smtClean="0"/>
              <a:t>Blocks until a future result is available or a timeout expires.</a:t>
            </a:r>
          </a:p>
          <a:p>
            <a:r>
              <a:rPr lang="en-US" dirty="0" smtClean="0">
                <a:latin typeface="Courier New" pitchFamily="49" charset="0"/>
                <a:cs typeface="Courier New" pitchFamily="49" charset="0"/>
              </a:rPr>
              <a:t>wait</a:t>
            </a:r>
            <a:r>
              <a:rPr lang="en-US" dirty="0" smtClean="0"/>
              <a:t> does not throw, only </a:t>
            </a:r>
            <a:r>
              <a:rPr lang="en-US" dirty="0" smtClean="0">
                <a:latin typeface="Courier New" pitchFamily="49" charset="0"/>
                <a:cs typeface="Courier New" pitchFamily="49" charset="0"/>
              </a:rPr>
              <a:t>get</a:t>
            </a:r>
            <a:r>
              <a:rPr lang="en-US" dirty="0" smtClean="0"/>
              <a:t> does.</a:t>
            </a:r>
          </a:p>
          <a:p>
            <a:r>
              <a:rPr lang="en-US" dirty="0" smtClean="0"/>
              <a:t>Most </a:t>
            </a:r>
            <a:r>
              <a:rPr lang="en-US" dirty="0"/>
              <a:t>useful when </a:t>
            </a:r>
            <a:r>
              <a:rPr lang="en-US" dirty="0" err="1">
                <a:latin typeface="Courier New" pitchFamily="49" charset="0"/>
                <a:cs typeface="Courier New" pitchFamily="49" charset="0"/>
              </a:rPr>
              <a:t>std</a:t>
            </a:r>
            <a:r>
              <a:rPr lang="en-US" dirty="0">
                <a:latin typeface="Courier New" pitchFamily="49" charset="0"/>
                <a:cs typeface="Courier New" pitchFamily="49" charset="0"/>
              </a:rPr>
              <a:t>::launch::</a:t>
            </a:r>
            <a:r>
              <a:rPr lang="en-US" dirty="0" err="1">
                <a:latin typeface="Courier New" pitchFamily="49" charset="0"/>
                <a:cs typeface="Courier New" pitchFamily="49" charset="0"/>
              </a:rPr>
              <a:t>async</a:t>
            </a:r>
            <a:r>
              <a:rPr lang="en-US" dirty="0">
                <a:latin typeface="Courier New" pitchFamily="49" charset="0"/>
                <a:cs typeface="Courier New" pitchFamily="49" charset="0"/>
              </a:rPr>
              <a:t> </a:t>
            </a:r>
            <a:r>
              <a:rPr lang="en-US" dirty="0"/>
              <a:t>specified</a:t>
            </a:r>
            <a:r>
              <a:rPr lang="en-US" dirty="0" smtClean="0"/>
              <a:t>. On </a:t>
            </a:r>
            <a:r>
              <a:rPr lang="en-US" dirty="0" err="1" smtClean="0"/>
              <a:t>deffered</a:t>
            </a:r>
            <a:r>
              <a:rPr lang="en-US" dirty="0" smtClean="0"/>
              <a:t> tasks timeout never expires.</a:t>
            </a:r>
          </a:p>
          <a:p>
            <a:r>
              <a:rPr lang="en-US" dirty="0" smtClean="0"/>
              <a:t>Waits for a single future only, there is no alternative like </a:t>
            </a:r>
            <a:r>
              <a:rPr lang="en-US" dirty="0" err="1" smtClean="0">
                <a:latin typeface="Courier New" pitchFamily="49" charset="0"/>
                <a:cs typeface="Courier New" pitchFamily="49" charset="0"/>
              </a:rPr>
              <a:t>WaitForMultipleObjects</a:t>
            </a:r>
            <a:r>
              <a:rPr lang="en-US" dirty="0" smtClean="0"/>
              <a: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31117960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Wait sample</a:t>
            </a:r>
            <a:endParaRPr lang="en-US" dirty="0"/>
          </a:p>
        </p:txBody>
      </p:sp>
      <p:sp>
        <p:nvSpPr>
          <p:cNvPr id="4" name="Content Placeholder 3"/>
          <p:cNvSpPr>
            <a:spLocks noGrp="1"/>
          </p:cNvSpPr>
          <p:nvPr>
            <p:ph sz="half" idx="1"/>
          </p:nvPr>
        </p:nvSpPr>
        <p:spPr>
          <a:xfrm>
            <a:off x="457200" y="1600200"/>
            <a:ext cx="7924800" cy="4525963"/>
          </a:xfrm>
        </p:spPr>
        <p:txBody>
          <a:bodyPr>
            <a:normAutofit lnSpcReduction="10000"/>
          </a:bodyPr>
          <a:lstStyle/>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&lt;</a:t>
            </a:r>
            <a:r>
              <a:rPr lang="en-US" dirty="0" err="1">
                <a:solidFill>
                  <a:srgbClr val="A31515"/>
                </a:solidFill>
                <a:highlight>
                  <a:srgbClr val="FFFFFF"/>
                </a:highlight>
                <a:latin typeface="Consolas"/>
              </a:rPr>
              <a:t>iostream</a:t>
            </a:r>
            <a:r>
              <a:rPr lang="en-US" dirty="0">
                <a:solidFill>
                  <a:srgbClr val="A31515"/>
                </a:solidFill>
                <a:highlight>
                  <a:srgbClr val="FFFFFF"/>
                </a:highlight>
                <a:latin typeface="Consolas"/>
              </a:rPr>
              <a:t>&gt;</a:t>
            </a: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&lt;future&gt;</a:t>
            </a:r>
            <a:endParaRPr lang="en-US" dirty="0">
              <a:solidFill>
                <a:srgbClr val="000000"/>
              </a:solidFill>
              <a:highlight>
                <a:srgbClr val="FFFFFF"/>
              </a:highlight>
              <a:latin typeface="Consolas"/>
            </a:endParaRP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double</a:t>
            </a:r>
            <a:r>
              <a:rPr lang="en-US" dirty="0">
                <a:solidFill>
                  <a:srgbClr val="000000"/>
                </a:solidFill>
                <a:highlight>
                  <a:srgbClr val="FFFFFF"/>
                </a:highlight>
                <a:latin typeface="Consolas"/>
              </a:rPr>
              <a:t> fib( </a:t>
            </a:r>
            <a:r>
              <a:rPr lang="en-US" dirty="0">
                <a:solidFill>
                  <a:srgbClr val="0000FF"/>
                </a:solidFill>
                <a:highlight>
                  <a:srgbClr val="FFFFFF"/>
                </a:highlight>
                <a:latin typeface="Consolas"/>
              </a:rPr>
              <a:t>unsigned</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n</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p>
          <a:p>
            <a:pPr marL="0" indent="0">
              <a:buNone/>
            </a:pPr>
            <a:r>
              <a:rPr lang="pt-BR" dirty="0">
                <a:solidFill>
                  <a:srgbClr val="000000"/>
                </a:solidFill>
                <a:highlight>
                  <a:srgbClr val="FFFFFF"/>
                </a:highlight>
                <a:latin typeface="Consolas"/>
              </a:rPr>
              <a:t>   </a:t>
            </a:r>
            <a:r>
              <a:rPr lang="pt-BR" dirty="0">
                <a:solidFill>
                  <a:srgbClr val="0000FF"/>
                </a:solidFill>
                <a:highlight>
                  <a:srgbClr val="FFFFFF"/>
                </a:highlight>
                <a:latin typeface="Consolas"/>
              </a:rPr>
              <a:t>return</a:t>
            </a:r>
            <a:r>
              <a:rPr lang="pt-BR" dirty="0">
                <a:solidFill>
                  <a:srgbClr val="000000"/>
                </a:solidFill>
                <a:highlight>
                  <a:srgbClr val="FFFFFF"/>
                </a:highlight>
                <a:latin typeface="Consolas"/>
              </a:rPr>
              <a:t> </a:t>
            </a:r>
            <a:r>
              <a:rPr lang="pt-BR" dirty="0">
                <a:solidFill>
                  <a:srgbClr val="808080"/>
                </a:solidFill>
                <a:highlight>
                  <a:srgbClr val="FFFFFF"/>
                </a:highlight>
                <a:latin typeface="Consolas"/>
              </a:rPr>
              <a:t>n</a:t>
            </a:r>
            <a:r>
              <a:rPr lang="pt-BR" dirty="0">
                <a:solidFill>
                  <a:srgbClr val="000000"/>
                </a:solidFill>
                <a:highlight>
                  <a:srgbClr val="FFFFFF"/>
                </a:highlight>
                <a:latin typeface="Consolas"/>
              </a:rPr>
              <a:t> &lt; 2 ? </a:t>
            </a:r>
            <a:r>
              <a:rPr lang="pt-BR" dirty="0">
                <a:solidFill>
                  <a:srgbClr val="808080"/>
                </a:solidFill>
                <a:highlight>
                  <a:srgbClr val="FFFFFF"/>
                </a:highlight>
                <a:latin typeface="Consolas"/>
              </a:rPr>
              <a:t>n</a:t>
            </a:r>
            <a:r>
              <a:rPr lang="pt-BR" dirty="0">
                <a:solidFill>
                  <a:srgbClr val="000000"/>
                </a:solidFill>
                <a:highlight>
                  <a:srgbClr val="FFFFFF"/>
                </a:highlight>
                <a:latin typeface="Consolas"/>
              </a:rPr>
              <a:t> : fib(</a:t>
            </a:r>
            <a:r>
              <a:rPr lang="pt-BR" dirty="0">
                <a:solidFill>
                  <a:srgbClr val="808080"/>
                </a:solidFill>
                <a:highlight>
                  <a:srgbClr val="FFFFFF"/>
                </a:highlight>
                <a:latin typeface="Consolas"/>
              </a:rPr>
              <a:t>n</a:t>
            </a:r>
            <a:r>
              <a:rPr lang="pt-BR" dirty="0">
                <a:solidFill>
                  <a:srgbClr val="000000"/>
                </a:solidFill>
                <a:highlight>
                  <a:srgbClr val="FFFFFF"/>
                </a:highlight>
                <a:latin typeface="Consolas"/>
              </a:rPr>
              <a:t>-1) + fib(</a:t>
            </a:r>
            <a:r>
              <a:rPr lang="pt-BR" dirty="0">
                <a:solidFill>
                  <a:srgbClr val="808080"/>
                </a:solidFill>
                <a:highlight>
                  <a:srgbClr val="FFFFFF"/>
                </a:highlight>
                <a:latin typeface="Consolas"/>
              </a:rPr>
              <a:t>n</a:t>
            </a:r>
            <a:r>
              <a:rPr lang="pt-BR" dirty="0">
                <a:solidFill>
                  <a:srgbClr val="000000"/>
                </a:solidFill>
                <a:highlight>
                  <a:srgbClr val="FFFFFF"/>
                </a:highlight>
                <a:latin typeface="Consolas"/>
              </a:rPr>
              <a:t>-2);</a:t>
            </a:r>
          </a:p>
          <a:p>
            <a:pPr marL="0" indent="0">
              <a:buNone/>
            </a:pP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future_wait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f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async</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::launch::</a:t>
            </a:r>
            <a:r>
              <a:rPr lang="en-US" dirty="0" err="1">
                <a:solidFill>
                  <a:srgbClr val="2F4F4F"/>
                </a:solidFill>
                <a:highlight>
                  <a:srgbClr val="FFFFFF"/>
                </a:highlight>
                <a:latin typeface="Consolas"/>
              </a:rPr>
              <a:t>async</a:t>
            </a:r>
            <a:r>
              <a:rPr lang="en-US" dirty="0">
                <a:solidFill>
                  <a:srgbClr val="000000"/>
                </a:solidFill>
                <a:highlight>
                  <a:srgbClr val="FFFFFF"/>
                </a:highlight>
                <a:latin typeface="Consolas"/>
              </a:rPr>
              <a:t>, &amp;fib, 40 );</a:t>
            </a: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show progress while computing</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while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f.wait_for</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chrono</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seconds</a:t>
            </a:r>
            <a:r>
              <a:rPr lang="en-US" dirty="0">
                <a:solidFill>
                  <a:srgbClr val="000000"/>
                </a:solidFill>
                <a:highlight>
                  <a:srgbClr val="FFFFFF"/>
                </a:highlight>
                <a:latin typeface="Consolas"/>
              </a:rPr>
              <a:t>(1) )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future_status</a:t>
            </a:r>
            <a:r>
              <a:rPr lang="en-US" dirty="0">
                <a:solidFill>
                  <a:srgbClr val="000000"/>
                </a:solidFill>
                <a:highlight>
                  <a:srgbClr val="FFFFFF"/>
                </a:highlight>
                <a:latin typeface="Consolas"/>
              </a:rPr>
              <a:t>::</a:t>
            </a:r>
            <a:r>
              <a:rPr lang="en-US" dirty="0">
                <a:solidFill>
                  <a:srgbClr val="2F4F4F"/>
                </a:solidFill>
                <a:highlight>
                  <a:srgbClr val="FFFFFF"/>
                </a:highlight>
                <a:latin typeface="Consolas"/>
              </a:rPr>
              <a:t>ready</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a:t>
            </a:r>
            <a:r>
              <a:rPr lang="en-US" dirty="0" err="1">
                <a:solidFill>
                  <a:srgbClr val="A31515"/>
                </a:solidFill>
                <a:highlight>
                  <a:srgbClr val="FFFFFF"/>
                </a:highlight>
                <a:latin typeface="Consolas"/>
              </a:rPr>
              <a:t>nresult</a:t>
            </a:r>
            <a:r>
              <a:rPr lang="en-US" dirty="0">
                <a:solidFill>
                  <a:srgbClr val="A31515"/>
                </a:solidFill>
                <a:highlight>
                  <a:srgbClr val="FFFFFF"/>
                </a:highlight>
                <a:latin typeface="Consolas"/>
              </a:rPr>
              <a:t>="</a:t>
            </a:r>
            <a:r>
              <a:rPr lang="en-US" dirty="0">
                <a:solidFill>
                  <a:srgbClr val="000000"/>
                </a:solidFill>
                <a:highlight>
                  <a:srgbClr val="FFFFFF"/>
                </a:highlight>
                <a:latin typeface="Consolas"/>
              </a:rPr>
              <a:t> &lt;&lt; </a:t>
            </a:r>
            <a:r>
              <a:rPr lang="en-US" dirty="0" err="1">
                <a:solidFill>
                  <a:srgbClr val="000000"/>
                </a:solidFill>
                <a:highlight>
                  <a:srgbClr val="FFFFFF"/>
                </a:highlight>
                <a:latin typeface="Consolas"/>
              </a:rPr>
              <a:t>f.get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7401435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Done flag via future&lt;void&gt;</a:t>
            </a:r>
            <a:endParaRPr lang="en-US" dirty="0"/>
          </a:p>
        </p:txBody>
      </p:sp>
      <p:sp>
        <p:nvSpPr>
          <p:cNvPr id="5" name="Content Placeholder 4"/>
          <p:cNvSpPr>
            <a:spLocks noGrp="1"/>
          </p:cNvSpPr>
          <p:nvPr>
            <p:ph idx="1"/>
          </p:nvPr>
        </p:nvSpPr>
        <p:spPr/>
        <p:txBody>
          <a:bodyPr>
            <a:normAutofit fontScale="85000" lnSpcReduction="20000"/>
          </a:bodyPr>
          <a:lstStyle/>
          <a:p>
            <a:r>
              <a:rPr lang="en-US" dirty="0" smtClean="0"/>
              <a:t>Does not return any value (possibly exceptions)</a:t>
            </a:r>
          </a:p>
          <a:p>
            <a:r>
              <a:rPr lang="en-US" dirty="0" smtClean="0"/>
              <a:t>Informs caller when asynchronous task is finished.</a:t>
            </a:r>
          </a:p>
          <a:p>
            <a:pPr marL="1257300" lvl="3" indent="0">
              <a:buNone/>
            </a:pPr>
            <a:endParaRPr lang="en-US" dirty="0" smtClean="0">
              <a:latin typeface="Courier New" pitchFamily="49" charset="0"/>
              <a:cs typeface="Courier New" pitchFamily="49" charset="0"/>
            </a:endParaRPr>
          </a:p>
          <a:p>
            <a:pPr marL="800100" lvl="2"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init_data</a:t>
            </a:r>
            <a:r>
              <a:rPr lang="en-US" dirty="0">
                <a:solidFill>
                  <a:srgbClr val="000000"/>
                </a:solidFill>
                <a:highlight>
                  <a:srgbClr val="FFFFFF"/>
                </a:highlight>
                <a:latin typeface="Consolas"/>
              </a:rPr>
              <a:t>();</a:t>
            </a:r>
          </a:p>
          <a:p>
            <a:pPr marL="800100" lvl="2"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init_ui</a:t>
            </a:r>
            <a:r>
              <a:rPr lang="en-US" dirty="0">
                <a:solidFill>
                  <a:srgbClr val="000000"/>
                </a:solidFill>
                <a:highlight>
                  <a:srgbClr val="FFFFFF"/>
                </a:highlight>
                <a:latin typeface="Consolas"/>
              </a:rPr>
              <a:t>();</a:t>
            </a:r>
          </a:p>
          <a:p>
            <a:pPr marL="800100" lvl="2" indent="0">
              <a:buNone/>
            </a:pPr>
            <a:endParaRPr lang="en-US" dirty="0">
              <a:solidFill>
                <a:srgbClr val="000000"/>
              </a:solidFill>
              <a:highlight>
                <a:srgbClr val="FFFFFF"/>
              </a:highlight>
              <a:latin typeface="Consolas"/>
            </a:endParaRPr>
          </a:p>
          <a:p>
            <a:pPr marL="800100" lvl="2"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void_future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future</a:t>
            </a:r>
            <a:r>
              <a:rPr lang="en-US" dirty="0">
                <a:solidFill>
                  <a:srgbClr val="000000"/>
                </a:solidFill>
                <a:highlight>
                  <a:srgbClr val="FFFFFF"/>
                </a:highlight>
                <a:latin typeface="Consolas"/>
              </a:rPr>
              <a:t>&lt;</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&gt; f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async</a:t>
            </a:r>
            <a:r>
              <a:rPr lang="en-US" dirty="0">
                <a:solidFill>
                  <a:srgbClr val="000000"/>
                </a:solidFill>
                <a:highlight>
                  <a:srgbClr val="FFFFFF"/>
                </a:highlight>
                <a:latin typeface="Consolas"/>
              </a:rPr>
              <a:t>( &amp;</a:t>
            </a:r>
            <a:r>
              <a:rPr lang="en-US" dirty="0" err="1">
                <a:solidFill>
                  <a:srgbClr val="000000"/>
                </a:solidFill>
                <a:highlight>
                  <a:srgbClr val="FFFFFF"/>
                </a:highlight>
                <a:latin typeface="Consolas"/>
              </a:rPr>
              <a:t>init_data</a:t>
            </a: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init_ui</a:t>
            </a: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a:t>
            </a:r>
            <a:r>
              <a:rPr lang="en-US" dirty="0" err="1">
                <a:solidFill>
                  <a:srgbClr val="008000"/>
                </a:solidFill>
                <a:highlight>
                  <a:srgbClr val="FFFFFF"/>
                </a:highlight>
                <a:latin typeface="Consolas"/>
              </a:rPr>
              <a:t>init</a:t>
            </a:r>
            <a:r>
              <a:rPr lang="en-US" dirty="0">
                <a:solidFill>
                  <a:srgbClr val="008000"/>
                </a:solidFill>
                <a:highlight>
                  <a:srgbClr val="FFFFFF"/>
                </a:highlight>
                <a:latin typeface="Consolas"/>
              </a:rPr>
              <a:t> something else</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f.get</a:t>
            </a: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wait until data is initialized</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get exceptions if any</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a:t>
            </a:r>
            <a:endParaRPr lang="en-US" dirty="0" smtClean="0">
              <a:latin typeface="Courier New" pitchFamily="49" charset="0"/>
              <a:cs typeface="Courier New" pitchFamily="49" charset="0"/>
            </a:endParaRPr>
          </a:p>
          <a:p>
            <a:pPr lvl="1"/>
            <a:endParaRPr lang="en-US" dirty="0">
              <a:cs typeface="Courier New" pitchFamily="49" charset="0"/>
            </a:endParaRPr>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4754400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Done flag via future&lt;void&gt;</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We </a:t>
            </a:r>
            <a:r>
              <a:rPr lang="en-US" dirty="0"/>
              <a:t>could use raw </a:t>
            </a:r>
            <a:r>
              <a:rPr lang="en-US" dirty="0" err="1">
                <a:latin typeface="Courier New" pitchFamily="49" charset="0"/>
                <a:cs typeface="Courier New" pitchFamily="49" charset="0"/>
              </a:rPr>
              <a:t>std</a:t>
            </a:r>
            <a:r>
              <a:rPr lang="en-US" dirty="0">
                <a:latin typeface="Courier New" pitchFamily="49" charset="0"/>
                <a:cs typeface="Courier New" pitchFamily="49" charset="0"/>
              </a:rPr>
              <a:t>::thread </a:t>
            </a:r>
            <a:r>
              <a:rPr lang="en-US" dirty="0"/>
              <a:t>and </a:t>
            </a:r>
            <a:r>
              <a:rPr lang="en-US" dirty="0">
                <a:latin typeface="Courier New" pitchFamily="49" charset="0"/>
                <a:cs typeface="Courier New" pitchFamily="49" charset="0"/>
              </a:rPr>
              <a:t>join</a:t>
            </a:r>
            <a:r>
              <a:rPr lang="en-US" dirty="0"/>
              <a:t> method</a:t>
            </a:r>
            <a:r>
              <a:rPr lang="en-US" dirty="0" smtClean="0"/>
              <a:t>!</a:t>
            </a:r>
          </a:p>
          <a:p>
            <a:pPr marL="0" indent="0">
              <a:buNone/>
            </a:pPr>
            <a:r>
              <a:rPr lang="en-US" dirty="0" smtClean="0"/>
              <a:t>Things to consider:</a:t>
            </a:r>
            <a:endParaRPr lang="en-US" dirty="0"/>
          </a:p>
          <a:p>
            <a:r>
              <a:rPr lang="en-US" dirty="0"/>
              <a:t>If thread returning future throws exception:</a:t>
            </a:r>
          </a:p>
          <a:p>
            <a:pPr lvl="1"/>
            <a:r>
              <a:rPr lang="en-US" dirty="0"/>
              <a:t>It is available to the caller via </a:t>
            </a:r>
            <a:r>
              <a:rPr lang="en-US" dirty="0">
                <a:latin typeface="Courier New" pitchFamily="49" charset="0"/>
                <a:cs typeface="Courier New" pitchFamily="49" charset="0"/>
              </a:rPr>
              <a:t>future::get()</a:t>
            </a:r>
          </a:p>
          <a:p>
            <a:pPr lvl="1"/>
            <a:r>
              <a:rPr lang="en-US" dirty="0"/>
              <a:t>It is discarded when you </a:t>
            </a:r>
            <a:r>
              <a:rPr lang="en-US" dirty="0" smtClean="0">
                <a:latin typeface="Courier New" pitchFamily="49" charset="0"/>
                <a:cs typeface="Courier New" pitchFamily="49" charset="0"/>
              </a:rPr>
              <a:t>join()</a:t>
            </a:r>
            <a:r>
              <a:rPr lang="en-US" dirty="0" smtClean="0"/>
              <a:t> </a:t>
            </a:r>
            <a:r>
              <a:rPr lang="en-US" dirty="0"/>
              <a:t>with the thread.</a:t>
            </a:r>
          </a:p>
          <a:p>
            <a:r>
              <a:rPr lang="en-US" dirty="0">
                <a:cs typeface="Courier New" pitchFamily="49" charset="0"/>
              </a:rPr>
              <a:t>If a timeout is needed:</a:t>
            </a:r>
          </a:p>
          <a:p>
            <a:pPr lvl="1"/>
            <a:r>
              <a:rPr lang="en-US" dirty="0">
                <a:cs typeface="Courier New" pitchFamily="49" charset="0"/>
              </a:rPr>
              <a:t>Join does not offer a timeout.</a:t>
            </a:r>
          </a:p>
          <a:p>
            <a:pPr lvl="1"/>
            <a:r>
              <a:rPr lang="en-US" dirty="0" smtClean="0">
                <a:cs typeface="Courier New" pitchFamily="49" charset="0"/>
              </a:rPr>
              <a:t>Future offers </a:t>
            </a:r>
            <a:r>
              <a:rPr lang="en-US" dirty="0" smtClean="0">
                <a:latin typeface="Courier New" pitchFamily="49" charset="0"/>
                <a:cs typeface="Courier New" pitchFamily="49" charset="0"/>
              </a:rPr>
              <a:t>wait()</a:t>
            </a:r>
            <a:r>
              <a:rPr lang="en-US" dirty="0" smtClean="0">
                <a:cs typeface="Courier New" pitchFamily="49" charset="0"/>
              </a:rPr>
              <a:t>. You </a:t>
            </a:r>
            <a:r>
              <a:rPr lang="en-US" dirty="0">
                <a:cs typeface="Courier New" pitchFamily="49" charset="0"/>
              </a:rPr>
              <a:t>can poll future via </a:t>
            </a:r>
            <a:r>
              <a:rPr lang="en-US" dirty="0">
                <a:latin typeface="Courier New" pitchFamily="49" charset="0"/>
                <a:cs typeface="Courier New" pitchFamily="49" charset="0"/>
              </a:rPr>
              <a:t>future::</a:t>
            </a:r>
            <a:r>
              <a:rPr lang="en-US" dirty="0" err="1" smtClean="0">
                <a:latin typeface="Courier New" pitchFamily="49" charset="0"/>
                <a:cs typeface="Courier New" pitchFamily="49" charset="0"/>
              </a:rPr>
              <a:t>wait_for</a:t>
            </a:r>
            <a:r>
              <a:rPr lang="en-US" dirty="0" smtClean="0">
                <a:latin typeface="Courier New" pitchFamily="49" charset="0"/>
                <a:cs typeface="Courier New" pitchFamily="49" charset="0"/>
              </a:rPr>
              <a:t>(zero)</a:t>
            </a:r>
            <a:endParaRPr lang="en-US" dirty="0">
              <a:latin typeface="Courier New" pitchFamily="49" charset="0"/>
              <a:cs typeface="Courier New" pitchFamily="49" charset="0"/>
            </a:endParaRPr>
          </a:p>
          <a:p>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21913575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async</a:t>
            </a:r>
            <a:r>
              <a:rPr lang="en-US" dirty="0" smtClean="0"/>
              <a:t> and ~future</a:t>
            </a:r>
            <a:endParaRPr lang="en-US" dirty="0"/>
          </a:p>
        </p:txBody>
      </p:sp>
      <p:sp>
        <p:nvSpPr>
          <p:cNvPr id="5" name="Content Placeholder 4"/>
          <p:cNvSpPr>
            <a:spLocks noGrp="1"/>
          </p:cNvSpPr>
          <p:nvPr>
            <p:ph idx="1"/>
          </p:nvPr>
        </p:nvSpPr>
        <p:spPr/>
        <p:txBody>
          <a:bodyPr/>
          <a:lstStyle/>
          <a:p>
            <a:r>
              <a:rPr lang="en-US" dirty="0" smtClean="0"/>
              <a:t>Destructor of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::future </a:t>
            </a:r>
            <a:r>
              <a:rPr lang="en-US" dirty="0" smtClean="0"/>
              <a:t>may block if created by </a:t>
            </a:r>
            <a:r>
              <a:rPr lang="en-US" dirty="0" err="1" smtClean="0">
                <a:latin typeface="Courier New" pitchFamily="49" charset="0"/>
                <a:cs typeface="Courier New" pitchFamily="49" charset="0"/>
              </a:rPr>
              <a:t>async</a:t>
            </a:r>
            <a:r>
              <a:rPr lang="en-US" dirty="0" smtClean="0"/>
              <a:t>.</a:t>
            </a:r>
          </a:p>
          <a:p>
            <a:r>
              <a:rPr lang="en-US" dirty="0" smtClean="0"/>
              <a:t>Always call </a:t>
            </a:r>
            <a:r>
              <a:rPr lang="en-US" dirty="0" smtClean="0">
                <a:latin typeface="Courier New" pitchFamily="49" charset="0"/>
                <a:cs typeface="Courier New" pitchFamily="49" charset="0"/>
              </a:rPr>
              <a:t>get()</a:t>
            </a:r>
            <a:r>
              <a:rPr lang="en-US" dirty="0" smtClean="0">
                <a:cs typeface="Courier New" pitchFamily="49" charset="0"/>
              </a:rPr>
              <a:t> </a:t>
            </a:r>
            <a:r>
              <a:rPr lang="en-US" dirty="0" smtClean="0"/>
              <a:t>or </a:t>
            </a:r>
            <a:r>
              <a:rPr lang="en-US" dirty="0" smtClean="0">
                <a:latin typeface="Courier New" pitchFamily="49" charset="0"/>
                <a:cs typeface="Courier New" pitchFamily="49" charset="0"/>
              </a:rPr>
              <a:t>wait()</a:t>
            </a:r>
            <a:r>
              <a:rPr lang="en-US" dirty="0" smtClean="0">
                <a:cs typeface="Courier New" pitchFamily="49" charset="0"/>
              </a:rPr>
              <a:t> </a:t>
            </a:r>
            <a:r>
              <a:rPr lang="en-US" dirty="0" smtClean="0"/>
              <a:t>on a future.</a:t>
            </a:r>
          </a:p>
          <a:p>
            <a:r>
              <a:rPr lang="en-US" dirty="0" smtClean="0"/>
              <a:t>Visual Studio 2012 implementation seems not to block.</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214891448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packaged_task</a:t>
            </a:r>
            <a:r>
              <a:rPr lang="en-US" dirty="0" smtClean="0"/>
              <a:t>&lt;T&gt;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Like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async</a:t>
            </a:r>
            <a:r>
              <a:rPr lang="en-US" dirty="0" smtClean="0"/>
              <a:t> wraps any callable target, so it can be invoked asynchronously. It’s return value or exception is stored and can be accessed through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::future</a:t>
            </a:r>
            <a:r>
              <a:rPr lang="en-US" dirty="0" smtClean="0"/>
              <a:t>.</a:t>
            </a:r>
          </a:p>
          <a:p>
            <a:r>
              <a:rPr lang="en-US" dirty="0" smtClean="0"/>
              <a:t>Unlike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async</a:t>
            </a:r>
            <a:r>
              <a:rPr lang="en-US" dirty="0" smtClean="0"/>
              <a:t>, which automatically starts a new thread or defers task execution until </a:t>
            </a:r>
            <a:r>
              <a:rPr lang="en-US" dirty="0" smtClean="0">
                <a:latin typeface="Courier New" pitchFamily="49" charset="0"/>
                <a:cs typeface="Courier New" pitchFamily="49" charset="0"/>
              </a:rPr>
              <a:t>wait</a:t>
            </a:r>
            <a:r>
              <a:rPr lang="en-US" dirty="0" smtClean="0"/>
              <a:t> or </a:t>
            </a:r>
            <a:r>
              <a:rPr lang="en-US" dirty="0" smtClean="0">
                <a:latin typeface="Courier New" pitchFamily="49" charset="0"/>
                <a:cs typeface="Courier New" pitchFamily="49" charset="0"/>
              </a:rPr>
              <a:t>get</a:t>
            </a:r>
            <a:r>
              <a:rPr lang="en-US" dirty="0" smtClean="0">
                <a:cs typeface="Courier New" pitchFamily="49" charset="0"/>
              </a:rPr>
              <a:t> is called</a:t>
            </a:r>
            <a:r>
              <a:rPr lang="en-US" dirty="0" smtClean="0"/>
              <a:t>, on </a:t>
            </a:r>
            <a:r>
              <a:rPr lang="en-US" dirty="0" err="1" smtClean="0">
                <a:latin typeface="Courier New" pitchFamily="49" charset="0"/>
                <a:cs typeface="Courier New" pitchFamily="49" charset="0"/>
              </a:rPr>
              <a:t>packaged_task</a:t>
            </a:r>
            <a:r>
              <a:rPr lang="en-US" dirty="0" smtClean="0"/>
              <a:t> this has to be done manually.</a:t>
            </a:r>
          </a:p>
          <a:p>
            <a:r>
              <a:rPr lang="en-US" dirty="0" smtClean="0"/>
              <a:t>Is equivalent to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::function</a:t>
            </a:r>
            <a:r>
              <a:rPr lang="en-US" dirty="0" smtClean="0"/>
              <a:t>, but result is stored in future rather then returned directly.</a:t>
            </a:r>
          </a:p>
          <a:p>
            <a:r>
              <a:rPr lang="en-US" dirty="0" smtClean="0"/>
              <a:t>Is intended </a:t>
            </a:r>
            <a:r>
              <a:rPr lang="en-US" dirty="0"/>
              <a:t>to be usable as a basic building block of a </a:t>
            </a:r>
            <a:r>
              <a:rPr lang="en-US" i="1" dirty="0"/>
              <a:t>thread pool</a:t>
            </a:r>
            <a:r>
              <a:rPr lang="en-US" dirty="0"/>
              <a:t>.</a:t>
            </a: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322568009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Synchronous task</a:t>
            </a:r>
            <a:endParaRPr lang="en-US" dirty="0"/>
          </a:p>
        </p:txBody>
      </p:sp>
      <p:sp>
        <p:nvSpPr>
          <p:cNvPr id="4" name="Content Placeholder 3"/>
          <p:cNvSpPr>
            <a:spLocks noGrp="1"/>
          </p:cNvSpPr>
          <p:nvPr>
            <p:ph sz="half" idx="1"/>
          </p:nvPr>
        </p:nvSpPr>
        <p:spPr/>
        <p:txBody>
          <a:bodyPr/>
          <a:lstStyle/>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&lt;future&gt;</a:t>
            </a:r>
            <a:endParaRPr lang="en-US" dirty="0">
              <a:solidFill>
                <a:srgbClr val="000000"/>
              </a:solidFill>
              <a:highlight>
                <a:srgbClr val="FFFFFF"/>
              </a:highlight>
              <a:latin typeface="Consolas"/>
            </a:endParaRPr>
          </a:p>
          <a:p>
            <a:pPr marL="0" indent="0">
              <a:buNone/>
            </a:pPr>
            <a:endParaRPr lang="en-US" dirty="0">
              <a:solidFill>
                <a:srgbClr val="000000"/>
              </a:solidFill>
              <a:highlight>
                <a:srgbClr val="FFFFFF"/>
              </a:highlight>
              <a:latin typeface="Consolas"/>
            </a:endParaRPr>
          </a:p>
          <a:p>
            <a:pPr marL="0" indent="0">
              <a:buNone/>
            </a:pP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fib(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n );</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sync_packaged_task</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packaged_task</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endParaRPr lang="en-US" dirty="0" smtClean="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task</a:t>
            </a:r>
            <a:r>
              <a:rPr lang="en-US" dirty="0">
                <a:solidFill>
                  <a:srgbClr val="000000"/>
                </a:solidFill>
                <a:highlight>
                  <a:srgbClr val="FFFFFF"/>
                </a:highlight>
                <a:latin typeface="Consolas"/>
              </a:rPr>
              <a:t>( &amp;fib );</a:t>
            </a:r>
          </a:p>
          <a:p>
            <a:pPr marL="0" indent="0">
              <a:buNone/>
            </a:pPr>
            <a:r>
              <a:rPr lang="en-US" dirty="0">
                <a:solidFill>
                  <a:srgbClr val="000000"/>
                </a:solidFill>
                <a:highlight>
                  <a:srgbClr val="FFFFFF"/>
                </a:highlight>
                <a:latin typeface="Consolas"/>
              </a:rPr>
              <a:t>   task( 20 );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"fib(20)="</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&lt;&lt; </a:t>
            </a:r>
            <a:r>
              <a:rPr lang="en-US" dirty="0" err="1">
                <a:solidFill>
                  <a:srgbClr val="000000"/>
                </a:solidFill>
                <a:highlight>
                  <a:srgbClr val="FFFFFF"/>
                </a:highlight>
                <a:latin typeface="Consolas"/>
              </a:rPr>
              <a:t>task.get_future</a:t>
            </a:r>
            <a:r>
              <a:rPr lang="en-US" dirty="0">
                <a:solidFill>
                  <a:srgbClr val="000000"/>
                </a:solidFill>
                <a:highlight>
                  <a:srgbClr val="FFFFFF"/>
                </a:highlight>
                <a:latin typeface="Consolas"/>
              </a:rPr>
              <a:t>().get() </a:t>
            </a: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&lt;&lt; </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lstStyle/>
          <a:p>
            <a:pPr marL="457200" indent="-457200">
              <a:buFont typeface="+mj-lt"/>
              <a:buAutoNum type="arabicPeriod"/>
            </a:pPr>
            <a:r>
              <a:rPr lang="en-US" dirty="0" smtClean="0"/>
              <a:t>A task object is created to match prototype of </a:t>
            </a:r>
            <a:r>
              <a:rPr lang="en-US" dirty="0" smtClean="0">
                <a:latin typeface="Courier New" pitchFamily="49" charset="0"/>
                <a:cs typeface="Courier New" pitchFamily="49" charset="0"/>
              </a:rPr>
              <a:t>fib</a:t>
            </a:r>
            <a:r>
              <a:rPr lang="en-US" dirty="0" smtClean="0"/>
              <a:t> function.</a:t>
            </a:r>
          </a:p>
          <a:p>
            <a:pPr marL="457200" indent="-457200">
              <a:buFont typeface="+mj-lt"/>
              <a:buAutoNum type="arabicPeriod"/>
            </a:pPr>
            <a:r>
              <a:rPr lang="en-US" dirty="0" smtClean="0"/>
              <a:t>A task is performed on current thread. Result stored is not returned directly, but stored inside </a:t>
            </a:r>
            <a:r>
              <a:rPr lang="en-US" dirty="0" smtClean="0">
                <a:latin typeface="Courier New" pitchFamily="49" charset="0"/>
                <a:cs typeface="Courier New" pitchFamily="49" charset="0"/>
              </a:rPr>
              <a:t>future</a:t>
            </a:r>
            <a:r>
              <a:rPr lang="en-US" dirty="0" smtClean="0"/>
              <a:t>.</a:t>
            </a:r>
          </a:p>
          <a:p>
            <a:pPr marL="457200" indent="-457200">
              <a:buFont typeface="+mj-lt"/>
              <a:buAutoNum type="arabicPeriod"/>
            </a:pPr>
            <a:r>
              <a:rPr lang="en-US" dirty="0" smtClean="0"/>
              <a:t>The </a:t>
            </a:r>
            <a:r>
              <a:rPr lang="en-US" dirty="0" smtClean="0">
                <a:latin typeface="Courier New" pitchFamily="49" charset="0"/>
                <a:cs typeface="Courier New" pitchFamily="49" charset="0"/>
              </a:rPr>
              <a:t>future</a:t>
            </a:r>
            <a:r>
              <a:rPr lang="en-US" dirty="0" smtClean="0"/>
              <a:t> is used to access the task result.</a:t>
            </a:r>
            <a:endParaRPr lang="en-US" dirty="0"/>
          </a:p>
        </p:txBody>
      </p:sp>
      <p:sp>
        <p:nvSpPr>
          <p:cNvPr id="6" name="Dodecagon 5"/>
          <p:cNvSpPr/>
          <p:nvPr/>
        </p:nvSpPr>
        <p:spPr>
          <a:xfrm>
            <a:off x="4343400" y="31242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7" name="Dodecagon 6"/>
          <p:cNvSpPr/>
          <p:nvPr/>
        </p:nvSpPr>
        <p:spPr>
          <a:xfrm>
            <a:off x="4343400" y="36576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8" name="Dodecagon 7"/>
          <p:cNvSpPr/>
          <p:nvPr/>
        </p:nvSpPr>
        <p:spPr>
          <a:xfrm>
            <a:off x="4343400" y="39624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3</a:t>
            </a:r>
            <a:endParaRPr lang="en-US" sz="1400"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156260498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Binding task with parameters</a:t>
            </a:r>
            <a:endParaRPr lang="en-US" dirty="0"/>
          </a:p>
        </p:txBody>
      </p:sp>
      <p:sp>
        <p:nvSpPr>
          <p:cNvPr id="3" name="Content Placeholder 2"/>
          <p:cNvSpPr>
            <a:spLocks noGrp="1"/>
          </p:cNvSpPr>
          <p:nvPr>
            <p:ph sz="half" idx="1"/>
          </p:nvPr>
        </p:nvSpPr>
        <p:spPr/>
        <p:txBody>
          <a:bodyPr/>
          <a:lstStyle/>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&lt;future&gt;</a:t>
            </a:r>
            <a:endParaRPr lang="en-US" dirty="0">
              <a:solidFill>
                <a:srgbClr val="000000"/>
              </a:solidFill>
              <a:highlight>
                <a:srgbClr val="FFFFFF"/>
              </a:highlight>
              <a:latin typeface="Consolas"/>
            </a:endParaRPr>
          </a:p>
          <a:p>
            <a:pPr marL="0" indent="0">
              <a:buNone/>
            </a:pPr>
            <a:endParaRPr lang="en-US" dirty="0">
              <a:solidFill>
                <a:srgbClr val="000000"/>
              </a:solidFill>
              <a:highlight>
                <a:srgbClr val="FFFFFF"/>
              </a:highlight>
              <a:latin typeface="Consolas"/>
            </a:endParaRPr>
          </a:p>
          <a:p>
            <a:pPr marL="0" indent="0">
              <a:buNone/>
            </a:pP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fib(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n );</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bind_packaged_task</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packaged_task</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endParaRPr lang="en-US" dirty="0" smtClean="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task</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::bind( &amp;fib, 20 </a:t>
            </a:r>
            <a:r>
              <a:rPr lang="en-US" dirty="0" smtClean="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task</a:t>
            </a:r>
            <a:r>
              <a:rPr lang="en-US" dirty="0" smtClean="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"fib(20)="</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&lt;&lt; </a:t>
            </a:r>
            <a:r>
              <a:rPr lang="en-US" dirty="0" err="1">
                <a:solidFill>
                  <a:srgbClr val="000000"/>
                </a:solidFill>
                <a:highlight>
                  <a:srgbClr val="FFFFFF"/>
                </a:highlight>
                <a:latin typeface="Consolas"/>
              </a:rPr>
              <a:t>task.get_future</a:t>
            </a:r>
            <a:r>
              <a:rPr lang="en-US" dirty="0">
                <a:solidFill>
                  <a:srgbClr val="000000"/>
                </a:solidFill>
                <a:highlight>
                  <a:srgbClr val="FFFFFF"/>
                </a:highlight>
                <a:latin typeface="Consolas"/>
              </a:rPr>
              <a:t>().get() </a:t>
            </a: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&lt;&lt; </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4" name="Content Placeholder 3"/>
          <p:cNvSpPr>
            <a:spLocks noGrp="1"/>
          </p:cNvSpPr>
          <p:nvPr>
            <p:ph sz="half" idx="2"/>
          </p:nvPr>
        </p:nvSpPr>
        <p:spPr/>
        <p:txBody>
          <a:bodyPr/>
          <a:lstStyle/>
          <a:p>
            <a:pPr marL="457200" indent="-457200">
              <a:buFont typeface="+mj-lt"/>
              <a:buAutoNum type="arabicPeriod"/>
            </a:pPr>
            <a:r>
              <a:rPr lang="en-US" dirty="0" smtClean="0"/>
              <a:t>A task is created. First parameter of </a:t>
            </a:r>
            <a:r>
              <a:rPr lang="en-US" dirty="0" smtClean="0">
                <a:latin typeface="Courier New" pitchFamily="49" charset="0"/>
                <a:cs typeface="Courier New" pitchFamily="49" charset="0"/>
              </a:rPr>
              <a:t>fib</a:t>
            </a:r>
            <a:r>
              <a:rPr lang="en-US" dirty="0" smtClean="0"/>
              <a:t> is always 20 for this task.</a:t>
            </a:r>
          </a:p>
          <a:p>
            <a:pPr marL="457200" indent="-457200">
              <a:buFont typeface="+mj-lt"/>
              <a:buAutoNum type="arabicPeriod"/>
            </a:pPr>
            <a:r>
              <a:rPr lang="en-US" dirty="0" smtClean="0"/>
              <a:t>Call task with no parameter. Stored value 20 will be used as parameter of </a:t>
            </a:r>
            <a:r>
              <a:rPr lang="en-US" dirty="0" smtClean="0">
                <a:latin typeface="Courier New" pitchFamily="49" charset="0"/>
                <a:cs typeface="Courier New" pitchFamily="49" charset="0"/>
              </a:rPr>
              <a:t>fib</a:t>
            </a:r>
            <a:r>
              <a:rPr lang="en-US" dirty="0" smtClean="0"/>
              <a:t>.</a:t>
            </a:r>
          </a:p>
          <a:p>
            <a:pPr marL="457200" indent="-457200">
              <a:buFont typeface="+mj-lt"/>
              <a:buAutoNum type="arabicPeriod"/>
            </a:pPr>
            <a:r>
              <a:rPr lang="en-US" dirty="0" smtClean="0"/>
              <a:t>Access result via </a:t>
            </a:r>
            <a:r>
              <a:rPr lang="en-US" dirty="0" smtClean="0">
                <a:latin typeface="Courier New" pitchFamily="49" charset="0"/>
                <a:cs typeface="Courier New" pitchFamily="49" charset="0"/>
              </a:rPr>
              <a:t>future</a:t>
            </a:r>
            <a:r>
              <a:rPr lang="en-US" dirty="0" smtClean="0"/>
              <a:t> object.</a:t>
            </a:r>
            <a:endParaRPr lang="en-US" dirty="0"/>
          </a:p>
        </p:txBody>
      </p:sp>
      <p:sp>
        <p:nvSpPr>
          <p:cNvPr id="5" name="Dodecagon 4"/>
          <p:cNvSpPr/>
          <p:nvPr/>
        </p:nvSpPr>
        <p:spPr>
          <a:xfrm>
            <a:off x="4343400" y="31242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6" name="Dodecagon 5"/>
          <p:cNvSpPr/>
          <p:nvPr/>
        </p:nvSpPr>
        <p:spPr>
          <a:xfrm>
            <a:off x="4343400" y="40386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Dodecagon 6"/>
          <p:cNvSpPr/>
          <p:nvPr/>
        </p:nvSpPr>
        <p:spPr>
          <a:xfrm>
            <a:off x="4343400" y="47244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a:t>
            </a:r>
          </a:p>
        </p:txBody>
      </p:sp>
      <p:sp>
        <p:nvSpPr>
          <p:cNvPr id="8" name="Date Placeholder 7"/>
          <p:cNvSpPr>
            <a:spLocks noGrp="1"/>
          </p:cNvSpPr>
          <p:nvPr>
            <p:ph type="dt" sz="half" idx="10"/>
          </p:nvPr>
        </p:nvSpPr>
        <p:spPr/>
        <p:txBody>
          <a:bodyPr/>
          <a:lstStyle/>
          <a:p>
            <a:r>
              <a:rPr lang="cs-CZ" smtClean="0"/>
              <a:t>19.1.2014</a:t>
            </a:r>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2493744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Moving task to a thread</a:t>
            </a:r>
            <a:endParaRPr lang="en-US" dirty="0"/>
          </a:p>
        </p:txBody>
      </p:sp>
      <p:sp>
        <p:nvSpPr>
          <p:cNvPr id="4" name="Content Placeholder 3"/>
          <p:cNvSpPr>
            <a:spLocks noGrp="1"/>
          </p:cNvSpPr>
          <p:nvPr>
            <p:ph sz="half" idx="1"/>
          </p:nvPr>
        </p:nvSpPr>
        <p:spPr/>
        <p:txBody>
          <a:bodyPr>
            <a:normAutofit lnSpcReduction="10000"/>
          </a:bodyPr>
          <a:lstStyle/>
          <a:p>
            <a:pPr marL="0" indent="0">
              <a:buNone/>
            </a:pPr>
            <a:r>
              <a:rPr lang="en-US" dirty="0">
                <a:solidFill>
                  <a:srgbClr val="0000FF"/>
                </a:solidFill>
                <a:highlight>
                  <a:srgbClr val="FFFFFF"/>
                </a:highlight>
                <a:latin typeface="Consolas"/>
              </a:rPr>
              <a:t>#include</a:t>
            </a:r>
            <a:r>
              <a:rPr lang="en-US" dirty="0">
                <a:solidFill>
                  <a:srgbClr val="000000"/>
                </a:solidFill>
                <a:highlight>
                  <a:srgbClr val="FFFFFF"/>
                </a:highlight>
                <a:latin typeface="Consolas"/>
              </a:rPr>
              <a:t> </a:t>
            </a:r>
            <a:r>
              <a:rPr lang="en-US" dirty="0">
                <a:solidFill>
                  <a:srgbClr val="A31515"/>
                </a:solidFill>
                <a:highlight>
                  <a:srgbClr val="FFFFFF"/>
                </a:highlight>
                <a:latin typeface="Consolas"/>
              </a:rPr>
              <a:t>&lt;future&gt;</a:t>
            </a:r>
            <a:endParaRPr lang="en-US" dirty="0">
              <a:solidFill>
                <a:srgbClr val="000000"/>
              </a:solidFill>
              <a:highlight>
                <a:srgbClr val="FFFFFF"/>
              </a:highlight>
              <a:latin typeface="Consolas"/>
            </a:endParaRPr>
          </a:p>
          <a:p>
            <a:pPr marL="0" indent="0">
              <a:buNone/>
            </a:pPr>
            <a:endParaRPr lang="en-US" dirty="0">
              <a:solidFill>
                <a:srgbClr val="000000"/>
              </a:solidFill>
              <a:highlight>
                <a:srgbClr val="FFFFFF"/>
              </a:highlight>
              <a:latin typeface="Consolas"/>
            </a:endParaRPr>
          </a:p>
          <a:p>
            <a:pPr marL="0" indent="0">
              <a:buNone/>
            </a:pP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fib(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n );</a:t>
            </a:r>
          </a:p>
          <a:p>
            <a:pPr marL="0" indent="0">
              <a:buNone/>
            </a:pPr>
            <a:endParaRPr lang="en-US" dirty="0" smtClean="0">
              <a:solidFill>
                <a:srgbClr val="000000"/>
              </a:solidFill>
              <a:highlight>
                <a:srgbClr val="FFFFFF"/>
              </a:highlight>
              <a:latin typeface="Consolas"/>
            </a:endParaRPr>
          </a:p>
          <a:p>
            <a:pPr marL="0" indent="0">
              <a:buNone/>
            </a:pPr>
            <a:r>
              <a:rPr lang="en-US" dirty="0" smtClean="0">
                <a:solidFill>
                  <a:srgbClr val="0000FF"/>
                </a:solidFill>
                <a:highlight>
                  <a:srgbClr val="FFFFFF"/>
                </a:highlight>
                <a:latin typeface="Consolas"/>
              </a:rPr>
              <a:t>void</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async_packaged_task</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packaged_task</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a:t>
            </a:r>
            <a:r>
              <a:rPr lang="en-US" dirty="0" err="1">
                <a:solidFill>
                  <a:srgbClr val="0000FF"/>
                </a:solidFill>
                <a:highlight>
                  <a:srgbClr val="FFFFFF"/>
                </a:highlight>
                <a:latin typeface="Consolas"/>
              </a:rPr>
              <a:t>int</a:t>
            </a:r>
            <a:r>
              <a:rPr lang="en-US" dirty="0" smtClean="0">
                <a:solidFill>
                  <a:srgbClr val="000000"/>
                </a:solidFill>
                <a:highlight>
                  <a:srgbClr val="FFFFFF"/>
                </a:highlight>
                <a:latin typeface="Consolas"/>
              </a:rPr>
              <a:t>)&gt;</a:t>
            </a: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task(&amp;fib);</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my_future</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task.get_future</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t(</a:t>
            </a:r>
            <a:r>
              <a:rPr lang="en-US" dirty="0" err="1" smtClean="0">
                <a:solidFill>
                  <a:srgbClr val="000000"/>
                </a:solidFill>
                <a:highlight>
                  <a:srgbClr val="FFFFFF"/>
                </a:highlight>
                <a:latin typeface="Consolas"/>
              </a:rPr>
              <a:t>std</a:t>
            </a:r>
            <a:r>
              <a:rPr lang="en-US" dirty="0">
                <a:solidFill>
                  <a:srgbClr val="000000"/>
                </a:solidFill>
                <a:highlight>
                  <a:srgbClr val="FFFFFF"/>
                </a:highlight>
                <a:latin typeface="Consolas"/>
              </a:rPr>
              <a:t>::move(task), 20 );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"fib(20)="</a:t>
            </a:r>
            <a:r>
              <a:rPr lang="en-US" dirty="0">
                <a:solidFill>
                  <a:srgbClr val="000000"/>
                </a:solidFill>
                <a:highlight>
                  <a:srgbClr val="FFFFFF"/>
                </a:highlight>
                <a:latin typeface="Consolas"/>
              </a:rPr>
              <a:t> </a:t>
            </a:r>
            <a:endParaRPr lang="en-US" dirty="0" smtClean="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&lt;&lt; </a:t>
            </a:r>
            <a:r>
              <a:rPr lang="en-US" dirty="0" err="1">
                <a:solidFill>
                  <a:srgbClr val="000000"/>
                </a:solidFill>
                <a:highlight>
                  <a:srgbClr val="FFFFFF"/>
                </a:highlight>
                <a:latin typeface="Consolas"/>
              </a:rPr>
              <a:t>my_future.get</a:t>
            </a:r>
            <a:r>
              <a:rPr lang="en-US" dirty="0">
                <a:solidFill>
                  <a:srgbClr val="000000"/>
                </a:solidFill>
                <a:highlight>
                  <a:srgbClr val="FFFFFF"/>
                </a:highlight>
                <a:latin typeface="Consolas"/>
              </a:rPr>
              <a:t>() </a:t>
            </a:r>
            <a:endParaRPr lang="en-US" dirty="0" smtClean="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&lt;&lt; </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lnSpcReduction="10000"/>
          </a:bodyPr>
          <a:lstStyle/>
          <a:p>
            <a:pPr marL="457200" indent="-457200">
              <a:buFont typeface="+mj-lt"/>
              <a:buAutoNum type="arabicPeriod"/>
            </a:pPr>
            <a:r>
              <a:rPr lang="en-US" dirty="0" smtClean="0"/>
              <a:t>Function which takes </a:t>
            </a:r>
            <a:r>
              <a:rPr lang="en-US" dirty="0" err="1" smtClean="0">
                <a:latin typeface="Courier New" pitchFamily="49" charset="0"/>
                <a:cs typeface="Courier New" pitchFamily="49" charset="0"/>
              </a:rPr>
              <a:t>int</a:t>
            </a:r>
            <a:r>
              <a:rPr lang="en-US" dirty="0" smtClean="0"/>
              <a:t> parameter and returns </a:t>
            </a:r>
            <a:r>
              <a:rPr lang="en-US" dirty="0" err="1" smtClean="0">
                <a:latin typeface="Courier New" pitchFamily="49" charset="0"/>
                <a:cs typeface="Courier New" pitchFamily="49" charset="0"/>
              </a:rPr>
              <a:t>int</a:t>
            </a:r>
            <a:r>
              <a:rPr lang="en-US" dirty="0" smtClean="0"/>
              <a:t> is wrapped.</a:t>
            </a:r>
          </a:p>
          <a:p>
            <a:pPr marL="457200" indent="-457200">
              <a:buFont typeface="+mj-lt"/>
              <a:buAutoNum type="arabicPeriod"/>
            </a:pPr>
            <a:r>
              <a:rPr lang="en-US" dirty="0" smtClean="0"/>
              <a:t>Before task is moved to thread a </a:t>
            </a:r>
            <a:r>
              <a:rPr lang="en-US" dirty="0" smtClean="0">
                <a:latin typeface="Courier New" pitchFamily="49" charset="0"/>
                <a:cs typeface="Courier New" pitchFamily="49" charset="0"/>
              </a:rPr>
              <a:t>future</a:t>
            </a:r>
            <a:r>
              <a:rPr lang="en-US" dirty="0" smtClean="0"/>
              <a:t> must be retrieved. After task is moved, it is no longer usable on this scope.</a:t>
            </a:r>
          </a:p>
          <a:p>
            <a:pPr marL="457200" indent="-457200">
              <a:buFont typeface="+mj-lt"/>
              <a:buAutoNum type="arabicPeriod"/>
            </a:pPr>
            <a:r>
              <a:rPr lang="en-US" dirty="0" smtClean="0"/>
              <a:t>Thread starts the task. Join is called (not much concurrency in this sample). Also </a:t>
            </a:r>
            <a:r>
              <a:rPr lang="en-US" dirty="0" smtClean="0">
                <a:latin typeface="Courier New" pitchFamily="49" charset="0"/>
                <a:cs typeface="Courier New" pitchFamily="49" charset="0"/>
              </a:rPr>
              <a:t>detach</a:t>
            </a:r>
            <a:r>
              <a:rPr lang="en-US" dirty="0" smtClean="0"/>
              <a:t> could be used.</a:t>
            </a:r>
          </a:p>
          <a:p>
            <a:pPr marL="457200" indent="-457200">
              <a:buFont typeface="+mj-lt"/>
              <a:buAutoNum type="arabicPeriod"/>
            </a:pPr>
            <a:r>
              <a:rPr lang="en-US" dirty="0" smtClean="0"/>
              <a:t>Result of the task is retrieved from </a:t>
            </a:r>
            <a:r>
              <a:rPr lang="en-US" dirty="0" smtClean="0">
                <a:latin typeface="Courier New" pitchFamily="49" charset="0"/>
                <a:cs typeface="Courier New" pitchFamily="49" charset="0"/>
              </a:rPr>
              <a:t>future</a:t>
            </a:r>
            <a:r>
              <a:rPr lang="en-US" dirty="0" smtClean="0"/>
              <a:t>.</a:t>
            </a:r>
            <a:endParaRPr lang="en-US" dirty="0"/>
          </a:p>
        </p:txBody>
      </p:sp>
      <p:sp>
        <p:nvSpPr>
          <p:cNvPr id="6" name="Dodecagon 5"/>
          <p:cNvSpPr/>
          <p:nvPr/>
        </p:nvSpPr>
        <p:spPr>
          <a:xfrm>
            <a:off x="4305300" y="31242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7" name="Dodecagon 6"/>
          <p:cNvSpPr/>
          <p:nvPr/>
        </p:nvSpPr>
        <p:spPr>
          <a:xfrm>
            <a:off x="4305300" y="37973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8" name="Dodecagon 7"/>
          <p:cNvSpPr/>
          <p:nvPr/>
        </p:nvSpPr>
        <p:spPr>
          <a:xfrm>
            <a:off x="4305300" y="41910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a:t>
            </a:r>
          </a:p>
        </p:txBody>
      </p:sp>
      <p:sp>
        <p:nvSpPr>
          <p:cNvPr id="9" name="Dodecagon 8"/>
          <p:cNvSpPr/>
          <p:nvPr/>
        </p:nvSpPr>
        <p:spPr>
          <a:xfrm>
            <a:off x="4305300" y="46482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3" name="Date Placeholder 2"/>
          <p:cNvSpPr>
            <a:spLocks noGrp="1"/>
          </p:cNvSpPr>
          <p:nvPr>
            <p:ph type="dt" sz="half" idx="10"/>
          </p:nvPr>
        </p:nvSpPr>
        <p:spPr/>
        <p:txBody>
          <a:bodyPr/>
          <a:lstStyle/>
          <a:p>
            <a:r>
              <a:rPr lang="cs-CZ" smtClean="0"/>
              <a:t>19.1.2014</a:t>
            </a:r>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96989322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Notifying UI thread</a:t>
            </a:r>
            <a:endParaRPr lang="en-US" dirty="0"/>
          </a:p>
        </p:txBody>
      </p:sp>
      <p:sp>
        <p:nvSpPr>
          <p:cNvPr id="3" name="Content Placeholder 2"/>
          <p:cNvSpPr>
            <a:spLocks noGrp="1"/>
          </p:cNvSpPr>
          <p:nvPr>
            <p:ph sz="half" idx="1"/>
          </p:nvPr>
        </p:nvSpPr>
        <p:spPr/>
        <p:txBody>
          <a:bodyPr>
            <a:normAutofit fontScale="77500" lnSpcReduction="20000"/>
          </a:bodyPr>
          <a:lstStyle/>
          <a:p>
            <a:pPr marL="0" indent="0">
              <a:buNone/>
            </a:pPr>
            <a:r>
              <a:rPr lang="en-US" dirty="0">
                <a:solidFill>
                  <a:srgbClr val="2B91AF"/>
                </a:solidFill>
                <a:highlight>
                  <a:srgbClr val="FFFFFF"/>
                </a:highlight>
                <a:latin typeface="Consolas"/>
              </a:rPr>
              <a:t>mutex</a:t>
            </a:r>
            <a:r>
              <a:rPr lang="en-US" dirty="0">
                <a:solidFill>
                  <a:srgbClr val="000000"/>
                </a:solidFill>
                <a:highlight>
                  <a:srgbClr val="FFFFFF"/>
                </a:highlight>
                <a:latin typeface="Consolas"/>
              </a:rPr>
              <a:t> m;</a:t>
            </a:r>
          </a:p>
          <a:p>
            <a:pPr marL="0" indent="0">
              <a:buNone/>
            </a:pPr>
            <a:r>
              <a:rPr lang="en-US" dirty="0" err="1">
                <a:solidFill>
                  <a:srgbClr val="2B91AF"/>
                </a:solidFill>
                <a:highlight>
                  <a:srgbClr val="FFFFFF"/>
                </a:highlight>
                <a:latin typeface="Consolas"/>
              </a:rPr>
              <a:t>deque</a:t>
            </a:r>
            <a:r>
              <a:rPr lang="en-US" dirty="0">
                <a:solidFill>
                  <a:srgbClr val="000000"/>
                </a:solidFill>
                <a:highlight>
                  <a:srgbClr val="FFFFFF"/>
                </a:highlight>
                <a:latin typeface="Consolas"/>
              </a:rPr>
              <a:t>&lt;</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packaged_task</a:t>
            </a:r>
            <a:r>
              <a:rPr lang="en-US" dirty="0">
                <a:solidFill>
                  <a:srgbClr val="000000"/>
                </a:solidFill>
                <a:highlight>
                  <a:srgbClr val="FFFFFF"/>
                </a:highlight>
                <a:latin typeface="Consolas"/>
              </a:rPr>
              <a:t>&lt;</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()&gt; &gt; tasks</a:t>
            </a:r>
            <a:r>
              <a:rPr lang="en-US" dirty="0" smtClean="0">
                <a:solidFill>
                  <a:srgbClr val="000000"/>
                </a:solidFill>
                <a:highlight>
                  <a:srgbClr val="FFFFFF"/>
                </a:highlight>
                <a:latin typeface="Consolas"/>
              </a:rPr>
              <a:t>;</a:t>
            </a:r>
          </a:p>
          <a:p>
            <a:pPr marL="0" indent="0">
              <a:buNone/>
            </a:pPr>
            <a:endParaRPr lang="en-US" dirty="0" smtClean="0">
              <a:solidFill>
                <a:srgbClr val="0000FF"/>
              </a:solidFill>
              <a:highlight>
                <a:srgbClr val="FFFFFF"/>
              </a:highlight>
              <a:latin typeface="Consolas"/>
            </a:endParaRPr>
          </a:p>
          <a:p>
            <a:pPr marL="0" indent="0">
              <a:buNone/>
            </a:pPr>
            <a:r>
              <a:rPr lang="en-US" dirty="0" smtClean="0">
                <a:solidFill>
                  <a:srgbClr val="0000FF"/>
                </a:solidFill>
                <a:highlight>
                  <a:srgbClr val="FFFFFF"/>
                </a:highlight>
                <a:latin typeface="Consolas"/>
              </a:rPr>
              <a:t>void</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gui_thread</a:t>
            </a:r>
            <a:r>
              <a:rPr lang="en-US" dirty="0" smtClean="0">
                <a:solidFill>
                  <a:srgbClr val="000000"/>
                </a:solidFill>
                <a:highlight>
                  <a:srgbClr val="FFFFFF"/>
                </a:highlight>
                <a:latin typeface="Consolas"/>
              </a:rPr>
              <a:t>() {</a:t>
            </a:r>
          </a:p>
          <a:p>
            <a:pPr marL="0" indent="0">
              <a:buNone/>
            </a:pPr>
            <a:r>
              <a:rPr lang="en-US" dirty="0" smtClean="0">
                <a:solidFill>
                  <a:srgbClr val="0000FF"/>
                </a:solidFill>
                <a:highlight>
                  <a:srgbClr val="FFFFFF"/>
                </a:highlight>
                <a:latin typeface="Consolas"/>
              </a:rPr>
              <a:t>   while</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gui_shutdown_message_received</a:t>
            </a:r>
            <a:r>
              <a:rPr lang="en-US" dirty="0">
                <a:solidFill>
                  <a:srgbClr val="000000"/>
                </a:solidFill>
                <a:highlight>
                  <a:srgbClr val="FFFFFF"/>
                </a:highlight>
                <a:latin typeface="Consolas"/>
              </a:rPr>
              <a:t>()) {</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get_and_process_gui_message</a:t>
            </a:r>
            <a:r>
              <a:rPr lang="en-US" dirty="0">
                <a:solidFill>
                  <a:srgbClr val="000000"/>
                </a:solidFill>
                <a:highlight>
                  <a:srgbClr val="FFFFFF"/>
                </a:highlight>
                <a:latin typeface="Consolas"/>
              </a:rPr>
              <a:t>();</a:t>
            </a: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packaged_task</a:t>
            </a:r>
            <a:r>
              <a:rPr lang="en-US" dirty="0" smtClean="0">
                <a:solidFill>
                  <a:srgbClr val="000000"/>
                </a:solidFill>
                <a:highlight>
                  <a:srgbClr val="FFFFFF"/>
                </a:highlight>
                <a:latin typeface="Consolas"/>
              </a:rPr>
              <a:t>&lt;</a:t>
            </a:r>
            <a:r>
              <a:rPr lang="en-US" dirty="0" smtClean="0">
                <a:solidFill>
                  <a:srgbClr val="0000FF"/>
                </a:solidFill>
                <a:highlight>
                  <a:srgbClr val="FFFFFF"/>
                </a:highlight>
                <a:latin typeface="Consolas"/>
              </a:rPr>
              <a:t>void</a:t>
            </a:r>
            <a:r>
              <a:rPr lang="en-US" dirty="0">
                <a:solidFill>
                  <a:srgbClr val="000000"/>
                </a:solidFill>
                <a:highlight>
                  <a:srgbClr val="FFFFFF"/>
                </a:highlight>
                <a:latin typeface="Consolas"/>
              </a:rPr>
              <a:t>()&gt; task;</a:t>
            </a:r>
          </a:p>
          <a:p>
            <a:pPr marL="0" indent="0">
              <a:buNone/>
            </a:pP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lock_guard</a:t>
            </a:r>
            <a:r>
              <a:rPr lang="en-US" dirty="0" smtClean="0">
                <a:solidFill>
                  <a:srgbClr val="000000"/>
                </a:solidFill>
                <a:highlight>
                  <a:srgbClr val="FFFFFF"/>
                </a:highlight>
                <a:latin typeface="Consolas"/>
              </a:rPr>
              <a:t>&lt;</a:t>
            </a:r>
            <a:r>
              <a:rPr lang="en-US" dirty="0" err="1" smtClean="0">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lk</a:t>
            </a:r>
            <a:r>
              <a:rPr lang="en-US" dirty="0">
                <a:solidFill>
                  <a:srgbClr val="000000"/>
                </a:solidFill>
                <a:highlight>
                  <a:srgbClr val="FFFFFF"/>
                </a:highlight>
                <a:latin typeface="Consolas"/>
              </a:rPr>
              <a:t>(m);</a:t>
            </a:r>
          </a:p>
          <a:p>
            <a:pPr marL="0" indent="0">
              <a:buNone/>
            </a:pPr>
            <a:r>
              <a:rPr lang="en-US" dirty="0" smtClean="0">
                <a:solidFill>
                  <a:srgbClr val="0000FF"/>
                </a:solidFill>
                <a:highlight>
                  <a:srgbClr val="FFFFFF"/>
                </a:highlight>
                <a:latin typeface="Consolas"/>
              </a:rPr>
              <a:t>         if</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tasks.empty</a:t>
            </a:r>
            <a:r>
              <a:rPr lang="en-US" dirty="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            continue</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task </a:t>
            </a:r>
            <a:r>
              <a:rPr lang="en-US" dirty="0">
                <a:solidFill>
                  <a:srgbClr val="000000"/>
                </a:solidFill>
                <a:highlight>
                  <a:srgbClr val="FFFFFF"/>
                </a:highlight>
                <a:latin typeface="Consolas"/>
              </a:rPr>
              <a:t>= move(</a:t>
            </a:r>
            <a:r>
              <a:rPr lang="en-US" dirty="0" err="1">
                <a:solidFill>
                  <a:srgbClr val="000000"/>
                </a:solidFill>
                <a:highlight>
                  <a:srgbClr val="FFFFFF"/>
                </a:highlight>
                <a:latin typeface="Consolas"/>
              </a:rPr>
              <a:t>tasks.front</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tasks.pop_front</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smtClean="0">
                <a:solidFill>
                  <a:srgbClr val="000000"/>
                </a:solidFill>
                <a:highlight>
                  <a:srgbClr val="FFFFFF"/>
                </a:highlight>
                <a:latin typeface="Consolas"/>
              </a:rPr>
              <a:t>      task</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template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typename</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Func</a:t>
            </a:r>
            <a:r>
              <a:rPr lang="en-US" dirty="0">
                <a:solidFill>
                  <a:srgbClr val="000000"/>
                </a:solidFill>
                <a:highlight>
                  <a:srgbClr val="FFFFFF"/>
                </a:highlight>
                <a:latin typeface="Consolas"/>
              </a:rPr>
              <a:t>&gt;</a:t>
            </a:r>
          </a:p>
          <a:p>
            <a:pPr marL="0" indent="0">
              <a:buNone/>
            </a:pPr>
            <a:r>
              <a:rPr lang="en-US" dirty="0">
                <a:solidFill>
                  <a:srgbClr val="2B91AF"/>
                </a:solidFill>
                <a:highlight>
                  <a:srgbClr val="FFFFFF"/>
                </a:highlight>
                <a:latin typeface="Consolas"/>
              </a:rPr>
              <a:t>future</a:t>
            </a:r>
            <a:r>
              <a:rPr lang="en-US" dirty="0">
                <a:solidFill>
                  <a:srgbClr val="000000"/>
                </a:solidFill>
                <a:highlight>
                  <a:srgbClr val="FFFFFF"/>
                </a:highlight>
                <a:latin typeface="Consolas"/>
              </a:rPr>
              <a:t>&lt;</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post_task_for_gui_thread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Func</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f</a:t>
            </a:r>
            <a:r>
              <a:rPr lang="en-US" dirty="0">
                <a:solidFill>
                  <a:srgbClr val="000000"/>
                </a:solidFill>
                <a:highlight>
                  <a:srgbClr val="FFFFFF"/>
                </a:highlight>
                <a:latin typeface="Consolas"/>
              </a:rPr>
              <a:t>) {</a:t>
            </a: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packaged_task</a:t>
            </a:r>
            <a:r>
              <a:rPr lang="en-US" dirty="0" smtClean="0">
                <a:solidFill>
                  <a:srgbClr val="000000"/>
                </a:solidFill>
                <a:highlight>
                  <a:srgbClr val="FFFFFF"/>
                </a:highlight>
                <a:latin typeface="Consolas"/>
              </a:rPr>
              <a:t>&lt;</a:t>
            </a:r>
            <a:r>
              <a:rPr lang="en-US" dirty="0" smtClean="0">
                <a:solidFill>
                  <a:srgbClr val="0000FF"/>
                </a:solidFill>
                <a:highlight>
                  <a:srgbClr val="FFFFFF"/>
                </a:highlight>
                <a:latin typeface="Consolas"/>
              </a:rPr>
              <a:t>void</a:t>
            </a:r>
            <a:r>
              <a:rPr lang="en-US" dirty="0">
                <a:solidFill>
                  <a:srgbClr val="000000"/>
                </a:solidFill>
                <a:highlight>
                  <a:srgbClr val="FFFFFF"/>
                </a:highlight>
                <a:latin typeface="Consolas"/>
              </a:rPr>
              <a:t>()&gt; task(</a:t>
            </a:r>
            <a:r>
              <a:rPr lang="en-US" dirty="0">
                <a:solidFill>
                  <a:srgbClr val="808080"/>
                </a:solidFill>
                <a:highlight>
                  <a:srgbClr val="FFFFFF"/>
                </a:highlight>
                <a:latin typeface="Consolas"/>
              </a:rPr>
              <a:t>f</a:t>
            </a:r>
            <a:r>
              <a:rPr lang="en-US" dirty="0">
                <a:solidFill>
                  <a:srgbClr val="000000"/>
                </a:solidFill>
                <a:highlight>
                  <a:srgbClr val="FFFFFF"/>
                </a:highlight>
                <a:latin typeface="Consolas"/>
              </a:rPr>
              <a:t>);</a:t>
            </a:r>
          </a:p>
          <a:p>
            <a:pPr marL="0" indent="0">
              <a:buNone/>
            </a:pPr>
            <a:r>
              <a:rPr lang="en-US" dirty="0" smtClean="0">
                <a:solidFill>
                  <a:srgbClr val="2B91AF"/>
                </a:solidFill>
                <a:highlight>
                  <a:srgbClr val="FFFFFF"/>
                </a:highlight>
                <a:latin typeface="Consolas"/>
              </a:rPr>
              <a:t>   future</a:t>
            </a:r>
            <a:r>
              <a:rPr lang="en-US" dirty="0" smtClean="0">
                <a:solidFill>
                  <a:srgbClr val="000000"/>
                </a:solidFill>
                <a:highlight>
                  <a:srgbClr val="FFFFFF"/>
                </a:highlight>
                <a:latin typeface="Consolas"/>
              </a:rPr>
              <a:t>&lt;</a:t>
            </a:r>
            <a:r>
              <a:rPr lang="en-US" dirty="0" smtClean="0">
                <a:solidFill>
                  <a:srgbClr val="0000FF"/>
                </a:solidFill>
                <a:highlight>
                  <a:srgbClr val="FFFFFF"/>
                </a:highlight>
                <a:latin typeface="Consolas"/>
              </a:rPr>
              <a:t>void</a:t>
            </a:r>
            <a:r>
              <a:rPr lang="en-US" dirty="0">
                <a:solidFill>
                  <a:srgbClr val="000000"/>
                </a:solidFill>
                <a:highlight>
                  <a:srgbClr val="FFFFFF"/>
                </a:highlight>
                <a:latin typeface="Consolas"/>
              </a:rPr>
              <a:t>&gt; res = </a:t>
            </a:r>
            <a:r>
              <a:rPr lang="en-US" dirty="0" err="1">
                <a:solidFill>
                  <a:srgbClr val="000000"/>
                </a:solidFill>
                <a:highlight>
                  <a:srgbClr val="FFFFFF"/>
                </a:highlight>
                <a:latin typeface="Consolas"/>
              </a:rPr>
              <a:t>task.get_future</a:t>
            </a:r>
            <a:r>
              <a:rPr lang="en-US" dirty="0">
                <a:solidFill>
                  <a:srgbClr val="000000"/>
                </a:solidFill>
                <a:highlight>
                  <a:srgbClr val="FFFFFF"/>
                </a:highlight>
                <a:latin typeface="Consolas"/>
              </a:rPr>
              <a:t>();</a:t>
            </a: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lock_guard</a:t>
            </a:r>
            <a:r>
              <a:rPr lang="en-US" dirty="0" smtClean="0">
                <a:solidFill>
                  <a:srgbClr val="000000"/>
                </a:solidFill>
                <a:highlight>
                  <a:srgbClr val="FFFFFF"/>
                </a:highlight>
                <a:latin typeface="Consolas"/>
              </a:rPr>
              <a:t>&lt;</a:t>
            </a:r>
            <a:r>
              <a:rPr lang="en-US" dirty="0" err="1" smtClean="0">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lk</a:t>
            </a:r>
            <a:r>
              <a:rPr lang="en-US" dirty="0">
                <a:solidFill>
                  <a:srgbClr val="000000"/>
                </a:solidFill>
                <a:highlight>
                  <a:srgbClr val="FFFFFF"/>
                </a:highlight>
                <a:latin typeface="Consolas"/>
              </a:rPr>
              <a:t>(m);</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tasks.push_back</a:t>
            </a:r>
            <a:r>
              <a:rPr lang="en-US" dirty="0" smtClean="0">
                <a:solidFill>
                  <a:srgbClr val="000000"/>
                </a:solidFill>
                <a:highlight>
                  <a:srgbClr val="FFFFFF"/>
                </a:highlight>
                <a:latin typeface="Consolas"/>
              </a:rPr>
              <a:t>(</a:t>
            </a:r>
            <a:r>
              <a:rPr lang="en-US" dirty="0" err="1" smtClean="0">
                <a:solidFill>
                  <a:srgbClr val="000000"/>
                </a:solidFill>
                <a:highlight>
                  <a:srgbClr val="FFFFFF"/>
                </a:highlight>
                <a:latin typeface="Consolas"/>
              </a:rPr>
              <a:t>std</a:t>
            </a:r>
            <a:r>
              <a:rPr lang="en-US" dirty="0">
                <a:solidFill>
                  <a:srgbClr val="000000"/>
                </a:solidFill>
                <a:highlight>
                  <a:srgbClr val="FFFFFF"/>
                </a:highlight>
                <a:latin typeface="Consolas"/>
              </a:rPr>
              <a:t>::move(task));</a:t>
            </a:r>
          </a:p>
          <a:p>
            <a:pPr marL="0" indent="0">
              <a:buNone/>
            </a:pPr>
            <a:r>
              <a:rPr lang="en-US" dirty="0" smtClean="0">
                <a:solidFill>
                  <a:srgbClr val="0000FF"/>
                </a:solidFill>
                <a:highlight>
                  <a:srgbClr val="FFFFFF"/>
                </a:highlight>
                <a:latin typeface="Consolas"/>
              </a:rPr>
              <a:t>   return</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res;</a:t>
            </a:r>
          </a:p>
          <a:p>
            <a:pPr marL="0" indent="0">
              <a:buNone/>
            </a:pPr>
            <a:r>
              <a:rPr lang="en-US" dirty="0">
                <a:solidFill>
                  <a:srgbClr val="000000"/>
                </a:solidFill>
                <a:highlight>
                  <a:srgbClr val="FFFFFF"/>
                </a:highlight>
                <a:latin typeface="Consolas"/>
              </a:rPr>
              <a:t>}</a:t>
            </a:r>
            <a:endParaRPr lang="en-US" dirty="0"/>
          </a:p>
        </p:txBody>
      </p:sp>
      <p:sp>
        <p:nvSpPr>
          <p:cNvPr id="4" name="Content Placeholder 3"/>
          <p:cNvSpPr>
            <a:spLocks noGrp="1"/>
          </p:cNvSpPr>
          <p:nvPr>
            <p:ph sz="half" idx="2"/>
          </p:nvPr>
        </p:nvSpPr>
        <p:spPr/>
        <p:txBody>
          <a:bodyPr>
            <a:normAutofit fontScale="77500" lnSpcReduction="20000"/>
          </a:bodyPr>
          <a:lstStyle/>
          <a:p>
            <a:pPr marL="457200" indent="-457200">
              <a:buFont typeface="+mj-lt"/>
              <a:buAutoNum type="arabicPeriod"/>
            </a:pPr>
            <a:r>
              <a:rPr lang="en-US" sz="2000" dirty="0" smtClean="0"/>
              <a:t>User interface thread runs a message loop, getting and processing UI messages.</a:t>
            </a:r>
          </a:p>
          <a:p>
            <a:pPr marL="457200" indent="-457200">
              <a:buFont typeface="+mj-lt"/>
              <a:buAutoNum type="arabicPeriod"/>
            </a:pPr>
            <a:r>
              <a:rPr lang="en-US" sz="2000" dirty="0" smtClean="0"/>
              <a:t>After UI message is processed the task queue is checked for a task. If a task is available it is removed from queue and processed.</a:t>
            </a:r>
          </a:p>
          <a:p>
            <a:pPr marL="457200" indent="-457200">
              <a:buFont typeface="+mj-lt"/>
              <a:buAutoNum type="arabicPeriod"/>
            </a:pPr>
            <a:r>
              <a:rPr lang="en-US" sz="2000" dirty="0" smtClean="0"/>
              <a:t>Worker thread creates a task for given function. It retrieves a future, which worker thread can use to check task completion. The task is pushed to queue.</a:t>
            </a:r>
            <a:endParaRPr lang="en-US" sz="2000"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Dodecagon 6"/>
          <p:cNvSpPr/>
          <p:nvPr/>
        </p:nvSpPr>
        <p:spPr>
          <a:xfrm>
            <a:off x="4114800" y="234315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8" name="Dodecagon 7"/>
          <p:cNvSpPr/>
          <p:nvPr/>
        </p:nvSpPr>
        <p:spPr>
          <a:xfrm>
            <a:off x="4114800" y="34290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9" name="Dodecagon 8"/>
          <p:cNvSpPr/>
          <p:nvPr/>
        </p:nvSpPr>
        <p:spPr>
          <a:xfrm>
            <a:off x="4114800" y="51435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3</a:t>
            </a:r>
            <a:endParaRPr lang="en-US" sz="1400" dirty="0"/>
          </a:p>
        </p:txBody>
      </p:sp>
    </p:spTree>
    <p:extLst>
      <p:ext uri="{BB962C8B-B14F-4D97-AF65-F5344CB8AC3E}">
        <p14:creationId xmlns:p14="http://schemas.microsoft.com/office/powerpoint/2010/main" val="14403861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Promise and future value</a:t>
            </a:r>
            <a:endParaRPr lang="en-US" dirty="0"/>
          </a:p>
        </p:txBody>
      </p:sp>
      <p:sp>
        <p:nvSpPr>
          <p:cNvPr id="3" name="Content Placeholder 2"/>
          <p:cNvSpPr>
            <a:spLocks noGrp="1"/>
          </p:cNvSpPr>
          <p:nvPr>
            <p:ph idx="1"/>
          </p:nvPr>
        </p:nvSpPr>
        <p:spPr/>
        <p:txBody>
          <a:bodyPr>
            <a:normAutofit/>
          </a:bodyPr>
          <a:lstStyle/>
          <a:p>
            <a:r>
              <a:rPr lang="en-US" dirty="0"/>
              <a:t>A </a:t>
            </a:r>
            <a:r>
              <a:rPr lang="en-US" i="1" dirty="0"/>
              <a:t>promise</a:t>
            </a:r>
            <a:r>
              <a:rPr lang="en-US" dirty="0"/>
              <a:t> is a vehicle for passing the return value (or an exception) from the thread executing a function to the thread that cashes in on the function future. </a:t>
            </a:r>
            <a:endParaRPr lang="en-US" dirty="0" smtClean="0"/>
          </a:p>
          <a:p>
            <a:r>
              <a:rPr lang="en-US" dirty="0"/>
              <a:t>A </a:t>
            </a:r>
            <a:r>
              <a:rPr lang="en-US" i="1" dirty="0"/>
              <a:t>future</a:t>
            </a:r>
            <a:r>
              <a:rPr lang="en-US" dirty="0"/>
              <a:t> is the synchronization object constructed around the receiving end of the </a:t>
            </a:r>
            <a:r>
              <a:rPr lang="en-US" i="1" dirty="0"/>
              <a:t>promise</a:t>
            </a:r>
            <a:r>
              <a:rPr lang="en-US" dirty="0"/>
              <a:t> channel. The calling thread obtains a </a:t>
            </a:r>
            <a:r>
              <a:rPr lang="en-US" i="1" dirty="0"/>
              <a:t>future</a:t>
            </a:r>
            <a:r>
              <a:rPr lang="en-US" dirty="0"/>
              <a:t> using </a:t>
            </a:r>
            <a:r>
              <a:rPr lang="en-US" dirty="0">
                <a:latin typeface="Courier New" pitchFamily="49" charset="0"/>
                <a:cs typeface="Courier New" pitchFamily="49" charset="0"/>
              </a:rPr>
              <a:t>promise::</a:t>
            </a:r>
            <a:r>
              <a:rPr lang="en-US" dirty="0" err="1">
                <a:latin typeface="Courier New" pitchFamily="49" charset="0"/>
                <a:cs typeface="Courier New" pitchFamily="49" charset="0"/>
              </a:rPr>
              <a:t>get_future</a:t>
            </a:r>
            <a:r>
              <a:rPr lang="en-US" dirty="0"/>
              <a:t>. </a:t>
            </a:r>
            <a:endParaRPr lang="en-US" dirty="0" smtClean="0">
              <a:latin typeface="Courier New" pitchFamily="49" charset="0"/>
              <a:cs typeface="Courier New" pitchFamily="49" charset="0"/>
            </a:endParaRP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41906582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a:t>
            </a:r>
            <a:r>
              <a:rPr lang="en-US" dirty="0" err="1" smtClean="0"/>
              <a:t>std</a:t>
            </a:r>
            <a:r>
              <a:rPr lang="en-US" dirty="0" smtClean="0"/>
              <a:t>::promise</a:t>
            </a:r>
            <a:endParaRPr lang="en-US" dirty="0"/>
          </a:p>
        </p:txBody>
      </p:sp>
      <p:sp>
        <p:nvSpPr>
          <p:cNvPr id="4" name="Content Placeholder 3"/>
          <p:cNvSpPr>
            <a:spLocks noGrp="1"/>
          </p:cNvSpPr>
          <p:nvPr>
            <p:ph sz="half" idx="1"/>
          </p:nvPr>
        </p:nvSpPr>
        <p:spPr/>
        <p:txBody>
          <a:bodyPr>
            <a:normAutofit fontScale="62500" lnSpcReduction="20000"/>
          </a:bodyPr>
          <a:lstStyle/>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thread_proc</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&gt;&amp; </a:t>
            </a:r>
            <a:r>
              <a:rPr lang="en-US" dirty="0" err="1">
                <a:solidFill>
                  <a:srgbClr val="808080"/>
                </a:solidFill>
                <a:highlight>
                  <a:srgbClr val="FFFFFF"/>
                </a:highlight>
                <a:latin typeface="Consolas"/>
              </a:rPr>
              <a:t>my_promise</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try</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result = rand() % 10;</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if</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!result ) </a:t>
            </a:r>
            <a:r>
              <a:rPr lang="en-US" dirty="0">
                <a:solidFill>
                  <a:srgbClr val="0000FF"/>
                </a:solidFill>
                <a:highlight>
                  <a:srgbClr val="FFFFFF"/>
                </a:highlight>
                <a:latin typeface="Consolas"/>
              </a:rPr>
              <a:t>throw</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logic_error</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"watch me"</a:t>
            </a: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my_promise</a:t>
            </a:r>
            <a:r>
              <a:rPr lang="en-US" dirty="0" err="1">
                <a:solidFill>
                  <a:srgbClr val="000000"/>
                </a:solidFill>
                <a:highlight>
                  <a:srgbClr val="FFFFFF"/>
                </a:highlight>
                <a:latin typeface="Consolas"/>
              </a:rPr>
              <a:t>.set_value</a:t>
            </a:r>
            <a:r>
              <a:rPr lang="en-US" dirty="0">
                <a:solidFill>
                  <a:srgbClr val="000000"/>
                </a:solidFill>
                <a:highlight>
                  <a:srgbClr val="FFFFFF"/>
                </a:highlight>
                <a:latin typeface="Consolas"/>
              </a:rPr>
              <a:t>( result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catch</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my_promise</a:t>
            </a:r>
            <a:r>
              <a:rPr lang="en-US" dirty="0" err="1">
                <a:solidFill>
                  <a:srgbClr val="000000"/>
                </a:solidFill>
                <a:highlight>
                  <a:srgbClr val="FFFFFF"/>
                </a:highlight>
                <a:latin typeface="Consolas"/>
              </a:rPr>
              <a:t>.set_exception</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current_exception</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using_promise</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my_promise</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future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smtClean="0">
                <a:solidFill>
                  <a:srgbClr val="000000"/>
                </a:solidFill>
                <a:highlight>
                  <a:srgbClr val="FFFFFF"/>
                </a:highlight>
                <a:latin typeface="Consolas"/>
              </a:rPr>
              <a:t>my_future</a:t>
            </a:r>
            <a:r>
              <a:rPr lang="en-US" dirty="0" smtClean="0">
                <a:solidFill>
                  <a:srgbClr val="000000"/>
                </a:solidFill>
                <a:highlight>
                  <a:srgbClr val="FFFFFF"/>
                </a:highlight>
                <a:latin typeface="Consolas"/>
              </a:rPr>
              <a:t> = </a:t>
            </a:r>
            <a:r>
              <a:rPr lang="en-US" dirty="0" err="1">
                <a:solidFill>
                  <a:srgbClr val="000000"/>
                </a:solidFill>
                <a:highlight>
                  <a:srgbClr val="FFFFFF"/>
                </a:highlight>
                <a:latin typeface="Consolas"/>
              </a:rPr>
              <a:t>my_promise.get_future</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my_thread</a:t>
            </a:r>
            <a:r>
              <a:rPr lang="en-US" dirty="0" smtClean="0">
                <a:solidFill>
                  <a:srgbClr val="000000"/>
                </a:solidFill>
                <a:highlight>
                  <a:srgbClr val="FFFFFF"/>
                </a:highlight>
                <a:latin typeface="Consolas"/>
              </a:rPr>
              <a:t>(&amp;</a:t>
            </a:r>
            <a:r>
              <a:rPr lang="en-US" dirty="0" err="1" smtClean="0">
                <a:solidFill>
                  <a:srgbClr val="000000"/>
                </a:solidFill>
                <a:highlight>
                  <a:srgbClr val="FFFFFF"/>
                </a:highlight>
                <a:latin typeface="Consolas"/>
              </a:rPr>
              <a:t>thread_proc,std</a:t>
            </a:r>
            <a:r>
              <a:rPr lang="en-US" dirty="0">
                <a:solidFill>
                  <a:srgbClr val="000000"/>
                </a:solidFill>
                <a:highlight>
                  <a:srgbClr val="FFFFFF"/>
                </a:highlight>
                <a:latin typeface="Consolas"/>
              </a:rPr>
              <a:t>::</a:t>
            </a:r>
            <a:r>
              <a:rPr lang="en-US" dirty="0" smtClean="0">
                <a:solidFill>
                  <a:srgbClr val="000000"/>
                </a:solidFill>
                <a:highlight>
                  <a:srgbClr val="FFFFFF"/>
                </a:highlight>
                <a:latin typeface="Consolas"/>
              </a:rPr>
              <a:t>ref(</a:t>
            </a:r>
            <a:r>
              <a:rPr lang="en-US" dirty="0" err="1" smtClean="0">
                <a:solidFill>
                  <a:srgbClr val="000000"/>
                </a:solidFill>
                <a:highlight>
                  <a:srgbClr val="FFFFFF"/>
                </a:highlight>
                <a:latin typeface="Consolas"/>
              </a:rPr>
              <a:t>my_promise</a:t>
            </a:r>
            <a:r>
              <a:rPr lang="en-US" dirty="0" smtClean="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smtClean="0">
                <a:solidFill>
                  <a:srgbClr val="0000FF"/>
                </a:solidFill>
                <a:highlight>
                  <a:srgbClr val="FFFFFF"/>
                </a:highlight>
                <a:latin typeface="Consolas"/>
              </a:rPr>
              <a:t>   try</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"value = "</a:t>
            </a:r>
            <a:r>
              <a:rPr lang="en-US" dirty="0">
                <a:solidFill>
                  <a:srgbClr val="000000"/>
                </a:solidFill>
                <a:highlight>
                  <a:srgbClr val="FFFFFF"/>
                </a:highlight>
                <a:latin typeface="Consolas"/>
              </a:rPr>
              <a:t> &lt;&lt; </a:t>
            </a:r>
            <a:r>
              <a:rPr lang="en-US" dirty="0" err="1">
                <a:solidFill>
                  <a:srgbClr val="000000"/>
                </a:solidFill>
                <a:highlight>
                  <a:srgbClr val="FFFFFF"/>
                </a:highlight>
                <a:latin typeface="Consolas"/>
              </a:rPr>
              <a:t>my_future.get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catch</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exception</a:t>
            </a:r>
            <a:r>
              <a:rPr lang="en-US" dirty="0">
                <a:solidFill>
                  <a:srgbClr val="000000"/>
                </a:solidFill>
                <a:highlight>
                  <a:srgbClr val="FFFFFF"/>
                </a:highlight>
                <a:latin typeface="Consolas"/>
              </a:rPr>
              <a:t>&amp; e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"exception = "</a:t>
            </a:r>
            <a:r>
              <a:rPr lang="en-US" dirty="0">
                <a:solidFill>
                  <a:srgbClr val="000000"/>
                </a:solidFill>
                <a:highlight>
                  <a:srgbClr val="FFFFFF"/>
                </a:highlight>
                <a:latin typeface="Consolas"/>
              </a:rPr>
              <a:t> &lt;&lt; </a:t>
            </a:r>
            <a:r>
              <a:rPr lang="en-US" dirty="0" err="1">
                <a:solidFill>
                  <a:srgbClr val="000000"/>
                </a:solidFill>
                <a:highlight>
                  <a:srgbClr val="FFFFFF"/>
                </a:highlight>
                <a:latin typeface="Consolas"/>
              </a:rPr>
              <a:t>e.what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my_thread.join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fontScale="62500" lnSpcReduction="20000"/>
          </a:bodyPr>
          <a:lstStyle/>
          <a:p>
            <a:pPr marL="457200" indent="-457200">
              <a:buFont typeface="+mj-lt"/>
              <a:buAutoNum type="arabicPeriod"/>
            </a:pPr>
            <a:r>
              <a:rPr lang="en-US" dirty="0" smtClean="0"/>
              <a:t>Thread procedure takes reference to a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::promise</a:t>
            </a:r>
            <a:r>
              <a:rPr lang="en-US" dirty="0" smtClean="0"/>
              <a:t> as a parameter.</a:t>
            </a:r>
          </a:p>
          <a:p>
            <a:pPr marL="457200" indent="-457200">
              <a:buFont typeface="+mj-lt"/>
              <a:buAutoNum type="arabicPeriod"/>
            </a:pPr>
            <a:r>
              <a:rPr lang="en-US" dirty="0" smtClean="0"/>
              <a:t>When computing result, various exceptions may occur. Therefore </a:t>
            </a:r>
            <a:r>
              <a:rPr lang="en-US" dirty="0" smtClean="0">
                <a:latin typeface="Courier New" pitchFamily="49" charset="0"/>
                <a:cs typeface="Courier New" pitchFamily="49" charset="0"/>
              </a:rPr>
              <a:t>try – catch </a:t>
            </a:r>
            <a:r>
              <a:rPr lang="en-US" dirty="0" smtClean="0"/>
              <a:t>block.</a:t>
            </a:r>
            <a:endParaRPr lang="en-US" dirty="0"/>
          </a:p>
          <a:p>
            <a:pPr marL="457200" indent="-457200">
              <a:buFont typeface="+mj-lt"/>
              <a:buAutoNum type="arabicPeriod"/>
            </a:pPr>
            <a:r>
              <a:rPr lang="en-US" dirty="0" smtClean="0"/>
              <a:t>When result is computed, it is stored to promise object by </a:t>
            </a:r>
            <a:r>
              <a:rPr lang="en-US" dirty="0" smtClean="0">
                <a:latin typeface="Courier New" pitchFamily="49" charset="0"/>
                <a:cs typeface="Courier New" pitchFamily="49" charset="0"/>
              </a:rPr>
              <a:t>promise::</a:t>
            </a:r>
            <a:r>
              <a:rPr lang="en-US" dirty="0" err="1" smtClean="0">
                <a:latin typeface="Courier New" pitchFamily="49" charset="0"/>
                <a:cs typeface="Courier New" pitchFamily="49" charset="0"/>
              </a:rPr>
              <a:t>set_value</a:t>
            </a:r>
            <a:r>
              <a:rPr lang="en-US" dirty="0" smtClean="0"/>
              <a:t>.</a:t>
            </a:r>
          </a:p>
          <a:p>
            <a:pPr marL="457200" indent="-457200">
              <a:buFont typeface="+mj-lt"/>
              <a:buAutoNum type="arabicPeriod"/>
            </a:pPr>
            <a:r>
              <a:rPr lang="en-US" dirty="0" smtClean="0"/>
              <a:t>If exception occurs, then it is stored to promise object instead of result using </a:t>
            </a:r>
            <a:r>
              <a:rPr lang="en-US" dirty="0" smtClean="0">
                <a:latin typeface="Courier New" pitchFamily="49" charset="0"/>
                <a:cs typeface="Courier New" pitchFamily="49" charset="0"/>
              </a:rPr>
              <a:t>promise::</a:t>
            </a:r>
            <a:r>
              <a:rPr lang="en-US" dirty="0" err="1" smtClean="0">
                <a:latin typeface="Courier New" pitchFamily="49" charset="0"/>
                <a:cs typeface="Courier New" pitchFamily="49" charset="0"/>
              </a:rPr>
              <a:t>set_exception</a:t>
            </a:r>
            <a:r>
              <a:rPr lang="en-US" dirty="0" smtClean="0"/>
              <a:t>.</a:t>
            </a:r>
          </a:p>
          <a:p>
            <a:pPr marL="457200" indent="-457200">
              <a:buFont typeface="+mj-lt"/>
              <a:buAutoNum type="arabicPeriod"/>
            </a:pPr>
            <a:r>
              <a:rPr lang="en-US" dirty="0" smtClean="0"/>
              <a:t>Caller thread maintains promise object, future objet and thread object.</a:t>
            </a:r>
          </a:p>
          <a:p>
            <a:pPr marL="457200" indent="-457200">
              <a:buFont typeface="+mj-lt"/>
              <a:buAutoNum type="arabicPeriod"/>
            </a:pPr>
            <a:r>
              <a:rPr lang="en-US" dirty="0" smtClean="0"/>
              <a:t>Obtaining result via </a:t>
            </a:r>
            <a:r>
              <a:rPr lang="en-US" dirty="0" smtClean="0">
                <a:latin typeface="Courier New" pitchFamily="49" charset="0"/>
                <a:cs typeface="Courier New" pitchFamily="49" charset="0"/>
              </a:rPr>
              <a:t>future::get</a:t>
            </a:r>
            <a:r>
              <a:rPr lang="en-US" dirty="0" smtClean="0"/>
              <a:t> may throw exceptions. Try – catch block is needed.</a:t>
            </a:r>
          </a:p>
          <a:p>
            <a:pPr marL="457200" indent="-457200">
              <a:buFont typeface="+mj-lt"/>
              <a:buAutoNum type="arabicPeriod"/>
            </a:pPr>
            <a:r>
              <a:rPr lang="en-US" dirty="0" smtClean="0"/>
              <a:t>Caller must ensure that thread object is not joinable before destruction, otherwise </a:t>
            </a:r>
            <a:r>
              <a:rPr lang="en-US" dirty="0" smtClean="0">
                <a:latin typeface="Courier New" pitchFamily="49" charset="0"/>
                <a:cs typeface="Courier New" pitchFamily="49" charset="0"/>
              </a:rPr>
              <a:t>~thread</a:t>
            </a:r>
            <a:r>
              <a:rPr lang="en-US" dirty="0" smtClean="0"/>
              <a:t> will call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::terminate</a:t>
            </a:r>
            <a:r>
              <a:rPr lang="en-US" dirty="0" smtClean="0"/>
              <a:t>.</a:t>
            </a:r>
            <a:endParaRPr lang="en-US" dirty="0"/>
          </a:p>
        </p:txBody>
      </p:sp>
      <p:sp>
        <p:nvSpPr>
          <p:cNvPr id="6" name="Dodecagon 5"/>
          <p:cNvSpPr/>
          <p:nvPr/>
        </p:nvSpPr>
        <p:spPr>
          <a:xfrm>
            <a:off x="4191000" y="16002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7" name="Dodecagon 6"/>
          <p:cNvSpPr/>
          <p:nvPr/>
        </p:nvSpPr>
        <p:spPr>
          <a:xfrm>
            <a:off x="4191000" y="20574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8" name="Dodecagon 7"/>
          <p:cNvSpPr/>
          <p:nvPr/>
        </p:nvSpPr>
        <p:spPr>
          <a:xfrm>
            <a:off x="4191000" y="25146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3</a:t>
            </a:r>
            <a:endParaRPr lang="en-US" sz="1400" dirty="0"/>
          </a:p>
        </p:txBody>
      </p:sp>
      <p:sp>
        <p:nvSpPr>
          <p:cNvPr id="9" name="Dodecagon 8"/>
          <p:cNvSpPr/>
          <p:nvPr/>
        </p:nvSpPr>
        <p:spPr>
          <a:xfrm>
            <a:off x="4191000" y="2887133"/>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10" name="Dodecagon 9"/>
          <p:cNvSpPr/>
          <p:nvPr/>
        </p:nvSpPr>
        <p:spPr>
          <a:xfrm>
            <a:off x="4191000" y="38100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5</a:t>
            </a:r>
            <a:endParaRPr lang="en-US" sz="1400" dirty="0"/>
          </a:p>
        </p:txBody>
      </p:sp>
      <p:sp>
        <p:nvSpPr>
          <p:cNvPr id="11" name="Dodecagon 10"/>
          <p:cNvSpPr/>
          <p:nvPr/>
        </p:nvSpPr>
        <p:spPr>
          <a:xfrm>
            <a:off x="4191000" y="44958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6</a:t>
            </a:r>
          </a:p>
        </p:txBody>
      </p:sp>
      <p:sp>
        <p:nvSpPr>
          <p:cNvPr id="12" name="Dodecagon 11"/>
          <p:cNvSpPr/>
          <p:nvPr/>
        </p:nvSpPr>
        <p:spPr>
          <a:xfrm>
            <a:off x="4191000" y="5486400"/>
            <a:ext cx="228600" cy="2286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7</a:t>
            </a:r>
            <a:endParaRPr lang="en-US" sz="1400"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56931226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Shared state</a:t>
            </a:r>
            <a:endParaRPr lang="en-US" dirty="0"/>
          </a:p>
        </p:txBody>
      </p:sp>
      <p:sp>
        <p:nvSpPr>
          <p:cNvPr id="11" name="Oval 10"/>
          <p:cNvSpPr/>
          <p:nvPr/>
        </p:nvSpPr>
        <p:spPr>
          <a:xfrm>
            <a:off x="3581400" y="4800600"/>
            <a:ext cx="1524000" cy="8382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smtClean="0"/>
              <a:t>Shared state</a:t>
            </a:r>
            <a:endParaRPr lang="en-US" dirty="0"/>
          </a:p>
        </p:txBody>
      </p:sp>
      <p:sp>
        <p:nvSpPr>
          <p:cNvPr id="12" name="Rectangle 11"/>
          <p:cNvSpPr/>
          <p:nvPr/>
        </p:nvSpPr>
        <p:spPr>
          <a:xfrm>
            <a:off x="2286000" y="2514600"/>
            <a:ext cx="1143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future</a:t>
            </a:r>
            <a:endParaRPr lang="en-US" dirty="0"/>
          </a:p>
        </p:txBody>
      </p:sp>
      <p:sp>
        <p:nvSpPr>
          <p:cNvPr id="13" name="Rectangle 12"/>
          <p:cNvSpPr/>
          <p:nvPr/>
        </p:nvSpPr>
        <p:spPr>
          <a:xfrm>
            <a:off x="5410200" y="2514600"/>
            <a:ext cx="1143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promise</a:t>
            </a:r>
            <a:endParaRPr lang="en-US" dirty="0"/>
          </a:p>
        </p:txBody>
      </p:sp>
      <p:cxnSp>
        <p:nvCxnSpPr>
          <p:cNvPr id="15" name="Straight Arrow Connector 14"/>
          <p:cNvCxnSpPr/>
          <p:nvPr/>
        </p:nvCxnSpPr>
        <p:spPr>
          <a:xfrm flipH="1">
            <a:off x="3581400" y="2819400"/>
            <a:ext cx="1600200" cy="0"/>
          </a:xfrm>
          <a:prstGeom prst="straightConnector1">
            <a:avLst/>
          </a:prstGeom>
          <a:ln w="12700">
            <a:prstDash val="sysDash"/>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505200" y="2438400"/>
            <a:ext cx="1828800" cy="369332"/>
          </a:xfrm>
          <a:prstGeom prst="rect">
            <a:avLst/>
          </a:prstGeom>
          <a:noFill/>
        </p:spPr>
        <p:txBody>
          <a:bodyPr wrap="square" rtlCol="0">
            <a:spAutoFit/>
          </a:bodyPr>
          <a:lstStyle/>
          <a:p>
            <a:pPr algn="ctr"/>
            <a:r>
              <a:rPr lang="en-US" dirty="0" err="1" smtClean="0">
                <a:latin typeface="Courier New" pitchFamily="49" charset="0"/>
                <a:cs typeface="Courier New" pitchFamily="49" charset="0"/>
              </a:rPr>
              <a:t>get_future</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p:txBody>
      </p:sp>
      <p:cxnSp>
        <p:nvCxnSpPr>
          <p:cNvPr id="18" name="Straight Arrow Connector 17"/>
          <p:cNvCxnSpPr>
            <a:stCxn id="11" idx="1"/>
            <a:endCxn id="12" idx="2"/>
          </p:cNvCxnSpPr>
          <p:nvPr/>
        </p:nvCxnSpPr>
        <p:spPr>
          <a:xfrm flipH="1" flipV="1">
            <a:off x="2857500" y="3124200"/>
            <a:ext cx="947085" cy="1799152"/>
          </a:xfrm>
          <a:prstGeom prst="straightConnector1">
            <a:avLst/>
          </a:prstGeom>
          <a:ln w="25400" cmpd="sng">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3" idx="2"/>
            <a:endCxn id="11" idx="7"/>
          </p:cNvCxnSpPr>
          <p:nvPr/>
        </p:nvCxnSpPr>
        <p:spPr>
          <a:xfrm flipH="1">
            <a:off x="4882215" y="3124200"/>
            <a:ext cx="1099485" cy="1799152"/>
          </a:xfrm>
          <a:prstGeom prst="straightConnector1">
            <a:avLst/>
          </a:prstGeom>
          <a:ln w="25400" cmpd="sng">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286000" y="1676400"/>
            <a:ext cx="1143000" cy="369332"/>
          </a:xfrm>
          <a:prstGeom prst="rect">
            <a:avLst/>
          </a:prstGeom>
          <a:noFill/>
        </p:spPr>
        <p:txBody>
          <a:bodyPr wrap="square" rtlCol="0" anchor="ctr">
            <a:spAutoFit/>
          </a:bodyPr>
          <a:lstStyle/>
          <a:p>
            <a:r>
              <a:rPr lang="en-US" b="1" dirty="0" smtClean="0"/>
              <a:t>Thread A</a:t>
            </a:r>
            <a:endParaRPr lang="en-US" b="1" dirty="0"/>
          </a:p>
        </p:txBody>
      </p:sp>
      <p:sp>
        <p:nvSpPr>
          <p:cNvPr id="22" name="TextBox 21"/>
          <p:cNvSpPr txBox="1"/>
          <p:nvPr/>
        </p:nvSpPr>
        <p:spPr>
          <a:xfrm>
            <a:off x="5410200" y="1681665"/>
            <a:ext cx="1143000" cy="369332"/>
          </a:xfrm>
          <a:prstGeom prst="rect">
            <a:avLst/>
          </a:prstGeom>
          <a:noFill/>
        </p:spPr>
        <p:txBody>
          <a:bodyPr wrap="square" rtlCol="0" anchor="ctr">
            <a:spAutoFit/>
          </a:bodyPr>
          <a:lstStyle/>
          <a:p>
            <a:r>
              <a:rPr lang="en-US" b="1" dirty="0" smtClean="0"/>
              <a:t>Thread B</a:t>
            </a:r>
            <a:endParaRPr lang="en-US" b="1" dirty="0"/>
          </a:p>
        </p:txBody>
      </p:sp>
      <p:sp>
        <p:nvSpPr>
          <p:cNvPr id="23" name="TextBox 22"/>
          <p:cNvSpPr txBox="1"/>
          <p:nvPr/>
        </p:nvSpPr>
        <p:spPr>
          <a:xfrm>
            <a:off x="6096000" y="3784937"/>
            <a:ext cx="2286000" cy="646331"/>
          </a:xfrm>
          <a:prstGeom prst="rect">
            <a:avLst/>
          </a:prstGeom>
          <a:noFill/>
        </p:spPr>
        <p:txBody>
          <a:bodyPr wrap="square" rtlCol="0">
            <a:spAutoFit/>
          </a:bodyPr>
          <a:lstStyle/>
          <a:p>
            <a:r>
              <a:rPr lang="en-US" dirty="0" err="1" smtClean="0">
                <a:latin typeface="Courier New" pitchFamily="49" charset="0"/>
                <a:cs typeface="Courier New" pitchFamily="49" charset="0"/>
              </a:rPr>
              <a:t>set_value</a:t>
            </a:r>
            <a:r>
              <a:rPr lang="en-US" dirty="0" smtClean="0">
                <a:latin typeface="Courier New" pitchFamily="49" charset="0"/>
                <a:cs typeface="Courier New" pitchFamily="49" charset="0"/>
              </a:rPr>
              <a:t>()</a:t>
            </a:r>
            <a:r>
              <a:rPr lang="en-US" dirty="0" smtClean="0"/>
              <a:t> or </a:t>
            </a:r>
            <a:r>
              <a:rPr lang="en-US" dirty="0" err="1" smtClean="0">
                <a:latin typeface="Courier New" pitchFamily="49" charset="0"/>
                <a:cs typeface="Courier New" pitchFamily="49" charset="0"/>
              </a:rPr>
              <a:t>set_exception</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p:txBody>
      </p:sp>
      <p:sp>
        <p:nvSpPr>
          <p:cNvPr id="24" name="TextBox 23"/>
          <p:cNvSpPr txBox="1"/>
          <p:nvPr/>
        </p:nvSpPr>
        <p:spPr>
          <a:xfrm>
            <a:off x="2133600" y="4431268"/>
            <a:ext cx="876300" cy="369332"/>
          </a:xfrm>
          <a:prstGeom prst="rect">
            <a:avLst/>
          </a:prstGeom>
          <a:noFill/>
        </p:spPr>
        <p:txBody>
          <a:bodyPr wrap="square" rtlCol="0">
            <a:spAutoFit/>
          </a:bodyPr>
          <a:lstStyle/>
          <a:p>
            <a:r>
              <a:rPr lang="en-US" dirty="0" smtClean="0">
                <a:latin typeface="Courier New" pitchFamily="49" charset="0"/>
                <a:cs typeface="Courier New" pitchFamily="49" charset="0"/>
              </a:rPr>
              <a:t>get()</a:t>
            </a:r>
            <a:endParaRPr lang="en-US" dirty="0">
              <a:latin typeface="Courier New" pitchFamily="49" charset="0"/>
              <a:cs typeface="Courier New" pitchFamily="49" charset="0"/>
            </a:endParaRPr>
          </a:p>
        </p:txBody>
      </p:sp>
      <p:cxnSp>
        <p:nvCxnSpPr>
          <p:cNvPr id="31" name="Straight Arrow Connector 30"/>
          <p:cNvCxnSpPr/>
          <p:nvPr/>
        </p:nvCxnSpPr>
        <p:spPr>
          <a:xfrm flipV="1">
            <a:off x="6248400" y="3276600"/>
            <a:ext cx="0" cy="508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2514600" y="3276600"/>
            <a:ext cx="0" cy="11546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Date Placeholder 2"/>
          <p:cNvSpPr>
            <a:spLocks noGrp="1"/>
          </p:cNvSpPr>
          <p:nvPr>
            <p:ph type="dt" sz="half" idx="10"/>
          </p:nvPr>
        </p:nvSpPr>
        <p:spPr/>
        <p:txBody>
          <a:bodyPr/>
          <a:lstStyle/>
          <a:p>
            <a:r>
              <a:rPr lang="cs-CZ" smtClean="0"/>
              <a:t>19.1.2014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190719485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Copying exceptions</a:t>
            </a:r>
            <a:endParaRPr lang="en-US" dirty="0"/>
          </a:p>
        </p:txBody>
      </p:sp>
      <p:sp>
        <p:nvSpPr>
          <p:cNvPr id="3" name="Content Placeholder 2"/>
          <p:cNvSpPr>
            <a:spLocks noGrp="1"/>
          </p:cNvSpPr>
          <p:nvPr>
            <p:ph sz="half" idx="1"/>
          </p:nvPr>
        </p:nvSpPr>
        <p:spPr/>
        <p:txBody>
          <a:bodyPr>
            <a:normAutofit fontScale="92500" lnSpcReduction="10000"/>
          </a:bodyPr>
          <a:lstStyle/>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thread_proc</a:t>
            </a:r>
            <a:r>
              <a:rPr lang="en-US" dirty="0">
                <a:solidFill>
                  <a:srgbClr val="000000"/>
                </a:solidFill>
                <a:highlight>
                  <a:srgbClr val="FFFFFF"/>
                </a:highlight>
                <a:latin typeface="Consolas"/>
              </a:rPr>
              <a:t>( </a:t>
            </a:r>
            <a:endParaRPr lang="en-US" dirty="0" smtClean="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&gt;&amp; </a:t>
            </a:r>
            <a:r>
              <a:rPr lang="en-US" dirty="0" err="1">
                <a:solidFill>
                  <a:srgbClr val="808080"/>
                </a:solidFill>
                <a:highlight>
                  <a:srgbClr val="FFFFFF"/>
                </a:highlight>
                <a:latin typeface="Consolas"/>
              </a:rPr>
              <a:t>my_promise</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result = rand() % 10;</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if</a:t>
            </a:r>
            <a:r>
              <a:rPr lang="en-US" dirty="0">
                <a:solidFill>
                  <a:srgbClr val="000000"/>
                </a:solidFill>
                <a:highlight>
                  <a:srgbClr val="FFFFFF"/>
                </a:highlight>
                <a:latin typeface="Consolas"/>
              </a:rPr>
              <a:t>( result != 0 )</a:t>
            </a:r>
          </a:p>
          <a:p>
            <a:pPr marL="0"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my_promise</a:t>
            </a:r>
            <a:r>
              <a:rPr lang="en-US" dirty="0" err="1">
                <a:solidFill>
                  <a:srgbClr val="000000"/>
                </a:solidFill>
                <a:highlight>
                  <a:srgbClr val="FFFFFF"/>
                </a:highlight>
                <a:latin typeface="Consolas"/>
              </a:rPr>
              <a:t>.set_exception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smtClean="0">
                <a:solidFill>
                  <a:srgbClr val="000000"/>
                </a:solidFill>
                <a:highlight>
                  <a:srgbClr val="FFFFFF"/>
                </a:highlight>
                <a:latin typeface="Consolas"/>
              </a:rPr>
              <a:t>make_exception_ptr</a:t>
            </a:r>
            <a:r>
              <a:rPr lang="en-US" dirty="0" smtClean="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logic_error</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"watch me"</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else</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my_promise</a:t>
            </a:r>
            <a:r>
              <a:rPr lang="en-US" dirty="0" err="1">
                <a:solidFill>
                  <a:srgbClr val="000000"/>
                </a:solidFill>
                <a:highlight>
                  <a:srgbClr val="FFFFFF"/>
                </a:highlight>
                <a:latin typeface="Consolas"/>
              </a:rPr>
              <a:t>.set_value</a:t>
            </a:r>
            <a:r>
              <a:rPr lang="en-US" dirty="0">
                <a:solidFill>
                  <a:srgbClr val="000000"/>
                </a:solidFill>
                <a:highlight>
                  <a:srgbClr val="FFFFFF"/>
                </a:highlight>
                <a:latin typeface="Consolas"/>
              </a:rPr>
              <a:t>( result );</a:t>
            </a:r>
          </a:p>
          <a:p>
            <a:pPr marL="0" indent="0">
              <a:buNone/>
            </a:pPr>
            <a:r>
              <a:rPr lang="en-US" dirty="0">
                <a:solidFill>
                  <a:srgbClr val="000000"/>
                </a:solidFill>
                <a:highlight>
                  <a:srgbClr val="FFFFFF"/>
                </a:highlight>
                <a:latin typeface="Consolas"/>
              </a:rPr>
              <a:t>}</a:t>
            </a:r>
            <a:endParaRPr lang="en-US" dirty="0"/>
          </a:p>
        </p:txBody>
      </p:sp>
      <p:sp>
        <p:nvSpPr>
          <p:cNvPr id="4" name="Content Placeholder 3"/>
          <p:cNvSpPr>
            <a:spLocks noGrp="1"/>
          </p:cNvSpPr>
          <p:nvPr>
            <p:ph sz="half" idx="2"/>
          </p:nvPr>
        </p:nvSpPr>
        <p:spPr/>
        <p:txBody>
          <a:bodyPr>
            <a:normAutofit fontScale="92500" lnSpcReduction="10000"/>
          </a:bodyPr>
          <a:lstStyle/>
          <a:p>
            <a:r>
              <a:rPr lang="en-US" dirty="0" smtClean="0"/>
              <a:t>More efficient than previous example.</a:t>
            </a:r>
          </a:p>
          <a:p>
            <a:r>
              <a:rPr lang="en-US" dirty="0" smtClean="0"/>
              <a:t>Use only if you know types of exceptions.</a:t>
            </a:r>
          </a:p>
          <a:p>
            <a:r>
              <a:rPr lang="en-US" dirty="0" smtClean="0"/>
              <a:t>catch(…)  is more generic. Can handle any type of exception.</a:t>
            </a:r>
          </a:p>
          <a:p>
            <a:r>
              <a:rPr lang="en-US" dirty="0" smtClean="0"/>
              <a:t>Instead of throwing an exception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make_exception_ptr</a:t>
            </a:r>
            <a:r>
              <a:rPr lang="en-US" dirty="0" smtClean="0"/>
              <a:t> function is used.</a:t>
            </a:r>
          </a:p>
          <a:p>
            <a:r>
              <a:rPr lang="en-US" dirty="0">
                <a:latin typeface="Courier New" pitchFamily="49" charset="0"/>
                <a:cs typeface="Courier New" pitchFamily="49" charset="0"/>
              </a:rPr>
              <a:t>t</a:t>
            </a:r>
            <a:r>
              <a:rPr lang="en-US" dirty="0" smtClean="0">
                <a:latin typeface="Courier New" pitchFamily="49" charset="0"/>
                <a:cs typeface="Courier New" pitchFamily="49" charset="0"/>
              </a:rPr>
              <a:t>ry-catch</a:t>
            </a:r>
            <a:r>
              <a:rPr lang="en-US" dirty="0" smtClean="0"/>
              <a:t> block is not needed now.</a:t>
            </a:r>
          </a:p>
          <a:p>
            <a:r>
              <a:rPr lang="en-US" dirty="0" err="1">
                <a:latin typeface="Courier New" pitchFamily="49" charset="0"/>
                <a:cs typeface="Courier New" pitchFamily="49" charset="0"/>
              </a:rPr>
              <a:t>std</a:t>
            </a:r>
            <a:r>
              <a:rPr lang="en-US" dirty="0">
                <a:latin typeface="Courier New" pitchFamily="49" charset="0"/>
                <a:cs typeface="Courier New" pitchFamily="49" charset="0"/>
              </a:rPr>
              <a:t>::</a:t>
            </a:r>
            <a:r>
              <a:rPr lang="en-US" dirty="0" err="1" smtClean="0">
                <a:latin typeface="Courier New" pitchFamily="49" charset="0"/>
                <a:cs typeface="Courier New" pitchFamily="49" charset="0"/>
              </a:rPr>
              <a:t>make_exception_ptr</a:t>
            </a:r>
            <a:r>
              <a:rPr lang="en-US" dirty="0" smtClean="0">
                <a:cs typeface="Courier New" pitchFamily="49" charset="0"/>
              </a:rPr>
              <a:t> has been formerly called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copy_exception</a:t>
            </a:r>
            <a:endParaRPr lang="en-US" dirty="0">
              <a:latin typeface="Courier New" pitchFamily="49" charset="0"/>
              <a:cs typeface="Courier New" pitchFamily="49" charset="0"/>
            </a:endParaRPr>
          </a:p>
        </p:txBody>
      </p:sp>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264850164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std</a:t>
            </a:r>
            <a:r>
              <a:rPr lang="en-US" dirty="0"/>
              <a:t>::</a:t>
            </a:r>
            <a:r>
              <a:rPr lang="en-US" dirty="0" err="1"/>
              <a:t>future_error</a:t>
            </a:r>
            <a:endParaRPr lang="en-US" dirty="0"/>
          </a:p>
        </p:txBody>
      </p:sp>
      <p:sp>
        <p:nvSpPr>
          <p:cNvPr id="5" name="Content Placeholder 4"/>
          <p:cNvSpPr>
            <a:spLocks noGrp="1"/>
          </p:cNvSpPr>
          <p:nvPr>
            <p:ph idx="1"/>
          </p:nvPr>
        </p:nvSpPr>
        <p:spPr/>
        <p:txBody>
          <a:bodyPr>
            <a:normAutofit fontScale="62500" lnSpcReduction="20000"/>
          </a:bodyPr>
          <a:lstStyle/>
          <a:p>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::promise</a:t>
            </a:r>
            <a:r>
              <a:rPr lang="en-US" dirty="0" smtClean="0"/>
              <a:t> throws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future_error</a:t>
            </a:r>
            <a:r>
              <a:rPr lang="en-US" dirty="0" smtClean="0"/>
              <a:t> to signal operations making no sense.</a:t>
            </a:r>
          </a:p>
          <a:p>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future_error</a:t>
            </a:r>
            <a:r>
              <a:rPr lang="en-US" dirty="0" smtClean="0"/>
              <a:t> is derived from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logic_error</a:t>
            </a:r>
            <a:r>
              <a:rPr lang="en-US" dirty="0" smtClean="0"/>
              <a:t>.</a:t>
            </a:r>
          </a:p>
          <a:p>
            <a:pPr marL="0" indent="0">
              <a:buNone/>
            </a:pPr>
            <a:endParaRPr lang="en-US" b="1" dirty="0" smtClean="0"/>
          </a:p>
          <a:p>
            <a:pPr marL="0" indent="0">
              <a:buNone/>
            </a:pPr>
            <a:r>
              <a:rPr lang="en-US" b="1" dirty="0" smtClean="0"/>
              <a:t>Use cases:</a:t>
            </a:r>
          </a:p>
          <a:p>
            <a:r>
              <a:rPr lang="en-US" dirty="0" smtClean="0"/>
              <a:t>Default constructed promise is inactive. Inactive promises are destructed without consequence.</a:t>
            </a:r>
          </a:p>
          <a:p>
            <a:r>
              <a:rPr lang="en-US" dirty="0" smtClean="0"/>
              <a:t>A promise becomes active, when a future is obtained via </a:t>
            </a:r>
            <a:r>
              <a:rPr lang="en-US" dirty="0" err="1" smtClean="0">
                <a:latin typeface="Courier New" pitchFamily="49" charset="0"/>
                <a:cs typeface="Courier New" pitchFamily="49" charset="0"/>
              </a:rPr>
              <a:t>get_future</a:t>
            </a:r>
            <a:r>
              <a:rPr lang="en-US" dirty="0" smtClean="0">
                <a:latin typeface="Courier New" pitchFamily="49" charset="0"/>
                <a:cs typeface="Courier New" pitchFamily="49" charset="0"/>
              </a:rPr>
              <a:t>()</a:t>
            </a:r>
            <a:r>
              <a:rPr lang="en-US" dirty="0" smtClean="0"/>
              <a:t>. Only a single future may be obtained!</a:t>
            </a:r>
          </a:p>
          <a:p>
            <a:r>
              <a:rPr lang="en-US" dirty="0" smtClean="0"/>
              <a:t>A promise must be satisfied by </a:t>
            </a:r>
            <a:r>
              <a:rPr lang="en-US" dirty="0" err="1" smtClean="0">
                <a:latin typeface="Courier New" pitchFamily="49" charset="0"/>
                <a:cs typeface="Courier New" pitchFamily="49" charset="0"/>
              </a:rPr>
              <a:t>set_value</a:t>
            </a:r>
            <a:r>
              <a:rPr lang="en-US" dirty="0" smtClean="0">
                <a:latin typeface="Courier New" pitchFamily="49" charset="0"/>
                <a:cs typeface="Courier New" pitchFamily="49" charset="0"/>
              </a:rPr>
              <a:t>()</a:t>
            </a:r>
            <a:r>
              <a:rPr lang="en-US" dirty="0" smtClean="0"/>
              <a:t> or </a:t>
            </a:r>
            <a:r>
              <a:rPr lang="en-US" dirty="0" err="1" smtClean="0">
                <a:latin typeface="Courier New" pitchFamily="49" charset="0"/>
                <a:cs typeface="Courier New" pitchFamily="49" charset="0"/>
              </a:rPr>
              <a:t>set_exception</a:t>
            </a:r>
            <a:r>
              <a:rPr lang="en-US" dirty="0" smtClean="0">
                <a:latin typeface="Courier New" pitchFamily="49" charset="0"/>
                <a:cs typeface="Courier New" pitchFamily="49" charset="0"/>
              </a:rPr>
              <a:t>()</a:t>
            </a:r>
          </a:p>
          <a:p>
            <a:r>
              <a:rPr lang="en-US" dirty="0" smtClean="0"/>
              <a:t>Satisfied promise is destructed without consequences.</a:t>
            </a:r>
          </a:p>
          <a:p>
            <a:r>
              <a:rPr lang="en-US" dirty="0">
                <a:latin typeface="Courier New" pitchFamily="49" charset="0"/>
                <a:cs typeface="Courier New" pitchFamily="49" charset="0"/>
              </a:rPr>
              <a:t>f</a:t>
            </a:r>
            <a:r>
              <a:rPr lang="en-US" dirty="0" smtClean="0">
                <a:latin typeface="Courier New" pitchFamily="49" charset="0"/>
                <a:cs typeface="Courier New" pitchFamily="49" charset="0"/>
              </a:rPr>
              <a:t>uture::get</a:t>
            </a:r>
            <a:r>
              <a:rPr lang="en-US" dirty="0" smtClean="0"/>
              <a:t> wakes up when promise is satisfied.</a:t>
            </a:r>
          </a:p>
          <a:p>
            <a:r>
              <a:rPr lang="en-US" dirty="0" smtClean="0"/>
              <a:t>Promise with exception will raise it in </a:t>
            </a:r>
            <a:r>
              <a:rPr lang="en-US" dirty="0" smtClean="0">
                <a:latin typeface="Courier New" pitchFamily="49" charset="0"/>
                <a:cs typeface="Courier New" pitchFamily="49" charset="0"/>
              </a:rPr>
              <a:t>future::get</a:t>
            </a:r>
            <a:r>
              <a:rPr lang="en-US" dirty="0" smtClean="0"/>
              <a:t>.</a:t>
            </a:r>
          </a:p>
          <a:p>
            <a:r>
              <a:rPr lang="en-US" dirty="0" smtClean="0"/>
              <a:t>Promise having no value nor exception will raise </a:t>
            </a:r>
            <a:r>
              <a:rPr lang="en-US" i="1" dirty="0" smtClean="0"/>
              <a:t>“broken promise”</a:t>
            </a:r>
            <a:r>
              <a:rPr lang="en-US" dirty="0" smtClean="0"/>
              <a:t> exception.</a:t>
            </a:r>
          </a:p>
          <a:p>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128704256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future_already_retrieved</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smtClean="0"/>
              <a:t>Only one future may be retrieved from a promise!</a:t>
            </a:r>
          </a:p>
          <a:p>
            <a:pPr marL="0" indent="0">
              <a:buNone/>
            </a:pPr>
            <a:endParaRPr lang="en-US" dirty="0" smtClean="0"/>
          </a:p>
          <a:p>
            <a:pPr marL="800100" lvl="2"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too_many_futures</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try</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my_promise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my_future_1 =  </a:t>
            </a:r>
            <a:r>
              <a:rPr lang="en-US" dirty="0" err="1">
                <a:solidFill>
                  <a:srgbClr val="000000"/>
                </a:solidFill>
                <a:highlight>
                  <a:srgbClr val="FFFFFF"/>
                </a:highlight>
                <a:latin typeface="Consolas"/>
              </a:rPr>
              <a:t>my_promise.get_future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my_future_2 =  </a:t>
            </a:r>
            <a:r>
              <a:rPr lang="en-US" dirty="0" err="1">
                <a:solidFill>
                  <a:srgbClr val="000000"/>
                </a:solidFill>
                <a:highlight>
                  <a:srgbClr val="FFFFFF"/>
                </a:highlight>
                <a:latin typeface="Consolas"/>
              </a:rPr>
              <a:t>my_promise.get_future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catch</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future_error</a:t>
            </a:r>
            <a:r>
              <a:rPr lang="en-US" dirty="0">
                <a:solidFill>
                  <a:srgbClr val="000000"/>
                </a:solidFill>
                <a:highlight>
                  <a:srgbClr val="FFFFFF"/>
                </a:highlight>
                <a:latin typeface="Consolas"/>
              </a:rPr>
              <a:t>&amp; e )</a:t>
            </a: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r>
              <a:rPr lang="en-US" dirty="0" smtClean="0">
                <a:solidFill>
                  <a:srgbClr val="6F008A"/>
                </a:solidFill>
                <a:highlight>
                  <a:srgbClr val="FFFFFF"/>
                </a:highlight>
                <a:latin typeface="Consolas"/>
              </a:rPr>
              <a:t>assert</a:t>
            </a:r>
            <a:r>
              <a:rPr lang="en-US" dirty="0" smtClean="0">
                <a:solidFill>
                  <a:srgbClr val="000000"/>
                </a:solidFill>
                <a:highlight>
                  <a:srgbClr val="FFFFFF"/>
                </a:highlight>
                <a:latin typeface="Consolas"/>
              </a:rPr>
              <a:t>(</a:t>
            </a:r>
          </a:p>
          <a:p>
            <a:pPr marL="800100" lvl="2"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e.code</a:t>
            </a:r>
            <a:r>
              <a:rPr lang="en-US" dirty="0" smtClean="0">
                <a:solidFill>
                  <a:srgbClr val="000000"/>
                </a:solidFill>
                <a:highlight>
                  <a:srgbClr val="FFFFFF"/>
                </a:highlight>
                <a:latin typeface="Consolas"/>
              </a:rPr>
              <a:t>()==</a:t>
            </a:r>
            <a:r>
              <a:rPr lang="en-US" dirty="0" err="1" smtClean="0">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future_errc</a:t>
            </a:r>
            <a:r>
              <a:rPr lang="en-US" dirty="0">
                <a:solidFill>
                  <a:srgbClr val="000000"/>
                </a:solidFill>
                <a:highlight>
                  <a:srgbClr val="FFFFFF"/>
                </a:highlight>
                <a:latin typeface="Consolas"/>
              </a:rPr>
              <a:t>::</a:t>
            </a:r>
            <a:r>
              <a:rPr lang="en-US" dirty="0" err="1">
                <a:solidFill>
                  <a:srgbClr val="2F4F4F"/>
                </a:solidFill>
                <a:highlight>
                  <a:srgbClr val="FFFFFF"/>
                </a:highlight>
                <a:latin typeface="Consolas"/>
              </a:rPr>
              <a:t>future_already_retrieved</a:t>
            </a:r>
            <a:r>
              <a:rPr lang="en-US" dirty="0">
                <a:solidFill>
                  <a:srgbClr val="000000"/>
                </a:solidFill>
                <a:highlight>
                  <a:srgbClr val="FFFFFF"/>
                </a:highlight>
                <a:latin typeface="Consolas"/>
              </a:rPr>
              <a:t> </a:t>
            </a:r>
            <a:endParaRPr lang="en-US" dirty="0" smtClean="0">
              <a:solidFill>
                <a:srgbClr val="000000"/>
              </a:solidFill>
              <a:highlight>
                <a:srgbClr val="FFFFFF"/>
              </a:highlight>
              <a:latin typeface="Consolas"/>
            </a:endParaRPr>
          </a:p>
          <a:p>
            <a:pPr marL="800100" lvl="2" indent="0">
              <a:buNone/>
            </a:pP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137346049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promise_already_satisfied</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smtClean="0"/>
              <a:t>A promise must be satisfied only once either by a value or by an exception!</a:t>
            </a:r>
          </a:p>
          <a:p>
            <a:pPr marL="0" indent="0">
              <a:buNone/>
            </a:pPr>
            <a:endParaRPr lang="en-US" dirty="0" smtClean="0"/>
          </a:p>
          <a:p>
            <a:pPr marL="800100" lvl="2"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too_much_satisfaction</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try</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my_promise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my_future</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my_promise.get_future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my_promise.set_value</a:t>
            </a:r>
            <a:r>
              <a:rPr lang="en-US" dirty="0">
                <a:solidFill>
                  <a:srgbClr val="000000"/>
                </a:solidFill>
                <a:highlight>
                  <a:srgbClr val="FFFFFF"/>
                </a:highlight>
                <a:latin typeface="Consolas"/>
              </a:rPr>
              <a:t>( 10 );</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my_promise.set_value</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100 </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catch</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future_error</a:t>
            </a:r>
            <a:r>
              <a:rPr lang="en-US" dirty="0">
                <a:solidFill>
                  <a:srgbClr val="000000"/>
                </a:solidFill>
                <a:highlight>
                  <a:srgbClr val="FFFFFF"/>
                </a:highlight>
                <a:latin typeface="Consolas"/>
              </a:rPr>
              <a:t>&amp; e )</a:t>
            </a: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r>
              <a:rPr lang="en-US" dirty="0">
                <a:solidFill>
                  <a:srgbClr val="6F008A"/>
                </a:solidFill>
                <a:highlight>
                  <a:srgbClr val="FFFFFF"/>
                </a:highlight>
                <a:latin typeface="Consolas"/>
              </a:rPr>
              <a:t>assert</a:t>
            </a: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e.code</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future_errc</a:t>
            </a:r>
            <a:r>
              <a:rPr lang="en-US" dirty="0">
                <a:solidFill>
                  <a:srgbClr val="000000"/>
                </a:solidFill>
                <a:highlight>
                  <a:srgbClr val="FFFFFF"/>
                </a:highlight>
                <a:latin typeface="Consolas"/>
              </a:rPr>
              <a:t>::</a:t>
            </a:r>
            <a:r>
              <a:rPr lang="en-US" dirty="0" err="1">
                <a:solidFill>
                  <a:srgbClr val="2F4F4F"/>
                </a:solidFill>
                <a:highlight>
                  <a:srgbClr val="FFFFFF"/>
                </a:highlight>
                <a:latin typeface="Consolas"/>
              </a:rPr>
              <a:t>promise_already_satisfied</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86736418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broken_promise</a:t>
            </a:r>
            <a:endParaRPr lang="en-US" dirty="0"/>
          </a:p>
        </p:txBody>
      </p:sp>
      <p:sp>
        <p:nvSpPr>
          <p:cNvPr id="3" name="Content Placeholder 2"/>
          <p:cNvSpPr>
            <a:spLocks noGrp="1"/>
          </p:cNvSpPr>
          <p:nvPr>
            <p:ph idx="1"/>
          </p:nvPr>
        </p:nvSpPr>
        <p:spPr/>
        <p:txBody>
          <a:bodyPr>
            <a:normAutofit fontScale="47500" lnSpcReduction="20000"/>
          </a:bodyPr>
          <a:lstStyle/>
          <a:p>
            <a:pPr marL="0" indent="0">
              <a:buNone/>
            </a:pPr>
            <a:r>
              <a:rPr lang="en-US" dirty="0"/>
              <a:t>If the promise is destroyed before a value is set, and you then call get() on a future associated with that promise, you'll get a </a:t>
            </a:r>
            <a:r>
              <a:rPr lang="en-US" dirty="0" err="1" smtClean="0"/>
              <a:t>broken_promise</a:t>
            </a:r>
            <a:r>
              <a:rPr lang="en-US" dirty="0" smtClean="0"/>
              <a:t> </a:t>
            </a:r>
            <a:r>
              <a:rPr lang="en-US" dirty="0"/>
              <a:t>exception because you were promised a value, but </a:t>
            </a:r>
            <a:r>
              <a:rPr lang="en-US" dirty="0" smtClean="0"/>
              <a:t>it's </a:t>
            </a:r>
            <a:r>
              <a:rPr lang="en-US" dirty="0"/>
              <a:t>impossible for you to get one</a:t>
            </a:r>
            <a:r>
              <a:rPr lang="en-US" dirty="0" smtClean="0"/>
              <a:t>.</a:t>
            </a:r>
          </a:p>
          <a:p>
            <a:pPr marL="0" indent="0">
              <a:buNone/>
            </a:pPr>
            <a:endParaRPr lang="en-US" dirty="0" smtClean="0"/>
          </a:p>
          <a:p>
            <a:pPr marL="400050" lvl="1"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broken_promise</a:t>
            </a:r>
            <a:r>
              <a:rPr lang="en-US" dirty="0">
                <a:solidFill>
                  <a:srgbClr val="000000"/>
                </a:solidFill>
                <a:highlight>
                  <a:srgbClr val="FFFFFF"/>
                </a:highlight>
                <a:latin typeface="Consolas"/>
              </a:rPr>
              <a:t>()</a:t>
            </a:r>
          </a:p>
          <a:p>
            <a:pPr marL="400050" lvl="1" indent="0">
              <a:buNone/>
            </a:pPr>
            <a:r>
              <a:rPr lang="en-US" dirty="0">
                <a:solidFill>
                  <a:srgbClr val="000000"/>
                </a:solidFill>
                <a:highlight>
                  <a:srgbClr val="FFFFFF"/>
                </a:highlight>
                <a:latin typeface="Consolas"/>
              </a:rPr>
              <a:t>{</a:t>
            </a:r>
          </a:p>
          <a:p>
            <a:pPr marL="400050" lvl="1"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try</a:t>
            </a:r>
            <a:endParaRPr lang="en-US" dirty="0">
              <a:solidFill>
                <a:srgbClr val="000000"/>
              </a:solidFill>
              <a:highlight>
                <a:srgbClr val="FFFFFF"/>
              </a:highlight>
              <a:latin typeface="Consolas"/>
            </a:endParaRPr>
          </a:p>
          <a:p>
            <a:pPr marL="400050" lvl="1" indent="0">
              <a:buNone/>
            </a:pPr>
            <a:r>
              <a:rPr lang="en-US" dirty="0">
                <a:solidFill>
                  <a:srgbClr val="000000"/>
                </a:solidFill>
                <a:highlight>
                  <a:srgbClr val="FFFFFF"/>
                </a:highlight>
                <a:latin typeface="Consolas"/>
              </a:rPr>
              <a:t>   {</a:t>
            </a:r>
          </a:p>
          <a:p>
            <a:pPr marL="400050" lvl="1"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promise_1;</a:t>
            </a:r>
          </a:p>
          <a:p>
            <a:pPr marL="400050" lvl="1"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my_future</a:t>
            </a:r>
            <a:r>
              <a:rPr lang="en-US" dirty="0">
                <a:solidFill>
                  <a:srgbClr val="000000"/>
                </a:solidFill>
                <a:highlight>
                  <a:srgbClr val="FFFFFF"/>
                </a:highlight>
                <a:latin typeface="Consolas"/>
              </a:rPr>
              <a:t> =  promise_1.get_future();</a:t>
            </a:r>
          </a:p>
          <a:p>
            <a:pPr marL="400050" lvl="1"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400050" lvl="1"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promise_2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::move( promise_1 );</a:t>
            </a:r>
          </a:p>
          <a:p>
            <a:pPr marL="400050" lvl="1"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400050" lvl="1"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my_future.get</a:t>
            </a:r>
            <a:r>
              <a:rPr lang="en-US" dirty="0">
                <a:solidFill>
                  <a:srgbClr val="000000"/>
                </a:solidFill>
                <a:highlight>
                  <a:srgbClr val="FFFFFF"/>
                </a:highlight>
                <a:latin typeface="Consolas"/>
              </a:rPr>
              <a:t>();</a:t>
            </a:r>
          </a:p>
          <a:p>
            <a:pPr marL="400050" lvl="1" indent="0">
              <a:buNone/>
            </a:pPr>
            <a:r>
              <a:rPr lang="en-US" dirty="0">
                <a:solidFill>
                  <a:srgbClr val="000000"/>
                </a:solidFill>
                <a:highlight>
                  <a:srgbClr val="FFFFFF"/>
                </a:highlight>
                <a:latin typeface="Consolas"/>
              </a:rPr>
              <a:t>   }</a:t>
            </a:r>
          </a:p>
          <a:p>
            <a:pPr marL="400050" lvl="1"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catch</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future_error</a:t>
            </a:r>
            <a:r>
              <a:rPr lang="en-US" dirty="0">
                <a:solidFill>
                  <a:srgbClr val="000000"/>
                </a:solidFill>
                <a:highlight>
                  <a:srgbClr val="FFFFFF"/>
                </a:highlight>
                <a:latin typeface="Consolas"/>
              </a:rPr>
              <a:t>&amp; e )</a:t>
            </a:r>
          </a:p>
          <a:p>
            <a:pPr marL="400050" lvl="1" indent="0">
              <a:buNone/>
            </a:pPr>
            <a:r>
              <a:rPr lang="en-US" dirty="0">
                <a:solidFill>
                  <a:srgbClr val="000000"/>
                </a:solidFill>
                <a:highlight>
                  <a:srgbClr val="FFFFFF"/>
                </a:highlight>
                <a:latin typeface="Consolas"/>
              </a:rPr>
              <a:t>   {</a:t>
            </a:r>
          </a:p>
          <a:p>
            <a:pPr marL="400050" lvl="1" indent="0">
              <a:buNone/>
            </a:pPr>
            <a:r>
              <a:rPr lang="en-US" dirty="0">
                <a:solidFill>
                  <a:srgbClr val="000000"/>
                </a:solidFill>
                <a:highlight>
                  <a:srgbClr val="FFFFFF"/>
                </a:highlight>
                <a:latin typeface="Consolas"/>
              </a:rPr>
              <a:t>      </a:t>
            </a:r>
            <a:r>
              <a:rPr lang="en-US" dirty="0">
                <a:solidFill>
                  <a:srgbClr val="6F008A"/>
                </a:solidFill>
                <a:highlight>
                  <a:srgbClr val="FFFFFF"/>
                </a:highlight>
                <a:latin typeface="Consolas"/>
              </a:rPr>
              <a:t>assert</a:t>
            </a:r>
            <a:r>
              <a:rPr lang="en-US" dirty="0">
                <a:solidFill>
                  <a:srgbClr val="000000"/>
                </a:solidFill>
                <a:highlight>
                  <a:srgbClr val="FFFFFF"/>
                </a:highlight>
                <a:latin typeface="Consolas"/>
              </a:rPr>
              <a:t>(</a:t>
            </a:r>
          </a:p>
          <a:p>
            <a:pPr marL="400050" lvl="1"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e.code</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future_errc</a:t>
            </a:r>
            <a:r>
              <a:rPr lang="en-US" dirty="0">
                <a:solidFill>
                  <a:srgbClr val="000000"/>
                </a:solidFill>
                <a:highlight>
                  <a:srgbClr val="FFFFFF"/>
                </a:highlight>
                <a:latin typeface="Consolas"/>
              </a:rPr>
              <a:t>::</a:t>
            </a:r>
            <a:r>
              <a:rPr lang="en-US" dirty="0" err="1">
                <a:solidFill>
                  <a:srgbClr val="2F4F4F"/>
                </a:solidFill>
                <a:highlight>
                  <a:srgbClr val="FFFFFF"/>
                </a:highlight>
                <a:latin typeface="Consolas"/>
              </a:rPr>
              <a:t>broken_promise</a:t>
            </a:r>
            <a:endParaRPr lang="en-US" dirty="0">
              <a:solidFill>
                <a:srgbClr val="000000"/>
              </a:solidFill>
              <a:highlight>
                <a:srgbClr val="FFFFFF"/>
              </a:highlight>
              <a:latin typeface="Consolas"/>
            </a:endParaRPr>
          </a:p>
          <a:p>
            <a:pPr marL="400050" lvl="1" indent="0">
              <a:buNone/>
            </a:pPr>
            <a:r>
              <a:rPr lang="en-US" dirty="0">
                <a:solidFill>
                  <a:srgbClr val="000000"/>
                </a:solidFill>
                <a:highlight>
                  <a:srgbClr val="FFFFFF"/>
                </a:highlight>
                <a:latin typeface="Consolas"/>
              </a:rPr>
              <a:t>      );</a:t>
            </a:r>
          </a:p>
          <a:p>
            <a:pPr marL="400050" lvl="1" indent="0">
              <a:buNone/>
            </a:pPr>
            <a:r>
              <a:rPr lang="en-US" dirty="0">
                <a:solidFill>
                  <a:srgbClr val="000000"/>
                </a:solidFill>
                <a:highlight>
                  <a:srgbClr val="FFFFFF"/>
                </a:highlight>
                <a:latin typeface="Consolas"/>
              </a:rPr>
              <a:t>   }</a:t>
            </a:r>
          </a:p>
          <a:p>
            <a:pPr marL="400050" lvl="1" indent="0">
              <a:buNone/>
            </a:pPr>
            <a:r>
              <a:rPr lang="en-US" dirty="0">
                <a:solidFill>
                  <a:srgbClr val="000000"/>
                </a:solidFill>
                <a:highlight>
                  <a:srgbClr val="FFFFFF"/>
                </a:highlight>
                <a:latin typeface="Consolas"/>
              </a:rPr>
              <a: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147030377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Inactive promise</a:t>
            </a:r>
            <a:endParaRPr lang="en-US" dirty="0"/>
          </a:p>
        </p:txBody>
      </p:sp>
      <p:sp>
        <p:nvSpPr>
          <p:cNvPr id="3" name="Content Placeholder 2"/>
          <p:cNvSpPr>
            <a:spLocks noGrp="1"/>
          </p:cNvSpPr>
          <p:nvPr>
            <p:ph idx="1"/>
          </p:nvPr>
        </p:nvSpPr>
        <p:spPr/>
        <p:txBody>
          <a:bodyPr>
            <a:normAutofit/>
          </a:bodyPr>
          <a:lstStyle/>
          <a:p>
            <a:pPr marL="0" indent="0">
              <a:buNone/>
            </a:pPr>
            <a:r>
              <a:rPr lang="en-US" dirty="0"/>
              <a:t>A default-constructed promise is inactive. Inactive promises can die without consequence</a:t>
            </a:r>
            <a:r>
              <a:rPr lang="en-US" dirty="0" smtClean="0"/>
              <a:t>.</a:t>
            </a:r>
          </a:p>
          <a:p>
            <a:pPr marL="0" indent="0">
              <a:buNone/>
            </a:pPr>
            <a:endParaRPr lang="en-US" dirty="0" smtClean="0"/>
          </a:p>
          <a:p>
            <a:pPr marL="800100" lvl="2"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inactive_promise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my_promise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158127068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Active promise</a:t>
            </a:r>
            <a:endParaRPr lang="en-US" dirty="0"/>
          </a:p>
        </p:txBody>
      </p:sp>
      <p:sp>
        <p:nvSpPr>
          <p:cNvPr id="3" name="Content Placeholder 2"/>
          <p:cNvSpPr>
            <a:spLocks noGrp="1"/>
          </p:cNvSpPr>
          <p:nvPr>
            <p:ph idx="1"/>
          </p:nvPr>
        </p:nvSpPr>
        <p:spPr/>
        <p:txBody>
          <a:bodyPr>
            <a:normAutofit/>
          </a:bodyPr>
          <a:lstStyle/>
          <a:p>
            <a:pPr marL="0" indent="0">
              <a:buNone/>
            </a:pPr>
            <a:r>
              <a:rPr lang="en-US" dirty="0"/>
              <a:t>A promise becomes active when a future is obtained via </a:t>
            </a:r>
            <a:r>
              <a:rPr lang="en-US" dirty="0" err="1">
                <a:latin typeface="Courier New" pitchFamily="49" charset="0"/>
                <a:cs typeface="Courier New" pitchFamily="49" charset="0"/>
              </a:rPr>
              <a:t>get_future</a:t>
            </a:r>
            <a:r>
              <a:rPr lang="en-US" dirty="0" smtClean="0">
                <a:latin typeface="Courier New" pitchFamily="49" charset="0"/>
                <a:cs typeface="Courier New" pitchFamily="49" charset="0"/>
              </a:rPr>
              <a:t>()</a:t>
            </a:r>
            <a:r>
              <a:rPr lang="en-US" dirty="0" smtClean="0"/>
              <a:t>.</a:t>
            </a:r>
          </a:p>
          <a:p>
            <a:pPr marL="0" indent="0">
              <a:buNone/>
            </a:pPr>
            <a:endParaRPr lang="en-US" dirty="0"/>
          </a:p>
          <a:p>
            <a:pPr marL="1257300" lvl="3"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unused_promise</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my_promise</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my_future</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my_promise.get_future</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my_future.get</a:t>
            </a: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blocks forever</a:t>
            </a:r>
            <a:endParaRPr lang="en-US" dirty="0">
              <a:solidFill>
                <a:srgbClr val="000000"/>
              </a:solidFill>
              <a:highlight>
                <a:srgbClr val="FFFFFF"/>
              </a:highlight>
              <a:latin typeface="Consolas"/>
            </a:endParaRPr>
          </a:p>
          <a:p>
            <a:pPr marL="1257300" lvl="3" indent="0">
              <a:buNone/>
            </a:pPr>
            <a:r>
              <a:rPr lang="en-US" dirty="0">
                <a:solidFill>
                  <a:srgbClr val="000000"/>
                </a:solidFill>
                <a:highlight>
                  <a:srgbClr val="FFFFFF"/>
                </a:highlight>
                <a:latin typeface="Consolas"/>
              </a:rPr>
              <a:t>}</a:t>
            </a:r>
            <a:endParaRPr lang="en-US" dirty="0" smtClean="0"/>
          </a:p>
          <a:p>
            <a:pPr marL="0" indent="0">
              <a:buNone/>
            </a:pP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376646588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Satisfied promise</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en-US" dirty="0" smtClean="0"/>
              <a:t>A </a:t>
            </a:r>
            <a:r>
              <a:rPr lang="en-US" dirty="0"/>
              <a:t>promise must either be satisfied via </a:t>
            </a:r>
            <a:r>
              <a:rPr lang="en-US" dirty="0" err="1">
                <a:latin typeface="Courier New" pitchFamily="49" charset="0"/>
                <a:cs typeface="Courier New" pitchFamily="49" charset="0"/>
              </a:rPr>
              <a:t>set_value</a:t>
            </a:r>
            <a:r>
              <a:rPr lang="en-US" dirty="0">
                <a:latin typeface="Courier New" pitchFamily="49" charset="0"/>
                <a:cs typeface="Courier New" pitchFamily="49" charset="0"/>
              </a:rPr>
              <a:t>()</a:t>
            </a:r>
            <a:r>
              <a:rPr lang="en-US" dirty="0"/>
              <a:t>, or have an exception set via </a:t>
            </a:r>
            <a:r>
              <a:rPr lang="en-US" dirty="0" err="1">
                <a:latin typeface="Courier New" pitchFamily="49" charset="0"/>
                <a:cs typeface="Courier New" pitchFamily="49" charset="0"/>
              </a:rPr>
              <a:t>set_exception</a:t>
            </a:r>
            <a:r>
              <a:rPr lang="en-US" dirty="0">
                <a:latin typeface="Courier New" pitchFamily="49" charset="0"/>
                <a:cs typeface="Courier New" pitchFamily="49" charset="0"/>
              </a:rPr>
              <a:t>()</a:t>
            </a:r>
            <a:r>
              <a:rPr lang="en-US" dirty="0"/>
              <a:t>. A satisfied promise can die without consequence, and </a:t>
            </a:r>
            <a:r>
              <a:rPr lang="en-US" dirty="0">
                <a:latin typeface="Courier New" pitchFamily="49" charset="0"/>
                <a:cs typeface="Courier New" pitchFamily="49" charset="0"/>
              </a:rPr>
              <a:t>get()</a:t>
            </a:r>
            <a:r>
              <a:rPr lang="en-US" dirty="0"/>
              <a:t> becomes available on the future</a:t>
            </a:r>
            <a:r>
              <a:rPr lang="en-US" dirty="0" smtClean="0"/>
              <a:t>.</a:t>
            </a:r>
          </a:p>
          <a:p>
            <a:pPr marL="0" indent="0">
              <a:buNone/>
            </a:pPr>
            <a:endParaRPr lang="en-US" dirty="0"/>
          </a:p>
          <a:p>
            <a:pPr marL="800100" lvl="2"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satisfied_promise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my_promise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my_future</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my_promise.get_future</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my_promise.set_value</a:t>
            </a:r>
            <a:r>
              <a:rPr lang="en-US" dirty="0">
                <a:solidFill>
                  <a:srgbClr val="000000"/>
                </a:solidFill>
                <a:highlight>
                  <a:srgbClr val="FFFFFF"/>
                </a:highlight>
                <a:latin typeface="Consolas"/>
              </a:rPr>
              <a:t>( 10 );</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"value="</a:t>
            </a:r>
            <a:r>
              <a:rPr lang="en-US" dirty="0">
                <a:solidFill>
                  <a:srgbClr val="000000"/>
                </a:solidFill>
                <a:highlight>
                  <a:srgbClr val="FFFFFF"/>
                </a:highlight>
                <a:latin typeface="Consolas"/>
              </a:rPr>
              <a:t> &lt;&lt; </a:t>
            </a:r>
            <a:r>
              <a:rPr lang="en-US" dirty="0" err="1">
                <a:solidFill>
                  <a:srgbClr val="000000"/>
                </a:solidFill>
                <a:highlight>
                  <a:srgbClr val="FFFFFF"/>
                </a:highlight>
                <a:latin typeface="Consolas"/>
              </a:rPr>
              <a:t>my_future.get</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15905192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Satisfied by exception</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a:t>A promise with an exception will raise the stored </a:t>
            </a:r>
            <a:r>
              <a:rPr lang="en-US" dirty="0" smtClean="0"/>
              <a:t>exception </a:t>
            </a:r>
            <a:r>
              <a:rPr lang="en-US" dirty="0"/>
              <a:t>upon call of </a:t>
            </a:r>
            <a:r>
              <a:rPr lang="en-US" dirty="0">
                <a:latin typeface="Courier New" pitchFamily="49" charset="0"/>
                <a:cs typeface="Courier New" pitchFamily="49" charset="0"/>
              </a:rPr>
              <a:t>get()</a:t>
            </a:r>
            <a:r>
              <a:rPr lang="en-US" dirty="0"/>
              <a:t> on the </a:t>
            </a:r>
            <a:r>
              <a:rPr lang="en-US" dirty="0" smtClean="0"/>
              <a:t>future.</a:t>
            </a:r>
            <a:endParaRPr lang="en-US" dirty="0"/>
          </a:p>
          <a:p>
            <a:pPr marL="0" indent="0">
              <a:buNone/>
            </a:pPr>
            <a:endParaRPr lang="en-US" dirty="0" smtClean="0"/>
          </a:p>
          <a:p>
            <a:pPr marL="1257300" lvl="3"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exception_result</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try</a:t>
            </a:r>
            <a:endParaRPr lang="en-US" dirty="0">
              <a:solidFill>
                <a:srgbClr val="000000"/>
              </a:solidFill>
              <a:highlight>
                <a:srgbClr val="FFFFFF"/>
              </a:highlight>
              <a:latin typeface="Consolas"/>
            </a:endParaRPr>
          </a:p>
          <a:p>
            <a:pPr marL="1257300" lvl="3" indent="0">
              <a:buNone/>
            </a:pP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promise</a:t>
            </a:r>
            <a:r>
              <a:rPr lang="en-US" dirty="0">
                <a:solidFill>
                  <a:srgbClr val="000000"/>
                </a:solidFill>
                <a:highlight>
                  <a:srgbClr val="FFFFFF"/>
                </a:highlight>
                <a:latin typeface="Consolas"/>
              </a:rPr>
              <a:t>&lt;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my_promise</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my_future</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my_promise.get_future</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my_promise.set_exception</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make_exception_ptr</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logic_error</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"watch me"</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my_future.get</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catch</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logic_error</a:t>
            </a:r>
            <a:r>
              <a:rPr lang="en-US" dirty="0">
                <a:solidFill>
                  <a:srgbClr val="000000"/>
                </a:solidFill>
                <a:highlight>
                  <a:srgbClr val="FFFFFF"/>
                </a:highlight>
                <a:latin typeface="Consolas"/>
              </a:rPr>
              <a:t>&amp; e )</a:t>
            </a:r>
          </a:p>
          <a:p>
            <a:pPr marL="1257300" lvl="3" indent="0">
              <a:buNone/>
            </a:pP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a:solidFill>
                  <a:srgbClr val="6F008A"/>
                </a:solidFill>
                <a:highlight>
                  <a:srgbClr val="FFFFFF"/>
                </a:highlight>
                <a:latin typeface="Consolas"/>
              </a:rPr>
              <a:t>assert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e.what</a:t>
            </a:r>
            <a:r>
              <a:rPr lang="en-US" dirty="0">
                <a:solidFill>
                  <a:srgbClr val="000000"/>
                </a:solidFill>
                <a:highlight>
                  <a:srgbClr val="FFFFFF"/>
                </a:highlight>
                <a:latin typeface="Consolas"/>
              </a:rPr>
              <a:t>() ==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string</a:t>
            </a:r>
            <a:r>
              <a:rPr lang="en-US" dirty="0">
                <a:solidFill>
                  <a:srgbClr val="000000"/>
                </a:solidFill>
                <a:highlight>
                  <a:srgbClr val="FFFFFF"/>
                </a:highlight>
                <a:latin typeface="Consolas"/>
              </a:rPr>
              <a:t>(</a:t>
            </a:r>
            <a:r>
              <a:rPr lang="en-US" dirty="0">
                <a:solidFill>
                  <a:srgbClr val="A31515"/>
                </a:solidFill>
                <a:highlight>
                  <a:srgbClr val="FFFFFF"/>
                </a:highlight>
                <a:latin typeface="Consolas"/>
              </a:rPr>
              <a:t>"watch me"</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142268986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a:t>
            </a:r>
            <a:r>
              <a:rPr lang="en-US" dirty="0" err="1" smtClean="0"/>
              <a:t>shared_future</a:t>
            </a:r>
            <a:endParaRPr lang="en-US" dirty="0"/>
          </a:p>
        </p:txBody>
      </p:sp>
      <p:sp>
        <p:nvSpPr>
          <p:cNvPr id="3" name="Content Placeholder 2"/>
          <p:cNvSpPr>
            <a:spLocks noGrp="1"/>
          </p:cNvSpPr>
          <p:nvPr>
            <p:ph idx="1"/>
          </p:nvPr>
        </p:nvSpPr>
        <p:spPr/>
        <p:txBody>
          <a:bodyPr>
            <a:normAutofit fontScale="40000" lnSpcReduction="20000"/>
          </a:bodyPr>
          <a:lstStyle/>
          <a:p>
            <a:pPr marL="0" indent="0">
              <a:buNone/>
            </a:pPr>
            <a:r>
              <a:rPr lang="en-US" dirty="0" smtClean="0">
                <a:solidFill>
                  <a:srgbClr val="0000FF"/>
                </a:solidFill>
                <a:highlight>
                  <a:srgbClr val="FFFFFF"/>
                </a:highlight>
                <a:latin typeface="Courier New" pitchFamily="49" charset="0"/>
                <a:cs typeface="Courier New" pitchFamily="49" charset="0"/>
              </a:rPr>
              <a:t>void</a:t>
            </a:r>
            <a:r>
              <a:rPr lang="en-US" dirty="0" smtClean="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wait_for_notify</a:t>
            </a:r>
            <a:r>
              <a:rPr lang="en-US" dirty="0" smtClean="0">
                <a:solidFill>
                  <a:srgbClr val="000000"/>
                </a:solidFill>
                <a:highlight>
                  <a:srgbClr val="FFFFFF"/>
                </a:highlight>
                <a:latin typeface="Courier New" pitchFamily="49" charset="0"/>
                <a:cs typeface="Courier New" pitchFamily="49" charset="0"/>
              </a:rPr>
              <a:t>( </a:t>
            </a:r>
            <a:r>
              <a:rPr lang="en-US" dirty="0" err="1" smtClean="0">
                <a:solidFill>
                  <a:srgbClr val="0000FF"/>
                </a:solidFill>
                <a:highlight>
                  <a:srgbClr val="FFFFFF"/>
                </a:highlight>
                <a:latin typeface="Courier New" pitchFamily="49" charset="0"/>
                <a:cs typeface="Courier New" pitchFamily="49" charset="0"/>
              </a:rPr>
              <a:t>int</a:t>
            </a:r>
            <a:r>
              <a:rPr lang="en-US" dirty="0" smtClean="0">
                <a:solidFill>
                  <a:srgbClr val="000000"/>
                </a:solidFill>
                <a:highlight>
                  <a:srgbClr val="FFFFFF"/>
                </a:highlight>
                <a:latin typeface="Courier New" pitchFamily="49" charset="0"/>
                <a:cs typeface="Courier New" pitchFamily="49" charset="0"/>
              </a:rPr>
              <a:t> </a:t>
            </a:r>
            <a:r>
              <a:rPr lang="en-US" dirty="0">
                <a:solidFill>
                  <a:srgbClr val="808080"/>
                </a:solidFill>
                <a:highlight>
                  <a:srgbClr val="FFFFFF"/>
                </a:highlight>
                <a:latin typeface="Courier New" pitchFamily="49" charset="0"/>
                <a:cs typeface="Courier New" pitchFamily="49" charset="0"/>
              </a:rPr>
              <a:t>id</a:t>
            </a:r>
            <a:r>
              <a:rPr lang="en-US" dirty="0" smtClean="0">
                <a:solidFill>
                  <a:srgbClr val="000000"/>
                </a:solidFill>
                <a:highlight>
                  <a:srgbClr val="FFFFFF"/>
                </a:highlight>
                <a:latin typeface="Courier New" pitchFamily="49" charset="0"/>
                <a:cs typeface="Courier New" pitchFamily="49" charset="0"/>
              </a:rPr>
              <a:t>, </a:t>
            </a:r>
            <a:r>
              <a:rPr lang="en-US" dirty="0" err="1" smtClean="0">
                <a:solidFill>
                  <a:srgbClr val="000000"/>
                </a:solidFill>
                <a:highlight>
                  <a:srgbClr val="FFFFFF"/>
                </a:highlight>
                <a:latin typeface="Courier New" pitchFamily="49" charset="0"/>
                <a:cs typeface="Courier New" pitchFamily="49" charset="0"/>
              </a:rPr>
              <a:t>std</a:t>
            </a:r>
            <a:r>
              <a:rPr lang="en-US" dirty="0">
                <a:solidFill>
                  <a:srgbClr val="000000"/>
                </a:solidFill>
                <a:highlight>
                  <a:srgbClr val="FFFFFF"/>
                </a:highlight>
                <a:latin typeface="Courier New" pitchFamily="49" charset="0"/>
                <a:cs typeface="Courier New" pitchFamily="49" charset="0"/>
              </a:rPr>
              <a:t>::</a:t>
            </a:r>
            <a:r>
              <a:rPr lang="en-US" dirty="0" err="1">
                <a:solidFill>
                  <a:srgbClr val="2B91AF"/>
                </a:solidFill>
                <a:highlight>
                  <a:srgbClr val="FFFFFF"/>
                </a:highlight>
                <a:latin typeface="Courier New" pitchFamily="49" charset="0"/>
                <a:cs typeface="Courier New" pitchFamily="49" charset="0"/>
              </a:rPr>
              <a:t>shared_future</a:t>
            </a:r>
            <a:r>
              <a:rPr lang="en-US" dirty="0">
                <a:solidFill>
                  <a:srgbClr val="000000"/>
                </a:solidFill>
                <a:highlight>
                  <a:srgbClr val="FFFFFF"/>
                </a:highlight>
                <a:latin typeface="Courier New" pitchFamily="49" charset="0"/>
                <a:cs typeface="Courier New" pitchFamily="49" charset="0"/>
              </a:rPr>
              <a:t>&lt;</a:t>
            </a:r>
            <a:r>
              <a:rPr lang="en-US" dirty="0" err="1">
                <a:solidFill>
                  <a:srgbClr val="0000FF"/>
                </a:solidFill>
                <a:highlight>
                  <a:srgbClr val="FFFFFF"/>
                </a:highlight>
                <a:latin typeface="Courier New" pitchFamily="49" charset="0"/>
                <a:cs typeface="Courier New" pitchFamily="49" charset="0"/>
              </a:rPr>
              <a:t>int</a:t>
            </a:r>
            <a:r>
              <a:rPr lang="en-US" dirty="0">
                <a:solidFill>
                  <a:srgbClr val="000000"/>
                </a:solidFill>
                <a:highlight>
                  <a:srgbClr val="FFFFFF"/>
                </a:highlight>
                <a:latin typeface="Courier New" pitchFamily="49" charset="0"/>
                <a:cs typeface="Courier New" pitchFamily="49" charset="0"/>
              </a:rPr>
              <a:t>&gt; </a:t>
            </a:r>
            <a:r>
              <a:rPr lang="en-US" dirty="0" err="1" smtClean="0">
                <a:solidFill>
                  <a:srgbClr val="808080"/>
                </a:solidFill>
                <a:highlight>
                  <a:srgbClr val="FFFFFF"/>
                </a:highlight>
                <a:latin typeface="Courier New" pitchFamily="49" charset="0"/>
                <a:cs typeface="Courier New" pitchFamily="49" charset="0"/>
              </a:rPr>
              <a:t>sf</a:t>
            </a:r>
            <a:r>
              <a:rPr lang="en-US" dirty="0" smtClean="0">
                <a:solidFill>
                  <a:srgbClr val="808080"/>
                </a:solidFill>
                <a:highlight>
                  <a:srgbClr val="FFFFFF"/>
                </a:highlight>
                <a:latin typeface="Courier New" pitchFamily="49" charset="0"/>
                <a:cs typeface="Courier New" pitchFamily="49" charset="0"/>
              </a:rPr>
              <a:t> </a:t>
            </a:r>
            <a:r>
              <a:rPr lang="en-US" dirty="0" smtClean="0">
                <a:solidFill>
                  <a:srgbClr val="000000"/>
                </a:solidFill>
                <a:highlight>
                  <a:srgbClr val="FFFFFF"/>
                </a:highlight>
                <a:latin typeface="Courier New" pitchFamily="49" charset="0"/>
                <a:cs typeface="Courier New" pitchFamily="49" charset="0"/>
              </a:rPr>
              <a:t>) </a:t>
            </a:r>
            <a:endParaRPr lang="en-US" dirty="0">
              <a:solidFill>
                <a:srgbClr val="000000"/>
              </a:solidFill>
              <a:highlight>
                <a:srgbClr val="FFFFFF"/>
              </a:highlight>
              <a:latin typeface="Courier New" pitchFamily="49" charset="0"/>
              <a:cs typeface="Courier New" pitchFamily="49" charset="0"/>
            </a:endParaRPr>
          </a:p>
          <a:p>
            <a:pPr marL="0" indent="0">
              <a:buNone/>
            </a:pPr>
            <a:r>
              <a:rPr lang="en-US" dirty="0">
                <a:solidFill>
                  <a:srgbClr val="000000"/>
                </a:solidFill>
                <a:highlight>
                  <a:srgbClr val="FFFFFF"/>
                </a:highlight>
                <a:latin typeface="Courier New" pitchFamily="49" charset="0"/>
                <a:cs typeface="Courier New" pitchFamily="49" charset="0"/>
              </a:rPr>
              <a:t>{ </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std</a:t>
            </a:r>
            <a:r>
              <a:rPr lang="en-US" dirty="0">
                <a:solidFill>
                  <a:srgbClr val="000000"/>
                </a:solidFill>
                <a:highlight>
                  <a:srgbClr val="FFFFFF"/>
                </a:highlight>
                <a:latin typeface="Courier New" pitchFamily="49" charset="0"/>
                <a:cs typeface="Courier New" pitchFamily="49" charset="0"/>
              </a:rPr>
              <a:t>::</a:t>
            </a:r>
            <a:r>
              <a:rPr lang="en-US" dirty="0" err="1">
                <a:solidFill>
                  <a:srgbClr val="2B91AF"/>
                </a:solidFill>
                <a:highlight>
                  <a:srgbClr val="FFFFFF"/>
                </a:highlight>
                <a:latin typeface="Courier New" pitchFamily="49" charset="0"/>
                <a:cs typeface="Courier New" pitchFamily="49" charset="0"/>
              </a:rPr>
              <a:t>ostringstream</a:t>
            </a: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os</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os</a:t>
            </a:r>
            <a:r>
              <a:rPr lang="en-US" dirty="0">
                <a:solidFill>
                  <a:srgbClr val="000000"/>
                </a:solidFill>
                <a:highlight>
                  <a:srgbClr val="FFFFFF"/>
                </a:highlight>
                <a:latin typeface="Courier New" pitchFamily="49" charset="0"/>
                <a:cs typeface="Courier New" pitchFamily="49" charset="0"/>
              </a:rPr>
              <a:t> &lt;&lt; </a:t>
            </a:r>
            <a:r>
              <a:rPr lang="en-US" dirty="0">
                <a:solidFill>
                  <a:srgbClr val="A31515"/>
                </a:solidFill>
                <a:highlight>
                  <a:srgbClr val="FFFFFF"/>
                </a:highlight>
                <a:latin typeface="Courier New" pitchFamily="49" charset="0"/>
                <a:cs typeface="Courier New" pitchFamily="49" charset="0"/>
              </a:rPr>
              <a:t>"Thread "</a:t>
            </a:r>
            <a:r>
              <a:rPr lang="en-US" dirty="0">
                <a:solidFill>
                  <a:srgbClr val="000000"/>
                </a:solidFill>
                <a:highlight>
                  <a:srgbClr val="FFFFFF"/>
                </a:highlight>
                <a:latin typeface="Courier New" pitchFamily="49" charset="0"/>
                <a:cs typeface="Courier New" pitchFamily="49" charset="0"/>
              </a:rPr>
              <a:t> &lt;&lt; </a:t>
            </a:r>
            <a:r>
              <a:rPr lang="en-US" dirty="0">
                <a:solidFill>
                  <a:srgbClr val="808080"/>
                </a:solidFill>
                <a:highlight>
                  <a:srgbClr val="FFFFFF"/>
                </a:highlight>
                <a:latin typeface="Courier New" pitchFamily="49" charset="0"/>
                <a:cs typeface="Courier New" pitchFamily="49" charset="0"/>
              </a:rPr>
              <a:t>id</a:t>
            </a:r>
            <a:r>
              <a:rPr lang="en-US" dirty="0">
                <a:solidFill>
                  <a:srgbClr val="000000"/>
                </a:solidFill>
                <a:highlight>
                  <a:srgbClr val="FFFFFF"/>
                </a:highlight>
                <a:latin typeface="Courier New" pitchFamily="49" charset="0"/>
                <a:cs typeface="Courier New" pitchFamily="49" charset="0"/>
              </a:rPr>
              <a:t> &lt;&lt; </a:t>
            </a:r>
            <a:r>
              <a:rPr lang="en-US" dirty="0">
                <a:solidFill>
                  <a:srgbClr val="A31515"/>
                </a:solidFill>
                <a:highlight>
                  <a:srgbClr val="FFFFFF"/>
                </a:highlight>
                <a:latin typeface="Courier New" pitchFamily="49" charset="0"/>
                <a:cs typeface="Courier New" pitchFamily="49" charset="0"/>
              </a:rPr>
              <a:t>" waiting\n"</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std</a:t>
            </a:r>
            <a:r>
              <a:rPr lang="en-US" dirty="0">
                <a:solidFill>
                  <a:srgbClr val="000000"/>
                </a:solidFill>
                <a:highlight>
                  <a:srgbClr val="FFFFFF"/>
                </a:highlight>
                <a:latin typeface="Courier New" pitchFamily="49" charset="0"/>
                <a:cs typeface="Courier New" pitchFamily="49" charset="0"/>
              </a:rPr>
              <a:t>::</a:t>
            </a:r>
            <a:r>
              <a:rPr lang="en-US" dirty="0" err="1">
                <a:solidFill>
                  <a:srgbClr val="000000"/>
                </a:solidFill>
                <a:highlight>
                  <a:srgbClr val="FFFFFF"/>
                </a:highlight>
                <a:latin typeface="Courier New" pitchFamily="49" charset="0"/>
                <a:cs typeface="Courier New" pitchFamily="49" charset="0"/>
              </a:rPr>
              <a:t>cout</a:t>
            </a:r>
            <a:r>
              <a:rPr lang="en-US" dirty="0">
                <a:solidFill>
                  <a:srgbClr val="000000"/>
                </a:solidFill>
                <a:highlight>
                  <a:srgbClr val="FFFFFF"/>
                </a:highlight>
                <a:latin typeface="Courier New" pitchFamily="49" charset="0"/>
                <a:cs typeface="Courier New" pitchFamily="49" charset="0"/>
              </a:rPr>
              <a:t> &lt;&lt; </a:t>
            </a:r>
            <a:r>
              <a:rPr lang="en-US" dirty="0" err="1">
                <a:solidFill>
                  <a:srgbClr val="000000"/>
                </a:solidFill>
                <a:highlight>
                  <a:srgbClr val="FFFFFF"/>
                </a:highlight>
                <a:latin typeface="Courier New" pitchFamily="49" charset="0"/>
                <a:cs typeface="Courier New" pitchFamily="49" charset="0"/>
              </a:rPr>
              <a:t>os.str</a:t>
            </a:r>
            <a:r>
              <a:rPr lang="en-US" dirty="0">
                <a:solidFill>
                  <a:srgbClr val="000000"/>
                </a:solidFill>
                <a:highlight>
                  <a:srgbClr val="FFFFFF"/>
                </a:highlight>
                <a:latin typeface="Courier New" pitchFamily="49" charset="0"/>
                <a:cs typeface="Courier New" pitchFamily="49" charset="0"/>
              </a:rPr>
              <a:t>(); </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os.str</a:t>
            </a:r>
            <a:r>
              <a:rPr lang="en-US" dirty="0">
                <a:solidFill>
                  <a:srgbClr val="000000"/>
                </a:solidFill>
                <a:highlight>
                  <a:srgbClr val="FFFFFF"/>
                </a:highlight>
                <a:latin typeface="Courier New" pitchFamily="49" charset="0"/>
                <a:cs typeface="Courier New" pitchFamily="49" charset="0"/>
              </a:rPr>
              <a:t>(</a:t>
            </a:r>
            <a:r>
              <a:rPr lang="en-US" dirty="0">
                <a:solidFill>
                  <a:srgbClr val="A31515"/>
                </a:solidFill>
                <a:highlight>
                  <a:srgbClr val="FFFFFF"/>
                </a:highlight>
                <a:latin typeface="Courier New" pitchFamily="49" charset="0"/>
                <a:cs typeface="Courier New" pitchFamily="49" charset="0"/>
              </a:rPr>
              <a:t>""</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os</a:t>
            </a:r>
            <a:r>
              <a:rPr lang="en-US" dirty="0">
                <a:solidFill>
                  <a:srgbClr val="000000"/>
                </a:solidFill>
                <a:highlight>
                  <a:srgbClr val="FFFFFF"/>
                </a:highlight>
                <a:latin typeface="Courier New" pitchFamily="49" charset="0"/>
                <a:cs typeface="Courier New" pitchFamily="49" charset="0"/>
              </a:rPr>
              <a:t> &lt;&lt; </a:t>
            </a:r>
            <a:r>
              <a:rPr lang="en-US" dirty="0">
                <a:solidFill>
                  <a:srgbClr val="A31515"/>
                </a:solidFill>
                <a:highlight>
                  <a:srgbClr val="FFFFFF"/>
                </a:highlight>
                <a:latin typeface="Courier New" pitchFamily="49" charset="0"/>
                <a:cs typeface="Courier New" pitchFamily="49" charset="0"/>
              </a:rPr>
              <a:t>"Thread "</a:t>
            </a:r>
            <a:r>
              <a:rPr lang="en-US" dirty="0">
                <a:solidFill>
                  <a:srgbClr val="000000"/>
                </a:solidFill>
                <a:highlight>
                  <a:srgbClr val="FFFFFF"/>
                </a:highlight>
                <a:latin typeface="Courier New" pitchFamily="49" charset="0"/>
                <a:cs typeface="Courier New" pitchFamily="49" charset="0"/>
              </a:rPr>
              <a:t> &lt;&lt; </a:t>
            </a:r>
            <a:r>
              <a:rPr lang="en-US" dirty="0">
                <a:solidFill>
                  <a:srgbClr val="808080"/>
                </a:solidFill>
                <a:highlight>
                  <a:srgbClr val="FFFFFF"/>
                </a:highlight>
                <a:latin typeface="Courier New" pitchFamily="49" charset="0"/>
                <a:cs typeface="Courier New" pitchFamily="49" charset="0"/>
              </a:rPr>
              <a:t>id</a:t>
            </a:r>
            <a:r>
              <a:rPr lang="en-US" dirty="0">
                <a:solidFill>
                  <a:srgbClr val="000000"/>
                </a:solidFill>
                <a:highlight>
                  <a:srgbClr val="FFFFFF"/>
                </a:highlight>
                <a:latin typeface="Courier New" pitchFamily="49" charset="0"/>
                <a:cs typeface="Courier New" pitchFamily="49" charset="0"/>
              </a:rPr>
              <a:t> </a:t>
            </a:r>
            <a:r>
              <a:rPr lang="en-US" dirty="0" smtClean="0">
                <a:solidFill>
                  <a:srgbClr val="000000"/>
                </a:solidFill>
                <a:highlight>
                  <a:srgbClr val="FFFFFF"/>
                </a:highlight>
                <a:latin typeface="Courier New" pitchFamily="49" charset="0"/>
                <a:cs typeface="Courier New" pitchFamily="49" charset="0"/>
              </a:rPr>
              <a:t>&lt;&lt; </a:t>
            </a:r>
            <a:r>
              <a:rPr lang="en-US" dirty="0" smtClean="0">
                <a:solidFill>
                  <a:srgbClr val="A31515"/>
                </a:solidFill>
                <a:highlight>
                  <a:srgbClr val="FFFFFF"/>
                </a:highlight>
                <a:latin typeface="Courier New" pitchFamily="49" charset="0"/>
                <a:cs typeface="Courier New" pitchFamily="49" charset="0"/>
              </a:rPr>
              <a:t>" </a:t>
            </a:r>
            <a:r>
              <a:rPr lang="en-US" dirty="0">
                <a:solidFill>
                  <a:srgbClr val="A31515"/>
                </a:solidFill>
                <a:highlight>
                  <a:srgbClr val="FFFFFF"/>
                </a:highlight>
                <a:latin typeface="Courier New" pitchFamily="49" charset="0"/>
                <a:cs typeface="Courier New" pitchFamily="49" charset="0"/>
              </a:rPr>
              <a:t>woken, </a:t>
            </a:r>
            <a:r>
              <a:rPr lang="en-US" dirty="0" err="1">
                <a:solidFill>
                  <a:srgbClr val="A31515"/>
                </a:solidFill>
                <a:highlight>
                  <a:srgbClr val="FFFFFF"/>
                </a:highlight>
                <a:latin typeface="Courier New" pitchFamily="49" charset="0"/>
                <a:cs typeface="Courier New" pitchFamily="49" charset="0"/>
              </a:rPr>
              <a:t>val</a:t>
            </a:r>
            <a:r>
              <a:rPr lang="en-US" dirty="0">
                <a:solidFill>
                  <a:srgbClr val="A31515"/>
                </a:solidFill>
                <a:highlight>
                  <a:srgbClr val="FFFFFF"/>
                </a:highlight>
                <a:latin typeface="Courier New" pitchFamily="49" charset="0"/>
                <a:cs typeface="Courier New" pitchFamily="49" charset="0"/>
              </a:rPr>
              <a:t>="</a:t>
            </a:r>
            <a:r>
              <a:rPr lang="en-US" dirty="0">
                <a:solidFill>
                  <a:srgbClr val="000000"/>
                </a:solidFill>
                <a:highlight>
                  <a:srgbClr val="FFFFFF"/>
                </a:highlight>
                <a:latin typeface="Courier New" pitchFamily="49" charset="0"/>
                <a:cs typeface="Courier New" pitchFamily="49" charset="0"/>
              </a:rPr>
              <a:t> </a:t>
            </a:r>
            <a:r>
              <a:rPr lang="en-US" dirty="0" smtClean="0">
                <a:solidFill>
                  <a:srgbClr val="000000"/>
                </a:solidFill>
                <a:highlight>
                  <a:srgbClr val="FFFFFF"/>
                </a:highlight>
                <a:latin typeface="Courier New" pitchFamily="49" charset="0"/>
                <a:cs typeface="Courier New" pitchFamily="49" charset="0"/>
              </a:rPr>
              <a:t>&lt;&lt; </a:t>
            </a:r>
            <a:r>
              <a:rPr lang="en-US" dirty="0" err="1">
                <a:solidFill>
                  <a:srgbClr val="808080"/>
                </a:solidFill>
                <a:highlight>
                  <a:srgbClr val="FFFFFF"/>
                </a:highlight>
                <a:latin typeface="Courier New" pitchFamily="49" charset="0"/>
                <a:cs typeface="Courier New" pitchFamily="49" charset="0"/>
              </a:rPr>
              <a:t>sf</a:t>
            </a:r>
            <a:r>
              <a:rPr lang="en-US" dirty="0" err="1">
                <a:solidFill>
                  <a:srgbClr val="000000"/>
                </a:solidFill>
                <a:highlight>
                  <a:srgbClr val="FFFFFF"/>
                </a:highlight>
                <a:latin typeface="Courier New" pitchFamily="49" charset="0"/>
                <a:cs typeface="Courier New" pitchFamily="49" charset="0"/>
              </a:rPr>
              <a:t>.get</a:t>
            </a:r>
            <a:r>
              <a:rPr lang="en-US" dirty="0" smtClean="0">
                <a:solidFill>
                  <a:srgbClr val="000000"/>
                </a:solidFill>
                <a:highlight>
                  <a:srgbClr val="FFFFFF"/>
                </a:highlight>
                <a:latin typeface="Courier New" pitchFamily="49" charset="0"/>
                <a:cs typeface="Courier New" pitchFamily="49" charset="0"/>
              </a:rPr>
              <a:t>() &lt;&lt; </a:t>
            </a:r>
            <a:r>
              <a:rPr lang="en-US" dirty="0">
                <a:solidFill>
                  <a:srgbClr val="A31515"/>
                </a:solidFill>
                <a:highlight>
                  <a:srgbClr val="FFFFFF"/>
                </a:highlight>
                <a:latin typeface="Courier New" pitchFamily="49" charset="0"/>
                <a:cs typeface="Courier New" pitchFamily="49" charset="0"/>
              </a:rPr>
              <a:t>"\n"</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std</a:t>
            </a:r>
            <a:r>
              <a:rPr lang="en-US" dirty="0">
                <a:solidFill>
                  <a:srgbClr val="000000"/>
                </a:solidFill>
                <a:highlight>
                  <a:srgbClr val="FFFFFF"/>
                </a:highlight>
                <a:latin typeface="Courier New" pitchFamily="49" charset="0"/>
                <a:cs typeface="Courier New" pitchFamily="49" charset="0"/>
              </a:rPr>
              <a:t>::</a:t>
            </a:r>
            <a:r>
              <a:rPr lang="en-US" dirty="0" err="1" smtClean="0">
                <a:solidFill>
                  <a:srgbClr val="000000"/>
                </a:solidFill>
                <a:highlight>
                  <a:srgbClr val="FFFFFF"/>
                </a:highlight>
                <a:latin typeface="Courier New" pitchFamily="49" charset="0"/>
                <a:cs typeface="Courier New" pitchFamily="49" charset="0"/>
              </a:rPr>
              <a:t>cout</a:t>
            </a:r>
            <a:r>
              <a:rPr lang="en-US" dirty="0" smtClean="0">
                <a:solidFill>
                  <a:srgbClr val="000000"/>
                </a:solidFill>
                <a:highlight>
                  <a:srgbClr val="FFFFFF"/>
                </a:highlight>
                <a:latin typeface="Courier New" pitchFamily="49" charset="0"/>
                <a:cs typeface="Courier New" pitchFamily="49" charset="0"/>
              </a:rPr>
              <a:t> &lt;&lt; </a:t>
            </a:r>
            <a:r>
              <a:rPr lang="en-US" dirty="0" err="1" smtClean="0">
                <a:solidFill>
                  <a:srgbClr val="000000"/>
                </a:solidFill>
                <a:highlight>
                  <a:srgbClr val="FFFFFF"/>
                </a:highlight>
                <a:latin typeface="Courier New" pitchFamily="49" charset="0"/>
                <a:cs typeface="Courier New" pitchFamily="49" charset="0"/>
              </a:rPr>
              <a:t>os.str</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a:t>
            </a:r>
          </a:p>
          <a:p>
            <a:pPr marL="0" indent="0">
              <a:buNone/>
            </a:pPr>
            <a:endParaRPr lang="en-US" dirty="0">
              <a:solidFill>
                <a:srgbClr val="000000"/>
              </a:solidFill>
              <a:highlight>
                <a:srgbClr val="FFFFFF"/>
              </a:highlight>
              <a:latin typeface="Courier New" pitchFamily="49" charset="0"/>
              <a:cs typeface="Courier New" pitchFamily="49" charset="0"/>
            </a:endParaRPr>
          </a:p>
          <a:p>
            <a:pPr marL="0" indent="0">
              <a:buNone/>
            </a:pPr>
            <a:r>
              <a:rPr lang="en-US" dirty="0">
                <a:solidFill>
                  <a:srgbClr val="0000FF"/>
                </a:solidFill>
                <a:highlight>
                  <a:srgbClr val="FFFFFF"/>
                </a:highlight>
                <a:latin typeface="Courier New" pitchFamily="49" charset="0"/>
                <a:cs typeface="Courier New" pitchFamily="49" charset="0"/>
              </a:rPr>
              <a:t>void</a:t>
            </a: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using_shared_future</a:t>
            </a:r>
            <a:r>
              <a:rPr lang="en-US" dirty="0">
                <a:solidFill>
                  <a:srgbClr val="000000"/>
                </a:solidFill>
                <a:highlight>
                  <a:srgbClr val="FFFFFF"/>
                </a:highlight>
                <a:latin typeface="Courier New" pitchFamily="49" charset="0"/>
                <a:cs typeface="Courier New" pitchFamily="49" charset="0"/>
              </a:rPr>
              <a:t>() </a:t>
            </a:r>
          </a:p>
          <a:p>
            <a:pPr marL="0" indent="0">
              <a:buNone/>
            </a:pP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std</a:t>
            </a:r>
            <a:r>
              <a:rPr lang="en-US" dirty="0">
                <a:solidFill>
                  <a:srgbClr val="000000"/>
                </a:solidFill>
                <a:highlight>
                  <a:srgbClr val="FFFFFF"/>
                </a:highlight>
                <a:latin typeface="Courier New" pitchFamily="49" charset="0"/>
                <a:cs typeface="Courier New" pitchFamily="49" charset="0"/>
              </a:rPr>
              <a:t>::</a:t>
            </a:r>
            <a:r>
              <a:rPr lang="en-US" dirty="0">
                <a:solidFill>
                  <a:srgbClr val="2B91AF"/>
                </a:solidFill>
                <a:highlight>
                  <a:srgbClr val="FFFFFF"/>
                </a:highlight>
                <a:latin typeface="Courier New" pitchFamily="49" charset="0"/>
                <a:cs typeface="Courier New" pitchFamily="49" charset="0"/>
              </a:rPr>
              <a:t>promise</a:t>
            </a:r>
            <a:r>
              <a:rPr lang="en-US" dirty="0">
                <a:solidFill>
                  <a:srgbClr val="000000"/>
                </a:solidFill>
                <a:highlight>
                  <a:srgbClr val="FFFFFF"/>
                </a:highlight>
                <a:latin typeface="Courier New" pitchFamily="49" charset="0"/>
                <a:cs typeface="Courier New" pitchFamily="49" charset="0"/>
              </a:rPr>
              <a:t>&lt;</a:t>
            </a:r>
            <a:r>
              <a:rPr lang="en-US" dirty="0" err="1">
                <a:solidFill>
                  <a:srgbClr val="0000FF"/>
                </a:solidFill>
                <a:highlight>
                  <a:srgbClr val="FFFFFF"/>
                </a:highlight>
                <a:latin typeface="Courier New" pitchFamily="49" charset="0"/>
                <a:cs typeface="Courier New" pitchFamily="49" charset="0"/>
              </a:rPr>
              <a:t>int</a:t>
            </a:r>
            <a:r>
              <a:rPr lang="en-US" dirty="0">
                <a:solidFill>
                  <a:srgbClr val="000000"/>
                </a:solidFill>
                <a:highlight>
                  <a:srgbClr val="FFFFFF"/>
                </a:highlight>
                <a:latin typeface="Courier New" pitchFamily="49" charset="0"/>
                <a:cs typeface="Courier New" pitchFamily="49" charset="0"/>
              </a:rPr>
              <a:t>&gt; p;</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a:solidFill>
                  <a:srgbClr val="0000FF"/>
                </a:solidFill>
                <a:highlight>
                  <a:srgbClr val="FFFFFF"/>
                </a:highlight>
                <a:latin typeface="Courier New" pitchFamily="49" charset="0"/>
                <a:cs typeface="Courier New" pitchFamily="49" charset="0"/>
              </a:rPr>
              <a:t>auto</a:t>
            </a: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sf</a:t>
            </a:r>
            <a:r>
              <a:rPr lang="en-US" dirty="0">
                <a:solidFill>
                  <a:srgbClr val="000000"/>
                </a:solidFill>
                <a:highlight>
                  <a:srgbClr val="FFFFFF"/>
                </a:highlight>
                <a:latin typeface="Courier New" pitchFamily="49" charset="0"/>
                <a:cs typeface="Courier New" pitchFamily="49" charset="0"/>
              </a:rPr>
              <a:t>=</a:t>
            </a:r>
            <a:r>
              <a:rPr lang="en-US" dirty="0" err="1">
                <a:solidFill>
                  <a:srgbClr val="000000"/>
                </a:solidFill>
                <a:highlight>
                  <a:srgbClr val="FFFFFF"/>
                </a:highlight>
                <a:latin typeface="Courier New" pitchFamily="49" charset="0"/>
                <a:cs typeface="Courier New" pitchFamily="49" charset="0"/>
              </a:rPr>
              <a:t>p.get_future</a:t>
            </a:r>
            <a:r>
              <a:rPr lang="en-US" dirty="0">
                <a:solidFill>
                  <a:srgbClr val="000000"/>
                </a:solidFill>
                <a:highlight>
                  <a:srgbClr val="FFFFFF"/>
                </a:highlight>
                <a:latin typeface="Courier New" pitchFamily="49" charset="0"/>
                <a:cs typeface="Courier New" pitchFamily="49" charset="0"/>
              </a:rPr>
              <a:t>().share();</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std</a:t>
            </a:r>
            <a:r>
              <a:rPr lang="en-US" dirty="0">
                <a:solidFill>
                  <a:srgbClr val="000000"/>
                </a:solidFill>
                <a:highlight>
                  <a:srgbClr val="FFFFFF"/>
                </a:highlight>
                <a:latin typeface="Courier New" pitchFamily="49" charset="0"/>
                <a:cs typeface="Courier New" pitchFamily="49" charset="0"/>
              </a:rPr>
              <a:t>::</a:t>
            </a:r>
            <a:r>
              <a:rPr lang="en-US" dirty="0">
                <a:solidFill>
                  <a:srgbClr val="2B91AF"/>
                </a:solidFill>
                <a:highlight>
                  <a:srgbClr val="FFFFFF"/>
                </a:highlight>
                <a:latin typeface="Courier New" pitchFamily="49" charset="0"/>
                <a:cs typeface="Courier New" pitchFamily="49" charset="0"/>
              </a:rPr>
              <a:t>thread</a:t>
            </a:r>
            <a:r>
              <a:rPr lang="en-US" dirty="0">
                <a:solidFill>
                  <a:srgbClr val="000000"/>
                </a:solidFill>
                <a:highlight>
                  <a:srgbClr val="FFFFFF"/>
                </a:highlight>
                <a:latin typeface="Courier New" pitchFamily="49" charset="0"/>
                <a:cs typeface="Courier New" pitchFamily="49" charset="0"/>
              </a:rPr>
              <a:t> t1( </a:t>
            </a:r>
            <a:r>
              <a:rPr lang="en-US" dirty="0" err="1">
                <a:solidFill>
                  <a:srgbClr val="000000"/>
                </a:solidFill>
                <a:highlight>
                  <a:srgbClr val="FFFFFF"/>
                </a:highlight>
                <a:latin typeface="Courier New" pitchFamily="49" charset="0"/>
                <a:cs typeface="Courier New" pitchFamily="49" charset="0"/>
              </a:rPr>
              <a:t>wait_for_notify</a:t>
            </a:r>
            <a:r>
              <a:rPr lang="en-US" dirty="0" smtClean="0">
                <a:solidFill>
                  <a:srgbClr val="000000"/>
                </a:solidFill>
                <a:highlight>
                  <a:srgbClr val="FFFFFF"/>
                </a:highlight>
                <a:latin typeface="Courier New" pitchFamily="49" charset="0"/>
                <a:cs typeface="Courier New" pitchFamily="49" charset="0"/>
              </a:rPr>
              <a:t>, 1, </a:t>
            </a:r>
            <a:r>
              <a:rPr lang="en-US" dirty="0" err="1" smtClean="0">
                <a:solidFill>
                  <a:srgbClr val="000000"/>
                </a:solidFill>
                <a:highlight>
                  <a:srgbClr val="FFFFFF"/>
                </a:highlight>
                <a:latin typeface="Courier New" pitchFamily="49" charset="0"/>
                <a:cs typeface="Courier New" pitchFamily="49" charset="0"/>
              </a:rPr>
              <a:t>sf</a:t>
            </a:r>
            <a:r>
              <a:rPr lang="en-US" dirty="0" smtClean="0">
                <a:solidFill>
                  <a:srgbClr val="000000"/>
                </a:solidFill>
                <a:highlight>
                  <a:srgbClr val="FFFFFF"/>
                </a:highlight>
                <a:latin typeface="Courier New" pitchFamily="49" charset="0"/>
                <a:cs typeface="Courier New" pitchFamily="49" charset="0"/>
              </a:rPr>
              <a:t> </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std</a:t>
            </a:r>
            <a:r>
              <a:rPr lang="en-US" dirty="0">
                <a:solidFill>
                  <a:srgbClr val="000000"/>
                </a:solidFill>
                <a:highlight>
                  <a:srgbClr val="FFFFFF"/>
                </a:highlight>
                <a:latin typeface="Courier New" pitchFamily="49" charset="0"/>
                <a:cs typeface="Courier New" pitchFamily="49" charset="0"/>
              </a:rPr>
              <a:t>::</a:t>
            </a:r>
            <a:r>
              <a:rPr lang="en-US" dirty="0">
                <a:solidFill>
                  <a:srgbClr val="2B91AF"/>
                </a:solidFill>
                <a:highlight>
                  <a:srgbClr val="FFFFFF"/>
                </a:highlight>
                <a:latin typeface="Courier New" pitchFamily="49" charset="0"/>
                <a:cs typeface="Courier New" pitchFamily="49" charset="0"/>
              </a:rPr>
              <a:t>thread</a:t>
            </a:r>
            <a:r>
              <a:rPr lang="en-US" dirty="0">
                <a:solidFill>
                  <a:srgbClr val="000000"/>
                </a:solidFill>
                <a:highlight>
                  <a:srgbClr val="FFFFFF"/>
                </a:highlight>
                <a:latin typeface="Courier New" pitchFamily="49" charset="0"/>
                <a:cs typeface="Courier New" pitchFamily="49" charset="0"/>
              </a:rPr>
              <a:t> t2( </a:t>
            </a:r>
            <a:r>
              <a:rPr lang="en-US" dirty="0" err="1">
                <a:solidFill>
                  <a:srgbClr val="000000"/>
                </a:solidFill>
                <a:highlight>
                  <a:srgbClr val="FFFFFF"/>
                </a:highlight>
                <a:latin typeface="Courier New" pitchFamily="49" charset="0"/>
                <a:cs typeface="Courier New" pitchFamily="49" charset="0"/>
              </a:rPr>
              <a:t>wait_for_notify</a:t>
            </a:r>
            <a:r>
              <a:rPr lang="en-US" dirty="0" smtClean="0">
                <a:solidFill>
                  <a:srgbClr val="000000"/>
                </a:solidFill>
                <a:highlight>
                  <a:srgbClr val="FFFFFF"/>
                </a:highlight>
                <a:latin typeface="Courier New" pitchFamily="49" charset="0"/>
                <a:cs typeface="Courier New" pitchFamily="49" charset="0"/>
              </a:rPr>
              <a:t>, 2, </a:t>
            </a:r>
            <a:r>
              <a:rPr lang="en-US" dirty="0" err="1" smtClean="0">
                <a:solidFill>
                  <a:srgbClr val="000000"/>
                </a:solidFill>
                <a:highlight>
                  <a:srgbClr val="FFFFFF"/>
                </a:highlight>
                <a:latin typeface="Courier New" pitchFamily="49" charset="0"/>
                <a:cs typeface="Courier New" pitchFamily="49" charset="0"/>
              </a:rPr>
              <a:t>sf</a:t>
            </a:r>
            <a:r>
              <a:rPr lang="en-US" dirty="0" smtClean="0">
                <a:solidFill>
                  <a:srgbClr val="000000"/>
                </a:solidFill>
                <a:highlight>
                  <a:srgbClr val="FFFFFF"/>
                </a:highlight>
                <a:latin typeface="Courier New" pitchFamily="49" charset="0"/>
                <a:cs typeface="Courier New" pitchFamily="49" charset="0"/>
              </a:rPr>
              <a:t> </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std</a:t>
            </a:r>
            <a:r>
              <a:rPr lang="en-US" dirty="0">
                <a:solidFill>
                  <a:srgbClr val="000000"/>
                </a:solidFill>
                <a:highlight>
                  <a:srgbClr val="FFFFFF"/>
                </a:highlight>
                <a:latin typeface="Courier New" pitchFamily="49" charset="0"/>
                <a:cs typeface="Courier New" pitchFamily="49" charset="0"/>
              </a:rPr>
              <a:t>::</a:t>
            </a:r>
            <a:r>
              <a:rPr lang="en-US" dirty="0" err="1">
                <a:solidFill>
                  <a:srgbClr val="000000"/>
                </a:solidFill>
                <a:highlight>
                  <a:srgbClr val="FFFFFF"/>
                </a:highlight>
                <a:latin typeface="Courier New" pitchFamily="49" charset="0"/>
                <a:cs typeface="Courier New" pitchFamily="49" charset="0"/>
              </a:rPr>
              <a:t>cout</a:t>
            </a:r>
            <a:r>
              <a:rPr lang="en-US" dirty="0">
                <a:solidFill>
                  <a:srgbClr val="000000"/>
                </a:solidFill>
                <a:highlight>
                  <a:srgbClr val="FFFFFF"/>
                </a:highlight>
                <a:latin typeface="Courier New" pitchFamily="49" charset="0"/>
                <a:cs typeface="Courier New" pitchFamily="49" charset="0"/>
              </a:rPr>
              <a:t>&lt;&lt;</a:t>
            </a:r>
            <a:r>
              <a:rPr lang="en-US" dirty="0">
                <a:solidFill>
                  <a:srgbClr val="A31515"/>
                </a:solidFill>
                <a:highlight>
                  <a:srgbClr val="FFFFFF"/>
                </a:highlight>
                <a:latin typeface="Courier New" pitchFamily="49" charset="0"/>
                <a:cs typeface="Courier New" pitchFamily="49" charset="0"/>
              </a:rPr>
              <a:t>"Waiting\n"</a:t>
            </a:r>
            <a:r>
              <a:rPr lang="en-US" dirty="0">
                <a:solidFill>
                  <a:srgbClr val="000000"/>
                </a:solidFill>
                <a:highlight>
                  <a:srgbClr val="FFFFFF"/>
                </a:highlight>
                <a:latin typeface="Courier New" pitchFamily="49" charset="0"/>
                <a:cs typeface="Courier New" pitchFamily="49" charset="0"/>
              </a:rPr>
              <a:t>; </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std</a:t>
            </a:r>
            <a:r>
              <a:rPr lang="en-US" dirty="0">
                <a:solidFill>
                  <a:srgbClr val="000000"/>
                </a:solidFill>
                <a:highlight>
                  <a:srgbClr val="FFFFFF"/>
                </a:highlight>
                <a:latin typeface="Courier New" pitchFamily="49" charset="0"/>
                <a:cs typeface="Courier New" pitchFamily="49" charset="0"/>
              </a:rPr>
              <a:t>::</a:t>
            </a:r>
            <a:r>
              <a:rPr lang="en-US" dirty="0" err="1">
                <a:solidFill>
                  <a:srgbClr val="000000"/>
                </a:solidFill>
                <a:highlight>
                  <a:srgbClr val="FFFFFF"/>
                </a:highlight>
                <a:latin typeface="Courier New" pitchFamily="49" charset="0"/>
                <a:cs typeface="Courier New" pitchFamily="49" charset="0"/>
              </a:rPr>
              <a:t>cin.get</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p.set_value</a:t>
            </a:r>
            <a:r>
              <a:rPr lang="en-US" dirty="0">
                <a:solidFill>
                  <a:srgbClr val="000000"/>
                </a:solidFill>
                <a:highlight>
                  <a:srgbClr val="FFFFFF"/>
                </a:highlight>
                <a:latin typeface="Courier New" pitchFamily="49" charset="0"/>
                <a:cs typeface="Courier New" pitchFamily="49" charset="0"/>
              </a:rPr>
              <a:t>(42);</a:t>
            </a:r>
          </a:p>
          <a:p>
            <a:pPr marL="0" indent="0">
              <a:buNone/>
            </a:pPr>
            <a:r>
              <a:rPr lang="en-US" dirty="0">
                <a:solidFill>
                  <a:srgbClr val="000000"/>
                </a:solidFill>
                <a:highlight>
                  <a:srgbClr val="FFFFFF"/>
                </a:highlight>
                <a:latin typeface="Courier New" pitchFamily="49" charset="0"/>
                <a:cs typeface="Courier New" pitchFamily="49" charset="0"/>
              </a:rPr>
              <a:t>   t2.join(); </a:t>
            </a:r>
          </a:p>
          <a:p>
            <a:pPr marL="0" indent="0">
              <a:buNone/>
            </a:pPr>
            <a:r>
              <a:rPr lang="en-US" dirty="0">
                <a:solidFill>
                  <a:srgbClr val="000000"/>
                </a:solidFill>
                <a:highlight>
                  <a:srgbClr val="FFFFFF"/>
                </a:highlight>
                <a:latin typeface="Courier New" pitchFamily="49" charset="0"/>
                <a:cs typeface="Courier New" pitchFamily="49" charset="0"/>
              </a:rPr>
              <a:t>   t1.join();</a:t>
            </a:r>
          </a:p>
          <a:p>
            <a:pPr marL="0" indent="0">
              <a:buNone/>
            </a:pPr>
            <a:r>
              <a:rPr lang="en-US" dirty="0" smtClean="0">
                <a:solidFill>
                  <a:srgbClr val="000000"/>
                </a:solidFill>
                <a:highlight>
                  <a:srgbClr val="FFFFFF"/>
                </a:highlight>
                <a:latin typeface="Courier New" pitchFamily="49" charset="0"/>
                <a:cs typeface="Courier New" pitchFamily="49" charset="0"/>
              </a:rPr>
              <a:t>}</a:t>
            </a:r>
          </a:p>
        </p:txBody>
      </p:sp>
      <p:sp>
        <p:nvSpPr>
          <p:cNvPr id="4" name="TextBox 3"/>
          <p:cNvSpPr txBox="1"/>
          <p:nvPr/>
        </p:nvSpPr>
        <p:spPr>
          <a:xfrm>
            <a:off x="4343400" y="5257800"/>
            <a:ext cx="4191000" cy="830997"/>
          </a:xfrm>
          <a:prstGeom prst="rect">
            <a:avLst/>
          </a:prstGeom>
          <a:noFill/>
        </p:spPr>
        <p:txBody>
          <a:bodyPr wrap="square" rtlCol="0">
            <a:spAutoFit/>
          </a:bodyPr>
          <a:lstStyle/>
          <a:p>
            <a:pPr algn="r"/>
            <a:r>
              <a:rPr lang="en-US" sz="2400" dirty="0" smtClean="0"/>
              <a:t>Multiple threads are waiting for a single result…</a:t>
            </a:r>
            <a:endParaRPr lang="en-US" sz="2400"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267448863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Mutual exclusion</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a:solidFill>
                  <a:srgbClr val="0000FF"/>
                </a:solidFill>
                <a:highlight>
                  <a:srgbClr val="FFFFFF"/>
                </a:highlight>
                <a:latin typeface="Courier New" pitchFamily="49" charset="0"/>
                <a:cs typeface="Courier New" pitchFamily="49" charset="0"/>
              </a:rPr>
              <a:t>class</a:t>
            </a:r>
            <a:r>
              <a:rPr lang="en-US" dirty="0">
                <a:solidFill>
                  <a:srgbClr val="000000"/>
                </a:solidFill>
                <a:highlight>
                  <a:srgbClr val="FFFFFF"/>
                </a:highlight>
                <a:latin typeface="Courier New" pitchFamily="49" charset="0"/>
                <a:cs typeface="Courier New" pitchFamily="49" charset="0"/>
              </a:rPr>
              <a:t> </a:t>
            </a:r>
            <a:r>
              <a:rPr lang="en-US" dirty="0">
                <a:solidFill>
                  <a:srgbClr val="2B91AF"/>
                </a:solidFill>
                <a:highlight>
                  <a:srgbClr val="FFFFFF"/>
                </a:highlight>
                <a:latin typeface="Courier New" pitchFamily="49" charset="0"/>
                <a:cs typeface="Courier New" pitchFamily="49" charset="0"/>
              </a:rPr>
              <a:t>mutex</a:t>
            </a:r>
            <a:r>
              <a:rPr lang="en-US" dirty="0">
                <a:solidFill>
                  <a:srgbClr val="000000"/>
                </a:solidFill>
                <a:highlight>
                  <a:srgbClr val="FFFFFF"/>
                </a:highlight>
                <a:latin typeface="Courier New" pitchFamily="49" charset="0"/>
                <a:cs typeface="Courier New" pitchFamily="49" charset="0"/>
              </a:rPr>
              <a:t> {</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a:solidFill>
                  <a:srgbClr val="0000FF"/>
                </a:solidFill>
                <a:highlight>
                  <a:srgbClr val="FFFFFF"/>
                </a:highlight>
                <a:latin typeface="Courier New" pitchFamily="49" charset="0"/>
                <a:cs typeface="Courier New" pitchFamily="49" charset="0"/>
              </a:rPr>
              <a:t>public</a:t>
            </a:r>
            <a:r>
              <a:rPr lang="en-US" dirty="0">
                <a:solidFill>
                  <a:srgbClr val="000000"/>
                </a:solidFill>
                <a:highlight>
                  <a:srgbClr val="FFFFFF"/>
                </a:highlight>
                <a:latin typeface="Courier New" pitchFamily="49" charset="0"/>
                <a:cs typeface="Courier New" pitchFamily="49" charset="0"/>
              </a:rPr>
              <a:t>: </a:t>
            </a:r>
          </a:p>
          <a:p>
            <a:pPr marL="0" indent="0">
              <a:buNone/>
            </a:pPr>
            <a:r>
              <a:rPr lang="en-US" dirty="0">
                <a:solidFill>
                  <a:srgbClr val="000000"/>
                </a:solidFill>
                <a:highlight>
                  <a:srgbClr val="FFFFFF"/>
                </a:highlight>
                <a:latin typeface="Courier New" pitchFamily="49" charset="0"/>
                <a:cs typeface="Courier New" pitchFamily="49" charset="0"/>
              </a:rPr>
              <a:t>   mutex();</a:t>
            </a:r>
          </a:p>
          <a:p>
            <a:pPr marL="0" indent="0">
              <a:buNone/>
            </a:pPr>
            <a:r>
              <a:rPr lang="en-US" dirty="0">
                <a:solidFill>
                  <a:srgbClr val="000000"/>
                </a:solidFill>
                <a:highlight>
                  <a:srgbClr val="FFFFFF"/>
                </a:highlight>
                <a:latin typeface="Courier New" pitchFamily="49" charset="0"/>
                <a:cs typeface="Courier New" pitchFamily="49" charset="0"/>
              </a:rPr>
              <a:t>   ~mutex();</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a:solidFill>
                  <a:srgbClr val="008000"/>
                </a:solidFill>
                <a:highlight>
                  <a:srgbClr val="FFFFFF"/>
                </a:highlight>
                <a:latin typeface="Courier New" pitchFamily="49" charset="0"/>
                <a:cs typeface="Courier New" pitchFamily="49" charset="0"/>
              </a:rPr>
              <a:t>// not </a:t>
            </a:r>
            <a:r>
              <a:rPr lang="en-US" dirty="0" err="1">
                <a:solidFill>
                  <a:srgbClr val="008000"/>
                </a:solidFill>
                <a:highlight>
                  <a:srgbClr val="FFFFFF"/>
                </a:highlight>
                <a:latin typeface="Courier New" pitchFamily="49" charset="0"/>
                <a:cs typeface="Courier New" pitchFamily="49" charset="0"/>
              </a:rPr>
              <a:t>copyable</a:t>
            </a:r>
            <a:r>
              <a:rPr lang="en-US" dirty="0">
                <a:solidFill>
                  <a:srgbClr val="008000"/>
                </a:solidFill>
                <a:highlight>
                  <a:srgbClr val="FFFFFF"/>
                </a:highlight>
                <a:latin typeface="Courier New" pitchFamily="49" charset="0"/>
                <a:cs typeface="Courier New" pitchFamily="49" charset="0"/>
              </a:rPr>
              <a:t>, not moveable</a:t>
            </a:r>
            <a:endParaRPr lang="en-US" dirty="0">
              <a:solidFill>
                <a:srgbClr val="000000"/>
              </a:solidFill>
              <a:highlight>
                <a:srgbClr val="FFFFFF"/>
              </a:highlight>
              <a:latin typeface="Courier New" pitchFamily="49" charset="0"/>
              <a:cs typeface="Courier New" pitchFamily="49" charset="0"/>
            </a:endParaRPr>
          </a:p>
          <a:p>
            <a:pPr marL="0" indent="0">
              <a:buNone/>
            </a:pPr>
            <a:r>
              <a:rPr lang="en-US" dirty="0">
                <a:solidFill>
                  <a:srgbClr val="000000"/>
                </a:solidFill>
                <a:highlight>
                  <a:srgbClr val="FFFFFF"/>
                </a:highlight>
                <a:latin typeface="Courier New" pitchFamily="49" charset="0"/>
                <a:cs typeface="Courier New" pitchFamily="49" charset="0"/>
              </a:rPr>
              <a:t>   mutex(</a:t>
            </a:r>
            <a:r>
              <a:rPr lang="en-US" dirty="0" err="1">
                <a:solidFill>
                  <a:srgbClr val="0000FF"/>
                </a:solidFill>
                <a:highlight>
                  <a:srgbClr val="FFFFFF"/>
                </a:highlight>
                <a:latin typeface="Courier New" pitchFamily="49" charset="0"/>
                <a:cs typeface="Courier New" pitchFamily="49" charset="0"/>
              </a:rPr>
              <a:t>const</a:t>
            </a:r>
            <a:r>
              <a:rPr lang="en-US" dirty="0">
                <a:solidFill>
                  <a:srgbClr val="000000"/>
                </a:solidFill>
                <a:highlight>
                  <a:srgbClr val="FFFFFF"/>
                </a:highlight>
                <a:latin typeface="Courier New" pitchFamily="49" charset="0"/>
                <a:cs typeface="Courier New" pitchFamily="49" charset="0"/>
              </a:rPr>
              <a:t> </a:t>
            </a:r>
            <a:r>
              <a:rPr lang="en-US" dirty="0">
                <a:solidFill>
                  <a:srgbClr val="2B91AF"/>
                </a:solidFill>
                <a:highlight>
                  <a:srgbClr val="FFFFFF"/>
                </a:highlight>
                <a:latin typeface="Courier New" pitchFamily="49" charset="0"/>
                <a:cs typeface="Courier New" pitchFamily="49" charset="0"/>
              </a:rPr>
              <a:t>mutex</a:t>
            </a:r>
            <a:r>
              <a:rPr lang="en-US" dirty="0">
                <a:solidFill>
                  <a:srgbClr val="000000"/>
                </a:solidFill>
                <a:highlight>
                  <a:srgbClr val="FFFFFF"/>
                </a:highlight>
                <a:latin typeface="Courier New" pitchFamily="49" charset="0"/>
                <a:cs typeface="Courier New" pitchFamily="49" charset="0"/>
              </a:rPr>
              <a:t>&amp;) = </a:t>
            </a:r>
            <a:r>
              <a:rPr lang="en-US" dirty="0">
                <a:solidFill>
                  <a:srgbClr val="0000FF"/>
                </a:solidFill>
                <a:highlight>
                  <a:srgbClr val="FFFFFF"/>
                </a:highlight>
                <a:latin typeface="Courier New" pitchFamily="49" charset="0"/>
                <a:cs typeface="Courier New" pitchFamily="49" charset="0"/>
              </a:rPr>
              <a:t>delete</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a:solidFill>
                  <a:srgbClr val="2B91AF"/>
                </a:solidFill>
                <a:highlight>
                  <a:srgbClr val="FFFFFF"/>
                </a:highlight>
                <a:latin typeface="Courier New" pitchFamily="49" charset="0"/>
                <a:cs typeface="Courier New" pitchFamily="49" charset="0"/>
              </a:rPr>
              <a:t>mutex</a:t>
            </a:r>
            <a:r>
              <a:rPr lang="en-US" dirty="0">
                <a:solidFill>
                  <a:srgbClr val="000000"/>
                </a:solidFill>
                <a:highlight>
                  <a:srgbClr val="FFFFFF"/>
                </a:highlight>
                <a:latin typeface="Courier New" pitchFamily="49" charset="0"/>
                <a:cs typeface="Courier New" pitchFamily="49" charset="0"/>
              </a:rPr>
              <a:t>&amp; operator=(</a:t>
            </a:r>
            <a:r>
              <a:rPr lang="en-US" dirty="0" err="1">
                <a:solidFill>
                  <a:srgbClr val="0000FF"/>
                </a:solidFill>
                <a:highlight>
                  <a:srgbClr val="FFFFFF"/>
                </a:highlight>
                <a:latin typeface="Courier New" pitchFamily="49" charset="0"/>
                <a:cs typeface="Courier New" pitchFamily="49" charset="0"/>
              </a:rPr>
              <a:t>const</a:t>
            </a:r>
            <a:r>
              <a:rPr lang="en-US" dirty="0">
                <a:solidFill>
                  <a:srgbClr val="000000"/>
                </a:solidFill>
                <a:highlight>
                  <a:srgbClr val="FFFFFF"/>
                </a:highlight>
                <a:latin typeface="Courier New" pitchFamily="49" charset="0"/>
                <a:cs typeface="Courier New" pitchFamily="49" charset="0"/>
              </a:rPr>
              <a:t> </a:t>
            </a:r>
            <a:r>
              <a:rPr lang="en-US" dirty="0">
                <a:solidFill>
                  <a:srgbClr val="2B91AF"/>
                </a:solidFill>
                <a:highlight>
                  <a:srgbClr val="FFFFFF"/>
                </a:highlight>
                <a:latin typeface="Courier New" pitchFamily="49" charset="0"/>
                <a:cs typeface="Courier New" pitchFamily="49" charset="0"/>
              </a:rPr>
              <a:t>mutex</a:t>
            </a:r>
            <a:r>
              <a:rPr lang="en-US" dirty="0">
                <a:solidFill>
                  <a:srgbClr val="000000"/>
                </a:solidFill>
                <a:highlight>
                  <a:srgbClr val="FFFFFF"/>
                </a:highlight>
                <a:latin typeface="Courier New" pitchFamily="49" charset="0"/>
                <a:cs typeface="Courier New" pitchFamily="49" charset="0"/>
              </a:rPr>
              <a:t>&amp;) = </a:t>
            </a:r>
            <a:r>
              <a:rPr lang="en-US" dirty="0">
                <a:solidFill>
                  <a:srgbClr val="0000FF"/>
                </a:solidFill>
                <a:highlight>
                  <a:srgbClr val="FFFFFF"/>
                </a:highlight>
                <a:latin typeface="Courier New" pitchFamily="49" charset="0"/>
                <a:cs typeface="Courier New" pitchFamily="49" charset="0"/>
              </a:rPr>
              <a:t>delete</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a:solidFill>
                  <a:srgbClr val="0000FF"/>
                </a:solidFill>
                <a:highlight>
                  <a:srgbClr val="FFFFFF"/>
                </a:highlight>
                <a:latin typeface="Courier New" pitchFamily="49" charset="0"/>
                <a:cs typeface="Courier New" pitchFamily="49" charset="0"/>
              </a:rPr>
              <a:t>void</a:t>
            </a:r>
            <a:r>
              <a:rPr lang="en-US" dirty="0">
                <a:solidFill>
                  <a:srgbClr val="000000"/>
                </a:solidFill>
                <a:highlight>
                  <a:srgbClr val="FFFFFF"/>
                </a:highlight>
                <a:latin typeface="Courier New" pitchFamily="49" charset="0"/>
                <a:cs typeface="Courier New" pitchFamily="49" charset="0"/>
              </a:rPr>
              <a:t> lock();</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err="1">
                <a:solidFill>
                  <a:srgbClr val="0000FF"/>
                </a:solidFill>
                <a:highlight>
                  <a:srgbClr val="FFFFFF"/>
                </a:highlight>
                <a:latin typeface="Courier New" pitchFamily="49" charset="0"/>
                <a:cs typeface="Courier New" pitchFamily="49" charset="0"/>
              </a:rPr>
              <a:t>bool</a:t>
            </a:r>
            <a:r>
              <a:rPr lang="en-US" dirty="0">
                <a:solidFill>
                  <a:srgbClr val="000000"/>
                </a:solidFill>
                <a:highlight>
                  <a:srgbClr val="FFFFFF"/>
                </a:highlight>
                <a:latin typeface="Courier New" pitchFamily="49" charset="0"/>
                <a:cs typeface="Courier New" pitchFamily="49" charset="0"/>
              </a:rPr>
              <a:t> </a:t>
            </a:r>
            <a:r>
              <a:rPr lang="en-US" dirty="0" err="1">
                <a:solidFill>
                  <a:srgbClr val="000000"/>
                </a:solidFill>
                <a:highlight>
                  <a:srgbClr val="FFFFFF"/>
                </a:highlight>
                <a:latin typeface="Courier New" pitchFamily="49" charset="0"/>
                <a:cs typeface="Courier New" pitchFamily="49" charset="0"/>
              </a:rPr>
              <a:t>try_lock</a:t>
            </a:r>
            <a:r>
              <a:rPr lang="en-US" dirty="0">
                <a:solidFill>
                  <a:srgbClr val="000000"/>
                </a:solidFill>
                <a:highlight>
                  <a:srgbClr val="FFFFFF"/>
                </a:highlight>
                <a:latin typeface="Courier New" pitchFamily="49" charset="0"/>
                <a:cs typeface="Courier New" pitchFamily="49" charset="0"/>
              </a:rPr>
              <a:t>();</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a:solidFill>
                  <a:srgbClr val="0000FF"/>
                </a:solidFill>
                <a:highlight>
                  <a:srgbClr val="FFFFFF"/>
                </a:highlight>
                <a:latin typeface="Courier New" pitchFamily="49" charset="0"/>
                <a:cs typeface="Courier New" pitchFamily="49" charset="0"/>
              </a:rPr>
              <a:t>void</a:t>
            </a:r>
            <a:r>
              <a:rPr lang="en-US" dirty="0">
                <a:solidFill>
                  <a:srgbClr val="000000"/>
                </a:solidFill>
                <a:highlight>
                  <a:srgbClr val="FFFFFF"/>
                </a:highlight>
                <a:latin typeface="Courier New" pitchFamily="49" charset="0"/>
                <a:cs typeface="Courier New" pitchFamily="49" charset="0"/>
              </a:rPr>
              <a:t> unlock();</a:t>
            </a:r>
          </a:p>
          <a:p>
            <a:pPr marL="0" indent="0">
              <a:buNone/>
            </a:pPr>
            <a:r>
              <a:rPr lang="en-US" dirty="0">
                <a:solidFill>
                  <a:srgbClr val="000000"/>
                </a:solidFill>
                <a:highlight>
                  <a:srgbClr val="FFFFFF"/>
                </a:highlight>
                <a:latin typeface="Courier New" pitchFamily="49" charset="0"/>
                <a:cs typeface="Courier New" pitchFamily="49" charset="0"/>
              </a:rPr>
              <a:t>   </a:t>
            </a:r>
            <a:r>
              <a:rPr lang="en-US" dirty="0">
                <a:solidFill>
                  <a:srgbClr val="008000"/>
                </a:solidFill>
                <a:highlight>
                  <a:srgbClr val="FFFFFF"/>
                </a:highlight>
                <a:latin typeface="Courier New" pitchFamily="49" charset="0"/>
                <a:cs typeface="Courier New" pitchFamily="49" charset="0"/>
              </a:rPr>
              <a:t>// + native handles, …</a:t>
            </a:r>
            <a:endParaRPr lang="en-US" dirty="0">
              <a:solidFill>
                <a:srgbClr val="000000"/>
              </a:solidFill>
              <a:highlight>
                <a:srgbClr val="FFFFFF"/>
              </a:highlight>
              <a:latin typeface="Courier New" pitchFamily="49" charset="0"/>
              <a:cs typeface="Courier New" pitchFamily="49" charset="0"/>
            </a:endParaRPr>
          </a:p>
          <a:p>
            <a:pPr marL="0" indent="0">
              <a:buNone/>
            </a:pPr>
            <a:r>
              <a:rPr lang="en-US" dirty="0">
                <a:solidFill>
                  <a:srgbClr val="000000"/>
                </a:solidFill>
                <a:highlight>
                  <a:srgbClr val="FFFFFF"/>
                </a:highlight>
                <a:latin typeface="Courier New" pitchFamily="49" charset="0"/>
                <a:cs typeface="Courier New" pitchFamily="49" charset="0"/>
              </a:rPr>
              <a:t>};</a:t>
            </a:r>
            <a:endParaRPr lang="en-US" dirty="0">
              <a:latin typeface="Courier New" pitchFamily="49" charset="0"/>
              <a:cs typeface="Courier New" pitchFamily="49" charset="0"/>
            </a:endParaRP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102510137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Mutex</a:t>
            </a:r>
            <a:endParaRPr lang="en-US" dirty="0"/>
          </a:p>
        </p:txBody>
      </p:sp>
      <p:sp>
        <p:nvSpPr>
          <p:cNvPr id="3" name="Content Placeholder 2"/>
          <p:cNvSpPr>
            <a:spLocks noGrp="1"/>
          </p:cNvSpPr>
          <p:nvPr>
            <p:ph idx="1"/>
          </p:nvPr>
        </p:nvSpPr>
        <p:spPr/>
        <p:txBody>
          <a:bodyPr/>
          <a:lstStyle/>
          <a:p>
            <a:r>
              <a:rPr lang="en-US" sz="2800" dirty="0" smtClean="0"/>
              <a:t>Limits </a:t>
            </a:r>
            <a:r>
              <a:rPr lang="en-US" sz="2800" dirty="0"/>
              <a:t>shared variable access to one thread at a </a:t>
            </a:r>
            <a:r>
              <a:rPr lang="en-US" sz="2800" dirty="0" smtClean="0"/>
              <a:t>time.</a:t>
            </a:r>
            <a:endParaRPr lang="en-US" sz="2800" dirty="0"/>
          </a:p>
          <a:p>
            <a:r>
              <a:rPr lang="en-US" sz="2800" dirty="0"/>
              <a:t>Only one thread can be holding lock at a time</a:t>
            </a:r>
            <a:r>
              <a:rPr lang="en-US" sz="2800" dirty="0" smtClean="0"/>
              <a:t>.</a:t>
            </a:r>
          </a:p>
          <a:p>
            <a:r>
              <a:rPr lang="en-US" sz="2800" dirty="0" smtClean="0"/>
              <a:t>For example: increment a counter in multiple threads:</a:t>
            </a:r>
          </a:p>
          <a:p>
            <a:pPr marL="400050" lvl="1" indent="0">
              <a:buNone/>
            </a:pP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 =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 + 1</a:t>
            </a:r>
          </a:p>
          <a:p>
            <a:pPr marL="457200" indent="-457200"/>
            <a:r>
              <a:rPr lang="en-US" sz="2800" dirty="0" smtClean="0">
                <a:cs typeface="Courier New" pitchFamily="49" charset="0"/>
              </a:rPr>
              <a:t>Unsafe if run from multiple threads</a:t>
            </a:r>
          </a:p>
          <a:p>
            <a:pPr marL="0" indent="0">
              <a:buNone/>
            </a:pPr>
            <a:endParaRPr lang="en-US" dirty="0">
              <a:cs typeface="Courier New" pitchFamily="49" charset="0"/>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145700845"/>
              </p:ext>
            </p:extLst>
          </p:nvPr>
        </p:nvGraphicFramePr>
        <p:xfrm>
          <a:off x="1295400" y="4724400"/>
          <a:ext cx="6096000" cy="1854200"/>
        </p:xfrm>
        <a:graphic>
          <a:graphicData uri="http://schemas.openxmlformats.org/drawingml/2006/table">
            <a:tbl>
              <a:tblPr firstRow="1" bandRow="1">
                <a:tableStyleId>{69012ECD-51FC-41F1-AA8D-1B2483CD663E}</a:tableStyleId>
              </a:tblPr>
              <a:tblGrid>
                <a:gridCol w="3048000"/>
                <a:gridCol w="3048000"/>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Thread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chemeClr val="tx1"/>
                          </a:solidFill>
                        </a:rPr>
                        <a:t>Thread B</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r h="370840">
                <a:tc>
                  <a:txBody>
                    <a:bodyPr/>
                    <a:lstStyle/>
                    <a:p>
                      <a:r>
                        <a:rPr lang="en-US" dirty="0" smtClean="0">
                          <a:latin typeface="Courier New" pitchFamily="49" charset="0"/>
                          <a:cs typeface="Courier New" pitchFamily="49" charset="0"/>
                        </a:rPr>
                        <a:t>r1  = x;    // (0)</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r h="370840">
                <a:tc rowSpan="2">
                  <a:txBody>
                    <a:bodyPr/>
                    <a:lstStyle/>
                    <a:p>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dirty="0" smtClean="0">
                          <a:latin typeface="Courier New" pitchFamily="49" charset="0"/>
                          <a:cs typeface="Courier New" pitchFamily="49" charset="0"/>
                        </a:rPr>
                        <a:t>r1 = x;     // (0)</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smtClean="0">
                          <a:latin typeface="Courier New" pitchFamily="49" charset="0"/>
                          <a:cs typeface="Courier New" pitchFamily="49" charset="0"/>
                        </a:rPr>
                        <a:t>x = r1 + 1; // (1)</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Courier New" pitchFamily="49" charset="0"/>
                          <a:cs typeface="Courier New" pitchFamily="49" charset="0"/>
                        </a:rPr>
                        <a:t>x = r1 + 1;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bl>
          </a:graphicData>
        </a:graphic>
      </p:graphicFrame>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22663071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Happens before relationship</a:t>
            </a: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i="1" dirty="0"/>
              <a:t>Out of two sequential events in the same thread the earlier one is said to have </a:t>
            </a:r>
            <a:r>
              <a:rPr lang="en-US" i="1" dirty="0" smtClean="0"/>
              <a:t>happened before </a:t>
            </a:r>
            <a:r>
              <a:rPr lang="en-US" i="1" dirty="0"/>
              <a:t>the latter one. An unlock operation in one thread is said to have happened before a lock operation in </a:t>
            </a:r>
            <a:r>
              <a:rPr lang="en-US" i="1" dirty="0" smtClean="0"/>
              <a:t>a different </a:t>
            </a:r>
            <a:r>
              <a:rPr lang="en-US" i="1" dirty="0"/>
              <a:t>thread if those </a:t>
            </a:r>
            <a:r>
              <a:rPr lang="en-US" i="1" dirty="0" smtClean="0"/>
              <a:t>operations </a:t>
            </a:r>
            <a:r>
              <a:rPr lang="en-US" i="1" dirty="0"/>
              <a:t>referred to the same </a:t>
            </a:r>
            <a:r>
              <a:rPr lang="en-US" i="1" dirty="0" smtClean="0"/>
              <a:t>lock. Happens-before </a:t>
            </a:r>
            <a:r>
              <a:rPr lang="en-US" i="1" dirty="0"/>
              <a:t>is transitive</a:t>
            </a:r>
            <a:r>
              <a:rPr lang="en-US" i="1" dirty="0" smtClean="0"/>
              <a:t>.                                                                                </a:t>
            </a:r>
          </a:p>
          <a:p>
            <a:pPr marL="0" indent="0" algn="r">
              <a:buNone/>
            </a:pPr>
            <a:r>
              <a:rPr lang="en-US" dirty="0" smtClean="0"/>
              <a:t>Leslie </a:t>
            </a:r>
            <a:r>
              <a:rPr lang="en-US" dirty="0" err="1" smtClean="0"/>
              <a:t>Lamport</a:t>
            </a:r>
            <a:endParaRPr lang="en-US" dirty="0" smtClean="0"/>
          </a:p>
          <a:p>
            <a:pPr marL="0" indent="0">
              <a:buNone/>
            </a:pPr>
            <a:endParaRPr lang="en-US" dirty="0" smtClean="0"/>
          </a:p>
          <a:p>
            <a:r>
              <a:rPr lang="en-US" dirty="0" smtClean="0"/>
              <a:t>Establish </a:t>
            </a:r>
            <a:r>
              <a:rPr lang="en-US" dirty="0"/>
              <a:t>partial ordering of events across different threads (processes</a:t>
            </a:r>
            <a:r>
              <a:rPr lang="en-US" dirty="0" smtClean="0"/>
              <a:t>).</a:t>
            </a:r>
          </a:p>
          <a:p>
            <a:r>
              <a:rPr lang="en-US" dirty="0" smtClean="0"/>
              <a:t>Is </a:t>
            </a:r>
            <a:r>
              <a:rPr lang="en-US" dirty="0"/>
              <a:t>a guarantee that memory written to by statement A is visible to statement B, that is, that statement A completes its write before statement B starts its </a:t>
            </a:r>
            <a:r>
              <a:rPr lang="en-US" dirty="0" smtClean="0"/>
              <a:t>read.</a:t>
            </a: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139115681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Mutex restricts interleaving</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1357714"/>
              </p:ext>
            </p:extLst>
          </p:nvPr>
        </p:nvGraphicFramePr>
        <p:xfrm>
          <a:off x="457200" y="1600200"/>
          <a:ext cx="8229600" cy="1854200"/>
        </p:xfrm>
        <a:graphic>
          <a:graphicData uri="http://schemas.openxmlformats.org/drawingml/2006/table">
            <a:tbl>
              <a:tblPr firstRow="1" bandRow="1">
                <a:tableStyleId>{2D5ABB26-0587-4C30-8999-92F81FD0307C}</a:tableStyleId>
              </a:tblPr>
              <a:tblGrid>
                <a:gridCol w="4114800"/>
                <a:gridCol w="4114800"/>
              </a:tblGrid>
              <a:tr h="370840">
                <a:tc>
                  <a:txBody>
                    <a:bodyPr/>
                    <a:lstStyle/>
                    <a:p>
                      <a:pPr algn="ctr"/>
                      <a:r>
                        <a:rPr lang="en-US" dirty="0" smtClean="0"/>
                        <a:t>Thread 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dirty="0" smtClean="0"/>
                        <a:t>Thread B</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r h="370840">
                <a:tc>
                  <a:txBody>
                    <a:bodyPr/>
                    <a:lstStyle/>
                    <a:p>
                      <a:r>
                        <a:rPr lang="en-US" dirty="0" err="1" smtClean="0">
                          <a:latin typeface="Courier New" pitchFamily="49" charset="0"/>
                          <a:cs typeface="Courier New" pitchFamily="49" charset="0"/>
                        </a:rPr>
                        <a:t>m.lock</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r>
                        <a:rPr lang="en-US" dirty="0" err="1" smtClean="0">
                          <a:latin typeface="Courier New" pitchFamily="49" charset="0"/>
                          <a:cs typeface="Courier New" pitchFamily="49" charset="0"/>
                        </a:rPr>
                        <a:t>m.lock</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r h="370840">
                <a:tc>
                  <a:txBody>
                    <a:bodyPr/>
                    <a:lstStyle/>
                    <a:p>
                      <a:r>
                        <a:rPr lang="en-US" dirty="0" smtClean="0">
                          <a:latin typeface="Courier New" pitchFamily="49" charset="0"/>
                          <a:cs typeface="Courier New" pitchFamily="49" charset="0"/>
                        </a:rPr>
                        <a:t>r1 = x;</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r>
                        <a:rPr lang="en-US" dirty="0" smtClean="0">
                          <a:latin typeface="Courier New" pitchFamily="49" charset="0"/>
                          <a:cs typeface="Courier New" pitchFamily="49" charset="0"/>
                        </a:rPr>
                        <a:t>r1 = x;</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r h="370840">
                <a:tc>
                  <a:txBody>
                    <a:bodyPr/>
                    <a:lstStyle/>
                    <a:p>
                      <a:r>
                        <a:rPr lang="en-US" dirty="0" smtClean="0">
                          <a:latin typeface="Courier New" pitchFamily="49" charset="0"/>
                          <a:cs typeface="Courier New" pitchFamily="49" charset="0"/>
                        </a:rPr>
                        <a:t>x =</a:t>
                      </a:r>
                      <a:r>
                        <a:rPr lang="en-US" baseline="0" dirty="0" smtClean="0">
                          <a:latin typeface="Courier New" pitchFamily="49" charset="0"/>
                          <a:cs typeface="Courier New" pitchFamily="49" charset="0"/>
                        </a:rPr>
                        <a:t> r1 + 1;</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r>
                        <a:rPr lang="en-US" dirty="0" smtClean="0">
                          <a:latin typeface="Courier New" pitchFamily="49" charset="0"/>
                          <a:cs typeface="Courier New" pitchFamily="49" charset="0"/>
                        </a:rPr>
                        <a:t>x =</a:t>
                      </a:r>
                      <a:r>
                        <a:rPr lang="en-US" baseline="0" dirty="0" smtClean="0">
                          <a:latin typeface="Courier New" pitchFamily="49" charset="0"/>
                          <a:cs typeface="Courier New" pitchFamily="49" charset="0"/>
                        </a:rPr>
                        <a:t> r1 + 1;</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r h="370840">
                <a:tc>
                  <a:txBody>
                    <a:bodyPr/>
                    <a:lstStyle/>
                    <a:p>
                      <a:r>
                        <a:rPr lang="en-US" dirty="0" err="1" smtClean="0">
                          <a:latin typeface="Courier New" pitchFamily="49" charset="0"/>
                          <a:cs typeface="Courier New" pitchFamily="49" charset="0"/>
                        </a:rPr>
                        <a:t>m.unlock</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r>
                        <a:rPr lang="en-US" dirty="0" err="1" smtClean="0">
                          <a:latin typeface="Courier New" pitchFamily="49" charset="0"/>
                          <a:cs typeface="Courier New" pitchFamily="49" charset="0"/>
                        </a:rPr>
                        <a:t>m.unlock</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bl>
          </a:graphicData>
        </a:graphic>
      </p:graphicFrame>
      <p:sp>
        <p:nvSpPr>
          <p:cNvPr id="5" name="Content Placeholder 2"/>
          <p:cNvSpPr txBox="1">
            <a:spLocks/>
          </p:cNvSpPr>
          <p:nvPr/>
        </p:nvSpPr>
        <p:spPr>
          <a:xfrm>
            <a:off x="457200" y="3581401"/>
            <a:ext cx="8229600" cy="761999"/>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dirty="0" smtClean="0"/>
              <a:t>Since unlock() </a:t>
            </a:r>
            <a:r>
              <a:rPr lang="en-US" i="1" dirty="0" smtClean="0"/>
              <a:t>happens-before</a:t>
            </a:r>
            <a:r>
              <a:rPr lang="en-US" dirty="0" smtClean="0"/>
              <a:t> lock() it can be executed in two ways:</a:t>
            </a:r>
          </a:p>
          <a:p>
            <a:pPr marL="0" indent="0" algn="just">
              <a:buFont typeface="Arial" pitchFamily="34" charset="0"/>
              <a:buNone/>
            </a:pPr>
            <a:endParaRPr lang="en-US" dirty="0" smtClean="0"/>
          </a:p>
          <a:p>
            <a:pPr marL="0" indent="0" algn="just">
              <a:buFont typeface="Arial" pitchFamily="34" charset="0"/>
              <a:buNone/>
            </a:pPr>
            <a:endParaRPr lang="en-US" dirty="0" smtClean="0"/>
          </a:p>
        </p:txBody>
      </p:sp>
      <p:graphicFrame>
        <p:nvGraphicFramePr>
          <p:cNvPr id="6" name="Table 5"/>
          <p:cNvGraphicFramePr>
            <a:graphicFrameLocks noGrp="1"/>
          </p:cNvGraphicFramePr>
          <p:nvPr>
            <p:extLst>
              <p:ext uri="{D42A27DB-BD31-4B8C-83A1-F6EECF244321}">
                <p14:modId xmlns:p14="http://schemas.microsoft.com/office/powerpoint/2010/main" val="3166813142"/>
              </p:ext>
            </p:extLst>
          </p:nvPr>
        </p:nvGraphicFramePr>
        <p:xfrm>
          <a:off x="533400" y="4465320"/>
          <a:ext cx="8382000" cy="792480"/>
        </p:xfrm>
        <a:graphic>
          <a:graphicData uri="http://schemas.openxmlformats.org/drawingml/2006/table">
            <a:tbl>
              <a:tblPr firstRow="1" bandRow="1">
                <a:tableStyleId>{5C22544A-7EE6-4342-B048-85BDC9FD1C3A}</a:tableStyleId>
              </a:tblPr>
              <a:tblGrid>
                <a:gridCol w="8382000"/>
              </a:tblGrid>
              <a:tr h="370840">
                <a:tc>
                  <a:txBody>
                    <a:bodyPr/>
                    <a:lstStyle/>
                    <a:p>
                      <a:pPr marL="0" lvl="1" indent="0" algn="just">
                        <a:buNone/>
                      </a:pPr>
                      <a:r>
                        <a:rPr lang="en-US" sz="2000" b="0" dirty="0" err="1" smtClean="0">
                          <a:solidFill>
                            <a:schemeClr val="tx1"/>
                          </a:solidFill>
                          <a:latin typeface="Courier New" pitchFamily="49" charset="0"/>
                          <a:cs typeface="Courier New" pitchFamily="49" charset="0"/>
                        </a:rPr>
                        <a:t>m.lock</a:t>
                      </a:r>
                      <a:r>
                        <a:rPr lang="en-US" sz="2000" b="0" dirty="0" smtClean="0">
                          <a:solidFill>
                            <a:schemeClr val="tx1"/>
                          </a:solidFill>
                          <a:latin typeface="Courier New" pitchFamily="49" charset="0"/>
                          <a:cs typeface="Courier New" pitchFamily="49" charset="0"/>
                        </a:rPr>
                        <a:t>(); r2 = x; x = r2+1; </a:t>
                      </a:r>
                      <a:r>
                        <a:rPr lang="en-US" sz="2000" b="0" dirty="0" err="1" smtClean="0">
                          <a:solidFill>
                            <a:schemeClr val="tx1"/>
                          </a:solidFill>
                          <a:latin typeface="Courier New" pitchFamily="49" charset="0"/>
                          <a:cs typeface="Courier New" pitchFamily="49" charset="0"/>
                        </a:rPr>
                        <a:t>m.unlock</a:t>
                      </a:r>
                      <a:r>
                        <a:rPr lang="en-US" sz="2000" b="0" dirty="0" smtClean="0">
                          <a:solidFill>
                            <a:schemeClr val="tx1"/>
                          </a:solidFill>
                          <a:latin typeface="Courier New" pitchFamily="49" charset="0"/>
                          <a:cs typeface="Courier New" pitchFamily="49" charset="0"/>
                        </a:rPr>
                        <a:t>();</a:t>
                      </a:r>
                    </a:p>
                  </a:txBody>
                  <a:tcPr>
                    <a:solidFill>
                      <a:schemeClr val="tx2">
                        <a:lumMod val="20000"/>
                        <a:lumOff val="80000"/>
                      </a:schemeClr>
                    </a:solidFill>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0" dirty="0" err="1" smtClean="0">
                          <a:solidFill>
                            <a:schemeClr val="tx1"/>
                          </a:solidFill>
                          <a:latin typeface="Courier New" pitchFamily="49" charset="0"/>
                          <a:cs typeface="Courier New" pitchFamily="49" charset="0"/>
                        </a:rPr>
                        <a:t>m.lock</a:t>
                      </a:r>
                      <a:r>
                        <a:rPr lang="en-US" sz="2000" b="0" dirty="0" smtClean="0">
                          <a:solidFill>
                            <a:schemeClr val="tx1"/>
                          </a:solidFill>
                          <a:latin typeface="Courier New" pitchFamily="49" charset="0"/>
                          <a:cs typeface="Courier New" pitchFamily="49" charset="0"/>
                        </a:rPr>
                        <a:t>(); r1 = x; x = r1+1; </a:t>
                      </a:r>
                      <a:r>
                        <a:rPr lang="en-US" sz="2000" b="0" dirty="0" err="1" smtClean="0">
                          <a:solidFill>
                            <a:schemeClr val="tx1"/>
                          </a:solidFill>
                          <a:latin typeface="Courier New" pitchFamily="49" charset="0"/>
                          <a:cs typeface="Courier New" pitchFamily="49" charset="0"/>
                        </a:rPr>
                        <a:t>m.unlock</a:t>
                      </a:r>
                      <a:r>
                        <a:rPr lang="en-US" sz="2000" b="0" dirty="0" smtClean="0">
                          <a:solidFill>
                            <a:schemeClr val="tx1"/>
                          </a:solidFill>
                          <a:latin typeface="Courier New" pitchFamily="49" charset="0"/>
                          <a:cs typeface="Courier New" pitchFamily="49" charset="0"/>
                        </a:rPr>
                        <a:t>(); </a:t>
                      </a:r>
                    </a:p>
                  </a:txBody>
                  <a:tcPr>
                    <a:solidFill>
                      <a:schemeClr val="accent6">
                        <a:lumMod val="40000"/>
                        <a:lumOff val="60000"/>
                      </a:schemeClr>
                    </a:solidFill>
                  </a:tcPr>
                </a:tc>
              </a:tr>
            </a:tbl>
          </a:graphicData>
        </a:graphic>
      </p:graphicFrame>
      <p:sp>
        <p:nvSpPr>
          <p:cNvPr id="7" name="Content Placeholder 2"/>
          <p:cNvSpPr txBox="1">
            <a:spLocks/>
          </p:cNvSpPr>
          <p:nvPr/>
        </p:nvSpPr>
        <p:spPr>
          <a:xfrm>
            <a:off x="533400" y="5334001"/>
            <a:ext cx="8229600" cy="457199"/>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dirty="0" smtClean="0"/>
              <a:t>or</a:t>
            </a:r>
          </a:p>
          <a:p>
            <a:pPr marL="0" indent="0" algn="just">
              <a:buFont typeface="Arial" pitchFamily="34" charset="0"/>
              <a:buNone/>
            </a:pPr>
            <a:endParaRPr lang="en-US" dirty="0" smtClean="0"/>
          </a:p>
          <a:p>
            <a:pPr marL="0" indent="0" algn="just">
              <a:buFont typeface="Arial" pitchFamily="34" charset="0"/>
              <a:buNone/>
            </a:pPr>
            <a:endParaRPr lang="en-US" dirty="0" smtClean="0"/>
          </a:p>
        </p:txBody>
      </p:sp>
      <p:graphicFrame>
        <p:nvGraphicFramePr>
          <p:cNvPr id="8" name="Table 7"/>
          <p:cNvGraphicFramePr>
            <a:graphicFrameLocks noGrp="1"/>
          </p:cNvGraphicFramePr>
          <p:nvPr>
            <p:extLst>
              <p:ext uri="{D42A27DB-BD31-4B8C-83A1-F6EECF244321}">
                <p14:modId xmlns:p14="http://schemas.microsoft.com/office/powerpoint/2010/main" val="3030062543"/>
              </p:ext>
            </p:extLst>
          </p:nvPr>
        </p:nvGraphicFramePr>
        <p:xfrm>
          <a:off x="533400" y="5762625"/>
          <a:ext cx="8382000" cy="792480"/>
        </p:xfrm>
        <a:graphic>
          <a:graphicData uri="http://schemas.openxmlformats.org/drawingml/2006/table">
            <a:tbl>
              <a:tblPr firstRow="1" bandRow="1">
                <a:tableStyleId>{5C22544A-7EE6-4342-B048-85BDC9FD1C3A}</a:tableStyleId>
              </a:tblPr>
              <a:tblGrid>
                <a:gridCol w="8382000"/>
              </a:tblGrid>
              <a:tr h="370840">
                <a:tc>
                  <a:txBody>
                    <a:bodyPr/>
                    <a:lstStyle/>
                    <a:p>
                      <a:pPr marL="0" lvl="1" indent="0" algn="just">
                        <a:buNone/>
                      </a:pPr>
                      <a:r>
                        <a:rPr lang="en-US" sz="2000" b="0" dirty="0" err="1" smtClean="0">
                          <a:solidFill>
                            <a:schemeClr val="tx1"/>
                          </a:solidFill>
                          <a:latin typeface="Courier New" pitchFamily="49" charset="0"/>
                          <a:cs typeface="Courier New" pitchFamily="49" charset="0"/>
                        </a:rPr>
                        <a:t>m.lock</a:t>
                      </a:r>
                      <a:r>
                        <a:rPr lang="en-US" sz="2000" b="0" dirty="0" smtClean="0">
                          <a:solidFill>
                            <a:schemeClr val="tx1"/>
                          </a:solidFill>
                          <a:latin typeface="Courier New" pitchFamily="49" charset="0"/>
                          <a:cs typeface="Courier New" pitchFamily="49" charset="0"/>
                        </a:rPr>
                        <a:t>(); r2 = x; x = r2+1; </a:t>
                      </a:r>
                      <a:r>
                        <a:rPr lang="en-US" sz="2000" b="0" dirty="0" err="1" smtClean="0">
                          <a:solidFill>
                            <a:schemeClr val="tx1"/>
                          </a:solidFill>
                          <a:latin typeface="Courier New" pitchFamily="49" charset="0"/>
                          <a:cs typeface="Courier New" pitchFamily="49" charset="0"/>
                        </a:rPr>
                        <a:t>m.unlock</a:t>
                      </a:r>
                      <a:r>
                        <a:rPr lang="en-US" sz="2000" b="0" dirty="0" smtClean="0">
                          <a:solidFill>
                            <a:schemeClr val="tx1"/>
                          </a:solidFill>
                          <a:latin typeface="Courier New" pitchFamily="49" charset="0"/>
                          <a:cs typeface="Courier New" pitchFamily="49" charset="0"/>
                        </a:rPr>
                        <a:t>();</a:t>
                      </a:r>
                    </a:p>
                  </a:txBody>
                  <a:tcPr>
                    <a:solidFill>
                      <a:schemeClr val="accent6">
                        <a:lumMod val="40000"/>
                        <a:lumOff val="60000"/>
                      </a:schemeClr>
                    </a:solidFill>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0" dirty="0" err="1" smtClean="0">
                          <a:solidFill>
                            <a:schemeClr val="tx1"/>
                          </a:solidFill>
                          <a:latin typeface="Courier New" pitchFamily="49" charset="0"/>
                          <a:cs typeface="Courier New" pitchFamily="49" charset="0"/>
                        </a:rPr>
                        <a:t>m.lock</a:t>
                      </a:r>
                      <a:r>
                        <a:rPr lang="en-US" sz="2000" b="0" dirty="0" smtClean="0">
                          <a:solidFill>
                            <a:schemeClr val="tx1"/>
                          </a:solidFill>
                          <a:latin typeface="Courier New" pitchFamily="49" charset="0"/>
                          <a:cs typeface="Courier New" pitchFamily="49" charset="0"/>
                        </a:rPr>
                        <a:t>(); r1 = x; x = r1+1; </a:t>
                      </a:r>
                      <a:r>
                        <a:rPr lang="en-US" sz="2000" b="0" dirty="0" err="1" smtClean="0">
                          <a:solidFill>
                            <a:schemeClr val="tx1"/>
                          </a:solidFill>
                          <a:latin typeface="Courier New" pitchFamily="49" charset="0"/>
                          <a:cs typeface="Courier New" pitchFamily="49" charset="0"/>
                        </a:rPr>
                        <a:t>m.unlock</a:t>
                      </a:r>
                      <a:r>
                        <a:rPr lang="en-US" sz="2000" b="0" dirty="0" smtClean="0">
                          <a:solidFill>
                            <a:schemeClr val="tx1"/>
                          </a:solidFill>
                          <a:latin typeface="Courier New" pitchFamily="49" charset="0"/>
                          <a:cs typeface="Courier New" pitchFamily="49" charset="0"/>
                        </a:rPr>
                        <a:t>(); </a:t>
                      </a:r>
                    </a:p>
                  </a:txBody>
                  <a:tcPr>
                    <a:solidFill>
                      <a:schemeClr val="tx2">
                        <a:lumMod val="20000"/>
                        <a:lumOff val="80000"/>
                      </a:schemeClr>
                    </a:solidFill>
                  </a:tcPr>
                </a:tc>
              </a:tr>
            </a:tbl>
          </a:graphicData>
        </a:graphic>
      </p:graphicFrame>
      <p:sp>
        <p:nvSpPr>
          <p:cNvPr id="3" name="Date Placeholder 2"/>
          <p:cNvSpPr>
            <a:spLocks noGrp="1"/>
          </p:cNvSpPr>
          <p:nvPr>
            <p:ph type="dt" sz="half" idx="10"/>
          </p:nvPr>
        </p:nvSpPr>
        <p:spPr/>
        <p:txBody>
          <a:bodyPr/>
          <a:lstStyle/>
          <a:p>
            <a:r>
              <a:rPr lang="cs-CZ" smtClean="0"/>
              <a:t>19.1.2014</a:t>
            </a:r>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52831260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Mutex types</a:t>
            </a:r>
            <a:endParaRPr lang="en-US" dirty="0"/>
          </a:p>
        </p:txBody>
      </p:sp>
      <p:sp>
        <p:nvSpPr>
          <p:cNvPr id="3" name="Content Placeholder 2"/>
          <p:cNvSpPr>
            <a:spLocks noGrp="1"/>
          </p:cNvSpPr>
          <p:nvPr>
            <p:ph idx="1"/>
          </p:nvPr>
        </p:nvSpPr>
        <p:spPr/>
        <p:txBody>
          <a:bodyPr/>
          <a:lstStyle/>
          <a:p>
            <a:r>
              <a:rPr lang="en-US" dirty="0" err="1"/>
              <a:t>std</a:t>
            </a:r>
            <a:r>
              <a:rPr lang="en-US" dirty="0"/>
              <a:t>::mutex</a:t>
            </a:r>
          </a:p>
          <a:p>
            <a:r>
              <a:rPr lang="en-US" dirty="0" err="1"/>
              <a:t>std</a:t>
            </a:r>
            <a:r>
              <a:rPr lang="en-US" dirty="0"/>
              <a:t>::</a:t>
            </a:r>
            <a:r>
              <a:rPr lang="en-US" dirty="0" err="1"/>
              <a:t>recursive_mutex</a:t>
            </a:r>
            <a:endParaRPr lang="en-US" dirty="0"/>
          </a:p>
          <a:p>
            <a:r>
              <a:rPr lang="en-US" dirty="0" err="1"/>
              <a:t>std</a:t>
            </a:r>
            <a:r>
              <a:rPr lang="en-US" dirty="0"/>
              <a:t>::</a:t>
            </a:r>
            <a:r>
              <a:rPr lang="en-US" dirty="0" err="1"/>
              <a:t>timed_mutex</a:t>
            </a:r>
            <a:endParaRPr lang="en-US" dirty="0"/>
          </a:p>
          <a:p>
            <a:r>
              <a:rPr lang="en-US" dirty="0" err="1"/>
              <a:t>std</a:t>
            </a:r>
            <a:r>
              <a:rPr lang="en-US" dirty="0"/>
              <a:t>::</a:t>
            </a:r>
            <a:r>
              <a:rPr lang="en-US" dirty="0" err="1" smtClean="0"/>
              <a:t>recursive_timed_mutex</a:t>
            </a:r>
            <a:endParaRPr lang="en-US" dirty="0" smtClean="0"/>
          </a:p>
          <a:p>
            <a:endParaRPr lang="en-US" dirty="0"/>
          </a:p>
          <a:p>
            <a:pPr marL="0" indent="0">
              <a:buNone/>
            </a:pPr>
            <a:r>
              <a:rPr lang="en-US" dirty="0" smtClean="0"/>
              <a:t>On Win32 platform known as critical section.</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191976681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Mutex operations</a:t>
            </a:r>
            <a:endParaRPr lang="en-US" dirty="0"/>
          </a:p>
        </p:txBody>
      </p:sp>
      <p:sp>
        <p:nvSpPr>
          <p:cNvPr id="3" name="Content Placeholder 2"/>
          <p:cNvSpPr>
            <a:spLocks noGrp="1"/>
          </p:cNvSpPr>
          <p:nvPr>
            <p:ph idx="1"/>
          </p:nvPr>
        </p:nvSpPr>
        <p:spPr/>
        <p:txBody>
          <a:bodyPr/>
          <a:lstStyle/>
          <a:p>
            <a:pPr marL="0" indent="0">
              <a:buNone/>
            </a:pPr>
            <a:r>
              <a:rPr lang="en-US" dirty="0" err="1"/>
              <a:t>Mutexes</a:t>
            </a:r>
            <a:r>
              <a:rPr lang="en-US" dirty="0"/>
              <a:t> have 3 basic operations, which </a:t>
            </a:r>
            <a:r>
              <a:rPr lang="en-US" dirty="0" smtClean="0"/>
              <a:t>form the </a:t>
            </a:r>
            <a:r>
              <a:rPr lang="en-US" i="1" dirty="0">
                <a:cs typeface="Courier New" pitchFamily="49" charset="0"/>
              </a:rPr>
              <a:t>Lockable</a:t>
            </a:r>
            <a:r>
              <a:rPr lang="en-US" dirty="0"/>
              <a:t> concept</a:t>
            </a:r>
            <a:r>
              <a:rPr lang="en-US" dirty="0" smtClean="0"/>
              <a:t>:</a:t>
            </a:r>
            <a:endParaRPr lang="en-US" dirty="0"/>
          </a:p>
          <a:p>
            <a:r>
              <a:rPr lang="en-US" dirty="0" err="1">
                <a:latin typeface="Courier New" pitchFamily="49" charset="0"/>
                <a:cs typeface="Courier New" pitchFamily="49" charset="0"/>
              </a:rPr>
              <a:t>m.lock</a:t>
            </a:r>
            <a:r>
              <a:rPr lang="en-US" dirty="0">
                <a:latin typeface="Courier New" pitchFamily="49" charset="0"/>
                <a:cs typeface="Courier New" pitchFamily="49" charset="0"/>
              </a:rPr>
              <a:t>()</a:t>
            </a:r>
          </a:p>
          <a:p>
            <a:r>
              <a:rPr lang="en-US" dirty="0" err="1">
                <a:latin typeface="Courier New" pitchFamily="49" charset="0"/>
                <a:cs typeface="Courier New" pitchFamily="49" charset="0"/>
              </a:rPr>
              <a:t>m.try_lock</a:t>
            </a:r>
            <a:r>
              <a:rPr lang="en-US" dirty="0">
                <a:latin typeface="Courier New" pitchFamily="49" charset="0"/>
                <a:cs typeface="Courier New" pitchFamily="49" charset="0"/>
              </a:rPr>
              <a:t>()</a:t>
            </a:r>
          </a:p>
          <a:p>
            <a:r>
              <a:rPr lang="en-US" dirty="0" err="1">
                <a:latin typeface="Courier New" pitchFamily="49" charset="0"/>
                <a:cs typeface="Courier New" pitchFamily="49" charset="0"/>
              </a:rPr>
              <a:t>m.unlock</a:t>
            </a:r>
            <a:r>
              <a:rPr lang="en-US" dirty="0" smtClean="0">
                <a:latin typeface="Courier New" pitchFamily="49" charset="0"/>
                <a:cs typeface="Courier New" pitchFamily="49" charset="0"/>
              </a:rPr>
              <a:t>()</a:t>
            </a:r>
          </a:p>
          <a:p>
            <a:endParaRPr lang="en-US" dirty="0" smtClean="0">
              <a:latin typeface="Courier New" pitchFamily="49" charset="0"/>
              <a:cs typeface="Courier New" pitchFamily="49" charset="0"/>
            </a:endParaRPr>
          </a:p>
          <a:p>
            <a:pPr marL="0" indent="0">
              <a:buNone/>
            </a:pPr>
            <a:r>
              <a:rPr lang="en-US" dirty="0" smtClean="0">
                <a:cs typeface="Courier New" pitchFamily="49" charset="0"/>
              </a:rPr>
              <a:t>Note: </a:t>
            </a:r>
            <a:r>
              <a:rPr lang="en-US" dirty="0" err="1" smtClean="0">
                <a:latin typeface="Courier New" pitchFamily="49" charset="0"/>
                <a:cs typeface="Courier New" pitchFamily="49" charset="0"/>
              </a:rPr>
              <a:t>try_lock</a:t>
            </a:r>
            <a:r>
              <a:rPr lang="en-US" dirty="0" smtClean="0">
                <a:latin typeface="Courier New" pitchFamily="49" charset="0"/>
                <a:cs typeface="Courier New" pitchFamily="49" charset="0"/>
              </a:rPr>
              <a:t> </a:t>
            </a:r>
            <a:r>
              <a:rPr lang="en-US" dirty="0" smtClean="0"/>
              <a:t>may </a:t>
            </a:r>
            <a:r>
              <a:rPr lang="en-US" dirty="0"/>
              <a:t>fail to acquire the lock </a:t>
            </a:r>
            <a:r>
              <a:rPr lang="en-US" dirty="0" smtClean="0"/>
              <a:t>even </a:t>
            </a:r>
            <a:r>
              <a:rPr lang="en-US" dirty="0"/>
              <a:t>if no other thread holds a </a:t>
            </a:r>
            <a:r>
              <a:rPr lang="en-US" dirty="0" smtClean="0"/>
              <a:t>lock.</a:t>
            </a:r>
            <a:endParaRPr lang="en-US" dirty="0">
              <a:latin typeface="Courier New" pitchFamily="49" charset="0"/>
              <a:cs typeface="Courier New" pitchFamily="49" charset="0"/>
            </a:endParaRP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161015554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Lockable concept</a:t>
            </a:r>
            <a:endParaRPr lang="en-US" dirty="0"/>
          </a:p>
        </p:txBody>
      </p:sp>
      <p:sp>
        <p:nvSpPr>
          <p:cNvPr id="5" name="Content Placeholder 4"/>
          <p:cNvSpPr>
            <a:spLocks noGrp="1"/>
          </p:cNvSpPr>
          <p:nvPr>
            <p:ph idx="1"/>
          </p:nvPr>
        </p:nvSpPr>
        <p:spPr/>
        <p:txBody>
          <a:bodyPr>
            <a:normAutofit fontScale="62500" lnSpcReduction="20000"/>
          </a:bodyPr>
          <a:lstStyle/>
          <a:p>
            <a:pPr marL="800100" lvl="2" indent="0">
              <a:buNone/>
            </a:pPr>
            <a:r>
              <a:rPr lang="en-US" dirty="0" err="1">
                <a:solidFill>
                  <a:srgbClr val="0000FF"/>
                </a:solidFill>
                <a:highlight>
                  <a:srgbClr val="FFFFFF"/>
                </a:highlight>
                <a:latin typeface="Consolas"/>
              </a:rPr>
              <a:t>struct</a:t>
            </a:r>
            <a:r>
              <a:rPr lang="en-US" dirty="0">
                <a:solidFill>
                  <a:srgbClr val="000000"/>
                </a:solidFill>
                <a:highlight>
                  <a:srgbClr val="FFFFFF"/>
                </a:highlight>
                <a:latin typeface="Consolas"/>
              </a:rPr>
              <a:t> </a:t>
            </a:r>
            <a:r>
              <a:rPr lang="en-US" i="1" dirty="0" smtClean="0">
                <a:solidFill>
                  <a:srgbClr val="2B91AF"/>
                </a:solidFill>
                <a:highlight>
                  <a:srgbClr val="FFFFFF"/>
                </a:highlight>
                <a:latin typeface="Consolas"/>
              </a:rPr>
              <a:t>lockable-type</a:t>
            </a:r>
            <a:r>
              <a:rPr lang="en-US" dirty="0" smtClean="0">
                <a:solidFill>
                  <a:srgbClr val="000000"/>
                </a:solidFill>
                <a:highlight>
                  <a:srgbClr val="FFFFFF"/>
                </a:highlight>
                <a:latin typeface="Consolas"/>
              </a:rPr>
              <a:t> { </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lock(); </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unlock();</a:t>
            </a:r>
          </a:p>
          <a:p>
            <a:pPr marL="800100" lvl="2"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bool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try_lock</a:t>
            </a: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a:t>
            </a:r>
          </a:p>
          <a:p>
            <a:pPr marL="800100" lvl="2" indent="0">
              <a:buNone/>
            </a:pPr>
            <a:endParaRPr lang="en-US" dirty="0">
              <a:solidFill>
                <a:srgbClr val="000000"/>
              </a:solidFill>
              <a:highlight>
                <a:srgbClr val="FFFFFF"/>
              </a:highlight>
              <a:latin typeface="Consolas"/>
            </a:endParaRPr>
          </a:p>
          <a:p>
            <a:pPr marL="800100" lvl="2" indent="0">
              <a:buNone/>
            </a:pPr>
            <a:r>
              <a:rPr lang="en-US" dirty="0" err="1">
                <a:solidFill>
                  <a:srgbClr val="0000FF"/>
                </a:solidFill>
                <a:highlight>
                  <a:srgbClr val="FFFFFF"/>
                </a:highlight>
                <a:latin typeface="Consolas"/>
              </a:rPr>
              <a:t>struct</a:t>
            </a:r>
            <a:r>
              <a:rPr lang="en-US" dirty="0">
                <a:solidFill>
                  <a:srgbClr val="000000"/>
                </a:solidFill>
                <a:highlight>
                  <a:srgbClr val="FFFFFF"/>
                </a:highlight>
                <a:latin typeface="Consolas"/>
              </a:rPr>
              <a:t> </a:t>
            </a:r>
            <a:r>
              <a:rPr lang="en-US" i="1" dirty="0" smtClean="0">
                <a:solidFill>
                  <a:srgbClr val="2B91AF"/>
                </a:solidFill>
                <a:highlight>
                  <a:srgbClr val="FFFFFF"/>
                </a:highlight>
                <a:latin typeface="Consolas"/>
              </a:rPr>
              <a:t>timed-lockable-type </a:t>
            </a: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required by the Lockable concept</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lock();</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unlock();</a:t>
            </a:r>
          </a:p>
          <a:p>
            <a:pPr marL="800100" lvl="2"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bool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try_lock</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additional members required for </a:t>
            </a:r>
            <a:r>
              <a:rPr lang="en-US" dirty="0" err="1">
                <a:solidFill>
                  <a:srgbClr val="008000"/>
                </a:solidFill>
                <a:highlight>
                  <a:srgbClr val="FFFFFF"/>
                </a:highlight>
                <a:latin typeface="Consolas"/>
              </a:rPr>
              <a:t>TimedLockable</a:t>
            </a:r>
            <a:endParaRPr lang="en-US" dirty="0">
              <a:solidFill>
                <a:srgbClr val="000000"/>
              </a:solidFill>
              <a:highlight>
                <a:srgbClr val="FFFFFF"/>
              </a:highlight>
              <a:latin typeface="Consolas"/>
            </a:endParaRPr>
          </a:p>
          <a:p>
            <a:pPr marL="800100" lvl="2"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bool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try_lock_for</a:t>
            </a:r>
            <a:r>
              <a:rPr lang="en-US" dirty="0">
                <a:solidFill>
                  <a:srgbClr val="000000"/>
                </a:solidFill>
                <a:highlight>
                  <a:srgbClr val="FFFFFF"/>
                </a:highlight>
                <a:latin typeface="Consolas"/>
              </a:rPr>
              <a:t>(duration);</a:t>
            </a:r>
          </a:p>
          <a:p>
            <a:pPr marL="800100" lvl="2"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bool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try_lock_until</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absolute_time</a:t>
            </a:r>
            <a:r>
              <a:rPr lang="en-US" dirty="0">
                <a:solidFill>
                  <a:srgbClr val="000000"/>
                </a:solidFill>
                <a:highlight>
                  <a:srgbClr val="FFFFFF"/>
                </a:highlight>
                <a:latin typeface="Consolas"/>
              </a:rPr>
              <a:t>);</a:t>
            </a:r>
          </a:p>
          <a:p>
            <a:pPr marL="800100" lvl="2" indent="0">
              <a:buNone/>
            </a:pPr>
            <a:r>
              <a:rPr lang="en-US" dirty="0" smtClean="0">
                <a:solidFill>
                  <a:srgbClr val="000000"/>
                </a:solidFill>
                <a:highlight>
                  <a:srgbClr val="FFFFFF"/>
                </a:highlight>
                <a:latin typeface="Consolas"/>
              </a:rPr>
              <a:t>};</a:t>
            </a:r>
          </a:p>
          <a:p>
            <a:pPr marL="800100" lvl="2" indent="0">
              <a:buNone/>
            </a:pPr>
            <a:endParaRPr lang="en-US" dirty="0" smtClean="0">
              <a:solidFill>
                <a:srgbClr val="000000"/>
              </a:solidFill>
              <a:highlight>
                <a:srgbClr val="FFFFFF"/>
              </a:highlight>
              <a:latin typeface="Consolas"/>
            </a:endParaRPr>
          </a:p>
          <a:p>
            <a:r>
              <a:rPr lang="en-US" dirty="0" err="1"/>
              <a:t>std</a:t>
            </a:r>
            <a:r>
              <a:rPr lang="en-US" dirty="0"/>
              <a:t>::</a:t>
            </a:r>
            <a:r>
              <a:rPr lang="en-US" dirty="0" smtClean="0"/>
              <a:t>mutex is a </a:t>
            </a:r>
            <a:r>
              <a:rPr lang="en-US" i="1" dirty="0"/>
              <a:t>L</a:t>
            </a:r>
            <a:r>
              <a:rPr lang="en-US" i="1" dirty="0" smtClean="0"/>
              <a:t>ockable</a:t>
            </a:r>
            <a:r>
              <a:rPr lang="en-US" dirty="0" smtClean="0"/>
              <a:t> type</a:t>
            </a:r>
          </a:p>
          <a:p>
            <a:r>
              <a:rPr lang="en-US" dirty="0" err="1"/>
              <a:t>std</a:t>
            </a:r>
            <a:r>
              <a:rPr lang="en-US" dirty="0"/>
              <a:t>::</a:t>
            </a:r>
            <a:r>
              <a:rPr lang="en-US" dirty="0" err="1" smtClean="0"/>
              <a:t>timed_mutex</a:t>
            </a:r>
            <a:r>
              <a:rPr lang="en-US" dirty="0" smtClean="0"/>
              <a:t> is a </a:t>
            </a:r>
            <a:r>
              <a:rPr lang="en-US" i="1" dirty="0" err="1" smtClean="0"/>
              <a:t>TimedLockable</a:t>
            </a:r>
            <a:r>
              <a:rPr lang="en-US" dirty="0" smtClean="0"/>
              <a:t> type</a:t>
            </a:r>
          </a:p>
          <a:p>
            <a:endParaRPr lang="en-US" dirty="0"/>
          </a:p>
          <a:p>
            <a:endParaRPr lang="en-US" dirty="0"/>
          </a:p>
          <a:p>
            <a:pPr marL="0" indent="0">
              <a:buNone/>
            </a:pP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202126817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Timed mutex operations</a:t>
            </a:r>
            <a:endParaRPr lang="en-US" dirty="0"/>
          </a:p>
        </p:txBody>
      </p:sp>
      <p:sp>
        <p:nvSpPr>
          <p:cNvPr id="3" name="Content Placeholder 2"/>
          <p:cNvSpPr>
            <a:spLocks noGrp="1"/>
          </p:cNvSpPr>
          <p:nvPr>
            <p:ph idx="1"/>
          </p:nvPr>
        </p:nvSpPr>
        <p:spPr/>
        <p:txBody>
          <a:bodyPr/>
          <a:lstStyle/>
          <a:p>
            <a:pPr marL="0" indent="0">
              <a:buNone/>
            </a:pPr>
            <a:r>
              <a:rPr lang="en-US" dirty="0"/>
              <a:t>“Timed” </a:t>
            </a:r>
            <a:r>
              <a:rPr lang="en-US" dirty="0" err="1"/>
              <a:t>mutexes</a:t>
            </a:r>
            <a:r>
              <a:rPr lang="en-US" dirty="0"/>
              <a:t> have 2 additional </a:t>
            </a:r>
            <a:r>
              <a:rPr lang="en-US" dirty="0" smtClean="0"/>
              <a:t>operations. A </a:t>
            </a:r>
            <a:r>
              <a:rPr lang="en-US" i="1" dirty="0"/>
              <a:t>Lockable</a:t>
            </a:r>
            <a:r>
              <a:rPr lang="en-US" dirty="0"/>
              <a:t> type that provides them </a:t>
            </a:r>
            <a:r>
              <a:rPr lang="en-US" dirty="0" smtClean="0"/>
              <a:t>satisfies the </a:t>
            </a:r>
            <a:r>
              <a:rPr lang="en-US" i="1" dirty="0" err="1">
                <a:cs typeface="Courier New" pitchFamily="49" charset="0"/>
              </a:rPr>
              <a:t>TimedLockable</a:t>
            </a:r>
            <a:r>
              <a:rPr lang="en-US" dirty="0"/>
              <a:t> concept.</a:t>
            </a:r>
          </a:p>
          <a:p>
            <a:r>
              <a:rPr lang="en-US" dirty="0" err="1">
                <a:latin typeface="Courier New" pitchFamily="49" charset="0"/>
                <a:cs typeface="Courier New" pitchFamily="49" charset="0"/>
              </a:rPr>
              <a:t>m.try_lock_for</a:t>
            </a:r>
            <a:r>
              <a:rPr lang="en-US" dirty="0">
                <a:latin typeface="Courier New" pitchFamily="49" charset="0"/>
                <a:cs typeface="Courier New" pitchFamily="49" charset="0"/>
              </a:rPr>
              <a:t>(duration)</a:t>
            </a:r>
          </a:p>
          <a:p>
            <a:r>
              <a:rPr lang="en-US" dirty="0" err="1">
                <a:latin typeface="Courier New" pitchFamily="49" charset="0"/>
                <a:cs typeface="Courier New" pitchFamily="49" charset="0"/>
              </a:rPr>
              <a:t>m.try_lock_until</a:t>
            </a:r>
            <a:r>
              <a:rPr lang="en-US" dirty="0">
                <a:latin typeface="Courier New" pitchFamily="49" charset="0"/>
                <a:cs typeface="Courier New" pitchFamily="49" charset="0"/>
              </a:rPr>
              <a:t>(</a:t>
            </a:r>
            <a:r>
              <a:rPr lang="en-US" dirty="0" err="1">
                <a:latin typeface="Courier New" pitchFamily="49" charset="0"/>
                <a:cs typeface="Courier New" pitchFamily="49" charset="0"/>
              </a:rPr>
              <a:t>time_point</a:t>
            </a:r>
            <a:r>
              <a:rPr lang="en-US" dirty="0">
                <a:latin typeface="Courier New" pitchFamily="49" charset="0"/>
                <a:cs typeface="Courier New" pitchFamily="49" charset="0"/>
              </a:rPr>
              <a:t>)</a:t>
            </a: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131768754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 &amp; unlock</a:t>
            </a:r>
            <a:endParaRPr lang="en-US" dirty="0"/>
          </a:p>
        </p:txBody>
      </p:sp>
      <p:sp>
        <p:nvSpPr>
          <p:cNvPr id="4" name="Content Placeholder 3"/>
          <p:cNvSpPr>
            <a:spLocks noGrp="1"/>
          </p:cNvSpPr>
          <p:nvPr>
            <p:ph sz="half" idx="1"/>
          </p:nvPr>
        </p:nvSpPr>
        <p:spPr/>
        <p:txBody>
          <a:bodyPr>
            <a:noAutofit/>
          </a:bodyPr>
          <a:lstStyle/>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cout_lock</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mutex</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vector</a:t>
            </a:r>
            <a:r>
              <a:rPr lang="en-US" dirty="0">
                <a:solidFill>
                  <a:srgbClr val="000000"/>
                </a:solidFill>
                <a:highlight>
                  <a:srgbClr val="FFFFFF"/>
                </a:highlight>
                <a:latin typeface="Consolas"/>
              </a:rPr>
              <a:t>&lt;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&gt; v;</a:t>
            </a:r>
          </a:p>
          <a:p>
            <a:pPr marL="0" indent="0">
              <a:buNone/>
            </a:pP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for</a:t>
            </a: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int</a:t>
            </a:r>
            <a:r>
              <a:rPr lang="nn-NO" dirty="0">
                <a:solidFill>
                  <a:srgbClr val="000000"/>
                </a:solidFill>
                <a:highlight>
                  <a:srgbClr val="FFFFFF"/>
                </a:highlight>
                <a:latin typeface="Consolas"/>
              </a:rPr>
              <a:t> i=0; i&lt;10; ++i )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v.emplace_back</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a:t>
            </a:r>
            <a:r>
              <a:rPr lang="en-US" dirty="0">
                <a:solidFill>
                  <a:srgbClr val="000000"/>
                </a:solidFill>
                <a:highlight>
                  <a:srgbClr val="FFFFFF"/>
                </a:highlight>
                <a:latin typeface="Consolas"/>
              </a:rPr>
              <a:t>,&amp;</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b="1" dirty="0" err="1">
                <a:solidFill>
                  <a:srgbClr val="000000"/>
                </a:solidFill>
                <a:highlight>
                  <a:srgbClr val="FFFFFF"/>
                </a:highlight>
                <a:latin typeface="Consolas"/>
              </a:rPr>
              <a:t>lck.lock</a:t>
            </a:r>
            <a:r>
              <a:rPr lang="en-US" b="1"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smtClean="0">
                <a:solidFill>
                  <a:srgbClr val="000000"/>
                </a:solidFill>
                <a:highlight>
                  <a:srgbClr val="FFFFFF"/>
                </a:highlight>
                <a:latin typeface="Consolas"/>
              </a:rPr>
              <a:t>cout</a:t>
            </a:r>
            <a:r>
              <a:rPr lang="en-US" dirty="0" smtClean="0">
                <a:solidFill>
                  <a:srgbClr val="000000"/>
                </a:solidFill>
                <a:highlight>
                  <a:srgbClr val="FFFFFF"/>
                </a:highlight>
                <a:latin typeface="Consolas"/>
              </a:rPr>
              <a:t>&lt;&lt;</a:t>
            </a:r>
            <a:r>
              <a:rPr lang="en-US" dirty="0" smtClean="0">
                <a:solidFill>
                  <a:srgbClr val="A31515"/>
                </a:solidFill>
                <a:highlight>
                  <a:srgbClr val="FFFFFF"/>
                </a:highlight>
                <a:latin typeface="Consolas"/>
              </a:rPr>
              <a:t>"</a:t>
            </a:r>
            <a:r>
              <a:rPr lang="en-US" dirty="0">
                <a:solidFill>
                  <a:srgbClr val="A31515"/>
                </a:solidFill>
                <a:highlight>
                  <a:srgbClr val="FFFFFF"/>
                </a:highlight>
                <a:latin typeface="Consolas"/>
              </a:rPr>
              <a:t>thread </a:t>
            </a:r>
            <a:r>
              <a:rPr lang="en-US" dirty="0" smtClean="0">
                <a:solidFill>
                  <a:srgbClr val="A31515"/>
                </a:solidFill>
                <a:highlight>
                  <a:srgbClr val="FFFFFF"/>
                </a:highlight>
                <a:latin typeface="Consolas"/>
              </a:rPr>
              <a:t>"</a:t>
            </a:r>
            <a:r>
              <a:rPr lang="en-US" dirty="0" smtClean="0">
                <a:solidFill>
                  <a:srgbClr val="000000"/>
                </a:solidFill>
                <a:highlight>
                  <a:srgbClr val="FFFFFF"/>
                </a:highlight>
                <a:latin typeface="Consolas"/>
              </a:rPr>
              <a:t>&lt;&lt;</a:t>
            </a:r>
            <a:r>
              <a:rPr lang="en-US" dirty="0" err="1" smtClean="0">
                <a:solidFill>
                  <a:srgbClr val="000000"/>
                </a:solidFill>
                <a:highlight>
                  <a:srgbClr val="FFFFFF"/>
                </a:highlight>
                <a:latin typeface="Consolas"/>
              </a:rPr>
              <a:t>i</a:t>
            </a:r>
            <a:r>
              <a:rPr lang="en-US" dirty="0" smtClean="0">
                <a:solidFill>
                  <a:srgbClr val="000000"/>
                </a:solidFill>
                <a:highlight>
                  <a:srgbClr val="FFFFFF"/>
                </a:highlight>
                <a:latin typeface="Consolas"/>
              </a:rPr>
              <a:t>&lt;&lt;</a:t>
            </a:r>
            <a:r>
              <a:rPr lang="en-US" dirty="0" smtClean="0">
                <a:solidFill>
                  <a:srgbClr val="A31515"/>
                </a:solidFill>
                <a:highlight>
                  <a:srgbClr val="FFFFFF"/>
                </a:highlight>
                <a:latin typeface="Consolas"/>
              </a:rPr>
              <a:t>"\</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b="1" dirty="0" err="1">
                <a:solidFill>
                  <a:srgbClr val="000000"/>
                </a:solidFill>
                <a:highlight>
                  <a:srgbClr val="FFFFFF"/>
                </a:highlight>
                <a:latin typeface="Consolas"/>
              </a:rPr>
              <a:t>lck.unlock</a:t>
            </a:r>
            <a:r>
              <a:rPr lang="en-US" b="1"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b="1" dirty="0" err="1">
                <a:solidFill>
                  <a:srgbClr val="000000"/>
                </a:solidFill>
                <a:highlight>
                  <a:srgbClr val="FFFFFF"/>
                </a:highlight>
                <a:latin typeface="Consolas"/>
              </a:rPr>
              <a:t>lck.lock</a:t>
            </a:r>
            <a:r>
              <a:rPr lang="en-US" b="1"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"main\n"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b="1" dirty="0" err="1">
                <a:solidFill>
                  <a:srgbClr val="000000"/>
                </a:solidFill>
                <a:highlight>
                  <a:srgbClr val="FFFFFF"/>
                </a:highlight>
                <a:latin typeface="Consolas"/>
              </a:rPr>
              <a:t>lck.unlock</a:t>
            </a:r>
            <a:r>
              <a:rPr lang="en-US" b="1"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for</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&amp; t : v )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fontScale="85000" lnSpcReduction="10000"/>
          </a:bodyPr>
          <a:lstStyle/>
          <a:p>
            <a:pPr marL="0" indent="0">
              <a:buNone/>
            </a:pPr>
            <a:r>
              <a:rPr lang="en-US" sz="1800" dirty="0"/>
              <a:t>thread 0</a:t>
            </a:r>
          </a:p>
          <a:p>
            <a:pPr marL="0" indent="0">
              <a:buNone/>
            </a:pPr>
            <a:r>
              <a:rPr lang="en-US" sz="1800" dirty="0"/>
              <a:t>thread 1</a:t>
            </a:r>
          </a:p>
          <a:p>
            <a:pPr marL="0" indent="0">
              <a:buNone/>
            </a:pPr>
            <a:r>
              <a:rPr lang="en-US" sz="1800" dirty="0"/>
              <a:t>thread 2</a:t>
            </a:r>
          </a:p>
          <a:p>
            <a:pPr marL="0" indent="0">
              <a:buNone/>
            </a:pPr>
            <a:r>
              <a:rPr lang="en-US" sz="1800" dirty="0"/>
              <a:t>thread 3</a:t>
            </a:r>
          </a:p>
          <a:p>
            <a:pPr marL="0" indent="0">
              <a:buNone/>
            </a:pPr>
            <a:r>
              <a:rPr lang="en-US" sz="1800" dirty="0"/>
              <a:t>thread 4</a:t>
            </a:r>
          </a:p>
          <a:p>
            <a:pPr marL="0" indent="0">
              <a:buNone/>
            </a:pPr>
            <a:r>
              <a:rPr lang="en-US" sz="1800" dirty="0"/>
              <a:t>thread 5</a:t>
            </a:r>
          </a:p>
          <a:p>
            <a:pPr marL="0" indent="0">
              <a:buNone/>
            </a:pPr>
            <a:r>
              <a:rPr lang="en-US" sz="1800" dirty="0"/>
              <a:t>thread 6</a:t>
            </a:r>
          </a:p>
          <a:p>
            <a:pPr marL="0" indent="0">
              <a:buNone/>
            </a:pPr>
            <a:r>
              <a:rPr lang="en-US" sz="1800" dirty="0"/>
              <a:t>thread 7</a:t>
            </a:r>
          </a:p>
          <a:p>
            <a:pPr marL="0" indent="0">
              <a:buNone/>
            </a:pPr>
            <a:r>
              <a:rPr lang="en-US" sz="1800" dirty="0"/>
              <a:t>thread 8</a:t>
            </a:r>
          </a:p>
          <a:p>
            <a:pPr marL="0" indent="0">
              <a:buNone/>
            </a:pPr>
            <a:r>
              <a:rPr lang="en-US" sz="1800" dirty="0"/>
              <a:t>thread 9</a:t>
            </a:r>
          </a:p>
          <a:p>
            <a:pPr marL="0" indent="0">
              <a:buNone/>
            </a:pPr>
            <a:r>
              <a:rPr lang="en-US" sz="1800" dirty="0" smtClean="0"/>
              <a:t>main</a:t>
            </a:r>
          </a:p>
          <a:p>
            <a:pPr marL="0" indent="0">
              <a:buNone/>
            </a:pPr>
            <a:endParaRPr lang="en-US" dirty="0" smtClean="0"/>
          </a:p>
          <a:p>
            <a:r>
              <a:rPr lang="en-US" dirty="0" smtClean="0"/>
              <a:t>Access to </a:t>
            </a:r>
            <a:r>
              <a:rPr lang="en-US" dirty="0" err="1" smtClean="0">
                <a:latin typeface="Courier New" pitchFamily="49" charset="0"/>
                <a:cs typeface="Courier New" pitchFamily="49" charset="0"/>
              </a:rPr>
              <a:t>cout</a:t>
            </a:r>
            <a:r>
              <a:rPr lang="en-US" dirty="0" smtClean="0"/>
              <a:t> is synchronized.</a:t>
            </a:r>
          </a:p>
          <a:p>
            <a:r>
              <a:rPr lang="en-US" dirty="0" smtClean="0"/>
              <a:t>If critical section between </a:t>
            </a:r>
            <a:r>
              <a:rPr lang="en-US" dirty="0" smtClean="0">
                <a:latin typeface="Courier New" pitchFamily="49" charset="0"/>
                <a:cs typeface="Courier New" pitchFamily="49" charset="0"/>
              </a:rPr>
              <a:t>lock() </a:t>
            </a:r>
            <a:r>
              <a:rPr lang="en-US" dirty="0" smtClean="0"/>
              <a:t>and </a:t>
            </a:r>
            <a:r>
              <a:rPr lang="en-US" dirty="0" smtClean="0">
                <a:latin typeface="Courier New" pitchFamily="49" charset="0"/>
                <a:cs typeface="Courier New" pitchFamily="49" charset="0"/>
              </a:rPr>
              <a:t>unlock()</a:t>
            </a:r>
            <a:r>
              <a:rPr lang="en-US" dirty="0" smtClean="0"/>
              <a:t> throws, some threads may become unresponsive.</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14639638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 objects</a:t>
            </a:r>
            <a:endParaRPr lang="en-US" dirty="0"/>
          </a:p>
        </p:txBody>
      </p:sp>
      <p:sp>
        <p:nvSpPr>
          <p:cNvPr id="5" name="Content Placeholder 4"/>
          <p:cNvSpPr>
            <a:spLocks noGrp="1"/>
          </p:cNvSpPr>
          <p:nvPr>
            <p:ph idx="1"/>
          </p:nvPr>
        </p:nvSpPr>
        <p:spPr/>
        <p:txBody>
          <a:bodyPr>
            <a:normAutofit lnSpcReduction="10000"/>
          </a:bodyPr>
          <a:lstStyle/>
          <a:p>
            <a:pPr marL="0" indent="0">
              <a:buNone/>
            </a:pPr>
            <a:r>
              <a:rPr lang="en-US" dirty="0"/>
              <a:t>Locking and unlocking manually is </a:t>
            </a:r>
            <a:r>
              <a:rPr lang="en-US" dirty="0" smtClean="0"/>
              <a:t>error-prone, </a:t>
            </a:r>
            <a:r>
              <a:rPr lang="en-US" b="1" dirty="0" smtClean="0"/>
              <a:t>especially </a:t>
            </a:r>
            <a:r>
              <a:rPr lang="en-US" dirty="0"/>
              <a:t>in the face of </a:t>
            </a:r>
            <a:r>
              <a:rPr lang="en-US" dirty="0" smtClean="0"/>
              <a:t>exceptions. C</a:t>
            </a:r>
            <a:r>
              <a:rPr lang="en-US" dirty="0"/>
              <a:t>++11 provides RAII lock templates to make </a:t>
            </a:r>
            <a:r>
              <a:rPr lang="en-US" dirty="0" smtClean="0"/>
              <a:t>it easier </a:t>
            </a:r>
            <a:r>
              <a:rPr lang="en-US" dirty="0"/>
              <a:t>to get things right.</a:t>
            </a:r>
          </a:p>
          <a:p>
            <a:r>
              <a:rPr lang="en-US" dirty="0" err="1">
                <a:latin typeface="Courier New" pitchFamily="49" charset="0"/>
                <a:cs typeface="Courier New" pitchFamily="49" charset="0"/>
              </a:rPr>
              <a:t>std</a:t>
            </a:r>
            <a:r>
              <a:rPr lang="en-US" dirty="0">
                <a:latin typeface="Courier New" pitchFamily="49" charset="0"/>
                <a:cs typeface="Courier New" pitchFamily="49" charset="0"/>
              </a:rPr>
              <a:t>::</a:t>
            </a:r>
            <a:r>
              <a:rPr lang="en-US" dirty="0" err="1" smtClean="0">
                <a:latin typeface="Courier New" pitchFamily="49" charset="0"/>
                <a:cs typeface="Courier New" pitchFamily="49" charset="0"/>
              </a:rPr>
              <a:t>lock_guard</a:t>
            </a:r>
            <a:r>
              <a:rPr lang="en-US" dirty="0" smtClean="0">
                <a:latin typeface="Courier New" pitchFamily="49" charset="0"/>
                <a:cs typeface="Courier New" pitchFamily="49" charset="0"/>
              </a:rPr>
              <a:t>&lt;T&gt; </a:t>
            </a:r>
            <a:r>
              <a:rPr lang="en-US" dirty="0"/>
              <a:t>does a simple lock </a:t>
            </a:r>
            <a:r>
              <a:rPr lang="en-US" dirty="0" smtClean="0"/>
              <a:t>and unlock of </a:t>
            </a:r>
            <a:r>
              <a:rPr lang="en-US" i="1" dirty="0" smtClean="0"/>
              <a:t>Lockable</a:t>
            </a:r>
            <a:r>
              <a:rPr lang="en-US" dirty="0" smtClean="0"/>
              <a:t> type T.</a:t>
            </a:r>
            <a:endParaRPr lang="en-US" dirty="0"/>
          </a:p>
          <a:p>
            <a:r>
              <a:rPr lang="en-US" dirty="0" err="1">
                <a:latin typeface="Courier New" pitchFamily="49" charset="0"/>
                <a:cs typeface="Courier New" pitchFamily="49" charset="0"/>
              </a:rPr>
              <a:t>std</a:t>
            </a:r>
            <a:r>
              <a:rPr lang="en-US" dirty="0">
                <a:latin typeface="Courier New" pitchFamily="49" charset="0"/>
                <a:cs typeface="Courier New" pitchFamily="49" charset="0"/>
              </a:rPr>
              <a:t>::</a:t>
            </a:r>
            <a:r>
              <a:rPr lang="en-US" dirty="0" err="1" smtClean="0">
                <a:latin typeface="Courier New" pitchFamily="49" charset="0"/>
                <a:cs typeface="Courier New" pitchFamily="49" charset="0"/>
              </a:rPr>
              <a:t>unique_lock</a:t>
            </a:r>
            <a:r>
              <a:rPr lang="en-US" dirty="0" smtClean="0">
                <a:latin typeface="Courier New" pitchFamily="49" charset="0"/>
                <a:cs typeface="Courier New" pitchFamily="49" charset="0"/>
              </a:rPr>
              <a:t>&lt;T&gt;</a:t>
            </a:r>
            <a:r>
              <a:rPr lang="en-US" dirty="0" smtClean="0"/>
              <a:t> </a:t>
            </a:r>
            <a:r>
              <a:rPr lang="en-US" dirty="0"/>
              <a:t>allows later lock acquisition, </a:t>
            </a:r>
            <a:r>
              <a:rPr lang="en-US" dirty="0" err="1">
                <a:latin typeface="Courier New" pitchFamily="49" charset="0"/>
                <a:cs typeface="Courier New" pitchFamily="49" charset="0"/>
              </a:rPr>
              <a:t>try_lock</a:t>
            </a:r>
            <a:r>
              <a:rPr lang="en-US" dirty="0" smtClean="0">
                <a:latin typeface="Courier New" pitchFamily="49" charset="0"/>
                <a:cs typeface="Courier New" pitchFamily="49" charset="0"/>
              </a:rPr>
              <a:t>()</a:t>
            </a:r>
            <a:r>
              <a:rPr lang="en-US" dirty="0" smtClean="0"/>
              <a:t>, </a:t>
            </a:r>
            <a:r>
              <a:rPr lang="en-US" dirty="0"/>
              <a:t>support transfer of lock, etc.</a:t>
            </a:r>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86251223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lock objects</a:t>
            </a:r>
            <a:endParaRPr lang="en-US" dirty="0"/>
          </a:p>
        </p:txBody>
      </p:sp>
      <p:sp>
        <p:nvSpPr>
          <p:cNvPr id="4" name="Content Placeholder 3"/>
          <p:cNvSpPr>
            <a:spLocks noGrp="1"/>
          </p:cNvSpPr>
          <p:nvPr>
            <p:ph sz="half" idx="1"/>
          </p:nvPr>
        </p:nvSpPr>
        <p:spPr/>
        <p:txBody>
          <a:bodyPr>
            <a:normAutofit fontScale="92500" lnSpcReduction="10000"/>
          </a:bodyPr>
          <a:lstStyle/>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lock_objects</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using</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namespace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std</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mutex</a:t>
            </a:r>
            <a:r>
              <a:rPr lang="en-US" dirty="0">
                <a:solidFill>
                  <a:srgbClr val="000000"/>
                </a:solidFill>
                <a:highlight>
                  <a:srgbClr val="FFFFFF"/>
                </a:highlight>
                <a:latin typeface="Consolas"/>
              </a:rPr>
              <a:t> m;</a:t>
            </a:r>
          </a:p>
          <a:p>
            <a:pPr marL="0" indent="0">
              <a:buNone/>
            </a:pPr>
            <a:r>
              <a:rPr lang="en-US" dirty="0">
                <a:solidFill>
                  <a:srgbClr val="000000"/>
                </a:solidFill>
                <a:highlight>
                  <a:srgbClr val="FFFFFF"/>
                </a:highlight>
                <a:latin typeface="Consolas"/>
              </a:rPr>
              <a:t>   </a:t>
            </a:r>
            <a:r>
              <a:rPr lang="en-US" b="1" dirty="0" err="1">
                <a:solidFill>
                  <a:srgbClr val="2B91AF"/>
                </a:solidFill>
                <a:highlight>
                  <a:srgbClr val="FFFFFF"/>
                </a:highlight>
                <a:latin typeface="Consolas"/>
              </a:rPr>
              <a:t>unique_lock</a:t>
            </a:r>
            <a:r>
              <a:rPr lang="en-US" b="1" dirty="0">
                <a:solidFill>
                  <a:srgbClr val="000000"/>
                </a:solidFill>
                <a:highlight>
                  <a:srgbClr val="FFFFFF"/>
                </a:highlight>
                <a:latin typeface="Consolas"/>
              </a:rPr>
              <a:t>&lt;</a:t>
            </a:r>
            <a:r>
              <a:rPr lang="en-US" b="1" dirty="0" err="1">
                <a:solidFill>
                  <a:srgbClr val="2B91AF"/>
                </a:solidFill>
                <a:highlight>
                  <a:srgbClr val="FFFFFF"/>
                </a:highlight>
                <a:latin typeface="Consolas"/>
              </a:rPr>
              <a:t>mutex</a:t>
            </a:r>
            <a:r>
              <a:rPr lang="en-US" b="1" dirty="0">
                <a:solidFill>
                  <a:srgbClr val="000000"/>
                </a:solidFill>
                <a:highlight>
                  <a:srgbClr val="FFFFFF"/>
                </a:highlight>
                <a:latin typeface="Consolas"/>
              </a:rPr>
              <a:t>&gt; </a:t>
            </a:r>
            <a:r>
              <a:rPr lang="en-US" b="1" dirty="0" err="1" smtClean="0">
                <a:solidFill>
                  <a:srgbClr val="000000"/>
                </a:solidFill>
                <a:highlight>
                  <a:srgbClr val="FFFFFF"/>
                </a:highlight>
                <a:latin typeface="Consolas"/>
              </a:rPr>
              <a:t>lck</a:t>
            </a:r>
            <a:r>
              <a:rPr lang="en-US" b="1" dirty="0" smtClean="0">
                <a:solidFill>
                  <a:srgbClr val="000000"/>
                </a:solidFill>
                <a:highlight>
                  <a:srgbClr val="FFFFFF"/>
                </a:highlight>
                <a:latin typeface="Consolas"/>
              </a:rPr>
              <a:t>(m</a:t>
            </a:r>
            <a:r>
              <a:rPr lang="en-US" b="1" dirty="0">
                <a:solidFill>
                  <a:srgbClr val="000000"/>
                </a:solidFill>
                <a:highlight>
                  <a:srgbClr val="FFFFFF"/>
                </a:highlight>
                <a:latin typeface="Consolas"/>
              </a:rPr>
              <a:t>, </a:t>
            </a:r>
            <a:r>
              <a:rPr lang="en-US" b="1" dirty="0" err="1" smtClean="0">
                <a:solidFill>
                  <a:srgbClr val="000000"/>
                </a:solidFill>
                <a:highlight>
                  <a:srgbClr val="FFFFFF"/>
                </a:highlight>
                <a:latin typeface="Consolas"/>
              </a:rPr>
              <a:t>defer_lock</a:t>
            </a:r>
            <a:r>
              <a:rPr lang="en-US" b="1" dirty="0" smtClean="0">
                <a:solidFill>
                  <a:srgbClr val="000000"/>
                </a:solidFill>
                <a:highlight>
                  <a:srgbClr val="FFFFFF"/>
                </a:highlight>
                <a:latin typeface="Consolas"/>
              </a:rPr>
              <a:t>);</a:t>
            </a:r>
            <a:endParaRPr lang="en-US" b="1"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vector</a:t>
            </a:r>
            <a:r>
              <a:rPr lang="en-US" dirty="0">
                <a:solidFill>
                  <a:srgbClr val="000000"/>
                </a:solidFill>
                <a:highlight>
                  <a:srgbClr val="FFFFFF"/>
                </a:highlight>
                <a:latin typeface="Consolas"/>
              </a:rPr>
              <a:t>&lt; </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 &gt; v;</a:t>
            </a:r>
          </a:p>
          <a:p>
            <a:pPr marL="0" indent="0">
              <a:buNone/>
            </a:pP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for</a:t>
            </a: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int</a:t>
            </a:r>
            <a:r>
              <a:rPr lang="nn-NO" dirty="0">
                <a:solidFill>
                  <a:srgbClr val="000000"/>
                </a:solidFill>
                <a:highlight>
                  <a:srgbClr val="FFFFFF"/>
                </a:highlight>
                <a:latin typeface="Consolas"/>
              </a:rPr>
              <a:t> i=0; i&lt;10; ++i )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v.emplace_back</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a:t>
            </a:r>
            <a:r>
              <a:rPr lang="en-US" dirty="0">
                <a:solidFill>
                  <a:srgbClr val="000000"/>
                </a:solidFill>
                <a:highlight>
                  <a:srgbClr val="FFFFFF"/>
                </a:highlight>
                <a:latin typeface="Consolas"/>
              </a:rPr>
              <a:t>,&amp;m]{</a:t>
            </a:r>
          </a:p>
          <a:p>
            <a:pPr marL="0" indent="0">
              <a:buNone/>
            </a:pPr>
            <a:r>
              <a:rPr lang="en-US" dirty="0">
                <a:solidFill>
                  <a:srgbClr val="000000"/>
                </a:solidFill>
                <a:highlight>
                  <a:srgbClr val="FFFFFF"/>
                </a:highlight>
                <a:latin typeface="Consolas"/>
              </a:rPr>
              <a:t>         </a:t>
            </a:r>
            <a:r>
              <a:rPr lang="en-US" b="1" dirty="0" err="1">
                <a:solidFill>
                  <a:srgbClr val="2B91AF"/>
                </a:solidFill>
                <a:highlight>
                  <a:srgbClr val="FFFFFF"/>
                </a:highlight>
                <a:latin typeface="Consolas"/>
              </a:rPr>
              <a:t>lock_guard</a:t>
            </a:r>
            <a:r>
              <a:rPr lang="en-US" b="1" dirty="0">
                <a:solidFill>
                  <a:srgbClr val="000000"/>
                </a:solidFill>
                <a:highlight>
                  <a:srgbClr val="FFFFFF"/>
                </a:highlight>
                <a:latin typeface="Consolas"/>
              </a:rPr>
              <a:t>&lt;</a:t>
            </a:r>
            <a:r>
              <a:rPr lang="en-US" b="1" dirty="0" err="1">
                <a:solidFill>
                  <a:srgbClr val="2B91AF"/>
                </a:solidFill>
                <a:highlight>
                  <a:srgbClr val="FFFFFF"/>
                </a:highlight>
                <a:latin typeface="Consolas"/>
              </a:rPr>
              <a:t>mutex</a:t>
            </a:r>
            <a:r>
              <a:rPr lang="en-US" b="1" dirty="0">
                <a:solidFill>
                  <a:srgbClr val="000000"/>
                </a:solidFill>
                <a:highlight>
                  <a:srgbClr val="FFFFFF"/>
                </a:highlight>
                <a:latin typeface="Consolas"/>
              </a:rPr>
              <a:t>&gt; _(m);</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"thread "</a:t>
            </a:r>
            <a:r>
              <a:rPr lang="en-US" dirty="0">
                <a:solidFill>
                  <a:srgbClr val="000000"/>
                </a:solidFill>
                <a:highlight>
                  <a:srgbClr val="FFFFFF"/>
                </a:highlight>
                <a:latin typeface="Consolas"/>
              </a:rPr>
              <a:t> &lt;&lt; </a:t>
            </a:r>
            <a:r>
              <a:rPr lang="en-US" dirty="0" err="1">
                <a:solidFill>
                  <a:srgbClr val="000000"/>
                </a:solidFill>
                <a:highlight>
                  <a:srgbClr val="FFFFFF"/>
                </a:highlight>
                <a:latin typeface="Consolas"/>
              </a:rPr>
              <a:t>i</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b="1" dirty="0" err="1">
                <a:solidFill>
                  <a:srgbClr val="000000"/>
                </a:solidFill>
                <a:highlight>
                  <a:srgbClr val="FFFFFF"/>
                </a:highlight>
                <a:latin typeface="Consolas"/>
              </a:rPr>
              <a:t>lck.lock</a:t>
            </a:r>
            <a:r>
              <a:rPr lang="en-US" b="1"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"main\n"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b="1" dirty="0" err="1">
                <a:solidFill>
                  <a:srgbClr val="000000"/>
                </a:solidFill>
                <a:highlight>
                  <a:srgbClr val="FFFFFF"/>
                </a:highlight>
                <a:latin typeface="Consolas"/>
              </a:rPr>
              <a:t>lck.unlock</a:t>
            </a:r>
            <a:r>
              <a:rPr lang="en-US" b="1"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for</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&amp; t : v )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fontScale="92500" lnSpcReduction="10000"/>
          </a:bodyPr>
          <a:lstStyle/>
          <a:p>
            <a:r>
              <a:rPr lang="en-US" dirty="0" err="1" smtClean="0">
                <a:latin typeface="Courier New" pitchFamily="49" charset="0"/>
                <a:cs typeface="Courier New" pitchFamily="49" charset="0"/>
              </a:rPr>
              <a:t>defer_lock</a:t>
            </a:r>
            <a:r>
              <a:rPr lang="en-US" dirty="0" smtClean="0"/>
              <a:t> means that lock is not acquired at construction time of </a:t>
            </a:r>
            <a:r>
              <a:rPr lang="en-US" dirty="0" err="1" smtClean="0">
                <a:latin typeface="Courier New" pitchFamily="49" charset="0"/>
                <a:cs typeface="Courier New" pitchFamily="49" charset="0"/>
              </a:rPr>
              <a:t>unique_lock</a:t>
            </a:r>
            <a:r>
              <a:rPr lang="en-US" dirty="0" smtClean="0"/>
              <a:t>.</a:t>
            </a:r>
          </a:p>
          <a:p>
            <a:r>
              <a:rPr lang="en-US" dirty="0" err="1" smtClean="0">
                <a:latin typeface="Courier New" pitchFamily="49" charset="0"/>
                <a:cs typeface="Courier New" pitchFamily="49" charset="0"/>
              </a:rPr>
              <a:t>lock_guard</a:t>
            </a:r>
            <a:r>
              <a:rPr lang="en-US" dirty="0" smtClean="0"/>
              <a:t> has only </a:t>
            </a:r>
            <a:r>
              <a:rPr lang="en-US" dirty="0" err="1" smtClean="0"/>
              <a:t>ctor</a:t>
            </a:r>
            <a:r>
              <a:rPr lang="en-US" dirty="0" smtClean="0"/>
              <a:t> and </a:t>
            </a:r>
            <a:r>
              <a:rPr lang="en-US" dirty="0" err="1" smtClean="0"/>
              <a:t>dtor</a:t>
            </a:r>
            <a:r>
              <a:rPr lang="en-US" dirty="0" smtClean="0"/>
              <a:t>. Although it has no explicit methods, you must name it to protect the scope. Instance is not </a:t>
            </a:r>
            <a:r>
              <a:rPr lang="en-US" dirty="0" err="1" smtClean="0"/>
              <a:t>copyable</a:t>
            </a:r>
            <a:r>
              <a:rPr lang="en-US" dirty="0" smtClean="0"/>
              <a:t> nor movable.</a:t>
            </a:r>
          </a:p>
          <a:p>
            <a:r>
              <a:rPr lang="en-US" dirty="0" err="1" smtClean="0">
                <a:latin typeface="Courier New" pitchFamily="49" charset="0"/>
                <a:cs typeface="Courier New" pitchFamily="49" charset="0"/>
              </a:rPr>
              <a:t>unique_lock</a:t>
            </a:r>
            <a:r>
              <a:rPr lang="en-US" dirty="0" smtClean="0"/>
              <a:t> has explicit </a:t>
            </a:r>
            <a:r>
              <a:rPr lang="en-US" dirty="0" smtClean="0">
                <a:latin typeface="Courier New" pitchFamily="49" charset="0"/>
                <a:cs typeface="Courier New" pitchFamily="49" charset="0"/>
              </a:rPr>
              <a:t>lock()</a:t>
            </a:r>
            <a:r>
              <a:rPr lang="en-US" dirty="0" smtClean="0"/>
              <a:t> and </a:t>
            </a:r>
            <a:r>
              <a:rPr lang="en-US" dirty="0" smtClean="0">
                <a:latin typeface="Courier New" pitchFamily="49" charset="0"/>
                <a:cs typeface="Courier New" pitchFamily="49" charset="0"/>
              </a:rPr>
              <a:t>unlock()</a:t>
            </a:r>
            <a:r>
              <a:rPr lang="en-US" dirty="0" smtClean="0"/>
              <a:t> methods to control contained </a:t>
            </a:r>
            <a:r>
              <a:rPr lang="en-US" i="1" dirty="0" smtClean="0"/>
              <a:t>Lockable</a:t>
            </a:r>
            <a:r>
              <a:rPr lang="en-US" dirty="0" smtClean="0"/>
              <a:t> type reference.</a:t>
            </a:r>
          </a:p>
          <a:p>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102093171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Lock object consideration</a:t>
            </a:r>
            <a:endParaRPr lang="en-US" dirty="0"/>
          </a:p>
        </p:txBody>
      </p:sp>
      <p:sp>
        <p:nvSpPr>
          <p:cNvPr id="6" name="Content Placeholder 5"/>
          <p:cNvSpPr>
            <a:spLocks noGrp="1"/>
          </p:cNvSpPr>
          <p:nvPr>
            <p:ph idx="1"/>
          </p:nvPr>
        </p:nvSpPr>
        <p:spPr/>
        <p:txBody>
          <a:bodyPr>
            <a:normAutofit fontScale="92500" lnSpcReduction="20000"/>
          </a:bodyPr>
          <a:lstStyle/>
          <a:p>
            <a:r>
              <a:rPr lang="en-US" dirty="0" smtClean="0"/>
              <a:t>For scope locking use </a:t>
            </a:r>
            <a:r>
              <a:rPr lang="en-US" dirty="0" err="1" smtClean="0">
                <a:latin typeface="Courier New" pitchFamily="49" charset="0"/>
                <a:cs typeface="Courier New" pitchFamily="49" charset="0"/>
              </a:rPr>
              <a:t>std</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lock_guard</a:t>
            </a:r>
            <a:r>
              <a:rPr lang="en-US" dirty="0" smtClean="0"/>
              <a:t>. It is a simpler concept. </a:t>
            </a:r>
          </a:p>
          <a:p>
            <a:r>
              <a:rPr lang="en-US" dirty="0" smtClean="0"/>
              <a:t>For non-scoped </a:t>
            </a:r>
            <a:r>
              <a:rPr lang="en-US" dirty="0"/>
              <a:t>locking consider using </a:t>
            </a:r>
            <a:r>
              <a:rPr lang="en-US" dirty="0" err="1">
                <a:latin typeface="Courier New" pitchFamily="49" charset="0"/>
                <a:cs typeface="Courier New" pitchFamily="49" charset="0"/>
              </a:rPr>
              <a:t>std</a:t>
            </a:r>
            <a:r>
              <a:rPr lang="en-US" dirty="0">
                <a:latin typeface="Courier New" pitchFamily="49" charset="0"/>
                <a:cs typeface="Courier New" pitchFamily="49" charset="0"/>
              </a:rPr>
              <a:t>::</a:t>
            </a:r>
            <a:r>
              <a:rPr lang="en-US" dirty="0" err="1" smtClean="0">
                <a:latin typeface="Courier New" pitchFamily="49" charset="0"/>
                <a:cs typeface="Courier New" pitchFamily="49" charset="0"/>
              </a:rPr>
              <a:t>unique_lock</a:t>
            </a:r>
            <a:r>
              <a:rPr lang="en-US" dirty="0" smtClean="0"/>
              <a:t>.</a:t>
            </a:r>
            <a:endParaRPr lang="en-US" dirty="0"/>
          </a:p>
          <a:p>
            <a:pPr lvl="1"/>
            <a:r>
              <a:rPr lang="en-US" dirty="0" smtClean="0"/>
              <a:t>made </a:t>
            </a:r>
            <a:r>
              <a:rPr lang="en-US" dirty="0"/>
              <a:t>possible through "move-semantics", like </a:t>
            </a:r>
            <a:r>
              <a:rPr lang="en-US" dirty="0" err="1"/>
              <a:t>unique_ptr</a:t>
            </a:r>
            <a:r>
              <a:rPr lang="en-US" dirty="0"/>
              <a:t> for a lock</a:t>
            </a:r>
          </a:p>
          <a:p>
            <a:pPr lvl="1"/>
            <a:r>
              <a:rPr lang="en-US" dirty="0" smtClean="0"/>
              <a:t>can </a:t>
            </a:r>
            <a:r>
              <a:rPr lang="en-US" dirty="0"/>
              <a:t>be passed-to/returned-from functions to transfer ownership of lock</a:t>
            </a:r>
          </a:p>
          <a:p>
            <a:pPr lvl="1"/>
            <a:r>
              <a:rPr lang="en-US" dirty="0" smtClean="0"/>
              <a:t>releases </a:t>
            </a:r>
            <a:r>
              <a:rPr lang="en-US" dirty="0"/>
              <a:t>lock on destruction, if owned</a:t>
            </a:r>
          </a:p>
          <a:p>
            <a:pPr lvl="1"/>
            <a:r>
              <a:rPr lang="en-US" dirty="0" smtClean="0"/>
              <a:t>only </a:t>
            </a:r>
            <a:r>
              <a:rPr lang="en-US" dirty="0"/>
              <a:t>consideration is lifetime of wrapped mutex object must exceed </a:t>
            </a:r>
            <a:r>
              <a:rPr lang="en-US" dirty="0" err="1"/>
              <a:t>uniqe_lock's</a:t>
            </a:r>
            <a:r>
              <a:rPr lang="en-US" dirty="0"/>
              <a:t> lifetime</a:t>
            </a:r>
          </a:p>
        </p:txBody>
      </p:sp>
      <p:sp>
        <p:nvSpPr>
          <p:cNvPr id="2" name="Date Placeholder 1"/>
          <p:cNvSpPr>
            <a:spLocks noGrp="1"/>
          </p:cNvSpPr>
          <p:nvPr>
            <p:ph type="dt" sz="half" idx="10"/>
          </p:nvPr>
        </p:nvSpPr>
        <p:spPr/>
        <p:txBody>
          <a:bodyPr/>
          <a:lstStyle/>
          <a:p>
            <a:r>
              <a:rPr lang="cs-CZ" smtClean="0"/>
              <a:t>19.1.2014</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75066085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Monitor pattern</a:t>
            </a:r>
            <a:endParaRPr lang="en-US" dirty="0"/>
          </a:p>
        </p:txBody>
      </p:sp>
      <p:sp>
        <p:nvSpPr>
          <p:cNvPr id="3" name="Content Placeholder 2"/>
          <p:cNvSpPr>
            <a:spLocks noGrp="1"/>
          </p:cNvSpPr>
          <p:nvPr>
            <p:ph idx="1"/>
          </p:nvPr>
        </p:nvSpPr>
        <p:spPr/>
        <p:txBody>
          <a:bodyPr/>
          <a:lstStyle/>
          <a:p>
            <a:r>
              <a:rPr lang="en-US" dirty="0" smtClean="0"/>
              <a:t>A </a:t>
            </a:r>
            <a:r>
              <a:rPr lang="en-US" dirty="0"/>
              <a:t>monitor is an object </a:t>
            </a:r>
            <a:r>
              <a:rPr lang="en-US" dirty="0" smtClean="0"/>
              <a:t>intended </a:t>
            </a:r>
            <a:r>
              <a:rPr lang="en-US" dirty="0"/>
              <a:t>to be used safely by more than one thread</a:t>
            </a:r>
            <a:r>
              <a:rPr lang="en-US" dirty="0" smtClean="0"/>
              <a:t>.</a:t>
            </a:r>
          </a:p>
          <a:p>
            <a:r>
              <a:rPr lang="en-US" dirty="0" smtClean="0"/>
              <a:t>Its </a:t>
            </a:r>
            <a:r>
              <a:rPr lang="en-US" dirty="0"/>
              <a:t>methods are executed with mutual exclusion</a:t>
            </a:r>
            <a:r>
              <a:rPr lang="en-US" dirty="0" smtClean="0"/>
              <a:t>.</a:t>
            </a:r>
          </a:p>
          <a:p>
            <a:r>
              <a:rPr lang="en-US" dirty="0" smtClean="0"/>
              <a:t>Public interface methods are synchronized.</a:t>
            </a:r>
          </a:p>
          <a:p>
            <a:r>
              <a:rPr lang="en-US" dirty="0" smtClean="0"/>
              <a:t>Implementation methods (private) are not synchronized.</a:t>
            </a:r>
          </a:p>
          <a:p>
            <a:r>
              <a:rPr lang="en-US" dirty="0" smtClean="0"/>
              <a:t>Usually hand-crafted classes.</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214296358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Implementing monitor</a:t>
            </a:r>
            <a:endParaRPr lang="en-US" dirty="0"/>
          </a:p>
        </p:txBody>
      </p:sp>
      <p:sp>
        <p:nvSpPr>
          <p:cNvPr id="7" name="Content Placeholder 6"/>
          <p:cNvSpPr>
            <a:spLocks noGrp="1"/>
          </p:cNvSpPr>
          <p:nvPr>
            <p:ph sz="half" idx="1"/>
          </p:nvPr>
        </p:nvSpPr>
        <p:spPr/>
        <p:txBody>
          <a:bodyPr>
            <a:noAutofit/>
          </a:bodyPr>
          <a:lstStyle/>
          <a:p>
            <a:pPr marL="0" indent="0">
              <a:buNone/>
            </a:pP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account</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p>
          <a:p>
            <a:pPr marL="0" indent="0">
              <a:buNone/>
            </a:pPr>
            <a:r>
              <a:rPr lang="en-US" dirty="0">
                <a:solidFill>
                  <a:srgbClr val="0000FF"/>
                </a:solidFill>
                <a:highlight>
                  <a:srgbClr val="FFFFFF"/>
                </a:highlight>
                <a:latin typeface="Consolas"/>
              </a:rPr>
              <a:t>private</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balance;</a:t>
            </a:r>
          </a:p>
          <a:p>
            <a:pPr marL="0" indent="0">
              <a:buNone/>
            </a:pPr>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account() : balance()</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deposit(</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balance = balance +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withdraw(</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balance = balance -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a:t>
            </a:r>
            <a:endParaRPr lang="en-US" dirty="0"/>
          </a:p>
        </p:txBody>
      </p:sp>
      <p:sp>
        <p:nvSpPr>
          <p:cNvPr id="8" name="Content Placeholder 7"/>
          <p:cNvSpPr>
            <a:spLocks noGrp="1"/>
          </p:cNvSpPr>
          <p:nvPr>
            <p:ph sz="half" idx="2"/>
          </p:nvPr>
        </p:nvSpPr>
        <p:spPr/>
        <p:txBody>
          <a:bodyPr>
            <a:noAutofit/>
          </a:bodyPr>
          <a:lstStyle/>
          <a:p>
            <a:pPr marL="0" indent="0">
              <a:buNone/>
            </a:pPr>
            <a:r>
              <a:rPr lang="en-US" sz="1400" dirty="0">
                <a:solidFill>
                  <a:srgbClr val="0000FF"/>
                </a:solidFill>
                <a:highlight>
                  <a:srgbClr val="FFFFFF"/>
                </a:highlight>
                <a:latin typeface="Consolas"/>
              </a:rPr>
              <a:t>class</a:t>
            </a:r>
            <a:r>
              <a:rPr lang="en-US" sz="1400" dirty="0">
                <a:solidFill>
                  <a:srgbClr val="000000"/>
                </a:solidFill>
                <a:highlight>
                  <a:srgbClr val="FFFFFF"/>
                </a:highlight>
                <a:latin typeface="Consolas"/>
              </a:rPr>
              <a:t> </a:t>
            </a:r>
            <a:r>
              <a:rPr lang="en-US" sz="1400" dirty="0" err="1">
                <a:solidFill>
                  <a:srgbClr val="2B91AF"/>
                </a:solidFill>
                <a:highlight>
                  <a:srgbClr val="FFFFFF"/>
                </a:highlight>
                <a:latin typeface="Consolas"/>
              </a:rPr>
              <a:t>monitor_account</a:t>
            </a:r>
            <a:r>
              <a:rPr lang="en-US" sz="1400" dirty="0">
                <a:solidFill>
                  <a:srgbClr val="000000"/>
                </a:solidFill>
                <a:highlight>
                  <a:srgbClr val="FFFFFF"/>
                </a:highlight>
                <a:latin typeface="Consolas"/>
              </a:rPr>
              <a:t> </a:t>
            </a:r>
          </a:p>
          <a:p>
            <a:pPr marL="0" indent="0">
              <a:buNone/>
            </a:pPr>
            <a:r>
              <a:rPr lang="en-US" sz="1400" dirty="0">
                <a:solidFill>
                  <a:srgbClr val="000000"/>
                </a:solidFill>
                <a:highlight>
                  <a:srgbClr val="FFFFFF"/>
                </a:highlight>
                <a:latin typeface="Consolas"/>
              </a:rPr>
              <a:t>{</a:t>
            </a:r>
          </a:p>
          <a:p>
            <a:pPr marL="0" indent="0">
              <a:buNone/>
            </a:pPr>
            <a:r>
              <a:rPr lang="en-US" sz="1400" dirty="0">
                <a:solidFill>
                  <a:srgbClr val="0000FF"/>
                </a:solidFill>
                <a:highlight>
                  <a:srgbClr val="FFFFFF"/>
                </a:highlight>
                <a:latin typeface="Consolas"/>
              </a:rPr>
              <a:t>private</a:t>
            </a:r>
            <a:r>
              <a:rPr lang="en-US" sz="1400" dirty="0">
                <a:solidFill>
                  <a:srgbClr val="000000"/>
                </a:solidFill>
                <a:highlight>
                  <a:srgbClr val="FFFFFF"/>
                </a:highlight>
                <a:latin typeface="Consolas"/>
              </a:rPr>
              <a:t>:</a:t>
            </a:r>
          </a:p>
          <a:p>
            <a:pPr marL="0" indent="0">
              <a:buNone/>
            </a:pPr>
            <a:r>
              <a:rPr lang="en-US" sz="1400" dirty="0">
                <a:solidFill>
                  <a:srgbClr val="000000"/>
                </a:solidFill>
                <a:highlight>
                  <a:srgbClr val="FFFFFF"/>
                </a:highlight>
                <a:latin typeface="Consolas"/>
              </a:rPr>
              <a:t>   </a:t>
            </a:r>
            <a:r>
              <a:rPr lang="en-US" sz="1400" dirty="0">
                <a:solidFill>
                  <a:srgbClr val="2B91AF"/>
                </a:solidFill>
                <a:highlight>
                  <a:srgbClr val="FFFFFF"/>
                </a:highlight>
                <a:latin typeface="Consolas"/>
              </a:rPr>
              <a:t>account</a:t>
            </a:r>
            <a:r>
              <a:rPr lang="en-US" sz="1400" dirty="0">
                <a:solidFill>
                  <a:srgbClr val="000000"/>
                </a:solidFill>
                <a:highlight>
                  <a:srgbClr val="FFFFFF"/>
                </a:highlight>
                <a:latin typeface="Consolas"/>
              </a:rPr>
              <a:t> a;</a:t>
            </a:r>
          </a:p>
          <a:p>
            <a:pPr marL="0" indent="0">
              <a:buNone/>
            </a:pPr>
            <a:r>
              <a:rPr lang="en-US" sz="1400" dirty="0">
                <a:solidFill>
                  <a:srgbClr val="000000"/>
                </a:solidFill>
                <a:highlight>
                  <a:srgbClr val="FFFFFF"/>
                </a:highlight>
                <a:latin typeface="Consolas"/>
              </a:rPr>
              <a:t>   </a:t>
            </a:r>
            <a:r>
              <a:rPr lang="en-US" sz="1400" dirty="0">
                <a:solidFill>
                  <a:srgbClr val="2B91AF"/>
                </a:solidFill>
                <a:highlight>
                  <a:srgbClr val="FFFFFF"/>
                </a:highlight>
                <a:latin typeface="Consolas"/>
              </a:rPr>
              <a:t>mutex</a:t>
            </a:r>
            <a:r>
              <a:rPr lang="en-US" sz="1400" dirty="0">
                <a:solidFill>
                  <a:srgbClr val="000000"/>
                </a:solidFill>
                <a:highlight>
                  <a:srgbClr val="FFFFFF"/>
                </a:highlight>
                <a:latin typeface="Consolas"/>
              </a:rPr>
              <a:t>   m;</a:t>
            </a:r>
          </a:p>
          <a:p>
            <a:pPr marL="0" indent="0">
              <a:buNone/>
            </a:pPr>
            <a:r>
              <a:rPr lang="en-US" sz="1400" dirty="0">
                <a:solidFill>
                  <a:srgbClr val="0000FF"/>
                </a:solidFill>
                <a:highlight>
                  <a:srgbClr val="FFFFFF"/>
                </a:highlight>
                <a:latin typeface="Consolas"/>
              </a:rPr>
              <a:t>public</a:t>
            </a:r>
            <a:r>
              <a:rPr lang="en-US" sz="1400" dirty="0">
                <a:solidFill>
                  <a:srgbClr val="000000"/>
                </a:solidFill>
                <a:highlight>
                  <a:srgbClr val="FFFFFF"/>
                </a:highlight>
                <a:latin typeface="Consolas"/>
              </a:rPr>
              <a:t>:</a:t>
            </a:r>
          </a:p>
          <a:p>
            <a:pPr marL="0" indent="0">
              <a:buNone/>
            </a:pPr>
            <a:r>
              <a:rPr lang="en-US" sz="1400" dirty="0">
                <a:solidFill>
                  <a:srgbClr val="000000"/>
                </a:solidFill>
                <a:highlight>
                  <a:srgbClr val="FFFFFF"/>
                </a:highlight>
                <a:latin typeface="Consolas"/>
              </a:rPr>
              <a:t>   </a:t>
            </a:r>
            <a:r>
              <a:rPr lang="en-US" sz="1400" dirty="0">
                <a:solidFill>
                  <a:srgbClr val="0000FF"/>
                </a:solidFill>
                <a:highlight>
                  <a:srgbClr val="FFFFFF"/>
                </a:highlight>
                <a:latin typeface="Consolas"/>
              </a:rPr>
              <a:t>void</a:t>
            </a:r>
            <a:r>
              <a:rPr lang="en-US" sz="1400" dirty="0">
                <a:solidFill>
                  <a:srgbClr val="000000"/>
                </a:solidFill>
                <a:highlight>
                  <a:srgbClr val="FFFFFF"/>
                </a:highlight>
                <a:latin typeface="Consolas"/>
              </a:rPr>
              <a:t> deposit(</a:t>
            </a:r>
            <a:r>
              <a:rPr lang="en-US" sz="1400" dirty="0" err="1">
                <a:solidFill>
                  <a:srgbClr val="0000FF"/>
                </a:solidFill>
                <a:highlight>
                  <a:srgbClr val="FFFFFF"/>
                </a:highlight>
                <a:latin typeface="Consolas"/>
              </a:rPr>
              <a:t>int</a:t>
            </a:r>
            <a:r>
              <a:rPr lang="en-US" sz="1400" dirty="0">
                <a:solidFill>
                  <a:srgbClr val="000000"/>
                </a:solidFill>
                <a:highlight>
                  <a:srgbClr val="FFFFFF"/>
                </a:highlight>
                <a:latin typeface="Consolas"/>
              </a:rPr>
              <a:t> </a:t>
            </a:r>
            <a:r>
              <a:rPr lang="en-US" sz="1400" dirty="0">
                <a:solidFill>
                  <a:srgbClr val="808080"/>
                </a:solidFill>
                <a:highlight>
                  <a:srgbClr val="FFFFFF"/>
                </a:highlight>
                <a:latin typeface="Consolas"/>
              </a:rPr>
              <a:t>amount</a:t>
            </a:r>
            <a:r>
              <a:rPr lang="en-US" sz="1400" dirty="0">
                <a:solidFill>
                  <a:srgbClr val="000000"/>
                </a:solidFill>
                <a:highlight>
                  <a:srgbClr val="FFFFFF"/>
                </a:highlight>
                <a:latin typeface="Consolas"/>
              </a:rPr>
              <a:t>) </a:t>
            </a:r>
          </a:p>
          <a:p>
            <a:pPr marL="0" indent="0">
              <a:buNone/>
            </a:pPr>
            <a:r>
              <a:rPr lang="en-US" sz="1400" dirty="0">
                <a:solidFill>
                  <a:srgbClr val="000000"/>
                </a:solidFill>
                <a:highlight>
                  <a:srgbClr val="FFFFFF"/>
                </a:highlight>
                <a:latin typeface="Consolas"/>
              </a:rPr>
              <a:t>   {</a:t>
            </a:r>
          </a:p>
          <a:p>
            <a:pPr marL="0" indent="0">
              <a:buNone/>
            </a:pPr>
            <a:r>
              <a:rPr lang="en-US" sz="1400" dirty="0">
                <a:solidFill>
                  <a:srgbClr val="000000"/>
                </a:solidFill>
                <a:highlight>
                  <a:srgbClr val="FFFFFF"/>
                </a:highlight>
                <a:latin typeface="Consolas"/>
              </a:rPr>
              <a:t>      </a:t>
            </a:r>
            <a:r>
              <a:rPr lang="en-US" sz="1400" dirty="0" err="1">
                <a:solidFill>
                  <a:srgbClr val="2B91AF"/>
                </a:solidFill>
                <a:highlight>
                  <a:srgbClr val="FFFFFF"/>
                </a:highlight>
                <a:latin typeface="Consolas"/>
              </a:rPr>
              <a:t>lock_guard</a:t>
            </a:r>
            <a:r>
              <a:rPr lang="en-US" sz="1400" dirty="0">
                <a:solidFill>
                  <a:srgbClr val="000000"/>
                </a:solidFill>
                <a:highlight>
                  <a:srgbClr val="FFFFFF"/>
                </a:highlight>
                <a:latin typeface="Consolas"/>
              </a:rPr>
              <a:t>&lt;</a:t>
            </a:r>
            <a:r>
              <a:rPr lang="en-US" sz="1400" dirty="0" err="1">
                <a:solidFill>
                  <a:srgbClr val="2B91AF"/>
                </a:solidFill>
                <a:highlight>
                  <a:srgbClr val="FFFFFF"/>
                </a:highlight>
                <a:latin typeface="Consolas"/>
              </a:rPr>
              <a:t>mutex</a:t>
            </a:r>
            <a:r>
              <a:rPr lang="en-US" sz="1400" dirty="0">
                <a:solidFill>
                  <a:srgbClr val="000000"/>
                </a:solidFill>
                <a:highlight>
                  <a:srgbClr val="FFFFFF"/>
                </a:highlight>
                <a:latin typeface="Consolas"/>
              </a:rPr>
              <a:t>&gt; hold(m);</a:t>
            </a:r>
          </a:p>
          <a:p>
            <a:pPr marL="0" indent="0">
              <a:buNone/>
            </a:pPr>
            <a:r>
              <a:rPr lang="en-US" sz="1400" dirty="0">
                <a:solidFill>
                  <a:srgbClr val="000000"/>
                </a:solidFill>
                <a:highlight>
                  <a:srgbClr val="FFFFFF"/>
                </a:highlight>
                <a:latin typeface="Consolas"/>
              </a:rPr>
              <a:t>  </a:t>
            </a:r>
            <a:r>
              <a:rPr lang="en-U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a.deposit</a:t>
            </a:r>
            <a:r>
              <a:rPr lang="en-US" sz="1400" dirty="0">
                <a:solidFill>
                  <a:srgbClr val="000000"/>
                </a:solidFill>
                <a:highlight>
                  <a:srgbClr val="FFFFFF"/>
                </a:highlight>
                <a:latin typeface="Consolas"/>
              </a:rPr>
              <a:t>( </a:t>
            </a:r>
            <a:r>
              <a:rPr lang="en-US" sz="1400" dirty="0">
                <a:solidFill>
                  <a:srgbClr val="808080"/>
                </a:solidFill>
                <a:highlight>
                  <a:srgbClr val="FFFFFF"/>
                </a:highlight>
                <a:latin typeface="Consolas"/>
              </a:rPr>
              <a:t>amount</a:t>
            </a:r>
            <a:r>
              <a:rPr lang="en-US" sz="1400" dirty="0">
                <a:solidFill>
                  <a:srgbClr val="000000"/>
                </a:solidFill>
                <a:highlight>
                  <a:srgbClr val="FFFFFF"/>
                </a:highlight>
                <a:latin typeface="Consolas"/>
              </a:rPr>
              <a:t> );</a:t>
            </a:r>
          </a:p>
          <a:p>
            <a:pPr marL="0" indent="0">
              <a:buNone/>
            </a:pPr>
            <a:r>
              <a:rPr lang="en-US" sz="1400" dirty="0">
                <a:solidFill>
                  <a:srgbClr val="000000"/>
                </a:solidFill>
                <a:highlight>
                  <a:srgbClr val="FFFFFF"/>
                </a:highlight>
                <a:latin typeface="Consolas"/>
              </a:rPr>
              <a:t>   }</a:t>
            </a:r>
          </a:p>
          <a:p>
            <a:pPr marL="0" indent="0">
              <a:buNone/>
            </a:pPr>
            <a:r>
              <a:rPr lang="en-US" sz="1400" dirty="0">
                <a:solidFill>
                  <a:srgbClr val="000000"/>
                </a:solidFill>
                <a:highlight>
                  <a:srgbClr val="FFFFFF"/>
                </a:highlight>
                <a:latin typeface="Consolas"/>
              </a:rPr>
              <a:t>   </a:t>
            </a:r>
            <a:r>
              <a:rPr lang="en-US" sz="1400" dirty="0">
                <a:solidFill>
                  <a:srgbClr val="0000FF"/>
                </a:solidFill>
                <a:highlight>
                  <a:srgbClr val="FFFFFF"/>
                </a:highlight>
                <a:latin typeface="Consolas"/>
              </a:rPr>
              <a:t>void</a:t>
            </a:r>
            <a:r>
              <a:rPr lang="en-US" sz="1400" dirty="0">
                <a:solidFill>
                  <a:srgbClr val="000000"/>
                </a:solidFill>
                <a:highlight>
                  <a:srgbClr val="FFFFFF"/>
                </a:highlight>
                <a:latin typeface="Consolas"/>
              </a:rPr>
              <a:t> withdraw(</a:t>
            </a:r>
            <a:r>
              <a:rPr lang="en-US" sz="1400" dirty="0" err="1">
                <a:solidFill>
                  <a:srgbClr val="0000FF"/>
                </a:solidFill>
                <a:highlight>
                  <a:srgbClr val="FFFFFF"/>
                </a:highlight>
                <a:latin typeface="Consolas"/>
              </a:rPr>
              <a:t>int</a:t>
            </a:r>
            <a:r>
              <a:rPr lang="en-US" sz="1400" dirty="0">
                <a:solidFill>
                  <a:srgbClr val="000000"/>
                </a:solidFill>
                <a:highlight>
                  <a:srgbClr val="FFFFFF"/>
                </a:highlight>
                <a:latin typeface="Consolas"/>
              </a:rPr>
              <a:t> </a:t>
            </a:r>
            <a:r>
              <a:rPr lang="en-US" sz="1400" dirty="0">
                <a:solidFill>
                  <a:srgbClr val="808080"/>
                </a:solidFill>
                <a:highlight>
                  <a:srgbClr val="FFFFFF"/>
                </a:highlight>
                <a:latin typeface="Consolas"/>
              </a:rPr>
              <a:t>amount</a:t>
            </a:r>
            <a:r>
              <a:rPr lang="en-US" sz="1400" dirty="0">
                <a:solidFill>
                  <a:srgbClr val="000000"/>
                </a:solidFill>
                <a:highlight>
                  <a:srgbClr val="FFFFFF"/>
                </a:highlight>
                <a:latin typeface="Consolas"/>
              </a:rPr>
              <a:t>) </a:t>
            </a:r>
          </a:p>
          <a:p>
            <a:pPr marL="0" indent="0">
              <a:buNone/>
            </a:pPr>
            <a:r>
              <a:rPr lang="en-US" sz="1400" dirty="0">
                <a:solidFill>
                  <a:srgbClr val="000000"/>
                </a:solidFill>
                <a:highlight>
                  <a:srgbClr val="FFFFFF"/>
                </a:highlight>
                <a:latin typeface="Consolas"/>
              </a:rPr>
              <a:t>   {</a:t>
            </a:r>
          </a:p>
          <a:p>
            <a:pPr marL="0" indent="0">
              <a:buNone/>
            </a:pPr>
            <a:r>
              <a:rPr lang="en-US" sz="1400" dirty="0">
                <a:solidFill>
                  <a:srgbClr val="000000"/>
                </a:solidFill>
                <a:highlight>
                  <a:srgbClr val="FFFFFF"/>
                </a:highlight>
                <a:latin typeface="Consolas"/>
              </a:rPr>
              <a:t>      </a:t>
            </a:r>
            <a:r>
              <a:rPr lang="en-US" sz="1400" dirty="0" err="1">
                <a:solidFill>
                  <a:srgbClr val="2B91AF"/>
                </a:solidFill>
                <a:highlight>
                  <a:srgbClr val="FFFFFF"/>
                </a:highlight>
                <a:latin typeface="Consolas"/>
              </a:rPr>
              <a:t>lock_guard</a:t>
            </a:r>
            <a:r>
              <a:rPr lang="en-US" sz="1400" dirty="0">
                <a:solidFill>
                  <a:srgbClr val="000000"/>
                </a:solidFill>
                <a:highlight>
                  <a:srgbClr val="FFFFFF"/>
                </a:highlight>
                <a:latin typeface="Consolas"/>
              </a:rPr>
              <a:t>&lt;</a:t>
            </a:r>
            <a:r>
              <a:rPr lang="en-US" sz="1400" dirty="0" err="1">
                <a:solidFill>
                  <a:srgbClr val="2B91AF"/>
                </a:solidFill>
                <a:highlight>
                  <a:srgbClr val="FFFFFF"/>
                </a:highlight>
                <a:latin typeface="Consolas"/>
              </a:rPr>
              <a:t>mutex</a:t>
            </a:r>
            <a:r>
              <a:rPr lang="en-US" sz="1400" dirty="0">
                <a:solidFill>
                  <a:srgbClr val="000000"/>
                </a:solidFill>
                <a:highlight>
                  <a:srgbClr val="FFFFFF"/>
                </a:highlight>
                <a:latin typeface="Consolas"/>
              </a:rPr>
              <a:t>&gt; hold(m);</a:t>
            </a:r>
          </a:p>
          <a:p>
            <a:pPr marL="0" indent="0">
              <a:buNone/>
            </a:pPr>
            <a:r>
              <a:rPr lang="en-US" sz="1400" dirty="0">
                <a:solidFill>
                  <a:srgbClr val="000000"/>
                </a:solidFill>
                <a:highlight>
                  <a:srgbClr val="FFFFFF"/>
                </a:highlight>
                <a:latin typeface="Consolas"/>
              </a:rPr>
              <a:t>  </a:t>
            </a:r>
            <a:r>
              <a:rPr lang="en-U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a.withdraw</a:t>
            </a:r>
            <a:r>
              <a:rPr lang="en-US" sz="1400" dirty="0">
                <a:solidFill>
                  <a:srgbClr val="000000"/>
                </a:solidFill>
                <a:highlight>
                  <a:srgbClr val="FFFFFF"/>
                </a:highlight>
                <a:latin typeface="Consolas"/>
              </a:rPr>
              <a:t>( </a:t>
            </a:r>
            <a:r>
              <a:rPr lang="en-US" sz="1400" dirty="0">
                <a:solidFill>
                  <a:srgbClr val="808080"/>
                </a:solidFill>
                <a:highlight>
                  <a:srgbClr val="FFFFFF"/>
                </a:highlight>
                <a:latin typeface="Consolas"/>
              </a:rPr>
              <a:t>amount</a:t>
            </a:r>
            <a:r>
              <a:rPr lang="en-US" sz="1400" dirty="0">
                <a:solidFill>
                  <a:srgbClr val="000000"/>
                </a:solidFill>
                <a:highlight>
                  <a:srgbClr val="FFFFFF"/>
                </a:highlight>
                <a:latin typeface="Consolas"/>
              </a:rPr>
              <a:t> );</a:t>
            </a:r>
          </a:p>
          <a:p>
            <a:pPr marL="0" indent="0">
              <a:buNone/>
            </a:pPr>
            <a:r>
              <a:rPr lang="en-US" sz="1400" dirty="0">
                <a:solidFill>
                  <a:srgbClr val="000000"/>
                </a:solidFill>
                <a:highlight>
                  <a:srgbClr val="FFFFFF"/>
                </a:highlight>
                <a:latin typeface="Consolas"/>
              </a:rPr>
              <a:t>   }</a:t>
            </a:r>
          </a:p>
          <a:p>
            <a:pPr marL="0" indent="0">
              <a:buNone/>
            </a:pPr>
            <a:r>
              <a:rPr lang="en-US" sz="1400" dirty="0">
                <a:solidFill>
                  <a:srgbClr val="000000"/>
                </a:solidFill>
                <a:highlight>
                  <a:srgbClr val="FFFFFF"/>
                </a:highlight>
                <a:latin typeface="Consolas"/>
              </a:rPr>
              <a:t>};</a:t>
            </a:r>
            <a:endParaRPr lang="en-US" sz="1400"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p14="http://schemas.microsoft.com/office/powerpoint/2010/main" val="409906528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a:t>
            </a:r>
            <a:endParaRPr lang="en-US" dirty="0"/>
          </a:p>
        </p:txBody>
      </p:sp>
      <p:sp>
        <p:nvSpPr>
          <p:cNvPr id="5" name="Content Placeholder 4"/>
          <p:cNvSpPr>
            <a:spLocks noGrp="1"/>
          </p:cNvSpPr>
          <p:nvPr>
            <p:ph idx="1"/>
          </p:nvPr>
        </p:nvSpPr>
        <p:spPr>
          <a:xfrm>
            <a:off x="457200" y="1600201"/>
            <a:ext cx="8229600" cy="1600200"/>
          </a:xfrm>
        </p:spPr>
        <p:txBody>
          <a:bodyPr/>
          <a:lstStyle/>
          <a:p>
            <a:pPr marL="0" indent="0">
              <a:buNone/>
            </a:pPr>
            <a:r>
              <a:rPr lang="en-US" dirty="0"/>
              <a:t>Deadlock occurs when multiple threads need the same locks but obtain them in different order. </a:t>
            </a:r>
          </a:p>
        </p:txBody>
      </p:sp>
      <p:graphicFrame>
        <p:nvGraphicFramePr>
          <p:cNvPr id="6" name="Content Placeholder 3"/>
          <p:cNvGraphicFramePr>
            <a:graphicFrameLocks/>
          </p:cNvGraphicFramePr>
          <p:nvPr>
            <p:extLst>
              <p:ext uri="{D42A27DB-BD31-4B8C-83A1-F6EECF244321}">
                <p14:modId xmlns:p14="http://schemas.microsoft.com/office/powerpoint/2010/main" val="470901104"/>
              </p:ext>
            </p:extLst>
          </p:nvPr>
        </p:nvGraphicFramePr>
        <p:xfrm>
          <a:off x="609600" y="4191000"/>
          <a:ext cx="8229600" cy="1483360"/>
        </p:xfrm>
        <a:graphic>
          <a:graphicData uri="http://schemas.openxmlformats.org/drawingml/2006/table">
            <a:tbl>
              <a:tblPr firstRow="1" bandRow="1">
                <a:tableStyleId>{2D5ABB26-0587-4C30-8999-92F81FD0307C}</a:tableStyleId>
              </a:tblPr>
              <a:tblGrid>
                <a:gridCol w="4114800"/>
                <a:gridCol w="4114800"/>
              </a:tblGrid>
              <a:tr h="370840">
                <a:tc>
                  <a:txBody>
                    <a:bodyPr/>
                    <a:lstStyle/>
                    <a:p>
                      <a:pPr algn="ctr"/>
                      <a:r>
                        <a:rPr lang="en-US" dirty="0" smtClean="0"/>
                        <a:t>Thread 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dirty="0" smtClean="0"/>
                        <a:t>Thread B</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r h="370840">
                <a:tc>
                  <a:txBody>
                    <a:bodyPr/>
                    <a:lstStyle/>
                    <a:p>
                      <a:r>
                        <a:rPr lang="en-US" dirty="0" err="1" smtClean="0">
                          <a:latin typeface="Courier New" pitchFamily="49" charset="0"/>
                          <a:cs typeface="Courier New" pitchFamily="49" charset="0"/>
                        </a:rPr>
                        <a:t>a.lock</a:t>
                      </a:r>
                      <a:r>
                        <a:rPr lang="en-US" dirty="0" smtClean="0">
                          <a:latin typeface="Courier New" pitchFamily="49" charset="0"/>
                          <a:cs typeface="Courier New" pitchFamily="49" charset="0"/>
                        </a:rPr>
                        <a:t>(); // a</a:t>
                      </a:r>
                      <a:r>
                        <a:rPr lang="en-US" baseline="0" dirty="0" smtClean="0">
                          <a:latin typeface="Courier New" pitchFamily="49" charset="0"/>
                          <a:cs typeface="Courier New" pitchFamily="49" charset="0"/>
                        </a:rPr>
                        <a:t> is locked</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latin typeface="Courier New" pitchFamily="49" charset="0"/>
                          <a:cs typeface="Courier New" pitchFamily="49" charset="0"/>
                        </a:rPr>
                        <a:t>b.lock</a:t>
                      </a:r>
                      <a:r>
                        <a:rPr lang="en-US" dirty="0" smtClean="0">
                          <a:latin typeface="Courier New" pitchFamily="49" charset="0"/>
                          <a:cs typeface="Courier New" pitchFamily="49" charset="0"/>
                        </a:rPr>
                        <a:t>(); // b is 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r h="741680">
                <a:tc>
                  <a:txBody>
                    <a:bodyPr/>
                    <a:lstStyle/>
                    <a:p>
                      <a:r>
                        <a:rPr lang="en-US" dirty="0" err="1" smtClean="0">
                          <a:latin typeface="Courier New" pitchFamily="49" charset="0"/>
                          <a:cs typeface="Courier New" pitchFamily="49" charset="0"/>
                        </a:rPr>
                        <a:t>b.lock</a:t>
                      </a:r>
                      <a:r>
                        <a:rPr lang="en-US" dirty="0" smtClean="0">
                          <a:latin typeface="Courier New" pitchFamily="49" charset="0"/>
                          <a:cs typeface="Courier New" pitchFamily="49" charset="0"/>
                        </a:rPr>
                        <a:t>(); //</a:t>
                      </a:r>
                      <a:r>
                        <a:rPr lang="en-US" baseline="0" dirty="0" smtClean="0">
                          <a:latin typeface="Courier New" pitchFamily="49" charset="0"/>
                          <a:cs typeface="Courier New" pitchFamily="49" charset="0"/>
                        </a:rPr>
                        <a:t> </a:t>
                      </a:r>
                      <a:r>
                        <a:rPr lang="en-US" dirty="0" smtClean="0">
                          <a:latin typeface="Courier New" pitchFamily="49" charset="0"/>
                          <a:cs typeface="Courier New" pitchFamily="49" charset="0"/>
                        </a:rPr>
                        <a:t>waits until</a:t>
                      </a:r>
                    </a:p>
                    <a:p>
                      <a:r>
                        <a:rPr lang="en-US" dirty="0" smtClean="0">
                          <a:latin typeface="Courier New" pitchFamily="49" charset="0"/>
                          <a:cs typeface="Courier New" pitchFamily="49" charset="0"/>
                        </a:rPr>
                        <a:t>         </a:t>
                      </a:r>
                      <a:r>
                        <a:rPr lang="en-US" baseline="0" dirty="0" smtClean="0">
                          <a:latin typeface="Courier New" pitchFamily="49" charset="0"/>
                          <a:cs typeface="Courier New" pitchFamily="49" charset="0"/>
                        </a:rPr>
                        <a:t> </a:t>
                      </a:r>
                      <a:r>
                        <a:rPr lang="en-US" dirty="0" smtClean="0">
                          <a:latin typeface="Courier New" pitchFamily="49" charset="0"/>
                          <a:cs typeface="Courier New" pitchFamily="49" charset="0"/>
                        </a:rPr>
                        <a:t>// b</a:t>
                      </a:r>
                      <a:r>
                        <a:rPr lang="en-US" baseline="0" dirty="0" smtClean="0">
                          <a:latin typeface="Courier New" pitchFamily="49" charset="0"/>
                          <a:cs typeface="Courier New" pitchFamily="49" charset="0"/>
                        </a:rPr>
                        <a:t> is released</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latin typeface="Courier New" pitchFamily="49" charset="0"/>
                          <a:cs typeface="Courier New" pitchFamily="49" charset="0"/>
                        </a:rPr>
                        <a:t>a.lock</a:t>
                      </a:r>
                      <a:r>
                        <a:rPr lang="en-US" dirty="0" smtClean="0">
                          <a:latin typeface="Courier New" pitchFamily="49" charset="0"/>
                          <a:cs typeface="Courier New" pitchFamily="49" charset="0"/>
                        </a:rPr>
                        <a:t>(); //</a:t>
                      </a:r>
                      <a:r>
                        <a:rPr lang="en-US" baseline="0" dirty="0" smtClean="0">
                          <a:latin typeface="Courier New" pitchFamily="49" charset="0"/>
                          <a:cs typeface="Courier New" pitchFamily="49" charset="0"/>
                        </a:rPr>
                        <a:t> </a:t>
                      </a:r>
                      <a:r>
                        <a:rPr lang="en-US" dirty="0" smtClean="0">
                          <a:latin typeface="Courier New" pitchFamily="49" charset="0"/>
                          <a:cs typeface="Courier New" pitchFamily="49" charset="0"/>
                        </a:rPr>
                        <a:t>waits until</a:t>
                      </a:r>
                    </a:p>
                    <a:p>
                      <a:r>
                        <a:rPr lang="en-US" dirty="0" smtClean="0">
                          <a:latin typeface="Courier New" pitchFamily="49" charset="0"/>
                          <a:cs typeface="Courier New" pitchFamily="49" charset="0"/>
                        </a:rPr>
                        <a:t>          //</a:t>
                      </a:r>
                      <a:r>
                        <a:rPr lang="en-US" baseline="0" dirty="0" smtClean="0">
                          <a:latin typeface="Courier New" pitchFamily="49" charset="0"/>
                          <a:cs typeface="Courier New" pitchFamily="49" charset="0"/>
                        </a:rPr>
                        <a:t> a is released</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bl>
          </a:graphicData>
        </a:graphic>
      </p:graphicFrame>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422561085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 sample</a:t>
            </a:r>
            <a:endParaRPr lang="en-US" dirty="0"/>
          </a:p>
        </p:txBody>
      </p:sp>
      <p:sp>
        <p:nvSpPr>
          <p:cNvPr id="3" name="Content Placeholder 2"/>
          <p:cNvSpPr>
            <a:spLocks noGrp="1"/>
          </p:cNvSpPr>
          <p:nvPr>
            <p:ph idx="1"/>
          </p:nvPr>
        </p:nvSpPr>
        <p:spPr>
          <a:xfrm>
            <a:off x="457200" y="1600201"/>
            <a:ext cx="8229600" cy="3809999"/>
          </a:xfrm>
        </p:spPr>
        <p:txBody>
          <a:bodyPr>
            <a:normAutofit fontScale="70000" lnSpcReduction="20000"/>
          </a:bodyPr>
          <a:lstStyle/>
          <a:p>
            <a:pPr marL="1257300" lvl="3"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transfer(</a:t>
            </a:r>
            <a:r>
              <a:rPr lang="en-US" dirty="0" err="1" smtClean="0">
                <a:solidFill>
                  <a:srgbClr val="2B91AF"/>
                </a:solidFill>
                <a:highlight>
                  <a:srgbClr val="FFFFFF"/>
                </a:highlight>
                <a:latin typeface="Consolas"/>
              </a:rPr>
              <a:t>monitor_account</a:t>
            </a:r>
            <a:r>
              <a:rPr lang="en-US" dirty="0" smtClean="0">
                <a:solidFill>
                  <a:srgbClr val="000000"/>
                </a:solidFill>
                <a:highlight>
                  <a:srgbClr val="FFFFFF"/>
                </a:highlight>
                <a:latin typeface="Consolas"/>
              </a:rPr>
              <a:t>&amp; </a:t>
            </a:r>
            <a:r>
              <a:rPr lang="en-US" dirty="0" smtClean="0">
                <a:solidFill>
                  <a:srgbClr val="808080"/>
                </a:solidFill>
                <a:highlight>
                  <a:srgbClr val="FFFFFF"/>
                </a:highlight>
                <a:latin typeface="Consolas"/>
              </a:rPr>
              <a:t>from</a:t>
            </a:r>
            <a:r>
              <a:rPr lang="en-US" dirty="0" smtClean="0">
                <a:solidFill>
                  <a:srgbClr val="000000"/>
                </a:solidFill>
                <a:highlight>
                  <a:srgbClr val="FFFFFF"/>
                </a:highlight>
                <a:latin typeface="Consolas"/>
              </a:rPr>
              <a:t>, </a:t>
            </a:r>
            <a:r>
              <a:rPr lang="en-US" dirty="0" err="1" smtClean="0">
                <a:solidFill>
                  <a:srgbClr val="2B91AF"/>
                </a:solidFill>
                <a:highlight>
                  <a:srgbClr val="FFFFFF"/>
                </a:highlight>
                <a:latin typeface="Consolas"/>
              </a:rPr>
              <a:t>monitor_account</a:t>
            </a:r>
            <a:r>
              <a:rPr lang="en-US" dirty="0">
                <a:solidFill>
                  <a:srgbClr val="000000"/>
                </a:solidFill>
                <a:highlight>
                  <a:srgbClr val="FFFFFF"/>
                </a:highlight>
                <a:latin typeface="Consolas"/>
              </a:rPr>
              <a:t>&amp; </a:t>
            </a:r>
            <a:r>
              <a:rPr lang="en-US" dirty="0" err="1" smtClean="0">
                <a:solidFill>
                  <a:srgbClr val="808080"/>
                </a:solidFill>
                <a:highlight>
                  <a:srgbClr val="FFFFFF"/>
                </a:highlight>
                <a:latin typeface="Consolas"/>
              </a:rPr>
              <a:t>to</a:t>
            </a:r>
            <a:r>
              <a:rPr lang="en-US" dirty="0" err="1" smtClean="0">
                <a:solidFill>
                  <a:srgbClr val="000000"/>
                </a:solidFill>
                <a:highlight>
                  <a:srgbClr val="FFFFFF"/>
                </a:highlight>
                <a:latin typeface="Consolas"/>
              </a:rPr>
              <a:t>,</a:t>
            </a:r>
            <a:r>
              <a:rPr lang="en-US" dirty="0" err="1" smtClean="0">
                <a:solidFill>
                  <a:srgbClr val="0000FF"/>
                </a:solidFill>
                <a:highlight>
                  <a:srgbClr val="FFFFFF"/>
                </a:highlight>
                <a:latin typeface="Consolas"/>
              </a:rPr>
              <a:t>int</a:t>
            </a:r>
            <a:r>
              <a:rPr lang="en-US" dirty="0" smtClean="0">
                <a:solidFill>
                  <a:srgbClr val="000000"/>
                </a:solidFill>
                <a:highlight>
                  <a:srgbClr val="FFFFFF"/>
                </a:highlight>
                <a:latin typeface="Consolas"/>
              </a:rPr>
              <a:t> </a:t>
            </a:r>
            <a:r>
              <a:rPr lang="en-US" dirty="0" smtClean="0">
                <a:solidFill>
                  <a:srgbClr val="808080"/>
                </a:solidFill>
                <a:highlight>
                  <a:srgbClr val="FFFFFF"/>
                </a:highlight>
                <a:latin typeface="Consolas"/>
              </a:rPr>
              <a:t>amount</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1257300" lvl="3" indent="0">
              <a:buNone/>
            </a:pP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hold_from</a:t>
            </a:r>
            <a:r>
              <a:rPr lang="en-US" dirty="0">
                <a:solidFill>
                  <a:srgbClr val="000000"/>
                </a:solidFill>
                <a:highlight>
                  <a:srgbClr val="FFFFFF"/>
                </a:highlight>
                <a:latin typeface="Consolas"/>
              </a:rPr>
              <a:t>(</a:t>
            </a:r>
            <a:r>
              <a:rPr lang="en-US" dirty="0" err="1">
                <a:solidFill>
                  <a:srgbClr val="808080"/>
                </a:solidFill>
                <a:highlight>
                  <a:srgbClr val="FFFFFF"/>
                </a:highlight>
                <a:latin typeface="Consolas"/>
              </a:rPr>
              <a:t>from</a:t>
            </a:r>
            <a:r>
              <a:rPr lang="en-US" dirty="0" err="1">
                <a:solidFill>
                  <a:srgbClr val="000000"/>
                </a:solidFill>
                <a:highlight>
                  <a:srgbClr val="FFFFFF"/>
                </a:highlight>
                <a:latin typeface="Consolas"/>
              </a:rPr>
              <a:t>.m</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hold_to</a:t>
            </a:r>
            <a:r>
              <a:rPr lang="en-US" dirty="0">
                <a:solidFill>
                  <a:srgbClr val="000000"/>
                </a:solidFill>
                <a:highlight>
                  <a:srgbClr val="FFFFFF"/>
                </a:highlight>
                <a:latin typeface="Consolas"/>
              </a:rPr>
              <a:t>(</a:t>
            </a:r>
            <a:r>
              <a:rPr lang="en-US" dirty="0" err="1">
                <a:solidFill>
                  <a:srgbClr val="808080"/>
                </a:solidFill>
                <a:highlight>
                  <a:srgbClr val="FFFFFF"/>
                </a:highlight>
                <a:latin typeface="Consolas"/>
              </a:rPr>
              <a:t>to</a:t>
            </a:r>
            <a:r>
              <a:rPr lang="en-US" dirty="0" err="1">
                <a:solidFill>
                  <a:srgbClr val="000000"/>
                </a:solidFill>
                <a:highlight>
                  <a:srgbClr val="FFFFFF"/>
                </a:highlight>
                <a:latin typeface="Consolas"/>
              </a:rPr>
              <a:t>.m</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use private implementation (no lock)</a:t>
            </a:r>
            <a:endParaRPr lang="en-US" dirty="0">
              <a:solidFill>
                <a:srgbClr val="000000"/>
              </a:solidFill>
              <a:highlight>
                <a:srgbClr val="FFFFFF"/>
              </a:highlight>
              <a:latin typeface="Consolas"/>
            </a:endParaRPr>
          </a:p>
          <a:p>
            <a:pPr marL="1257300" lvl="3"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from</a:t>
            </a:r>
            <a:r>
              <a:rPr lang="en-US" dirty="0" err="1">
                <a:solidFill>
                  <a:srgbClr val="000000"/>
                </a:solidFill>
                <a:highlight>
                  <a:srgbClr val="FFFFFF"/>
                </a:highlight>
                <a:latin typeface="Consolas"/>
              </a:rPr>
              <a:t>.a.withdraw</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to</a:t>
            </a:r>
            <a:r>
              <a:rPr lang="en-US" dirty="0" err="1">
                <a:solidFill>
                  <a:srgbClr val="000000"/>
                </a:solidFill>
                <a:highlight>
                  <a:srgbClr val="FFFFFF"/>
                </a:highlight>
                <a:latin typeface="Consolas"/>
              </a:rPr>
              <a:t>.a.deposit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1257300" lvl="3" indent="0">
              <a:buNone/>
            </a:pPr>
            <a:r>
              <a:rPr lang="en-US" dirty="0" smtClean="0">
                <a:solidFill>
                  <a:srgbClr val="000000"/>
                </a:solidFill>
                <a:highlight>
                  <a:srgbClr val="FFFFFF"/>
                </a:highlight>
                <a:latin typeface="Consolas"/>
              </a:rPr>
              <a:t>}</a:t>
            </a:r>
          </a:p>
          <a:p>
            <a:pPr marL="1257300" lvl="3" indent="0">
              <a:buNone/>
            </a:pPr>
            <a:endParaRPr lang="en-US" dirty="0" smtClean="0">
              <a:solidFill>
                <a:srgbClr val="000000"/>
              </a:solidFill>
              <a:highlight>
                <a:srgbClr val="FFFFFF"/>
              </a:highlight>
              <a:latin typeface="Consolas"/>
            </a:endParaRPr>
          </a:p>
          <a:p>
            <a:r>
              <a:rPr lang="en-US" dirty="0" smtClean="0">
                <a:solidFill>
                  <a:srgbClr val="000000"/>
                </a:solidFill>
                <a:highlight>
                  <a:srgbClr val="FFFFFF"/>
                </a:highlight>
              </a:rPr>
              <a:t>Code above has a potential deadlock!</a:t>
            </a:r>
          </a:p>
          <a:p>
            <a:r>
              <a:rPr lang="en-US" dirty="0"/>
              <a:t>Consider two threads calling transfer() at the same time on the same accounts, but one thread is transferring money from account A to account B, whereas the other is transferring money from account B to account A</a:t>
            </a:r>
            <a:r>
              <a:rPr lang="en-US" dirty="0" smtClean="0"/>
              <a:t>.</a:t>
            </a:r>
            <a:endParaRPr lang="en-US" dirty="0" smtClean="0">
              <a:solidFill>
                <a:srgbClr val="000000"/>
              </a:solidFill>
              <a:highlight>
                <a:srgbClr val="FFFFFF"/>
              </a:highlight>
            </a:endParaRPr>
          </a:p>
        </p:txBody>
      </p:sp>
      <p:graphicFrame>
        <p:nvGraphicFramePr>
          <p:cNvPr id="4" name="Table 3"/>
          <p:cNvGraphicFramePr>
            <a:graphicFrameLocks noGrp="1"/>
          </p:cNvGraphicFramePr>
          <p:nvPr>
            <p:extLst>
              <p:ext uri="{D42A27DB-BD31-4B8C-83A1-F6EECF244321}">
                <p14:modId xmlns:p14="http://schemas.microsoft.com/office/powerpoint/2010/main" val="1131293470"/>
              </p:ext>
            </p:extLst>
          </p:nvPr>
        </p:nvGraphicFramePr>
        <p:xfrm>
          <a:off x="457200" y="5562600"/>
          <a:ext cx="8229600" cy="741680"/>
        </p:xfrm>
        <a:graphic>
          <a:graphicData uri="http://schemas.openxmlformats.org/drawingml/2006/table">
            <a:tbl>
              <a:tblPr firstRow="1" bandRow="1">
                <a:tableStyleId>{2D5ABB26-0587-4C30-8999-92F81FD0307C}</a:tableStyleId>
              </a:tblPr>
              <a:tblGrid>
                <a:gridCol w="4114800"/>
                <a:gridCol w="4114800"/>
              </a:tblGrid>
              <a:tr h="370840">
                <a:tc>
                  <a:txBody>
                    <a:bodyPr/>
                    <a:lstStyle/>
                    <a:p>
                      <a:pPr algn="ctr"/>
                      <a:r>
                        <a:rPr lang="en-US" dirty="0" smtClean="0"/>
                        <a:t>Thread 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dirty="0" smtClean="0"/>
                        <a:t>Thread 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r h="370840">
                <a:tc>
                  <a:txBody>
                    <a:bodyPr/>
                    <a:lstStyle/>
                    <a:p>
                      <a:r>
                        <a:rPr lang="en-US" dirty="0" smtClean="0">
                          <a:latin typeface="Courier New" pitchFamily="49" charset="0"/>
                          <a:cs typeface="Courier New" pitchFamily="49" charset="0"/>
                        </a:rPr>
                        <a:t>transfer( A, B, 1000 );</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r>
                        <a:rPr lang="en-US" dirty="0" smtClean="0">
                          <a:latin typeface="Courier New" pitchFamily="49" charset="0"/>
                          <a:cs typeface="Courier New" pitchFamily="49" charset="0"/>
                        </a:rPr>
                        <a:t>transfer( B, A, 1000 );</a:t>
                      </a:r>
                      <a:endParaRPr lang="en-US" dirty="0">
                        <a:latin typeface="Courier New" pitchFamily="49" charset="0"/>
                        <a:cs typeface="Courier New"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bl>
          </a:graphicData>
        </a:graphic>
      </p:graphicFrame>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val="390332381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 prevention - </a:t>
            </a:r>
            <a:r>
              <a:rPr lang="en-US" dirty="0" err="1" smtClean="0"/>
              <a:t>std</a:t>
            </a:r>
            <a:r>
              <a:rPr lang="en-US" dirty="0" smtClean="0"/>
              <a:t>::lock</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a:t>
            </a:r>
            <a:r>
              <a:rPr lang="en-US" dirty="0" err="1">
                <a:latin typeface="Courier New" pitchFamily="49" charset="0"/>
                <a:cs typeface="Courier New" pitchFamily="49" charset="0"/>
              </a:rPr>
              <a:t>std</a:t>
            </a:r>
            <a:r>
              <a:rPr lang="en-US" dirty="0">
                <a:latin typeface="Courier New" pitchFamily="49" charset="0"/>
                <a:cs typeface="Courier New" pitchFamily="49" charset="0"/>
              </a:rPr>
              <a:t>::lock </a:t>
            </a:r>
            <a:r>
              <a:rPr lang="en-US" dirty="0"/>
              <a:t>function template provides a means of locking more than one mutex at the same time, without risk of deadlock due to inconsistent lock orders</a:t>
            </a:r>
            <a:r>
              <a:rPr lang="en-US" dirty="0" smtClean="0"/>
              <a:t>.</a:t>
            </a:r>
          </a:p>
          <a:p>
            <a:r>
              <a:rPr lang="en-US" dirty="0"/>
              <a:t>Acquires a lock on each of the supplied lockable objects </a:t>
            </a:r>
            <a:r>
              <a:rPr lang="en-US" dirty="0" smtClean="0"/>
              <a:t>by </a:t>
            </a:r>
            <a:r>
              <a:rPr lang="en-US" dirty="0"/>
              <a:t>an unspecified sequence of calls to the </a:t>
            </a:r>
            <a:r>
              <a:rPr lang="en-US" dirty="0">
                <a:latin typeface="Courier New" pitchFamily="49" charset="0"/>
                <a:cs typeface="Courier New" pitchFamily="49" charset="0"/>
              </a:rPr>
              <a:t>lock()</a:t>
            </a:r>
            <a:r>
              <a:rPr lang="en-US" dirty="0"/>
              <a:t>, </a:t>
            </a:r>
            <a:r>
              <a:rPr lang="en-US" dirty="0" err="1">
                <a:latin typeface="Courier New" pitchFamily="49" charset="0"/>
                <a:cs typeface="Courier New" pitchFamily="49" charset="0"/>
              </a:rPr>
              <a:t>try_lock</a:t>
            </a:r>
            <a:r>
              <a:rPr lang="en-US" dirty="0">
                <a:latin typeface="Courier New" pitchFamily="49" charset="0"/>
                <a:cs typeface="Courier New" pitchFamily="49" charset="0"/>
              </a:rPr>
              <a:t>()</a:t>
            </a:r>
            <a:r>
              <a:rPr lang="en-US" dirty="0"/>
              <a:t> and </a:t>
            </a:r>
            <a:r>
              <a:rPr lang="en-US" dirty="0">
                <a:latin typeface="Courier New" pitchFamily="49" charset="0"/>
                <a:cs typeface="Courier New" pitchFamily="49" charset="0"/>
              </a:rPr>
              <a:t>unlock()</a:t>
            </a:r>
            <a:r>
              <a:rPr lang="en-US" dirty="0"/>
              <a:t> members of those types that avoids deadlock</a:t>
            </a:r>
            <a:r>
              <a:rPr lang="en-US" dirty="0" smtClean="0"/>
              <a:t>.</a:t>
            </a:r>
          </a:p>
          <a:p>
            <a:r>
              <a:rPr lang="en-US" dirty="0"/>
              <a:t>The </a:t>
            </a:r>
            <a:r>
              <a:rPr lang="en-US" dirty="0" err="1"/>
              <a:t>std</a:t>
            </a:r>
            <a:r>
              <a:rPr lang="en-US" dirty="0"/>
              <a:t>::lock() non-member function </a:t>
            </a:r>
            <a:r>
              <a:rPr lang="en-US" i="1" dirty="0"/>
              <a:t>may</a:t>
            </a:r>
            <a:r>
              <a:rPr lang="en-US" dirty="0"/>
              <a:t> cause Live-lock problem or performance degradation, it guarantee only "</a:t>
            </a:r>
            <a:r>
              <a:rPr lang="en-US" i="1" dirty="0"/>
              <a:t>Never Dead-lock</a:t>
            </a:r>
            <a:r>
              <a:rPr lang="en-US" dirty="0"/>
              <a:t>".</a:t>
            </a: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p14="http://schemas.microsoft.com/office/powerpoint/2010/main" val="335332844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std</a:t>
            </a:r>
            <a:r>
              <a:rPr lang="en-US" dirty="0" smtClean="0"/>
              <a:t>::lock sample</a:t>
            </a:r>
            <a:endParaRPr lang="en-US" dirty="0"/>
          </a:p>
        </p:txBody>
      </p:sp>
      <p:sp>
        <p:nvSpPr>
          <p:cNvPr id="3" name="Content Placeholder 2"/>
          <p:cNvSpPr>
            <a:spLocks noGrp="1"/>
          </p:cNvSpPr>
          <p:nvPr>
            <p:ph idx="1"/>
          </p:nvPr>
        </p:nvSpPr>
        <p:spPr/>
        <p:txBody>
          <a:bodyPr>
            <a:normAutofit fontScale="85000" lnSpcReduction="10000"/>
          </a:bodyPr>
          <a:lstStyle/>
          <a:p>
            <a:pPr marL="1257300" lvl="3"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transfer( </a:t>
            </a:r>
            <a:r>
              <a:rPr lang="en-US" dirty="0" err="1">
                <a:solidFill>
                  <a:srgbClr val="2B91AF"/>
                </a:solidFill>
                <a:highlight>
                  <a:srgbClr val="FFFFFF"/>
                </a:highlight>
                <a:latin typeface="Consolas"/>
              </a:rPr>
              <a:t>monitor_account</a:t>
            </a:r>
            <a:r>
              <a:rPr lang="en-US" dirty="0">
                <a:solidFill>
                  <a:srgbClr val="000000"/>
                </a:solidFill>
                <a:highlight>
                  <a:srgbClr val="FFFFFF"/>
                </a:highlight>
                <a:latin typeface="Consolas"/>
              </a:rPr>
              <a:t>&amp; </a:t>
            </a:r>
            <a:r>
              <a:rPr lang="en-US" dirty="0">
                <a:solidFill>
                  <a:srgbClr val="808080"/>
                </a:solidFill>
                <a:highlight>
                  <a:srgbClr val="FFFFFF"/>
                </a:highlight>
                <a:latin typeface="Consolas"/>
              </a:rPr>
              <a:t>from</a:t>
            </a:r>
            <a:r>
              <a:rPr lang="en-US" dirty="0">
                <a:solidFill>
                  <a:srgbClr val="000000"/>
                </a:solidFill>
                <a:highlight>
                  <a:srgbClr val="FFFFFF"/>
                </a:highlight>
                <a:latin typeface="Consolas"/>
              </a:rPr>
              <a:t>, </a:t>
            </a:r>
            <a:endParaRPr lang="en-US" dirty="0" smtClean="0">
              <a:solidFill>
                <a:srgbClr val="000000"/>
              </a:solidFill>
              <a:highlight>
                <a:srgbClr val="FFFFFF"/>
              </a:highlight>
              <a:latin typeface="Consolas"/>
            </a:endParaRPr>
          </a:p>
          <a:p>
            <a:pPr marL="1257300" lvl="3"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2B91AF"/>
                </a:solidFill>
                <a:highlight>
                  <a:srgbClr val="FFFFFF"/>
                </a:highlight>
                <a:latin typeface="Consolas"/>
              </a:rPr>
              <a:t>monitor_account</a:t>
            </a:r>
            <a:r>
              <a:rPr lang="en-US" dirty="0" smtClean="0">
                <a:solidFill>
                  <a:srgbClr val="000000"/>
                </a:solidFill>
                <a:highlight>
                  <a:srgbClr val="FFFFFF"/>
                </a:highlight>
                <a:latin typeface="Consolas"/>
              </a:rPr>
              <a:t>&amp; </a:t>
            </a:r>
            <a:r>
              <a:rPr lang="en-US" dirty="0" smtClean="0">
                <a:solidFill>
                  <a:srgbClr val="808080"/>
                </a:solidFill>
                <a:highlight>
                  <a:srgbClr val="FFFFFF"/>
                </a:highlight>
                <a:latin typeface="Consolas"/>
              </a:rPr>
              <a:t>to</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a:t>
            </a:r>
          </a:p>
          <a:p>
            <a:pPr marL="1257300" lvl="3" indent="0">
              <a:buNone/>
            </a:pPr>
            <a:r>
              <a:rPr lang="en-US" dirty="0" smtClean="0">
                <a:solidFill>
                  <a:srgbClr val="000000"/>
                </a:solidFill>
                <a:highlight>
                  <a:srgbClr val="FFFFFF"/>
                </a:highlight>
                <a:latin typeface="Consolas"/>
              </a:rPr>
              <a:t>   lock</a:t>
            </a: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from</a:t>
            </a:r>
            <a:r>
              <a:rPr lang="en-US" dirty="0" err="1">
                <a:solidFill>
                  <a:srgbClr val="000000"/>
                </a:solidFill>
                <a:highlight>
                  <a:srgbClr val="FFFFFF"/>
                </a:highlight>
                <a:latin typeface="Consolas"/>
              </a:rPr>
              <a:t>.m</a:t>
            </a: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to</a:t>
            </a:r>
            <a:r>
              <a:rPr lang="en-US" dirty="0" err="1">
                <a:solidFill>
                  <a:srgbClr val="000000"/>
                </a:solidFill>
                <a:highlight>
                  <a:srgbClr val="FFFFFF"/>
                </a:highlight>
                <a:latin typeface="Consolas"/>
              </a:rPr>
              <a:t>.m</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hold_from</a:t>
            </a:r>
            <a:r>
              <a:rPr lang="en-US" dirty="0">
                <a:solidFill>
                  <a:srgbClr val="000000"/>
                </a:solidFill>
                <a:highlight>
                  <a:srgbClr val="FFFFFF"/>
                </a:highlight>
                <a:latin typeface="Consolas"/>
              </a:rPr>
              <a:t>(</a:t>
            </a:r>
            <a:r>
              <a:rPr lang="en-US" dirty="0" err="1">
                <a:solidFill>
                  <a:srgbClr val="808080"/>
                </a:solidFill>
                <a:highlight>
                  <a:srgbClr val="FFFFFF"/>
                </a:highlight>
                <a:latin typeface="Consolas"/>
              </a:rPr>
              <a:t>from</a:t>
            </a:r>
            <a:r>
              <a:rPr lang="en-US" dirty="0" err="1">
                <a:solidFill>
                  <a:srgbClr val="000000"/>
                </a:solidFill>
                <a:highlight>
                  <a:srgbClr val="FFFFFF"/>
                </a:highlight>
                <a:latin typeface="Consolas"/>
              </a:rPr>
              <a:t>.m</a:t>
            </a: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adopt_lock</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hold_to</a:t>
            </a:r>
            <a:r>
              <a:rPr lang="en-US" dirty="0">
                <a:solidFill>
                  <a:srgbClr val="000000"/>
                </a:solidFill>
                <a:highlight>
                  <a:srgbClr val="FFFFFF"/>
                </a:highlight>
                <a:latin typeface="Consolas"/>
              </a:rPr>
              <a:t>(</a:t>
            </a:r>
            <a:r>
              <a:rPr lang="en-US" dirty="0" err="1">
                <a:solidFill>
                  <a:srgbClr val="808080"/>
                </a:solidFill>
                <a:highlight>
                  <a:srgbClr val="FFFFFF"/>
                </a:highlight>
                <a:latin typeface="Consolas"/>
              </a:rPr>
              <a:t>to</a:t>
            </a:r>
            <a:r>
              <a:rPr lang="en-US" dirty="0" err="1">
                <a:solidFill>
                  <a:srgbClr val="000000"/>
                </a:solidFill>
                <a:highlight>
                  <a:srgbClr val="FFFFFF"/>
                </a:highlight>
                <a:latin typeface="Consolas"/>
              </a:rPr>
              <a:t>.m</a:t>
            </a: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adopt_lock</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use private implementation (no lock)</a:t>
            </a:r>
            <a:endParaRPr lang="en-US" dirty="0">
              <a:solidFill>
                <a:srgbClr val="000000"/>
              </a:solidFill>
              <a:highlight>
                <a:srgbClr val="FFFFFF"/>
              </a:highlight>
              <a:latin typeface="Consolas"/>
            </a:endParaRPr>
          </a:p>
          <a:p>
            <a:pPr marL="1257300" lvl="3"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from</a:t>
            </a:r>
            <a:r>
              <a:rPr lang="en-US" dirty="0" err="1">
                <a:solidFill>
                  <a:srgbClr val="000000"/>
                </a:solidFill>
                <a:highlight>
                  <a:srgbClr val="FFFFFF"/>
                </a:highlight>
                <a:latin typeface="Consolas"/>
              </a:rPr>
              <a:t>.a.withdraw</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to</a:t>
            </a:r>
            <a:r>
              <a:rPr lang="en-US" dirty="0" err="1">
                <a:solidFill>
                  <a:srgbClr val="000000"/>
                </a:solidFill>
                <a:highlight>
                  <a:srgbClr val="FFFFFF"/>
                </a:highlight>
                <a:latin typeface="Consolas"/>
              </a:rPr>
              <a:t>.a.deposit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1257300" lvl="3" indent="0">
              <a:buNone/>
            </a:pPr>
            <a:r>
              <a:rPr lang="en-US" dirty="0" smtClean="0">
                <a:solidFill>
                  <a:srgbClr val="000000"/>
                </a:solidFill>
                <a:highlight>
                  <a:srgbClr val="FFFFFF"/>
                </a:highlight>
                <a:latin typeface="Consolas"/>
              </a:rPr>
              <a:t>}</a:t>
            </a:r>
          </a:p>
          <a:p>
            <a:pPr marL="1257300" lvl="3" indent="0">
              <a:buNone/>
            </a:pPr>
            <a:endParaRPr lang="en-US" dirty="0" smtClean="0">
              <a:solidFill>
                <a:srgbClr val="000000"/>
              </a:solidFill>
              <a:highlight>
                <a:srgbClr val="FFFFFF"/>
              </a:highlight>
              <a:latin typeface="Consolas"/>
            </a:endParaRPr>
          </a:p>
          <a:p>
            <a:r>
              <a:rPr lang="en-US" dirty="0" err="1" smtClean="0">
                <a:solidFill>
                  <a:srgbClr val="000000"/>
                </a:solidFill>
                <a:highlight>
                  <a:srgbClr val="FFFFFF"/>
                </a:highlight>
              </a:rPr>
              <a:t>std</a:t>
            </a:r>
            <a:r>
              <a:rPr lang="en-US" dirty="0" smtClean="0">
                <a:solidFill>
                  <a:srgbClr val="000000"/>
                </a:solidFill>
                <a:highlight>
                  <a:srgbClr val="FFFFFF"/>
                </a:highlight>
              </a:rPr>
              <a:t>::lock locks both </a:t>
            </a:r>
            <a:r>
              <a:rPr lang="en-US" dirty="0" err="1" smtClean="0">
                <a:solidFill>
                  <a:srgbClr val="000000"/>
                </a:solidFill>
                <a:highlight>
                  <a:srgbClr val="FFFFFF"/>
                </a:highlight>
              </a:rPr>
              <a:t>mutexes</a:t>
            </a:r>
            <a:r>
              <a:rPr lang="en-US" dirty="0" smtClean="0">
                <a:solidFill>
                  <a:srgbClr val="000000"/>
                </a:solidFill>
                <a:highlight>
                  <a:srgbClr val="FFFFFF"/>
                </a:highlight>
              </a:rPr>
              <a:t> safely</a:t>
            </a:r>
          </a:p>
          <a:p>
            <a:r>
              <a:rPr lang="en-US" dirty="0" err="1" smtClean="0">
                <a:solidFill>
                  <a:srgbClr val="000000"/>
                </a:solidFill>
                <a:highlight>
                  <a:srgbClr val="FFFFFF"/>
                </a:highlight>
              </a:rPr>
              <a:t>std</a:t>
            </a:r>
            <a:r>
              <a:rPr lang="en-US" dirty="0" smtClean="0">
                <a:solidFill>
                  <a:srgbClr val="000000"/>
                </a:solidFill>
                <a:highlight>
                  <a:srgbClr val="FFFFFF"/>
                </a:highlight>
              </a:rPr>
              <a:t>::</a:t>
            </a:r>
            <a:r>
              <a:rPr lang="en-US" dirty="0" err="1" smtClean="0">
                <a:solidFill>
                  <a:srgbClr val="000000"/>
                </a:solidFill>
                <a:highlight>
                  <a:srgbClr val="FFFFFF"/>
                </a:highlight>
              </a:rPr>
              <a:t>adopt_lock</a:t>
            </a:r>
            <a:r>
              <a:rPr lang="en-US" dirty="0" smtClean="0">
                <a:solidFill>
                  <a:srgbClr val="000000"/>
                </a:solidFill>
                <a:highlight>
                  <a:srgbClr val="FFFFFF"/>
                </a:highlight>
              </a:rPr>
              <a:t> tells to </a:t>
            </a:r>
            <a:r>
              <a:rPr lang="en-US" dirty="0" err="1" smtClean="0">
                <a:solidFill>
                  <a:srgbClr val="000000"/>
                </a:solidFill>
                <a:highlight>
                  <a:srgbClr val="FFFFFF"/>
                </a:highlight>
              </a:rPr>
              <a:t>lock_guard</a:t>
            </a:r>
            <a:r>
              <a:rPr lang="en-US" dirty="0" smtClean="0">
                <a:solidFill>
                  <a:srgbClr val="000000"/>
                </a:solidFill>
                <a:highlight>
                  <a:srgbClr val="FFFFFF"/>
                </a:highlight>
              </a:rPr>
              <a:t> only to release lock at destructor.</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Tree>
    <p:extLst>
      <p:ext uri="{BB962C8B-B14F-4D97-AF65-F5344CB8AC3E}">
        <p14:creationId xmlns:p14="http://schemas.microsoft.com/office/powerpoint/2010/main" val="339221331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std</a:t>
            </a:r>
            <a:r>
              <a:rPr lang="en-US" dirty="0" smtClean="0"/>
              <a:t>::lock and </a:t>
            </a:r>
            <a:r>
              <a:rPr lang="en-US" dirty="0" err="1" smtClean="0"/>
              <a:t>std</a:t>
            </a:r>
            <a:r>
              <a:rPr lang="en-US" dirty="0" smtClean="0"/>
              <a:t>::</a:t>
            </a:r>
            <a:r>
              <a:rPr lang="en-US" dirty="0" err="1" smtClean="0"/>
              <a:t>unique_lock</a:t>
            </a:r>
            <a:endParaRPr lang="en-US" dirty="0"/>
          </a:p>
        </p:txBody>
      </p:sp>
      <p:sp>
        <p:nvSpPr>
          <p:cNvPr id="3" name="Content Placeholder 2"/>
          <p:cNvSpPr>
            <a:spLocks noGrp="1"/>
          </p:cNvSpPr>
          <p:nvPr>
            <p:ph idx="1"/>
          </p:nvPr>
        </p:nvSpPr>
        <p:spPr/>
        <p:txBody>
          <a:bodyPr>
            <a:normAutofit fontScale="85000" lnSpcReduction="10000"/>
          </a:bodyPr>
          <a:lstStyle/>
          <a:p>
            <a:pPr marL="1257300" lvl="3"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transfer( </a:t>
            </a:r>
            <a:r>
              <a:rPr lang="en-US" dirty="0" err="1">
                <a:solidFill>
                  <a:srgbClr val="2B91AF"/>
                </a:solidFill>
                <a:highlight>
                  <a:srgbClr val="FFFFFF"/>
                </a:highlight>
                <a:latin typeface="Consolas"/>
              </a:rPr>
              <a:t>monitor_account</a:t>
            </a:r>
            <a:r>
              <a:rPr lang="en-US" dirty="0">
                <a:solidFill>
                  <a:srgbClr val="000000"/>
                </a:solidFill>
                <a:highlight>
                  <a:srgbClr val="FFFFFF"/>
                </a:highlight>
                <a:latin typeface="Consolas"/>
              </a:rPr>
              <a:t>&amp; </a:t>
            </a:r>
            <a:r>
              <a:rPr lang="en-US" dirty="0">
                <a:solidFill>
                  <a:srgbClr val="808080"/>
                </a:solidFill>
                <a:highlight>
                  <a:srgbClr val="FFFFFF"/>
                </a:highlight>
                <a:latin typeface="Consolas"/>
              </a:rPr>
              <a:t>from</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monitor_account</a:t>
            </a:r>
            <a:r>
              <a:rPr lang="en-US" dirty="0">
                <a:solidFill>
                  <a:srgbClr val="000000"/>
                </a:solidFill>
                <a:highlight>
                  <a:srgbClr val="FFFFFF"/>
                </a:highlight>
                <a:latin typeface="Consolas"/>
              </a:rPr>
              <a:t>&amp; </a:t>
            </a:r>
            <a:r>
              <a:rPr lang="en-US" dirty="0">
                <a:solidFill>
                  <a:srgbClr val="808080"/>
                </a:solidFill>
                <a:highlight>
                  <a:srgbClr val="FFFFFF"/>
                </a:highlight>
                <a:latin typeface="Consolas"/>
              </a:rPr>
              <a:t>to</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smtClean="0">
                <a:solidFill>
                  <a:srgbClr val="2B91AF"/>
                </a:solidFill>
                <a:highlight>
                  <a:srgbClr val="FFFFFF"/>
                </a:highlight>
                <a:latin typeface="Consolas"/>
              </a:rPr>
              <a:t>unique_lock</a:t>
            </a:r>
            <a:r>
              <a:rPr lang="en-US" dirty="0" smtClean="0">
                <a:solidFill>
                  <a:srgbClr val="000000"/>
                </a:solidFill>
                <a:highlight>
                  <a:srgbClr val="FFFFFF"/>
                </a:highlight>
                <a:latin typeface="Consolas"/>
              </a:rPr>
              <a:t>&lt;</a:t>
            </a:r>
            <a:r>
              <a:rPr lang="en-US" dirty="0" err="1" smtClean="0">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hold_from</a:t>
            </a:r>
            <a:r>
              <a:rPr lang="en-US" dirty="0">
                <a:solidFill>
                  <a:srgbClr val="000000"/>
                </a:solidFill>
                <a:highlight>
                  <a:srgbClr val="FFFFFF"/>
                </a:highlight>
                <a:latin typeface="Consolas"/>
              </a:rPr>
              <a:t>(</a:t>
            </a:r>
            <a:r>
              <a:rPr lang="en-US" dirty="0" err="1">
                <a:solidFill>
                  <a:srgbClr val="808080"/>
                </a:solidFill>
                <a:highlight>
                  <a:srgbClr val="FFFFFF"/>
                </a:highlight>
                <a:latin typeface="Consolas"/>
              </a:rPr>
              <a:t>from</a:t>
            </a:r>
            <a:r>
              <a:rPr lang="en-US" dirty="0" err="1">
                <a:solidFill>
                  <a:srgbClr val="000000"/>
                </a:solidFill>
                <a:highlight>
                  <a:srgbClr val="FFFFFF"/>
                </a:highlight>
                <a:latin typeface="Consolas"/>
              </a:rPr>
              <a:t>.m</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defer_lock</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unique_lock</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hold_to</a:t>
            </a:r>
            <a:r>
              <a:rPr lang="en-US" dirty="0">
                <a:solidFill>
                  <a:srgbClr val="000000"/>
                </a:solidFill>
                <a:highlight>
                  <a:srgbClr val="FFFFFF"/>
                </a:highlight>
                <a:latin typeface="Consolas"/>
              </a:rPr>
              <a:t>(</a:t>
            </a:r>
            <a:r>
              <a:rPr lang="en-US" dirty="0" err="1">
                <a:solidFill>
                  <a:srgbClr val="808080"/>
                </a:solidFill>
                <a:highlight>
                  <a:srgbClr val="FFFFFF"/>
                </a:highlight>
                <a:latin typeface="Consolas"/>
              </a:rPr>
              <a:t>to</a:t>
            </a:r>
            <a:r>
              <a:rPr lang="en-US" dirty="0" err="1">
                <a:solidFill>
                  <a:srgbClr val="000000"/>
                </a:solidFill>
                <a:highlight>
                  <a:srgbClr val="FFFFFF"/>
                </a:highlight>
                <a:latin typeface="Consolas"/>
              </a:rPr>
              <a:t>.m</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defer_lock</a:t>
            </a:r>
            <a:r>
              <a:rPr lang="en-US" dirty="0">
                <a:solidFill>
                  <a:srgbClr val="000000"/>
                </a:solidFill>
                <a:highlight>
                  <a:srgbClr val="FFFFFF"/>
                </a:highlight>
                <a:latin typeface="Consolas"/>
              </a:rPr>
              <a:t>);</a:t>
            </a:r>
          </a:p>
          <a:p>
            <a:pPr marL="1257300" lvl="3" indent="0">
              <a:buNone/>
            </a:pPr>
            <a:r>
              <a:rPr lang="en-US" dirty="0">
                <a:solidFill>
                  <a:srgbClr val="000000"/>
                </a:solidFill>
                <a:highlight>
                  <a:srgbClr val="FFFFFF"/>
                </a:highlight>
                <a:latin typeface="Consolas"/>
              </a:rPr>
              <a:t>   lock( </a:t>
            </a:r>
            <a:r>
              <a:rPr lang="en-US" dirty="0" err="1">
                <a:solidFill>
                  <a:srgbClr val="000000"/>
                </a:solidFill>
                <a:highlight>
                  <a:srgbClr val="FFFFFF"/>
                </a:highlight>
                <a:latin typeface="Consolas"/>
              </a:rPr>
              <a:t>hold_from</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hold_to</a:t>
            </a:r>
            <a:r>
              <a:rPr lang="en-US" dirty="0">
                <a:solidFill>
                  <a:srgbClr val="000000"/>
                </a:solidFill>
                <a:highlight>
                  <a:srgbClr val="FFFFFF"/>
                </a:highlight>
                <a:latin typeface="Consolas"/>
              </a:rPr>
              <a:t> );</a:t>
            </a:r>
            <a:endParaRPr lang="en-US" dirty="0" smtClean="0">
              <a:solidFill>
                <a:srgbClr val="000000"/>
              </a:solidFill>
              <a:highlight>
                <a:srgbClr val="FFFFFF"/>
              </a:highlight>
              <a:latin typeface="Consolas"/>
            </a:endParaRPr>
          </a:p>
          <a:p>
            <a:pPr marL="1257300" lvl="3" indent="0">
              <a:buNone/>
            </a:pPr>
            <a:r>
              <a:rPr lang="en-US" dirty="0" smtClean="0">
                <a:solidFill>
                  <a:srgbClr val="000000"/>
                </a:solidFill>
                <a:highlight>
                  <a:srgbClr val="FFFFFF"/>
                </a:highlight>
                <a:latin typeface="Consolas"/>
              </a:rPr>
              <a:t>   </a:t>
            </a:r>
            <a:r>
              <a:rPr lang="en-US" dirty="0" smtClean="0">
                <a:solidFill>
                  <a:srgbClr val="008000"/>
                </a:solidFill>
                <a:highlight>
                  <a:srgbClr val="FFFFFF"/>
                </a:highlight>
                <a:latin typeface="Consolas"/>
              </a:rPr>
              <a:t>// use private implementation (no lock)</a:t>
            </a:r>
            <a:endParaRPr lang="en-US" dirty="0" smtClean="0">
              <a:solidFill>
                <a:srgbClr val="000000"/>
              </a:solidFill>
              <a:highlight>
                <a:srgbClr val="FFFFFF"/>
              </a:highlight>
              <a:latin typeface="Consolas"/>
            </a:endParaRPr>
          </a:p>
          <a:p>
            <a:pPr marL="1257300" lvl="3" indent="0">
              <a:buNone/>
            </a:pPr>
            <a:r>
              <a:rPr lang="en-US" dirty="0" smtClean="0">
                <a:solidFill>
                  <a:srgbClr val="000000"/>
                </a:solidFill>
                <a:highlight>
                  <a:srgbClr val="FFFFFF"/>
                </a:highlight>
                <a:latin typeface="Consolas"/>
              </a:rPr>
              <a:t>   </a:t>
            </a:r>
            <a:r>
              <a:rPr lang="en-US" dirty="0" err="1">
                <a:solidFill>
                  <a:srgbClr val="808080"/>
                </a:solidFill>
                <a:highlight>
                  <a:srgbClr val="FFFFFF"/>
                </a:highlight>
                <a:latin typeface="Consolas"/>
              </a:rPr>
              <a:t>from</a:t>
            </a:r>
            <a:r>
              <a:rPr lang="en-US" dirty="0" err="1">
                <a:solidFill>
                  <a:srgbClr val="000000"/>
                </a:solidFill>
                <a:highlight>
                  <a:srgbClr val="FFFFFF"/>
                </a:highlight>
                <a:latin typeface="Consolas"/>
              </a:rPr>
              <a:t>.a.withdraw</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to</a:t>
            </a:r>
            <a:r>
              <a:rPr lang="en-US" dirty="0" err="1">
                <a:solidFill>
                  <a:srgbClr val="000000"/>
                </a:solidFill>
                <a:highlight>
                  <a:srgbClr val="FFFFFF"/>
                </a:highlight>
                <a:latin typeface="Consolas"/>
              </a:rPr>
              <a:t>.a.deposit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amount</a:t>
            </a:r>
            <a:r>
              <a:rPr lang="en-US" dirty="0">
                <a:solidFill>
                  <a:srgbClr val="000000"/>
                </a:solidFill>
                <a:highlight>
                  <a:srgbClr val="FFFFFF"/>
                </a:highlight>
                <a:latin typeface="Consolas"/>
              </a:rPr>
              <a:t> );</a:t>
            </a:r>
          </a:p>
          <a:p>
            <a:pPr marL="1257300" lvl="3" indent="0">
              <a:buNone/>
            </a:pPr>
            <a:r>
              <a:rPr lang="en-US" dirty="0">
                <a:solidFill>
                  <a:srgbClr val="000000"/>
                </a:solidFill>
                <a:highlight>
                  <a:srgbClr val="FFFFFF"/>
                </a:highlight>
                <a:latin typeface="Consolas"/>
              </a:rPr>
              <a:t>}</a:t>
            </a:r>
          </a:p>
          <a:p>
            <a:pPr marL="1257300" lvl="3" indent="0">
              <a:buNone/>
            </a:pPr>
            <a:endParaRPr lang="en-US" dirty="0">
              <a:solidFill>
                <a:srgbClr val="000000"/>
              </a:solidFill>
              <a:highlight>
                <a:srgbClr val="FFFFFF"/>
              </a:highlight>
              <a:latin typeface="Consolas"/>
            </a:endParaRPr>
          </a:p>
          <a:p>
            <a:r>
              <a:rPr lang="en-US" dirty="0" err="1">
                <a:solidFill>
                  <a:srgbClr val="000000"/>
                </a:solidFill>
                <a:highlight>
                  <a:srgbClr val="FFFFFF"/>
                </a:highlight>
              </a:rPr>
              <a:t>std</a:t>
            </a:r>
            <a:r>
              <a:rPr lang="en-US" dirty="0" smtClean="0">
                <a:solidFill>
                  <a:srgbClr val="000000"/>
                </a:solidFill>
                <a:highlight>
                  <a:srgbClr val="FFFFFF"/>
                </a:highlight>
              </a:rPr>
              <a:t>::</a:t>
            </a:r>
            <a:r>
              <a:rPr lang="en-US" dirty="0" err="1" smtClean="0">
                <a:solidFill>
                  <a:srgbClr val="000000"/>
                </a:solidFill>
                <a:highlight>
                  <a:srgbClr val="FFFFFF"/>
                </a:highlight>
              </a:rPr>
              <a:t>defer_lock</a:t>
            </a:r>
            <a:r>
              <a:rPr lang="en-US" dirty="0" smtClean="0">
                <a:solidFill>
                  <a:srgbClr val="000000"/>
                </a:solidFill>
                <a:highlight>
                  <a:srgbClr val="FFFFFF"/>
                </a:highlight>
              </a:rPr>
              <a:t> creates </a:t>
            </a:r>
            <a:r>
              <a:rPr lang="en-US" dirty="0" err="1" smtClean="0">
                <a:solidFill>
                  <a:srgbClr val="000000"/>
                </a:solidFill>
                <a:highlight>
                  <a:srgbClr val="FFFFFF"/>
                </a:highlight>
              </a:rPr>
              <a:t>unique_lock</a:t>
            </a:r>
            <a:r>
              <a:rPr lang="en-US" dirty="0" smtClean="0">
                <a:solidFill>
                  <a:srgbClr val="000000"/>
                </a:solidFill>
                <a:highlight>
                  <a:srgbClr val="FFFFFF"/>
                </a:highlight>
              </a:rPr>
              <a:t> without locking.</a:t>
            </a:r>
            <a:endParaRPr lang="en-US" dirty="0">
              <a:solidFill>
                <a:srgbClr val="000000"/>
              </a:solidFill>
              <a:highlight>
                <a:srgbClr val="FFFFFF"/>
              </a:highlight>
            </a:endParaRPr>
          </a:p>
          <a:p>
            <a:r>
              <a:rPr lang="en-US" dirty="0" err="1">
                <a:solidFill>
                  <a:srgbClr val="000000"/>
                </a:solidFill>
                <a:highlight>
                  <a:srgbClr val="FFFFFF"/>
                </a:highlight>
              </a:rPr>
              <a:t>std</a:t>
            </a:r>
            <a:r>
              <a:rPr lang="en-US" dirty="0" smtClean="0">
                <a:solidFill>
                  <a:srgbClr val="000000"/>
                </a:solidFill>
                <a:highlight>
                  <a:srgbClr val="FFFFFF"/>
                </a:highlight>
              </a:rPr>
              <a:t>::lock does not take </a:t>
            </a:r>
            <a:r>
              <a:rPr lang="en-US" dirty="0" err="1" smtClean="0">
                <a:solidFill>
                  <a:srgbClr val="000000"/>
                </a:solidFill>
                <a:highlight>
                  <a:srgbClr val="FFFFFF"/>
                </a:highlight>
              </a:rPr>
              <a:t>mutexes</a:t>
            </a:r>
            <a:r>
              <a:rPr lang="en-US" dirty="0" smtClean="0">
                <a:solidFill>
                  <a:srgbClr val="000000"/>
                </a:solidFill>
                <a:highlight>
                  <a:srgbClr val="FFFFFF"/>
                </a:highlight>
              </a:rPr>
              <a:t>, but lock objects.</a:t>
            </a:r>
            <a:endParaRPr lang="en-US" dirty="0"/>
          </a:p>
          <a:p>
            <a:pPr marL="0" indent="0">
              <a:buNone/>
            </a:pP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Tree>
    <p:extLst>
      <p:ext uri="{BB962C8B-B14F-4D97-AF65-F5344CB8AC3E}">
        <p14:creationId xmlns:p14="http://schemas.microsoft.com/office/powerpoint/2010/main" val="202624190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time initialization</a:t>
            </a:r>
            <a:endParaRPr lang="en-US" dirty="0"/>
          </a:p>
        </p:txBody>
      </p:sp>
      <p:sp>
        <p:nvSpPr>
          <p:cNvPr id="4" name="Content Placeholder 3"/>
          <p:cNvSpPr>
            <a:spLocks noGrp="1"/>
          </p:cNvSpPr>
          <p:nvPr>
            <p:ph sz="half" idx="1"/>
          </p:nvPr>
        </p:nvSpPr>
        <p:spPr/>
        <p:txBody>
          <a:bodyPr>
            <a:normAutofit lnSpcReduction="10000"/>
          </a:bodyPr>
          <a:lstStyle/>
          <a:p>
            <a:pPr marL="0" indent="0">
              <a:buNone/>
            </a:pP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unique_ptr</a:t>
            </a:r>
            <a:r>
              <a:rPr lang="en-US" dirty="0">
                <a:solidFill>
                  <a:srgbClr val="000000"/>
                </a:solidFill>
                <a:highlight>
                  <a:srgbClr val="FFFFFF"/>
                </a:highlight>
                <a:latin typeface="Consolas"/>
              </a:rPr>
              <a:t>&lt;</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&gt; </a:t>
            </a:r>
            <a:r>
              <a:rPr lang="en-US" dirty="0" err="1" smtClean="0">
                <a:solidFill>
                  <a:srgbClr val="000000"/>
                </a:solidFill>
                <a:highlight>
                  <a:srgbClr val="FFFFFF"/>
                </a:highlight>
                <a:latin typeface="Consolas"/>
              </a:rPr>
              <a:t>m_inst</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&amp; instance()</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if</a:t>
            </a: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m_inst</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m_inst.reset</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 );</a:t>
            </a:r>
          </a:p>
          <a:p>
            <a:pPr marL="0" indent="0">
              <a:buNone/>
            </a:pP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m_inst</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method()</a:t>
            </a:r>
          </a:p>
          <a:p>
            <a:pPr marL="0" indent="0">
              <a:buNone/>
            </a:pPr>
            <a:r>
              <a:rPr lang="en-US" dirty="0">
                <a:solidFill>
                  <a:srgbClr val="000000"/>
                </a:solidFill>
                <a:highlight>
                  <a:srgbClr val="FFFFFF"/>
                </a:highlight>
                <a:latin typeface="Consolas"/>
              </a:rPr>
              <a:t>   { }</a:t>
            </a:r>
          </a:p>
          <a:p>
            <a:pPr marL="0" indent="0">
              <a:buNone/>
            </a:pP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use_singleton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::instance().method();</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lnSpcReduction="10000"/>
          </a:bodyPr>
          <a:lstStyle/>
          <a:p>
            <a:r>
              <a:rPr lang="en-US" dirty="0" smtClean="0"/>
              <a:t>Lazy initialization. Create instance only once just before it is used.</a:t>
            </a:r>
          </a:p>
          <a:p>
            <a:r>
              <a:rPr lang="en-US" dirty="0" smtClean="0"/>
              <a:t>Avoids cost of initializing if it is never used.</a:t>
            </a:r>
          </a:p>
          <a:p>
            <a:r>
              <a:rPr lang="en-US" b="1" dirty="0" smtClean="0"/>
              <a:t>Not thread safe</a:t>
            </a:r>
            <a:r>
              <a:rPr lang="en-US" dirty="0" smtClean="0"/>
              <a:t>, race condition</a:t>
            </a:r>
          </a:p>
          <a:p>
            <a:r>
              <a:rPr lang="en-US" dirty="0" smtClean="0"/>
              <a:t>If more threads are accessing </a:t>
            </a:r>
            <a:r>
              <a:rPr lang="en-US" dirty="0" smtClean="0">
                <a:latin typeface="Courier New" pitchFamily="49" charset="0"/>
                <a:cs typeface="Courier New" pitchFamily="49" charset="0"/>
              </a:rPr>
              <a:t>instance() </a:t>
            </a:r>
            <a:r>
              <a:rPr lang="en-US" dirty="0" smtClean="0"/>
              <a:t>method before it is initialized, then singleton constructor can be called multiple times.</a:t>
            </a:r>
          </a:p>
          <a:p>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78</a:t>
            </a:fld>
            <a:endParaRPr lang="en-US"/>
          </a:p>
        </p:txBody>
      </p:sp>
    </p:spTree>
    <p:extLst>
      <p:ext uri="{BB962C8B-B14F-4D97-AF65-F5344CB8AC3E}">
        <p14:creationId xmlns:p14="http://schemas.microsoft.com/office/powerpoint/2010/main" val="54665985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time initialization #1</a:t>
            </a:r>
            <a:endParaRPr lang="en-US" dirty="0"/>
          </a:p>
        </p:txBody>
      </p:sp>
      <p:sp>
        <p:nvSpPr>
          <p:cNvPr id="6" name="Content Placeholder 5"/>
          <p:cNvSpPr>
            <a:spLocks noGrp="1"/>
          </p:cNvSpPr>
          <p:nvPr>
            <p:ph sz="half" idx="1"/>
          </p:nvPr>
        </p:nvSpPr>
        <p:spPr/>
        <p:txBody>
          <a:bodyPr>
            <a:normAutofit/>
          </a:bodyPr>
          <a:lstStyle/>
          <a:p>
            <a:pPr marL="0" indent="0">
              <a:buNone/>
            </a:pP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unique_ptr</a:t>
            </a:r>
            <a:r>
              <a:rPr lang="en-US" dirty="0">
                <a:solidFill>
                  <a:srgbClr val="000000"/>
                </a:solidFill>
                <a:highlight>
                  <a:srgbClr val="FFFFFF"/>
                </a:highlight>
                <a:latin typeface="Consolas"/>
              </a:rPr>
              <a:t>&lt;</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mutex</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m_lock</a:t>
            </a:r>
            <a:r>
              <a:rPr lang="en-US" dirty="0">
                <a:solidFill>
                  <a:srgbClr val="000000"/>
                </a:solidFill>
                <a:highlight>
                  <a:srgbClr val="FFFFFF"/>
                </a:highlight>
                <a:latin typeface="Consolas"/>
              </a:rPr>
              <a:t>;</a:t>
            </a:r>
          </a:p>
          <a:p>
            <a:pPr marL="0" indent="0">
              <a:buNone/>
            </a:pPr>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&amp; instance()</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_(</a:t>
            </a:r>
            <a:r>
              <a:rPr lang="en-US" dirty="0" err="1">
                <a:solidFill>
                  <a:srgbClr val="000000"/>
                </a:solidFill>
                <a:highlight>
                  <a:srgbClr val="FFFFFF"/>
                </a:highlight>
                <a:latin typeface="Consolas"/>
              </a:rPr>
              <a:t>m_lock</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if</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m_inst.reset</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 );</a:t>
            </a:r>
          </a:p>
          <a:p>
            <a:pPr marL="0" indent="0">
              <a:buNone/>
            </a:pP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method()</a:t>
            </a:r>
          </a:p>
          <a:p>
            <a:pPr marL="0" indent="0">
              <a:buNone/>
            </a:pPr>
            <a:r>
              <a:rPr lang="en-US" dirty="0">
                <a:solidFill>
                  <a:srgbClr val="000000"/>
                </a:solidFill>
                <a:highlight>
                  <a:srgbClr val="FFFFFF"/>
                </a:highlight>
                <a:latin typeface="Consolas"/>
              </a:rPr>
              <a:t>   { }</a:t>
            </a:r>
          </a:p>
          <a:p>
            <a:pPr marL="0" indent="0">
              <a:buNone/>
            </a:pPr>
            <a:r>
              <a:rPr lang="en-US" dirty="0">
                <a:solidFill>
                  <a:srgbClr val="000000"/>
                </a:solidFill>
                <a:highlight>
                  <a:srgbClr val="FFFFFF"/>
                </a:highlight>
                <a:latin typeface="Consolas"/>
              </a:rPr>
              <a:t>};</a:t>
            </a:r>
            <a:endParaRPr lang="en-US" dirty="0"/>
          </a:p>
        </p:txBody>
      </p:sp>
      <p:sp>
        <p:nvSpPr>
          <p:cNvPr id="7" name="Content Placeholder 6"/>
          <p:cNvSpPr>
            <a:spLocks noGrp="1"/>
          </p:cNvSpPr>
          <p:nvPr>
            <p:ph sz="half" idx="2"/>
          </p:nvPr>
        </p:nvSpPr>
        <p:spPr/>
        <p:txBody>
          <a:bodyPr>
            <a:normAutofit/>
          </a:bodyPr>
          <a:lstStyle/>
          <a:p>
            <a:r>
              <a:rPr lang="en-US" dirty="0" smtClean="0"/>
              <a:t>No data race, only one thread can access </a:t>
            </a:r>
            <a:r>
              <a:rPr lang="en-US" dirty="0" err="1" smtClean="0">
                <a:latin typeface="Courier New" pitchFamily="49" charset="0"/>
                <a:cs typeface="Courier New" pitchFamily="49" charset="0"/>
              </a:rPr>
              <a:t>m_lock</a:t>
            </a:r>
            <a:r>
              <a:rPr lang="en-US" dirty="0" smtClean="0"/>
              <a:t> variable.</a:t>
            </a:r>
          </a:p>
          <a:p>
            <a:r>
              <a:rPr lang="en-US" dirty="0" smtClean="0"/>
              <a:t>Critical section is too long. Lock is required even if the singleton has been created.</a:t>
            </a:r>
          </a:p>
          <a:p>
            <a:r>
              <a:rPr lang="en-US" dirty="0" smtClean="0"/>
              <a:t>Optimization is to lock the mutex only when singleton needs to be initialized!</a:t>
            </a:r>
          </a:p>
          <a:p>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79</a:t>
            </a:fld>
            <a:endParaRPr lang="en-US"/>
          </a:p>
        </p:txBody>
      </p:sp>
    </p:spTree>
    <p:extLst>
      <p:ext uri="{BB962C8B-B14F-4D97-AF65-F5344CB8AC3E}">
        <p14:creationId xmlns:p14="http://schemas.microsoft.com/office/powerpoint/2010/main" val="136550053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Double checked locking</a:t>
            </a:r>
            <a:endParaRPr lang="en-US" dirty="0"/>
          </a:p>
        </p:txBody>
      </p:sp>
      <p:sp>
        <p:nvSpPr>
          <p:cNvPr id="5" name="Content Placeholder 4"/>
          <p:cNvSpPr>
            <a:spLocks noGrp="1"/>
          </p:cNvSpPr>
          <p:nvPr>
            <p:ph idx="1"/>
          </p:nvPr>
        </p:nvSpPr>
        <p:spPr/>
        <p:txBody>
          <a:bodyPr>
            <a:normAutofit fontScale="77500" lnSpcReduction="20000"/>
          </a:bodyPr>
          <a:lstStyle/>
          <a:p>
            <a:pPr marL="800100" lvl="2" indent="0">
              <a:buNone/>
            </a:pP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&amp; instance()</a:t>
            </a:r>
          </a:p>
          <a:p>
            <a:pPr marL="800100" lvl="2" indent="0">
              <a:buNone/>
            </a:pP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if</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 ) {</a:t>
            </a:r>
          </a:p>
          <a:p>
            <a:pPr marL="800100" lvl="2"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_(</a:t>
            </a:r>
            <a:r>
              <a:rPr lang="en-US" dirty="0" err="1">
                <a:solidFill>
                  <a:srgbClr val="000000"/>
                </a:solidFill>
                <a:highlight>
                  <a:srgbClr val="FFFFFF"/>
                </a:highlight>
                <a:latin typeface="Consolas"/>
              </a:rPr>
              <a:t>m_lock</a:t>
            </a:r>
            <a:r>
              <a:rPr lang="en-US" dirty="0">
                <a:solidFill>
                  <a:srgbClr val="000000"/>
                </a:solidFill>
                <a:highlight>
                  <a:srgbClr val="FFFFFF"/>
                </a:highlight>
                <a:latin typeface="Consolas"/>
              </a:rPr>
              <a:t>);</a:t>
            </a:r>
          </a:p>
          <a:p>
            <a:pPr marL="800100" lvl="2"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m_inst.reset</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p>
          <a:p>
            <a:pPr marL="800100" lvl="2"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a:t>
            </a:r>
          </a:p>
          <a:p>
            <a:pPr marL="800100" lvl="2" indent="0">
              <a:buNone/>
            </a:pPr>
            <a:r>
              <a:rPr lang="en-US" dirty="0" smtClean="0">
                <a:solidFill>
                  <a:srgbClr val="000000"/>
                </a:solidFill>
                <a:highlight>
                  <a:srgbClr val="FFFFFF"/>
                </a:highlight>
                <a:latin typeface="Consolas"/>
              </a:rPr>
              <a:t>}</a:t>
            </a:r>
          </a:p>
          <a:p>
            <a:pPr marL="0" indent="0">
              <a:buNone/>
            </a:pPr>
            <a:endParaRPr lang="en-US" dirty="0" smtClean="0">
              <a:solidFill>
                <a:srgbClr val="000000"/>
              </a:solidFill>
              <a:highlight>
                <a:srgbClr val="FFFFFF"/>
              </a:highlight>
              <a:latin typeface="Consolas"/>
            </a:endParaRPr>
          </a:p>
          <a:p>
            <a:pPr marL="0" indent="0">
              <a:buNone/>
            </a:pPr>
            <a:r>
              <a:rPr lang="en-US" dirty="0" smtClean="0">
                <a:solidFill>
                  <a:srgbClr val="000000"/>
                </a:solidFill>
                <a:highlight>
                  <a:srgbClr val="FFFFFF"/>
                </a:highlight>
              </a:rPr>
              <a:t>Still data race! </a:t>
            </a:r>
          </a:p>
          <a:p>
            <a:pPr marL="0" indent="0">
              <a:buNone/>
            </a:pPr>
            <a:r>
              <a:rPr lang="en-US" dirty="0" smtClean="0">
                <a:solidFill>
                  <a:srgbClr val="000000"/>
                </a:solidFill>
                <a:highlight>
                  <a:srgbClr val="FFFFFF"/>
                </a:highlight>
              </a:rPr>
              <a:t>If two threads check for </a:t>
            </a:r>
            <a:r>
              <a:rPr lang="en-US" dirty="0" smtClean="0">
                <a:solidFill>
                  <a:srgbClr val="000000"/>
                </a:solidFill>
                <a:highlight>
                  <a:srgbClr val="FFFFFF"/>
                </a:highlight>
                <a:latin typeface="Courier New" pitchFamily="49" charset="0"/>
                <a:cs typeface="Courier New" pitchFamily="49" charset="0"/>
              </a:rPr>
              <a:t>!</a:t>
            </a:r>
            <a:r>
              <a:rPr lang="en-US" dirty="0" err="1" smtClean="0">
                <a:solidFill>
                  <a:srgbClr val="000000"/>
                </a:solidFill>
                <a:highlight>
                  <a:srgbClr val="FFFFFF"/>
                </a:highlight>
                <a:latin typeface="Courier New" pitchFamily="49" charset="0"/>
                <a:cs typeface="Courier New" pitchFamily="49" charset="0"/>
              </a:rPr>
              <a:t>m_inst</a:t>
            </a:r>
            <a:r>
              <a:rPr lang="en-US" dirty="0">
                <a:solidFill>
                  <a:srgbClr val="000000"/>
                </a:solidFill>
                <a:highlight>
                  <a:srgbClr val="FFFFFF"/>
                </a:highlight>
              </a:rPr>
              <a:t> </a:t>
            </a:r>
            <a:r>
              <a:rPr lang="en-US" dirty="0" smtClean="0">
                <a:solidFill>
                  <a:srgbClr val="000000"/>
                </a:solidFill>
                <a:highlight>
                  <a:srgbClr val="FFFFFF"/>
                </a:highlight>
              </a:rPr>
              <a:t>and both succeed. One acquires lock, seconds is blocked. The first initializes and releases lock. The second gets unblocked and initializes again.</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Tree>
    <p:extLst>
      <p:ext uri="{BB962C8B-B14F-4D97-AF65-F5344CB8AC3E}">
        <p14:creationId xmlns:p14="http://schemas.microsoft.com/office/powerpoint/2010/main" val="278325811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Double checked locking #1</a:t>
            </a:r>
            <a:endParaRPr lang="en-US" dirty="0"/>
          </a:p>
        </p:txBody>
      </p:sp>
      <p:sp>
        <p:nvSpPr>
          <p:cNvPr id="3" name="Content Placeholder 2"/>
          <p:cNvSpPr>
            <a:spLocks noGrp="1"/>
          </p:cNvSpPr>
          <p:nvPr>
            <p:ph idx="1"/>
          </p:nvPr>
        </p:nvSpPr>
        <p:spPr/>
        <p:txBody>
          <a:bodyPr>
            <a:normAutofit fontScale="62500" lnSpcReduction="20000"/>
          </a:bodyPr>
          <a:lstStyle/>
          <a:p>
            <a:pPr marL="400050" lvl="1" indent="0">
              <a:buNone/>
            </a:pP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&amp; instance()</a:t>
            </a:r>
          </a:p>
          <a:p>
            <a:pPr marL="400050" lvl="1" indent="0">
              <a:buNone/>
            </a:pPr>
            <a:r>
              <a:rPr lang="en-US" dirty="0">
                <a:solidFill>
                  <a:srgbClr val="000000"/>
                </a:solidFill>
                <a:highlight>
                  <a:srgbClr val="FFFFFF"/>
                </a:highlight>
                <a:latin typeface="Consolas"/>
              </a:rPr>
              <a:t>{</a:t>
            </a:r>
          </a:p>
          <a:p>
            <a:pPr marL="400050" lvl="1"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if</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 ) {</a:t>
            </a:r>
          </a:p>
          <a:p>
            <a:pPr marL="400050" lvl="1"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_(</a:t>
            </a:r>
            <a:r>
              <a:rPr lang="en-US" dirty="0" err="1">
                <a:solidFill>
                  <a:srgbClr val="000000"/>
                </a:solidFill>
                <a:highlight>
                  <a:srgbClr val="FFFFFF"/>
                </a:highlight>
                <a:latin typeface="Consolas"/>
              </a:rPr>
              <a:t>m_lock</a:t>
            </a:r>
            <a:r>
              <a:rPr lang="en-US" dirty="0">
                <a:solidFill>
                  <a:srgbClr val="000000"/>
                </a:solidFill>
                <a:highlight>
                  <a:srgbClr val="FFFFFF"/>
                </a:highlight>
                <a:latin typeface="Consolas"/>
              </a:rPr>
              <a:t>);</a:t>
            </a:r>
          </a:p>
          <a:p>
            <a:pPr marL="400050" lvl="1" indent="0">
              <a:buNone/>
            </a:pPr>
            <a:r>
              <a:rPr lang="en-US" dirty="0" smtClean="0">
                <a:solidFill>
                  <a:srgbClr val="0000FF"/>
                </a:solidFill>
                <a:highlight>
                  <a:srgbClr val="FFFFFF"/>
                </a:highlight>
                <a:latin typeface="Consolas"/>
              </a:rPr>
              <a:t>      if</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 )</a:t>
            </a:r>
          </a:p>
          <a:p>
            <a:pPr marL="400050" lvl="1"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m_inst.reset</a:t>
            </a:r>
            <a:r>
              <a:rPr lang="en-US" dirty="0" smtClean="0">
                <a:solidFill>
                  <a:srgbClr val="000000"/>
                </a:solidFill>
                <a:highlight>
                  <a:srgbClr val="FFFFFF"/>
                </a:highlight>
                <a:latin typeface="Consolas"/>
              </a:rPr>
              <a:t>(</a:t>
            </a:r>
            <a:r>
              <a:rPr lang="en-US" dirty="0" smtClean="0">
                <a:solidFill>
                  <a:srgbClr val="0000FF"/>
                </a:solidFill>
                <a:highlight>
                  <a:srgbClr val="FFFFFF"/>
                </a:highlight>
                <a:latin typeface="Consolas"/>
              </a:rPr>
              <a:t>new</a:t>
            </a:r>
            <a:r>
              <a:rPr lang="en-US" dirty="0" smtClean="0">
                <a:solidFill>
                  <a:srgbClr val="000000"/>
                </a:solidFill>
                <a:highlight>
                  <a:srgbClr val="FFFFFF"/>
                </a:highlight>
                <a:latin typeface="Consolas"/>
              </a:rPr>
              <a:t> </a:t>
            </a:r>
            <a:r>
              <a:rPr lang="en-US" dirty="0" smtClean="0">
                <a:solidFill>
                  <a:srgbClr val="2B91AF"/>
                </a:solidFill>
                <a:highlight>
                  <a:srgbClr val="FFFFFF"/>
                </a:highlight>
                <a:latin typeface="Consolas"/>
              </a:rPr>
              <a:t>singleton</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400050" lvl="1" indent="0">
              <a:buNone/>
            </a:pPr>
            <a:r>
              <a:rPr lang="en-US" dirty="0">
                <a:solidFill>
                  <a:srgbClr val="000000"/>
                </a:solidFill>
                <a:highlight>
                  <a:srgbClr val="FFFFFF"/>
                </a:highlight>
                <a:latin typeface="Consolas"/>
              </a:rPr>
              <a:t>   }</a:t>
            </a:r>
          </a:p>
          <a:p>
            <a:pPr marL="400050" lvl="1"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a:t>
            </a:r>
          </a:p>
          <a:p>
            <a:pPr marL="400050" lvl="1" indent="0">
              <a:buNone/>
            </a:pPr>
            <a:r>
              <a:rPr lang="en-US" dirty="0" smtClean="0">
                <a:solidFill>
                  <a:srgbClr val="000000"/>
                </a:solidFill>
                <a:highlight>
                  <a:srgbClr val="FFFFFF"/>
                </a:highlight>
                <a:latin typeface="Consolas"/>
              </a:rPr>
              <a:t>}</a:t>
            </a:r>
          </a:p>
          <a:p>
            <a:pPr marL="0" indent="0">
              <a:buNone/>
            </a:pPr>
            <a:endParaRPr lang="en-US" dirty="0" smtClean="0">
              <a:solidFill>
                <a:srgbClr val="000000"/>
              </a:solidFill>
              <a:highlight>
                <a:srgbClr val="FFFFFF"/>
              </a:highlight>
              <a:latin typeface="Consolas"/>
            </a:endParaRPr>
          </a:p>
          <a:p>
            <a:pPr marL="0" indent="0">
              <a:buNone/>
            </a:pPr>
            <a:r>
              <a:rPr lang="en-US" dirty="0"/>
              <a:t>The first thread that acquires the lock will </a:t>
            </a:r>
            <a:r>
              <a:rPr lang="en-US" dirty="0" smtClean="0"/>
              <a:t>construct singleton </a:t>
            </a:r>
            <a:r>
              <a:rPr lang="en-US" dirty="0"/>
              <a:t>and assign the pointer to </a:t>
            </a:r>
            <a:r>
              <a:rPr lang="en-US" dirty="0" smtClean="0"/>
              <a:t>instance. All </a:t>
            </a:r>
            <a:r>
              <a:rPr lang="en-US" dirty="0"/>
              <a:t>threads that subsequently call </a:t>
            </a:r>
            <a:r>
              <a:rPr lang="en-US" dirty="0" smtClean="0"/>
              <a:t>instance </a:t>
            </a:r>
            <a:r>
              <a:rPr lang="en-US" dirty="0"/>
              <a:t>will </a:t>
            </a:r>
            <a:r>
              <a:rPr lang="en-US" dirty="0" smtClean="0"/>
              <a:t>find instance </a:t>
            </a:r>
            <a:r>
              <a:rPr lang="en-US" dirty="0"/>
              <a:t>!= 0 and skip the initialization step</a:t>
            </a:r>
            <a:r>
              <a:rPr lang="en-US" dirty="0" smtClean="0"/>
              <a:t>.</a:t>
            </a:r>
          </a:p>
          <a:p>
            <a:r>
              <a:rPr lang="en-US" dirty="0" smtClean="0"/>
              <a:t>This approach works only if pointer operations are atomic on given platform.</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Tree>
    <p:extLst>
      <p:ext uri="{BB962C8B-B14F-4D97-AF65-F5344CB8AC3E}">
        <p14:creationId xmlns:p14="http://schemas.microsoft.com/office/powerpoint/2010/main" val="331114147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std</a:t>
            </a:r>
            <a:r>
              <a:rPr lang="en-US" dirty="0" smtClean="0"/>
              <a:t>::</a:t>
            </a:r>
            <a:r>
              <a:rPr lang="en-US" dirty="0" err="1" smtClean="0"/>
              <a:t>call_once</a:t>
            </a:r>
            <a:endParaRPr lang="en-US" dirty="0"/>
          </a:p>
        </p:txBody>
      </p:sp>
      <p:sp>
        <p:nvSpPr>
          <p:cNvPr id="4" name="Content Placeholder 3"/>
          <p:cNvSpPr>
            <a:spLocks noGrp="1"/>
          </p:cNvSpPr>
          <p:nvPr>
            <p:ph sz="half" idx="1"/>
          </p:nvPr>
        </p:nvSpPr>
        <p:spPr/>
        <p:txBody>
          <a:bodyPr>
            <a:normAutofit/>
          </a:bodyPr>
          <a:lstStyle/>
          <a:p>
            <a:pPr marL="0" indent="0">
              <a:buNone/>
            </a:pP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unique_ptr</a:t>
            </a:r>
            <a:r>
              <a:rPr lang="en-US" dirty="0">
                <a:solidFill>
                  <a:srgbClr val="000000"/>
                </a:solidFill>
                <a:highlight>
                  <a:srgbClr val="FFFFFF"/>
                </a:highlight>
                <a:latin typeface="Consolas"/>
              </a:rPr>
              <a:t>&lt;</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once_flag</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m_flag</a:t>
            </a:r>
            <a:r>
              <a:rPr lang="en-US" dirty="0">
                <a:solidFill>
                  <a:srgbClr val="000000"/>
                </a:solidFill>
                <a:highlight>
                  <a:srgbClr val="FFFFFF"/>
                </a:highlight>
                <a:latin typeface="Consolas"/>
              </a:rPr>
              <a:t>;</a:t>
            </a:r>
          </a:p>
          <a:p>
            <a:pPr marL="0" indent="0">
              <a:buNone/>
            </a:pPr>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&amp; instance()</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call_once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m_flag</a:t>
            </a:r>
            <a:r>
              <a:rPr lang="en-US" dirty="0">
                <a:solidFill>
                  <a:srgbClr val="000000"/>
                </a:solidFill>
                <a:highlight>
                  <a:srgbClr val="FFFFFF"/>
                </a:highlight>
                <a:latin typeface="Consolas"/>
              </a:rPr>
              <a:t>, []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m_inst.reset</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new</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singleton</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m_inst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method()</a:t>
            </a:r>
          </a:p>
          <a:p>
            <a:pPr marL="0" indent="0">
              <a:buNone/>
            </a:pPr>
            <a:r>
              <a:rPr lang="en-US" dirty="0">
                <a:solidFill>
                  <a:srgbClr val="000000"/>
                </a:solidFill>
                <a:highlight>
                  <a:srgbClr val="FFFFFF"/>
                </a:highlight>
                <a:latin typeface="Consolas"/>
              </a:rPr>
              <a:t>   { }</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a:bodyPr>
          <a:lstStyle/>
          <a:p>
            <a:r>
              <a:rPr lang="en-US" dirty="0" err="1">
                <a:latin typeface="Courier New" pitchFamily="49" charset="0"/>
                <a:cs typeface="Courier New" pitchFamily="49" charset="0"/>
              </a:rPr>
              <a:t>std</a:t>
            </a:r>
            <a:r>
              <a:rPr lang="en-US" dirty="0">
                <a:latin typeface="Courier New" pitchFamily="49" charset="0"/>
                <a:cs typeface="Courier New" pitchFamily="49" charset="0"/>
              </a:rPr>
              <a:t>::</a:t>
            </a:r>
            <a:r>
              <a:rPr lang="en-US" dirty="0" err="1">
                <a:latin typeface="Courier New" pitchFamily="49" charset="0"/>
                <a:cs typeface="Courier New" pitchFamily="49" charset="0"/>
              </a:rPr>
              <a:t>call_once</a:t>
            </a:r>
            <a:r>
              <a:rPr lang="en-US" dirty="0">
                <a:latin typeface="Courier New" pitchFamily="49" charset="0"/>
                <a:cs typeface="Courier New" pitchFamily="49" charset="0"/>
              </a:rPr>
              <a:t> </a:t>
            </a:r>
            <a:r>
              <a:rPr lang="en-US" dirty="0" smtClean="0"/>
              <a:t>and </a:t>
            </a:r>
            <a:r>
              <a:rPr lang="en-US" dirty="0" err="1">
                <a:latin typeface="Courier New" pitchFamily="49" charset="0"/>
                <a:cs typeface="Courier New" pitchFamily="49" charset="0"/>
              </a:rPr>
              <a:t>std</a:t>
            </a:r>
            <a:r>
              <a:rPr lang="en-US" dirty="0">
                <a:latin typeface="Courier New" pitchFamily="49" charset="0"/>
                <a:cs typeface="Courier New" pitchFamily="49" charset="0"/>
              </a:rPr>
              <a:t>::</a:t>
            </a:r>
            <a:r>
              <a:rPr lang="en-US" dirty="0" err="1">
                <a:latin typeface="Courier New" pitchFamily="49" charset="0"/>
                <a:cs typeface="Courier New" pitchFamily="49" charset="0"/>
              </a:rPr>
              <a:t>once_flag</a:t>
            </a:r>
            <a:r>
              <a:rPr lang="en-US" dirty="0">
                <a:latin typeface="Courier New" pitchFamily="49" charset="0"/>
                <a:cs typeface="Courier New" pitchFamily="49" charset="0"/>
              </a:rPr>
              <a:t> </a:t>
            </a:r>
            <a:r>
              <a:rPr lang="en-US" dirty="0" smtClean="0"/>
              <a:t>ensure </a:t>
            </a:r>
            <a:r>
              <a:rPr lang="en-US" dirty="0"/>
              <a:t>that a </a:t>
            </a:r>
            <a:r>
              <a:rPr lang="en-US" dirty="0" smtClean="0"/>
              <a:t>function </a:t>
            </a:r>
            <a:r>
              <a:rPr lang="en-US" dirty="0"/>
              <a:t>is called exactly once, even if multiple threads invoke the call concurrently</a:t>
            </a:r>
            <a:r>
              <a:rPr lang="en-US" dirty="0" smtClean="0"/>
              <a:t>.</a:t>
            </a:r>
          </a:p>
          <a:p>
            <a:r>
              <a:rPr lang="en-US" dirty="0" smtClean="0"/>
              <a:t>Ensures </a:t>
            </a:r>
            <a:r>
              <a:rPr lang="en-US" i="1" dirty="0" smtClean="0"/>
              <a:t>happens-before</a:t>
            </a:r>
            <a:r>
              <a:rPr lang="en-US" dirty="0" smtClean="0"/>
              <a:t> relationship.</a:t>
            </a:r>
            <a:endParaRPr lang="en-US" dirty="0"/>
          </a:p>
        </p:txBody>
      </p:sp>
      <p:sp>
        <p:nvSpPr>
          <p:cNvPr id="6" name="Rectangle 5"/>
          <p:cNvSpPr/>
          <p:nvPr/>
        </p:nvSpPr>
        <p:spPr>
          <a:xfrm>
            <a:off x="2209800" y="5181600"/>
            <a:ext cx="1143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Thread 1</a:t>
            </a:r>
            <a:endParaRPr lang="en-US" dirty="0"/>
          </a:p>
        </p:txBody>
      </p:sp>
      <p:cxnSp>
        <p:nvCxnSpPr>
          <p:cNvPr id="9" name="Straight Connector 8"/>
          <p:cNvCxnSpPr>
            <a:stCxn id="6" idx="3"/>
          </p:cNvCxnSpPr>
          <p:nvPr/>
        </p:nvCxnSpPr>
        <p:spPr>
          <a:xfrm>
            <a:off x="3352800" y="5334000"/>
            <a:ext cx="54864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2209800" y="5638800"/>
            <a:ext cx="1143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Thread 2</a:t>
            </a:r>
            <a:endParaRPr lang="en-US" dirty="0"/>
          </a:p>
        </p:txBody>
      </p:sp>
      <p:cxnSp>
        <p:nvCxnSpPr>
          <p:cNvPr id="11" name="Straight Connector 10"/>
          <p:cNvCxnSpPr>
            <a:stCxn id="10" idx="3"/>
          </p:cNvCxnSpPr>
          <p:nvPr/>
        </p:nvCxnSpPr>
        <p:spPr>
          <a:xfrm>
            <a:off x="3352800" y="5791200"/>
            <a:ext cx="54864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209800" y="6096000"/>
            <a:ext cx="1143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Thread 3</a:t>
            </a:r>
            <a:endParaRPr lang="en-US" dirty="0"/>
          </a:p>
        </p:txBody>
      </p:sp>
      <p:cxnSp>
        <p:nvCxnSpPr>
          <p:cNvPr id="13" name="Straight Connector 12"/>
          <p:cNvCxnSpPr>
            <a:stCxn id="12" idx="3"/>
          </p:cNvCxnSpPr>
          <p:nvPr/>
        </p:nvCxnSpPr>
        <p:spPr>
          <a:xfrm>
            <a:off x="3352800" y="6248400"/>
            <a:ext cx="54864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352800" y="5029200"/>
            <a:ext cx="4800600" cy="276999"/>
          </a:xfrm>
          <a:prstGeom prst="rect">
            <a:avLst/>
          </a:prstGeom>
          <a:noFill/>
        </p:spPr>
        <p:txBody>
          <a:bodyPr wrap="square" rtlCol="0">
            <a:spAutoFit/>
          </a:bodyPr>
          <a:lstStyle/>
          <a:p>
            <a:r>
              <a:rPr lang="en-US" sz="1200" dirty="0" err="1"/>
              <a:t>c</a:t>
            </a:r>
            <a:r>
              <a:rPr lang="en-US" sz="1200" dirty="0" err="1" smtClean="0"/>
              <a:t>all_once</a:t>
            </a:r>
            <a:r>
              <a:rPr lang="en-US" sz="1200" dirty="0" smtClean="0"/>
              <a:t> </a:t>
            </a:r>
            <a:r>
              <a:rPr lang="en-US" sz="1200" dirty="0" smtClean="0">
                <a:sym typeface="Wingdings" pitchFamily="2" charset="2"/>
              </a:rPr>
              <a:t></a:t>
            </a:r>
            <a:r>
              <a:rPr lang="en-US" sz="1200" dirty="0" smtClean="0"/>
              <a:t> </a:t>
            </a:r>
            <a:r>
              <a:rPr lang="en-US" sz="1200" dirty="0" err="1" smtClean="0"/>
              <a:t>func</a:t>
            </a:r>
            <a:r>
              <a:rPr lang="en-US" sz="1200" dirty="0" smtClean="0"/>
              <a:t> </a:t>
            </a:r>
            <a:r>
              <a:rPr lang="en-US" sz="1200" dirty="0">
                <a:sym typeface="Wingdings" pitchFamily="2" charset="2"/>
              </a:rPr>
              <a:t></a:t>
            </a:r>
            <a:r>
              <a:rPr lang="en-US" sz="1200" dirty="0" smtClean="0"/>
              <a:t> </a:t>
            </a:r>
            <a:r>
              <a:rPr lang="en-US" sz="1200" dirty="0" err="1" smtClean="0"/>
              <a:t>func</a:t>
            </a:r>
            <a:r>
              <a:rPr lang="en-US" sz="1200" dirty="0"/>
              <a:t> </a:t>
            </a:r>
            <a:r>
              <a:rPr lang="en-US" sz="1200" dirty="0" smtClean="0"/>
              <a:t>returns </a:t>
            </a:r>
            <a:r>
              <a:rPr lang="en-US" sz="1200" dirty="0">
                <a:sym typeface="Wingdings" pitchFamily="2" charset="2"/>
              </a:rPr>
              <a:t></a:t>
            </a:r>
            <a:r>
              <a:rPr lang="en-US" sz="1200" dirty="0" smtClean="0"/>
              <a:t> </a:t>
            </a:r>
            <a:r>
              <a:rPr lang="en-US" sz="1200" dirty="0" err="1" smtClean="0"/>
              <a:t>call_once</a:t>
            </a:r>
            <a:r>
              <a:rPr lang="en-US" sz="1200" dirty="0" smtClean="0"/>
              <a:t> returns</a:t>
            </a:r>
            <a:endParaRPr lang="en-US" sz="1200" dirty="0"/>
          </a:p>
        </p:txBody>
      </p:sp>
      <p:sp>
        <p:nvSpPr>
          <p:cNvPr id="15" name="TextBox 14"/>
          <p:cNvSpPr txBox="1"/>
          <p:nvPr/>
        </p:nvSpPr>
        <p:spPr>
          <a:xfrm>
            <a:off x="3352800" y="5486400"/>
            <a:ext cx="4800600" cy="276999"/>
          </a:xfrm>
          <a:prstGeom prst="rect">
            <a:avLst/>
          </a:prstGeom>
          <a:noFill/>
        </p:spPr>
        <p:txBody>
          <a:bodyPr wrap="square" rtlCol="0">
            <a:spAutoFit/>
          </a:bodyPr>
          <a:lstStyle/>
          <a:p>
            <a:r>
              <a:rPr lang="en-US" sz="1200" dirty="0" err="1"/>
              <a:t>c</a:t>
            </a:r>
            <a:r>
              <a:rPr lang="en-US" sz="1200" dirty="0" err="1" smtClean="0"/>
              <a:t>all_once</a:t>
            </a:r>
            <a:r>
              <a:rPr lang="en-US" sz="1200" dirty="0" smtClean="0"/>
              <a:t> </a:t>
            </a:r>
            <a:r>
              <a:rPr lang="en-US" sz="1200" dirty="0">
                <a:sym typeface="Wingdings" pitchFamily="2" charset="2"/>
              </a:rPr>
              <a:t></a:t>
            </a:r>
            <a:r>
              <a:rPr lang="en-US" sz="1200" dirty="0" smtClean="0"/>
              <a:t> blocks                                                             </a:t>
            </a:r>
            <a:r>
              <a:rPr lang="en-US" sz="1200" dirty="0" smtClean="0">
                <a:sym typeface="Wingdings" pitchFamily="2" charset="2"/>
              </a:rPr>
              <a:t></a:t>
            </a:r>
            <a:r>
              <a:rPr lang="en-US" sz="1200" dirty="0" smtClean="0"/>
              <a:t> </a:t>
            </a:r>
            <a:r>
              <a:rPr lang="en-US" sz="1200" dirty="0" err="1" smtClean="0"/>
              <a:t>call_once</a:t>
            </a:r>
            <a:r>
              <a:rPr lang="en-US" sz="1200" dirty="0" smtClean="0"/>
              <a:t> returns</a:t>
            </a:r>
            <a:endParaRPr lang="en-US" sz="1200" dirty="0"/>
          </a:p>
        </p:txBody>
      </p:sp>
      <p:sp>
        <p:nvSpPr>
          <p:cNvPr id="16" name="TextBox 15"/>
          <p:cNvSpPr txBox="1"/>
          <p:nvPr/>
        </p:nvSpPr>
        <p:spPr>
          <a:xfrm>
            <a:off x="3390900" y="5957500"/>
            <a:ext cx="5600700" cy="276999"/>
          </a:xfrm>
          <a:prstGeom prst="rect">
            <a:avLst/>
          </a:prstGeom>
          <a:noFill/>
        </p:spPr>
        <p:txBody>
          <a:bodyPr wrap="square" rtlCol="0">
            <a:spAutoFit/>
          </a:bodyPr>
          <a:lstStyle/>
          <a:p>
            <a:r>
              <a:rPr lang="en-US" sz="1200" dirty="0" smtClean="0"/>
              <a:t>                                                                                                </a:t>
            </a:r>
            <a:r>
              <a:rPr lang="en-US" sz="1200" dirty="0" err="1" smtClean="0"/>
              <a:t>call_once</a:t>
            </a:r>
            <a:r>
              <a:rPr lang="en-US" sz="1200" dirty="0" smtClean="0"/>
              <a:t> </a:t>
            </a:r>
            <a:r>
              <a:rPr lang="en-US" sz="1200" dirty="0">
                <a:sym typeface="Wingdings" pitchFamily="2" charset="2"/>
              </a:rPr>
              <a:t></a:t>
            </a:r>
            <a:r>
              <a:rPr lang="en-US" sz="1200" dirty="0" smtClean="0"/>
              <a:t> </a:t>
            </a:r>
            <a:r>
              <a:rPr lang="en-US" sz="1200" dirty="0" err="1" smtClean="0"/>
              <a:t>call_once</a:t>
            </a:r>
            <a:r>
              <a:rPr lang="en-US" sz="1200" dirty="0" smtClean="0"/>
              <a:t> returns</a:t>
            </a:r>
            <a:endParaRPr lang="en-US" sz="1200"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82</a:t>
            </a:fld>
            <a:endParaRPr lang="en-US"/>
          </a:p>
        </p:txBody>
      </p:sp>
    </p:spTree>
    <p:extLst>
      <p:ext uri="{BB962C8B-B14F-4D97-AF65-F5344CB8AC3E}">
        <p14:creationId xmlns:p14="http://schemas.microsoft.com/office/powerpoint/2010/main" val="331074623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Function-local static storage</a:t>
            </a:r>
            <a:endParaRPr lang="en-US" dirty="0"/>
          </a:p>
        </p:txBody>
      </p:sp>
      <p:sp>
        <p:nvSpPr>
          <p:cNvPr id="3" name="Content Placeholder 2"/>
          <p:cNvSpPr>
            <a:spLocks noGrp="1"/>
          </p:cNvSpPr>
          <p:nvPr>
            <p:ph sz="half" idx="1"/>
          </p:nvPr>
        </p:nvSpPr>
        <p:spPr/>
        <p:txBody>
          <a:bodyPr>
            <a:normAutofit/>
          </a:bodyPr>
          <a:lstStyle/>
          <a:p>
            <a:pPr marL="0" indent="0">
              <a:buNone/>
            </a:pPr>
            <a:r>
              <a:rPr lang="en-US" sz="1600" dirty="0">
                <a:solidFill>
                  <a:srgbClr val="0000FF"/>
                </a:solidFill>
                <a:highlight>
                  <a:srgbClr val="FFFFFF"/>
                </a:highlight>
                <a:latin typeface="Consolas"/>
              </a:rPr>
              <a:t>class</a:t>
            </a:r>
            <a:r>
              <a:rPr lang="en-US" sz="1600" dirty="0">
                <a:solidFill>
                  <a:srgbClr val="000000"/>
                </a:solidFill>
                <a:highlight>
                  <a:srgbClr val="FFFFFF"/>
                </a:highlight>
                <a:latin typeface="Consolas"/>
              </a:rPr>
              <a:t> </a:t>
            </a:r>
            <a:r>
              <a:rPr lang="en-US" sz="1600" dirty="0">
                <a:solidFill>
                  <a:srgbClr val="2B91AF"/>
                </a:solidFill>
                <a:highlight>
                  <a:srgbClr val="FFFFFF"/>
                </a:highlight>
                <a:latin typeface="Consolas"/>
              </a:rPr>
              <a:t>singleton</a:t>
            </a:r>
            <a:endParaRPr lang="en-US" sz="1600" dirty="0">
              <a:solidFill>
                <a:srgbClr val="000000"/>
              </a:solidFill>
              <a:highlight>
                <a:srgbClr val="FFFFFF"/>
              </a:highlight>
              <a:latin typeface="Consolas"/>
            </a:endParaRPr>
          </a:p>
          <a:p>
            <a:pPr marL="0" indent="0">
              <a:buNone/>
            </a:pPr>
            <a:r>
              <a:rPr lang="en-US" sz="1600" dirty="0">
                <a:solidFill>
                  <a:srgbClr val="000000"/>
                </a:solidFill>
                <a:highlight>
                  <a:srgbClr val="FFFFFF"/>
                </a:highlight>
                <a:latin typeface="Consolas"/>
              </a:rPr>
              <a:t>{</a:t>
            </a:r>
          </a:p>
          <a:p>
            <a:pPr marL="0" indent="0">
              <a:buNone/>
            </a:pPr>
            <a:r>
              <a:rPr lang="en-US" sz="1600" dirty="0">
                <a:solidFill>
                  <a:srgbClr val="0000FF"/>
                </a:solidFill>
                <a:highlight>
                  <a:srgbClr val="FFFFFF"/>
                </a:highlight>
                <a:latin typeface="Consolas"/>
              </a:rPr>
              <a:t>public</a:t>
            </a:r>
            <a:r>
              <a:rPr lang="en-US" sz="1600" dirty="0">
                <a:solidFill>
                  <a:srgbClr val="000000"/>
                </a:solidFill>
                <a:highlight>
                  <a:srgbClr val="FFFFFF"/>
                </a:highlight>
                <a:latin typeface="Consolas"/>
              </a:rPr>
              <a:t>:</a:t>
            </a:r>
          </a:p>
          <a:p>
            <a:pPr marL="0" indent="0">
              <a:buNone/>
            </a:pPr>
            <a:r>
              <a:rPr lang="en-US" sz="1600" dirty="0">
                <a:solidFill>
                  <a:srgbClr val="000000"/>
                </a:solidFill>
                <a:highlight>
                  <a:srgbClr val="FFFFFF"/>
                </a:highlight>
                <a:latin typeface="Consolas"/>
              </a:rPr>
              <a:t>   </a:t>
            </a:r>
            <a:r>
              <a:rPr lang="en-US" sz="1600" dirty="0">
                <a:solidFill>
                  <a:srgbClr val="0000FF"/>
                </a:solidFill>
                <a:highlight>
                  <a:srgbClr val="FFFFFF"/>
                </a:highlight>
                <a:latin typeface="Consolas"/>
              </a:rPr>
              <a:t>static</a:t>
            </a:r>
            <a:r>
              <a:rPr lang="en-US" sz="1600" dirty="0">
                <a:solidFill>
                  <a:srgbClr val="000000"/>
                </a:solidFill>
                <a:highlight>
                  <a:srgbClr val="FFFFFF"/>
                </a:highlight>
                <a:latin typeface="Consolas"/>
              </a:rPr>
              <a:t> </a:t>
            </a:r>
            <a:r>
              <a:rPr lang="en-US" sz="1600" dirty="0">
                <a:solidFill>
                  <a:srgbClr val="2B91AF"/>
                </a:solidFill>
                <a:highlight>
                  <a:srgbClr val="FFFFFF"/>
                </a:highlight>
                <a:latin typeface="Consolas"/>
              </a:rPr>
              <a:t>singleton</a:t>
            </a:r>
            <a:r>
              <a:rPr lang="en-US" sz="1600" dirty="0">
                <a:solidFill>
                  <a:srgbClr val="000000"/>
                </a:solidFill>
                <a:highlight>
                  <a:srgbClr val="FFFFFF"/>
                </a:highlight>
                <a:latin typeface="Consolas"/>
              </a:rPr>
              <a:t>&amp; instance()</a:t>
            </a:r>
          </a:p>
          <a:p>
            <a:pPr marL="0" indent="0">
              <a:buNone/>
            </a:pPr>
            <a:r>
              <a:rPr lang="en-US" sz="1600" dirty="0">
                <a:solidFill>
                  <a:srgbClr val="000000"/>
                </a:solidFill>
                <a:highlight>
                  <a:srgbClr val="FFFFFF"/>
                </a:highlight>
                <a:latin typeface="Consolas"/>
              </a:rPr>
              <a:t>   {</a:t>
            </a:r>
          </a:p>
          <a:p>
            <a:pPr marL="0" indent="0">
              <a:buNone/>
            </a:pPr>
            <a:r>
              <a:rPr lang="en-US" sz="1600" dirty="0">
                <a:solidFill>
                  <a:srgbClr val="000000"/>
                </a:solidFill>
                <a:highlight>
                  <a:srgbClr val="FFFFFF"/>
                </a:highlight>
                <a:latin typeface="Consolas"/>
              </a:rPr>
              <a:t>      </a:t>
            </a:r>
            <a:r>
              <a:rPr lang="en-US" sz="1600" dirty="0">
                <a:solidFill>
                  <a:srgbClr val="0000FF"/>
                </a:solidFill>
                <a:highlight>
                  <a:srgbClr val="FFFFFF"/>
                </a:highlight>
                <a:latin typeface="Consolas"/>
              </a:rPr>
              <a:t>static</a:t>
            </a:r>
            <a:r>
              <a:rPr lang="en-US" sz="1600" dirty="0">
                <a:solidFill>
                  <a:srgbClr val="000000"/>
                </a:solidFill>
                <a:highlight>
                  <a:srgbClr val="FFFFFF"/>
                </a:highlight>
                <a:latin typeface="Consolas"/>
              </a:rPr>
              <a:t> </a:t>
            </a:r>
            <a:r>
              <a:rPr lang="en-US" sz="1600" dirty="0">
                <a:solidFill>
                  <a:srgbClr val="2B91AF"/>
                </a:solidFill>
                <a:highlight>
                  <a:srgbClr val="FFFFFF"/>
                </a:highlight>
                <a:latin typeface="Consolas"/>
              </a:rPr>
              <a:t>singleton</a:t>
            </a:r>
            <a:r>
              <a:rPr lang="en-US" sz="1600" dirty="0">
                <a:solidFill>
                  <a:srgbClr val="000000"/>
                </a:solidFill>
                <a:highlight>
                  <a:srgbClr val="FFFFFF"/>
                </a:highlight>
                <a:latin typeface="Consolas"/>
              </a:rPr>
              <a:t> </a:t>
            </a:r>
            <a:r>
              <a:rPr lang="en-US" sz="1600" dirty="0" err="1">
                <a:solidFill>
                  <a:srgbClr val="000000"/>
                </a:solidFill>
                <a:highlight>
                  <a:srgbClr val="FFFFFF"/>
                </a:highlight>
                <a:latin typeface="Consolas"/>
              </a:rPr>
              <a:t>inst</a:t>
            </a:r>
            <a:r>
              <a:rPr lang="en-US" sz="1600" dirty="0">
                <a:solidFill>
                  <a:srgbClr val="000000"/>
                </a:solidFill>
                <a:highlight>
                  <a:srgbClr val="FFFFFF"/>
                </a:highlight>
                <a:latin typeface="Consolas"/>
              </a:rPr>
              <a:t>;</a:t>
            </a:r>
          </a:p>
          <a:p>
            <a:pPr marL="0" indent="0">
              <a:buNone/>
            </a:pPr>
            <a:r>
              <a:rPr lang="en-US" sz="1600" dirty="0">
                <a:solidFill>
                  <a:srgbClr val="000000"/>
                </a:solidFill>
                <a:highlight>
                  <a:srgbClr val="FFFFFF"/>
                </a:highlight>
                <a:latin typeface="Consolas"/>
              </a:rPr>
              <a:t>      </a:t>
            </a:r>
            <a:r>
              <a:rPr lang="en-US" sz="1600" dirty="0">
                <a:solidFill>
                  <a:srgbClr val="0000FF"/>
                </a:solidFill>
                <a:highlight>
                  <a:srgbClr val="FFFFFF"/>
                </a:highlight>
                <a:latin typeface="Consolas"/>
              </a:rPr>
              <a:t>return</a:t>
            </a:r>
            <a:r>
              <a:rPr lang="en-US" sz="1600" dirty="0">
                <a:solidFill>
                  <a:srgbClr val="000000"/>
                </a:solidFill>
                <a:highlight>
                  <a:srgbClr val="FFFFFF"/>
                </a:highlight>
                <a:latin typeface="Consolas"/>
              </a:rPr>
              <a:t> </a:t>
            </a:r>
            <a:r>
              <a:rPr lang="en-US" sz="1600" dirty="0" err="1">
                <a:solidFill>
                  <a:srgbClr val="000000"/>
                </a:solidFill>
                <a:highlight>
                  <a:srgbClr val="FFFFFF"/>
                </a:highlight>
                <a:latin typeface="Consolas"/>
              </a:rPr>
              <a:t>inst</a:t>
            </a:r>
            <a:r>
              <a:rPr lang="en-US" sz="1600" dirty="0">
                <a:solidFill>
                  <a:srgbClr val="000000"/>
                </a:solidFill>
                <a:highlight>
                  <a:srgbClr val="FFFFFF"/>
                </a:highlight>
                <a:latin typeface="Consolas"/>
              </a:rPr>
              <a:t>;</a:t>
            </a:r>
          </a:p>
          <a:p>
            <a:pPr marL="0" indent="0">
              <a:buNone/>
            </a:pPr>
            <a:r>
              <a:rPr lang="en-US" sz="1600" dirty="0">
                <a:solidFill>
                  <a:srgbClr val="000000"/>
                </a:solidFill>
                <a:highlight>
                  <a:srgbClr val="FFFFFF"/>
                </a:highlight>
                <a:latin typeface="Consolas"/>
              </a:rPr>
              <a:t>   }</a:t>
            </a:r>
          </a:p>
          <a:p>
            <a:pPr marL="0" indent="0">
              <a:buNone/>
            </a:pPr>
            <a:r>
              <a:rPr lang="en-US" sz="1600" dirty="0">
                <a:solidFill>
                  <a:srgbClr val="000000"/>
                </a:solidFill>
                <a:highlight>
                  <a:srgbClr val="FFFFFF"/>
                </a:highlight>
                <a:latin typeface="Consolas"/>
              </a:rPr>
              <a:t>   </a:t>
            </a:r>
            <a:r>
              <a:rPr lang="en-US" sz="1600" dirty="0">
                <a:solidFill>
                  <a:srgbClr val="0000FF"/>
                </a:solidFill>
                <a:highlight>
                  <a:srgbClr val="FFFFFF"/>
                </a:highlight>
                <a:latin typeface="Consolas"/>
              </a:rPr>
              <a:t>void</a:t>
            </a:r>
            <a:r>
              <a:rPr lang="en-US" sz="1600" dirty="0">
                <a:solidFill>
                  <a:srgbClr val="000000"/>
                </a:solidFill>
                <a:highlight>
                  <a:srgbClr val="FFFFFF"/>
                </a:highlight>
                <a:latin typeface="Consolas"/>
              </a:rPr>
              <a:t> method()</a:t>
            </a:r>
          </a:p>
          <a:p>
            <a:pPr marL="0" indent="0">
              <a:buNone/>
            </a:pPr>
            <a:r>
              <a:rPr lang="en-US" sz="1600" dirty="0">
                <a:solidFill>
                  <a:srgbClr val="000000"/>
                </a:solidFill>
                <a:highlight>
                  <a:srgbClr val="FFFFFF"/>
                </a:highlight>
                <a:latin typeface="Consolas"/>
              </a:rPr>
              <a:t>   { }</a:t>
            </a:r>
          </a:p>
          <a:p>
            <a:pPr marL="0" indent="0">
              <a:buNone/>
            </a:pPr>
            <a:r>
              <a:rPr lang="en-US" sz="1600" dirty="0">
                <a:solidFill>
                  <a:srgbClr val="000000"/>
                </a:solidFill>
                <a:highlight>
                  <a:srgbClr val="FFFFFF"/>
                </a:highlight>
                <a:latin typeface="Consolas"/>
              </a:rPr>
              <a:t>};</a:t>
            </a:r>
            <a:endParaRPr lang="en-US" sz="1600" dirty="0"/>
          </a:p>
        </p:txBody>
      </p:sp>
      <p:sp>
        <p:nvSpPr>
          <p:cNvPr id="4" name="Content Placeholder 3"/>
          <p:cNvSpPr>
            <a:spLocks noGrp="1"/>
          </p:cNvSpPr>
          <p:nvPr>
            <p:ph sz="half" idx="2"/>
          </p:nvPr>
        </p:nvSpPr>
        <p:spPr/>
        <p:txBody>
          <a:bodyPr>
            <a:normAutofit/>
          </a:bodyPr>
          <a:lstStyle/>
          <a:p>
            <a:r>
              <a:rPr lang="en-US" dirty="0" smtClean="0"/>
              <a:t>Before C++ 11 not thread safe</a:t>
            </a:r>
            <a:r>
              <a:rPr lang="en-US" dirty="0"/>
              <a:t>.</a:t>
            </a:r>
            <a:endParaRPr lang="en-US" dirty="0" smtClean="0"/>
          </a:p>
          <a:p>
            <a:r>
              <a:rPr lang="en-US" dirty="0" smtClean="0"/>
              <a:t>C++ 11 - initialization is implicitly synchronized, while not holding any lock (Mike Burrows algorithm)</a:t>
            </a:r>
          </a:p>
          <a:p>
            <a:r>
              <a:rPr lang="en-US" dirty="0" smtClean="0"/>
              <a:t>Unsynchronized </a:t>
            </a:r>
            <a:r>
              <a:rPr lang="en-US" dirty="0"/>
              <a:t>access </a:t>
            </a:r>
            <a:r>
              <a:rPr lang="en-US" dirty="0" smtClean="0"/>
              <a:t>to variable after it has been created, may </a:t>
            </a:r>
            <a:r>
              <a:rPr lang="en-US" dirty="0"/>
              <a:t>cause </a:t>
            </a:r>
            <a:r>
              <a:rPr lang="en-US" dirty="0" smtClean="0"/>
              <a:t>races.</a:t>
            </a:r>
            <a:endParaRPr lang="en-US" dirty="0"/>
          </a:p>
        </p:txBody>
      </p:sp>
      <p:sp>
        <p:nvSpPr>
          <p:cNvPr id="5" name="Date Placeholder 4"/>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83</a:t>
            </a:fld>
            <a:endParaRPr lang="en-US"/>
          </a:p>
        </p:txBody>
      </p:sp>
    </p:spTree>
    <p:extLst>
      <p:ext uri="{BB962C8B-B14F-4D97-AF65-F5344CB8AC3E}">
        <p14:creationId xmlns:p14="http://schemas.microsoft.com/office/powerpoint/2010/main" val="136278317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Local Storage</a:t>
            </a:r>
          </a:p>
        </p:txBody>
      </p:sp>
      <p:sp>
        <p:nvSpPr>
          <p:cNvPr id="3" name="Content Placeholder 2"/>
          <p:cNvSpPr>
            <a:spLocks noGrp="1"/>
          </p:cNvSpPr>
          <p:nvPr>
            <p:ph idx="1"/>
          </p:nvPr>
        </p:nvSpPr>
        <p:spPr/>
        <p:txBody>
          <a:bodyPr>
            <a:normAutofit fontScale="77500" lnSpcReduction="20000"/>
          </a:bodyPr>
          <a:lstStyle/>
          <a:p>
            <a:r>
              <a:rPr lang="en-US" dirty="0" smtClean="0"/>
              <a:t>A </a:t>
            </a:r>
            <a:r>
              <a:rPr lang="en-US" dirty="0"/>
              <a:t>separate instance of a variable for </a:t>
            </a:r>
            <a:r>
              <a:rPr lang="en-US" dirty="0" smtClean="0"/>
              <a:t>each thread </a:t>
            </a:r>
            <a:r>
              <a:rPr lang="en-US" dirty="0"/>
              <a:t>in your program</a:t>
            </a:r>
            <a:r>
              <a:rPr lang="en-US" dirty="0" smtClean="0"/>
              <a:t>.</a:t>
            </a:r>
          </a:p>
          <a:p>
            <a:r>
              <a:rPr lang="en-US" dirty="0" err="1">
                <a:latin typeface="Courier New" pitchFamily="49" charset="0"/>
                <a:cs typeface="Courier New" pitchFamily="49" charset="0"/>
              </a:rPr>
              <a:t>thread_local</a:t>
            </a:r>
            <a:r>
              <a:rPr lang="en-US" dirty="0"/>
              <a:t> doesn't make sense for parameters or local variables allocated on the </a:t>
            </a:r>
            <a:r>
              <a:rPr lang="en-US" dirty="0" smtClean="0"/>
              <a:t>stack. </a:t>
            </a:r>
          </a:p>
          <a:p>
            <a:r>
              <a:rPr lang="en-US" dirty="0" smtClean="0"/>
              <a:t>Only variables with </a:t>
            </a:r>
            <a:r>
              <a:rPr lang="en-US" dirty="0"/>
              <a:t>static storage duration may be </a:t>
            </a:r>
            <a:r>
              <a:rPr lang="en-US" dirty="0" err="1">
                <a:latin typeface="Courier New" pitchFamily="49" charset="0"/>
                <a:cs typeface="Courier New" pitchFamily="49" charset="0"/>
              </a:rPr>
              <a:t>thread_local</a:t>
            </a:r>
            <a:r>
              <a:rPr lang="en-US" dirty="0" smtClean="0"/>
              <a:t>.</a:t>
            </a:r>
          </a:p>
          <a:p>
            <a:pPr lvl="1"/>
            <a:r>
              <a:rPr lang="en-US" dirty="0"/>
              <a:t>global/file/namespace-scoped </a:t>
            </a:r>
            <a:r>
              <a:rPr lang="en-US" dirty="0" err="1"/>
              <a:t>vars</a:t>
            </a:r>
            <a:r>
              <a:rPr lang="en-US" dirty="0"/>
              <a:t>; class-statics, </a:t>
            </a:r>
            <a:r>
              <a:rPr lang="en-US" dirty="0" smtClean="0"/>
              <a:t>file-statics</a:t>
            </a:r>
          </a:p>
          <a:p>
            <a:r>
              <a:rPr lang="en-US" dirty="0"/>
              <a:t>The standard does not require that unused thread-locals </a:t>
            </a:r>
            <a:r>
              <a:rPr lang="en-US" dirty="0" smtClean="0"/>
              <a:t>are constructed.</a:t>
            </a:r>
          </a:p>
          <a:p>
            <a:r>
              <a:rPr lang="en-US" dirty="0" err="1">
                <a:latin typeface="Courier New" pitchFamily="49" charset="0"/>
                <a:cs typeface="Courier New" pitchFamily="49" charset="0"/>
              </a:rPr>
              <a:t>thread_local</a:t>
            </a:r>
            <a:r>
              <a:rPr lang="en-US" dirty="0"/>
              <a:t> variables live for the lifetime of a thread and are destructed, before it can </a:t>
            </a:r>
            <a:r>
              <a:rPr lang="en-US" dirty="0" smtClean="0"/>
              <a:t>be </a:t>
            </a:r>
            <a:r>
              <a:rPr lang="en-US" dirty="0" smtClean="0">
                <a:latin typeface="Courier New" pitchFamily="49" charset="0"/>
                <a:cs typeface="Courier New" pitchFamily="49" charset="0"/>
              </a:rPr>
              <a:t>join</a:t>
            </a:r>
            <a:r>
              <a:rPr lang="en-US" dirty="0">
                <a:latin typeface="Courier New" pitchFamily="49" charset="0"/>
                <a:cs typeface="Courier New" pitchFamily="49" charset="0"/>
              </a:rPr>
              <a:t>()</a:t>
            </a:r>
            <a:r>
              <a:rPr lang="en-US" dirty="0"/>
              <a:t>-ed</a:t>
            </a:r>
            <a:r>
              <a:rPr lang="en-US" dirty="0" smtClean="0"/>
              <a:t>.</a:t>
            </a:r>
          </a:p>
          <a:p>
            <a:r>
              <a:rPr lang="en-US" dirty="0" err="1">
                <a:latin typeface="Courier New" pitchFamily="49" charset="0"/>
                <a:cs typeface="Courier New" pitchFamily="49" charset="0"/>
              </a:rPr>
              <a:t>thread_local</a:t>
            </a:r>
            <a:r>
              <a:rPr lang="en-US" dirty="0"/>
              <a:t> may be combined with </a:t>
            </a:r>
            <a:r>
              <a:rPr lang="en-US" dirty="0">
                <a:latin typeface="Courier New" pitchFamily="49" charset="0"/>
                <a:cs typeface="Courier New" pitchFamily="49" charset="0"/>
              </a:rPr>
              <a:t>extern</a:t>
            </a:r>
            <a:r>
              <a:rPr lang="en-US" dirty="0"/>
              <a:t>.</a:t>
            </a:r>
            <a:endParaRPr lang="en-US" dirty="0" smtClean="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Tree>
    <p:extLst>
      <p:ext uri="{BB962C8B-B14F-4D97-AF65-F5344CB8AC3E}">
        <p14:creationId xmlns:p14="http://schemas.microsoft.com/office/powerpoint/2010/main" val="294451864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thread_local</a:t>
            </a:r>
            <a:r>
              <a:rPr lang="en-US" dirty="0" smtClean="0"/>
              <a:t> sample</a:t>
            </a:r>
            <a:endParaRPr lang="en-US" dirty="0"/>
          </a:p>
        </p:txBody>
      </p:sp>
      <p:sp>
        <p:nvSpPr>
          <p:cNvPr id="4" name="Content Placeholder 3"/>
          <p:cNvSpPr>
            <a:spLocks noGrp="1"/>
          </p:cNvSpPr>
          <p:nvPr>
            <p:ph sz="half" idx="1"/>
          </p:nvPr>
        </p:nvSpPr>
        <p:spPr/>
        <p:txBody>
          <a:bodyPr>
            <a:normAutofit fontScale="92500" lnSpcReduction="10000"/>
          </a:bodyPr>
          <a:lstStyle/>
          <a:p>
            <a:pPr marL="0" indent="0">
              <a:buNone/>
            </a:pPr>
            <a:r>
              <a:rPr lang="en-US" dirty="0">
                <a:solidFill>
                  <a:srgbClr val="0000FF"/>
                </a:solidFill>
                <a:highlight>
                  <a:srgbClr val="FFFFFF"/>
                </a:highlight>
                <a:latin typeface="Consolas"/>
              </a:rPr>
              <a:t>#define</a:t>
            </a:r>
            <a:r>
              <a:rPr lang="en-US" dirty="0">
                <a:solidFill>
                  <a:srgbClr val="000000"/>
                </a:solidFill>
                <a:highlight>
                  <a:srgbClr val="FFFFFF"/>
                </a:highlight>
                <a:latin typeface="Consolas"/>
              </a:rPr>
              <a:t> </a:t>
            </a:r>
            <a:r>
              <a:rPr lang="en-US" dirty="0" err="1">
                <a:solidFill>
                  <a:srgbClr val="6F008A"/>
                </a:solidFill>
                <a:highlight>
                  <a:srgbClr val="FFFFFF"/>
                </a:highlight>
                <a:latin typeface="Consolas"/>
              </a:rPr>
              <a:t>thread_local</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__</a:t>
            </a:r>
            <a:r>
              <a:rPr lang="en-US" dirty="0" err="1">
                <a:solidFill>
                  <a:srgbClr val="0000FF"/>
                </a:solidFill>
                <a:highlight>
                  <a:srgbClr val="FFFFFF"/>
                </a:highlight>
                <a:latin typeface="Consolas"/>
              </a:rPr>
              <a:t>declspec</a:t>
            </a:r>
            <a:r>
              <a:rPr lang="en-US" dirty="0">
                <a:solidFill>
                  <a:srgbClr val="000000"/>
                </a:solidFill>
                <a:highlight>
                  <a:srgbClr val="FFFFFF"/>
                </a:highlight>
                <a:latin typeface="Consolas"/>
              </a:rPr>
              <a:t>(</a:t>
            </a:r>
            <a:r>
              <a:rPr lang="en-US" dirty="0">
                <a:solidFill>
                  <a:srgbClr val="2B91AF"/>
                </a:solidFill>
                <a:highlight>
                  <a:srgbClr val="FFFFFF"/>
                </a:highlight>
                <a:latin typeface="Consolas"/>
              </a:rPr>
              <a:t>thread</a:t>
            </a:r>
            <a:r>
              <a:rPr lang="en-US" dirty="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void</a:t>
            </a: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thread_local_count</a:t>
            </a:r>
            <a:r>
              <a:rPr lang="en-US" dirty="0" smtClean="0">
                <a:solidFill>
                  <a:srgbClr val="000000"/>
                </a:solidFill>
                <a:highlight>
                  <a:srgbClr val="FFFFFF"/>
                </a:highlight>
                <a:latin typeface="Consolas"/>
              </a:rPr>
              <a:t>(</a:t>
            </a:r>
            <a:r>
              <a:rPr lang="en-US" dirty="0" err="1" smtClean="0">
                <a:solidFill>
                  <a:srgbClr val="0000FF"/>
                </a:solidFill>
                <a:highlight>
                  <a:srgbClr val="FFFFFF"/>
                </a:highlight>
                <a:latin typeface="Consolas"/>
              </a:rPr>
              <a:t>int</a:t>
            </a:r>
            <a:r>
              <a:rPr lang="en-US" dirty="0" smtClean="0">
                <a:solidFill>
                  <a:srgbClr val="000000"/>
                </a:solidFill>
                <a:highlight>
                  <a:srgbClr val="FFFFFF"/>
                </a:highlight>
                <a:latin typeface="Consolas"/>
              </a:rPr>
              <a:t> </a:t>
            </a:r>
            <a:r>
              <a:rPr lang="en-US" dirty="0" smtClean="0">
                <a:solidFill>
                  <a:srgbClr val="808080"/>
                </a:solidFill>
                <a:highlight>
                  <a:srgbClr val="FFFFFF"/>
                </a:highlight>
                <a:latin typeface="Consolas"/>
              </a:rPr>
              <a:t>id</a:t>
            </a:r>
            <a:r>
              <a:rPr lang="en-US" dirty="0" smtClean="0">
                <a:solidFill>
                  <a:srgbClr val="000000"/>
                </a:solidFill>
                <a:highlight>
                  <a:srgbClr val="FFFFFF"/>
                </a:highlight>
                <a:latin typeface="Consolas"/>
              </a:rPr>
              <a:t>, </a:t>
            </a:r>
            <a:r>
              <a:rPr lang="en-US" dirty="0" err="1" smtClean="0">
                <a:solidFill>
                  <a:srgbClr val="0000FF"/>
                </a:solidFill>
                <a:highlight>
                  <a:srgbClr val="FFFFFF"/>
                </a:highlight>
                <a:latin typeface="Consolas"/>
              </a:rPr>
              <a:t>int</a:t>
            </a:r>
            <a:r>
              <a:rPr lang="en-US" dirty="0" smtClean="0">
                <a:solidFill>
                  <a:srgbClr val="000000"/>
                </a:solidFill>
                <a:highlight>
                  <a:srgbClr val="FFFFFF"/>
                </a:highlight>
                <a:latin typeface="Consolas"/>
              </a:rPr>
              <a:t> </a:t>
            </a:r>
            <a:r>
              <a:rPr lang="en-US" dirty="0" smtClean="0">
                <a:solidFill>
                  <a:srgbClr val="808080"/>
                </a:solidFill>
                <a:highlight>
                  <a:srgbClr val="FFFFFF"/>
                </a:highlight>
                <a:latin typeface="Consolas"/>
              </a:rPr>
              <a:t>count</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static</a:t>
            </a:r>
            <a:r>
              <a:rPr lang="en-US" dirty="0">
                <a:solidFill>
                  <a:srgbClr val="000000"/>
                </a:solidFill>
                <a:highlight>
                  <a:srgbClr val="FFFFFF"/>
                </a:highlight>
                <a:latin typeface="Consolas"/>
              </a:rPr>
              <a:t> </a:t>
            </a:r>
            <a:r>
              <a:rPr lang="en-US" dirty="0" err="1">
                <a:solidFill>
                  <a:srgbClr val="6F008A"/>
                </a:solidFill>
                <a:highlight>
                  <a:srgbClr val="FFFFFF"/>
                </a:highlight>
                <a:latin typeface="Consolas"/>
              </a:rPr>
              <a:t>thread_local</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a:t>
            </a:r>
            <a:r>
              <a:rPr lang="en-US" dirty="0">
                <a:solidFill>
                  <a:srgbClr val="000000"/>
                </a:solidFill>
                <a:highlight>
                  <a:srgbClr val="FFFFFF"/>
                </a:highlight>
                <a:latin typeface="Consolas"/>
              </a:rPr>
              <a:t> = 0;</a:t>
            </a:r>
          </a:p>
          <a:p>
            <a:pPr marL="0" indent="0">
              <a:buNone/>
            </a:pP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ostringstream</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os</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os</a:t>
            </a:r>
            <a:r>
              <a:rPr lang="en-US" dirty="0">
                <a:solidFill>
                  <a:srgbClr val="000000"/>
                </a:solidFill>
                <a:highlight>
                  <a:srgbClr val="FFFFFF"/>
                </a:highlight>
                <a:latin typeface="Consolas"/>
              </a:rPr>
              <a:t> &lt;&lt; </a:t>
            </a:r>
            <a:r>
              <a:rPr lang="en-US" dirty="0">
                <a:solidFill>
                  <a:srgbClr val="A31515"/>
                </a:solidFill>
                <a:highlight>
                  <a:srgbClr val="FFFFFF"/>
                </a:highlight>
                <a:latin typeface="Consolas"/>
              </a:rPr>
              <a:t>"thread "</a:t>
            </a:r>
            <a:r>
              <a:rPr lang="en-US" dirty="0">
                <a:solidFill>
                  <a:srgbClr val="000000"/>
                </a:solidFill>
                <a:highlight>
                  <a:srgbClr val="FFFFFF"/>
                </a:highlight>
                <a:latin typeface="Consolas"/>
              </a:rPr>
              <a:t> &lt;&lt; </a:t>
            </a:r>
            <a:r>
              <a:rPr lang="en-US" dirty="0">
                <a:solidFill>
                  <a:srgbClr val="808080"/>
                </a:solidFill>
                <a:highlight>
                  <a:srgbClr val="FFFFFF"/>
                </a:highlight>
                <a:latin typeface="Consolas"/>
              </a:rPr>
              <a:t>id</a:t>
            </a:r>
            <a:r>
              <a:rPr lang="en-US" dirty="0">
                <a:solidFill>
                  <a:srgbClr val="000000"/>
                </a:solidFill>
                <a:highlight>
                  <a:srgbClr val="FFFFFF"/>
                </a:highlight>
                <a:latin typeface="Consolas"/>
              </a:rPr>
              <a:t> &lt;&lt; </a:t>
            </a:r>
            <a:endParaRPr lang="en-US" dirty="0" smtClean="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smtClean="0">
                <a:solidFill>
                  <a:srgbClr val="A31515"/>
                </a:solidFill>
                <a:highlight>
                  <a:srgbClr val="FFFFFF"/>
                </a:highlight>
                <a:latin typeface="Consolas"/>
              </a:rPr>
              <a:t>" </a:t>
            </a:r>
            <a:r>
              <a:rPr lang="en-US" dirty="0">
                <a:solidFill>
                  <a:srgbClr val="A31515"/>
                </a:solidFill>
                <a:highlight>
                  <a:srgbClr val="FFFFFF"/>
                </a:highlight>
                <a:latin typeface="Consolas"/>
              </a:rPr>
              <a:t>call "</a:t>
            </a:r>
            <a:r>
              <a:rPr lang="en-US" dirty="0">
                <a:solidFill>
                  <a:srgbClr val="000000"/>
                </a:solidFill>
                <a:highlight>
                  <a:srgbClr val="FFFFFF"/>
                </a:highlight>
                <a:latin typeface="Consolas"/>
              </a:rPr>
              <a:t> &lt;&lt; ++</a:t>
            </a:r>
            <a:r>
              <a:rPr lang="en-US" dirty="0" err="1">
                <a:solidFill>
                  <a:srgbClr val="000000"/>
                </a:solidFill>
                <a:highlight>
                  <a:srgbClr val="FFFFFF"/>
                </a:highlight>
                <a:latin typeface="Consolas"/>
              </a:rPr>
              <a:t>i</a:t>
            </a:r>
            <a:r>
              <a:rPr lang="en-US" dirty="0">
                <a:solidFill>
                  <a:srgbClr val="000000"/>
                </a:solidFill>
                <a:highlight>
                  <a:srgbClr val="FFFFFF"/>
                </a:highlight>
                <a:latin typeface="Consolas"/>
              </a:rPr>
              <a:t> &lt;&lt; </a:t>
            </a: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smtClean="0">
                <a:solidFill>
                  <a:srgbClr val="A31515"/>
                </a:solidFill>
                <a:highlight>
                  <a:srgbClr val="FFFFFF"/>
                </a:highlight>
                <a:latin typeface="Consolas"/>
              </a:rPr>
              <a:t>" </a:t>
            </a:r>
            <a:r>
              <a:rPr lang="en-US" dirty="0">
                <a:solidFill>
                  <a:srgbClr val="A31515"/>
                </a:solidFill>
                <a:highlight>
                  <a:srgbClr val="FFFFFF"/>
                </a:highlight>
                <a:latin typeface="Consolas"/>
              </a:rPr>
              <a:t>of "</a:t>
            </a:r>
            <a:r>
              <a:rPr lang="en-US" dirty="0">
                <a:solidFill>
                  <a:srgbClr val="000000"/>
                </a:solidFill>
                <a:highlight>
                  <a:srgbClr val="FFFFFF"/>
                </a:highlight>
                <a:latin typeface="Consolas"/>
              </a:rPr>
              <a:t> &lt;&lt; </a:t>
            </a:r>
            <a:r>
              <a:rPr lang="en-US" dirty="0">
                <a:solidFill>
                  <a:srgbClr val="808080"/>
                </a:solidFill>
                <a:highlight>
                  <a:srgbClr val="FFFFFF"/>
                </a:highlight>
                <a:latin typeface="Consolas"/>
              </a:rPr>
              <a:t>count</a:t>
            </a:r>
            <a:r>
              <a:rPr lang="en-US" dirty="0">
                <a:solidFill>
                  <a:srgbClr val="000000"/>
                </a:solidFill>
                <a:highlight>
                  <a:srgbClr val="FFFFFF"/>
                </a:highlight>
                <a:latin typeface="Consolas"/>
              </a:rPr>
              <a:t> &lt;&lt; </a:t>
            </a:r>
            <a:r>
              <a:rPr lang="en-US" dirty="0" smtClean="0">
                <a:solidFill>
                  <a:srgbClr val="A31515"/>
                </a:solidFill>
                <a:highlight>
                  <a:srgbClr val="FFFFFF"/>
                </a:highlight>
                <a:latin typeface="Consolas"/>
              </a:rPr>
              <a:t>"\</a:t>
            </a:r>
            <a:r>
              <a:rPr lang="en-US" dirty="0">
                <a:solidFill>
                  <a:srgbClr val="A31515"/>
                </a:solidFill>
                <a:highlight>
                  <a:srgbClr val="FFFFFF"/>
                </a:highlight>
                <a:latin typeface="Consolas"/>
              </a:rPr>
              <a:t>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cout</a:t>
            </a:r>
            <a:r>
              <a:rPr lang="en-US" dirty="0">
                <a:solidFill>
                  <a:srgbClr val="000000"/>
                </a:solidFill>
                <a:highlight>
                  <a:srgbClr val="FFFFFF"/>
                </a:highlight>
                <a:latin typeface="Consolas"/>
              </a:rPr>
              <a:t> &lt;&lt; </a:t>
            </a:r>
            <a:r>
              <a:rPr lang="en-US" dirty="0" err="1">
                <a:solidFill>
                  <a:srgbClr val="000000"/>
                </a:solidFill>
                <a:highlight>
                  <a:srgbClr val="FFFFFF"/>
                </a:highlight>
                <a:latin typeface="Consolas"/>
              </a:rPr>
              <a:t>os.str</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void</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thread_local_test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auto</a:t>
            </a:r>
            <a:r>
              <a:rPr lang="en-US" dirty="0">
                <a:solidFill>
                  <a:srgbClr val="000000"/>
                </a:solidFill>
                <a:highlight>
                  <a:srgbClr val="FFFFFF"/>
                </a:highlight>
                <a:latin typeface="Consolas"/>
              </a:rPr>
              <a:t> </a:t>
            </a:r>
            <a:r>
              <a:rPr lang="en-US" dirty="0" err="1" smtClean="0">
                <a:solidFill>
                  <a:srgbClr val="000000"/>
                </a:solidFill>
                <a:highlight>
                  <a:srgbClr val="FFFFFF"/>
                </a:highlight>
                <a:latin typeface="Consolas"/>
              </a:rPr>
              <a:t>threadproc</a:t>
            </a:r>
            <a:r>
              <a:rPr lang="en-US" dirty="0" smtClean="0">
                <a:solidFill>
                  <a:srgbClr val="000000"/>
                </a:solidFill>
                <a:highlight>
                  <a:srgbClr val="FFFFFF"/>
                </a:highlight>
                <a:latin typeface="Consolas"/>
              </a:rPr>
              <a:t>=[](</a:t>
            </a:r>
            <a:r>
              <a:rPr lang="en-US" dirty="0" err="1" smtClean="0">
                <a:solidFill>
                  <a:srgbClr val="0000FF"/>
                </a:solidFill>
                <a:highlight>
                  <a:srgbClr val="FFFFFF"/>
                </a:highlight>
                <a:latin typeface="Consolas"/>
              </a:rPr>
              <a:t>int</a:t>
            </a:r>
            <a:r>
              <a:rPr lang="en-US" dirty="0" smtClean="0">
                <a:solidFill>
                  <a:srgbClr val="000000"/>
                </a:solidFill>
                <a:highlight>
                  <a:srgbClr val="FFFFFF"/>
                </a:highlight>
                <a:latin typeface="Consolas"/>
              </a:rPr>
              <a:t> </a:t>
            </a:r>
            <a:r>
              <a:rPr lang="en-US" dirty="0">
                <a:solidFill>
                  <a:srgbClr val="808080"/>
                </a:solidFill>
                <a:highlight>
                  <a:srgbClr val="FFFFFF"/>
                </a:highlight>
                <a:latin typeface="Consolas"/>
              </a:rPr>
              <a:t>id</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int</a:t>
            </a:r>
            <a:r>
              <a:rPr lang="en-US" dirty="0">
                <a:solidFill>
                  <a:srgbClr val="000000"/>
                </a:solidFill>
                <a:highlight>
                  <a:srgbClr val="FFFFFF"/>
                </a:highlight>
                <a:latin typeface="Consolas"/>
              </a:rPr>
              <a:t> </a:t>
            </a:r>
            <a:r>
              <a:rPr lang="en-US" dirty="0" smtClean="0">
                <a:solidFill>
                  <a:srgbClr val="808080"/>
                </a:solidFill>
                <a:highlight>
                  <a:srgbClr val="FFFFFF"/>
                </a:highlight>
                <a:latin typeface="Consolas"/>
              </a:rPr>
              <a:t>count</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for</a:t>
            </a:r>
            <a:r>
              <a:rPr lang="nn-NO" dirty="0">
                <a:solidFill>
                  <a:srgbClr val="000000"/>
                </a:solidFill>
                <a:highlight>
                  <a:srgbClr val="FFFFFF"/>
                </a:highlight>
                <a:latin typeface="Consolas"/>
              </a:rPr>
              <a:t>( </a:t>
            </a:r>
            <a:r>
              <a:rPr lang="nn-NO" dirty="0">
                <a:solidFill>
                  <a:srgbClr val="0000FF"/>
                </a:solidFill>
                <a:highlight>
                  <a:srgbClr val="FFFFFF"/>
                </a:highlight>
                <a:latin typeface="Consolas"/>
              </a:rPr>
              <a:t>int</a:t>
            </a:r>
            <a:r>
              <a:rPr lang="nn-NO" dirty="0">
                <a:solidFill>
                  <a:srgbClr val="000000"/>
                </a:solidFill>
                <a:highlight>
                  <a:srgbClr val="FFFFFF"/>
                </a:highlight>
                <a:latin typeface="Consolas"/>
              </a:rPr>
              <a:t> i=0; i &lt; </a:t>
            </a:r>
            <a:r>
              <a:rPr lang="nn-NO" dirty="0">
                <a:solidFill>
                  <a:srgbClr val="808080"/>
                </a:solidFill>
                <a:highlight>
                  <a:srgbClr val="FFFFFF"/>
                </a:highlight>
                <a:latin typeface="Consolas"/>
              </a:rPr>
              <a:t>count</a:t>
            </a:r>
            <a:r>
              <a:rPr lang="nn-NO" dirty="0">
                <a:solidFill>
                  <a:srgbClr val="000000"/>
                </a:solidFill>
                <a:highlight>
                  <a:srgbClr val="FFFFFF"/>
                </a:highlight>
                <a:latin typeface="Consolas"/>
              </a:rPr>
              <a:t>; ++i )</a:t>
            </a: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thread_local_count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id</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count</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p>
          <a:p>
            <a:pPr marL="0" indent="0">
              <a:buNone/>
            </a:pPr>
            <a:r>
              <a:rPr lang="en-US" dirty="0" smtClean="0">
                <a:solidFill>
                  <a:srgbClr val="2B91AF"/>
                </a:solidFill>
                <a:highlight>
                  <a:srgbClr val="FFFFFF"/>
                </a:highlight>
                <a:latin typeface="Consolas"/>
              </a:rPr>
              <a:t>   thread</a:t>
            </a:r>
            <a:r>
              <a:rPr lang="en-US" dirty="0" smtClean="0">
                <a:solidFill>
                  <a:srgbClr val="000000"/>
                </a:solidFill>
                <a:highlight>
                  <a:srgbClr val="FFFFFF"/>
                </a:highlight>
                <a:latin typeface="Consolas"/>
              </a:rPr>
              <a:t> a(threadproc,1</a:t>
            </a:r>
            <a:r>
              <a:rPr lang="en-US" dirty="0">
                <a:solidFill>
                  <a:srgbClr val="000000"/>
                </a:solidFill>
                <a:highlight>
                  <a:srgbClr val="FFFFFF"/>
                </a:highlight>
                <a:latin typeface="Consolas"/>
              </a:rPr>
              <a:t>, 2 + rand() % 5</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threadproc</a:t>
            </a:r>
            <a:r>
              <a:rPr lang="en-US" dirty="0">
                <a:solidFill>
                  <a:srgbClr val="000000"/>
                </a:solidFill>
                <a:highlight>
                  <a:srgbClr val="FFFFFF"/>
                </a:highlight>
                <a:latin typeface="Consolas"/>
              </a:rPr>
              <a:t>( 2, 2 + rand() % 5</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a.join</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fontScale="92500" lnSpcReduction="10000"/>
          </a:bodyPr>
          <a:lstStyle/>
          <a:p>
            <a:r>
              <a:rPr lang="en-US" dirty="0" err="1" smtClean="0"/>
              <a:t>thread_local</a:t>
            </a:r>
            <a:r>
              <a:rPr lang="en-US" dirty="0" smtClean="0"/>
              <a:t> keyword not yet supported by VC nor GCC.</a:t>
            </a:r>
          </a:p>
          <a:p>
            <a:r>
              <a:rPr lang="en-US" dirty="0" smtClean="0"/>
              <a:t>The sample counts number of calls to procedure on multiple threads.</a:t>
            </a:r>
          </a:p>
          <a:p>
            <a:r>
              <a:rPr lang="en-US" dirty="0" smtClean="0"/>
              <a:t>Check output if </a:t>
            </a:r>
            <a:r>
              <a:rPr lang="en-US" dirty="0" err="1" smtClean="0"/>
              <a:t>thread_local</a:t>
            </a:r>
            <a:r>
              <a:rPr lang="en-US" dirty="0" smtClean="0"/>
              <a:t> </a:t>
            </a:r>
            <a:r>
              <a:rPr lang="en-US" dirty="0" err="1" smtClean="0"/>
              <a:t>specifier</a:t>
            </a:r>
            <a:r>
              <a:rPr lang="en-US" dirty="0" smtClean="0"/>
              <a:t> is omitted from counter declaration.</a:t>
            </a:r>
          </a:p>
          <a:p>
            <a:pPr marL="0" indent="0">
              <a:buNone/>
            </a:pPr>
            <a:endParaRPr lang="en-US" dirty="0" smtClean="0"/>
          </a:p>
          <a:p>
            <a:pPr marL="0" indent="0">
              <a:buNone/>
            </a:pPr>
            <a:r>
              <a:rPr lang="en-US" sz="1600" dirty="0">
                <a:latin typeface="Courier New" pitchFamily="49" charset="0"/>
                <a:cs typeface="Courier New" pitchFamily="49" charset="0"/>
              </a:rPr>
              <a:t>thread 1 call 1 of 3</a:t>
            </a:r>
          </a:p>
          <a:p>
            <a:pPr marL="0" indent="0">
              <a:buNone/>
            </a:pPr>
            <a:r>
              <a:rPr lang="en-US" sz="1600" dirty="0">
                <a:latin typeface="Courier New" pitchFamily="49" charset="0"/>
                <a:cs typeface="Courier New" pitchFamily="49" charset="0"/>
              </a:rPr>
              <a:t>thread 2 call 1 of 4</a:t>
            </a:r>
          </a:p>
          <a:p>
            <a:pPr marL="0" indent="0">
              <a:buNone/>
            </a:pPr>
            <a:r>
              <a:rPr lang="en-US" sz="1600" dirty="0">
                <a:latin typeface="Courier New" pitchFamily="49" charset="0"/>
                <a:cs typeface="Courier New" pitchFamily="49" charset="0"/>
              </a:rPr>
              <a:t>thread 1 call 2 of 3</a:t>
            </a:r>
          </a:p>
          <a:p>
            <a:pPr marL="0" indent="0">
              <a:buNone/>
            </a:pPr>
            <a:r>
              <a:rPr lang="en-US" sz="1600" dirty="0">
                <a:latin typeface="Courier New" pitchFamily="49" charset="0"/>
                <a:cs typeface="Courier New" pitchFamily="49" charset="0"/>
              </a:rPr>
              <a:t>thread 2 call 2 of 4</a:t>
            </a:r>
          </a:p>
          <a:p>
            <a:pPr marL="0" indent="0">
              <a:buNone/>
            </a:pPr>
            <a:r>
              <a:rPr lang="en-US" sz="1600" dirty="0">
                <a:latin typeface="Courier New" pitchFamily="49" charset="0"/>
                <a:cs typeface="Courier New" pitchFamily="49" charset="0"/>
              </a:rPr>
              <a:t>thread 1 call 3 of 3</a:t>
            </a:r>
          </a:p>
          <a:p>
            <a:pPr marL="0" indent="0">
              <a:buNone/>
            </a:pPr>
            <a:r>
              <a:rPr lang="en-US" sz="1600" dirty="0">
                <a:latin typeface="Courier New" pitchFamily="49" charset="0"/>
                <a:cs typeface="Courier New" pitchFamily="49" charset="0"/>
              </a:rPr>
              <a:t>thread 2 call 3 of 4</a:t>
            </a:r>
          </a:p>
          <a:p>
            <a:pPr marL="0" indent="0">
              <a:buNone/>
            </a:pPr>
            <a:r>
              <a:rPr lang="en-US" sz="1600" dirty="0">
                <a:latin typeface="Courier New" pitchFamily="49" charset="0"/>
                <a:cs typeface="Courier New" pitchFamily="49" charset="0"/>
              </a:rPr>
              <a:t>thread 2 call 4 of 4</a:t>
            </a:r>
          </a:p>
        </p:txBody>
      </p:sp>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85</a:t>
            </a:fld>
            <a:endParaRPr lang="en-US"/>
          </a:p>
        </p:txBody>
      </p:sp>
    </p:spTree>
    <p:extLst>
      <p:ext uri="{BB962C8B-B14F-4D97-AF65-F5344CB8AC3E}">
        <p14:creationId xmlns:p14="http://schemas.microsoft.com/office/powerpoint/2010/main" val="53323223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 variables</a:t>
            </a:r>
            <a:endParaRPr lang="en-US" dirty="0"/>
          </a:p>
        </p:txBody>
      </p:sp>
      <p:sp>
        <p:nvSpPr>
          <p:cNvPr id="5" name="Content Placeholder 4"/>
          <p:cNvSpPr>
            <a:spLocks noGrp="1"/>
          </p:cNvSpPr>
          <p:nvPr>
            <p:ph idx="1"/>
          </p:nvPr>
        </p:nvSpPr>
        <p:spPr/>
        <p:txBody>
          <a:bodyPr/>
          <a:lstStyle/>
          <a:p>
            <a:pPr marL="0" indent="0">
              <a:buNone/>
            </a:pPr>
            <a:r>
              <a:rPr lang="en-US" dirty="0" smtClean="0"/>
              <a:t>Built upon a UNIX concept. Easier to use and understand that Windows events.</a:t>
            </a:r>
          </a:p>
          <a:p>
            <a:r>
              <a:rPr lang="en-US" dirty="0" err="1">
                <a:latin typeface="Courier New" pitchFamily="49" charset="0"/>
                <a:cs typeface="Courier New" pitchFamily="49" charset="0"/>
              </a:rPr>
              <a:t>std</a:t>
            </a:r>
            <a:r>
              <a:rPr lang="en-US" dirty="0">
                <a:latin typeface="Courier New" pitchFamily="49" charset="0"/>
                <a:cs typeface="Courier New" pitchFamily="49" charset="0"/>
              </a:rPr>
              <a:t>::</a:t>
            </a:r>
            <a:r>
              <a:rPr lang="en-US" dirty="0" err="1">
                <a:latin typeface="Courier New" pitchFamily="49" charset="0"/>
                <a:cs typeface="Courier New" pitchFamily="49" charset="0"/>
              </a:rPr>
              <a:t>condition_variable</a:t>
            </a:r>
            <a:endParaRPr lang="en-US" dirty="0">
              <a:latin typeface="Courier New" pitchFamily="49" charset="0"/>
              <a:cs typeface="Courier New" pitchFamily="49" charset="0"/>
            </a:endParaRPr>
          </a:p>
          <a:p>
            <a:pPr lvl="1"/>
            <a:r>
              <a:rPr lang="en-US" dirty="0" smtClean="0"/>
              <a:t>requires </a:t>
            </a:r>
            <a:r>
              <a:rPr lang="en-US" dirty="0" err="1">
                <a:latin typeface="Courier New" pitchFamily="49" charset="0"/>
                <a:cs typeface="Courier New" pitchFamily="49" charset="0"/>
              </a:rPr>
              <a:t>std</a:t>
            </a:r>
            <a:r>
              <a:rPr lang="en-US" dirty="0">
                <a:latin typeface="Courier New" pitchFamily="49" charset="0"/>
                <a:cs typeface="Courier New" pitchFamily="49" charset="0"/>
              </a:rPr>
              <a:t>::</a:t>
            </a:r>
            <a:r>
              <a:rPr lang="en-US" dirty="0" err="1">
                <a:latin typeface="Courier New" pitchFamily="49" charset="0"/>
                <a:cs typeface="Courier New" pitchFamily="49" charset="0"/>
              </a:rPr>
              <a:t>unique_lock</a:t>
            </a:r>
            <a:r>
              <a:rPr lang="en-US" dirty="0">
                <a:latin typeface="Courier New" pitchFamily="49" charset="0"/>
                <a:cs typeface="Courier New" pitchFamily="49" charset="0"/>
              </a:rPr>
              <a:t>&lt;</a:t>
            </a:r>
            <a:r>
              <a:rPr lang="en-US" dirty="0" err="1">
                <a:latin typeface="Courier New" pitchFamily="49" charset="0"/>
                <a:cs typeface="Courier New" pitchFamily="49" charset="0"/>
              </a:rPr>
              <a:t>std</a:t>
            </a:r>
            <a:r>
              <a:rPr lang="en-US" dirty="0">
                <a:latin typeface="Courier New" pitchFamily="49" charset="0"/>
                <a:cs typeface="Courier New" pitchFamily="49" charset="0"/>
              </a:rPr>
              <a:t>::mutex&gt;</a:t>
            </a:r>
          </a:p>
          <a:p>
            <a:pPr lvl="1"/>
            <a:r>
              <a:rPr lang="en-US" dirty="0" smtClean="0"/>
              <a:t>most </a:t>
            </a:r>
            <a:r>
              <a:rPr lang="en-US" dirty="0"/>
              <a:t>efficient</a:t>
            </a:r>
          </a:p>
          <a:p>
            <a:r>
              <a:rPr lang="en-US" dirty="0" err="1" smtClean="0">
                <a:latin typeface="Courier New" pitchFamily="49" charset="0"/>
                <a:cs typeface="Courier New" pitchFamily="49" charset="0"/>
              </a:rPr>
              <a:t>std</a:t>
            </a:r>
            <a:r>
              <a:rPr lang="en-US" dirty="0">
                <a:latin typeface="Courier New" pitchFamily="49" charset="0"/>
                <a:cs typeface="Courier New" pitchFamily="49" charset="0"/>
              </a:rPr>
              <a:t>::</a:t>
            </a:r>
            <a:r>
              <a:rPr lang="en-US" dirty="0" err="1">
                <a:latin typeface="Courier New" pitchFamily="49" charset="0"/>
                <a:cs typeface="Courier New" pitchFamily="49" charset="0"/>
              </a:rPr>
              <a:t>condition_variable_any</a:t>
            </a:r>
            <a:endParaRPr lang="en-US" dirty="0">
              <a:latin typeface="Courier New" pitchFamily="49" charset="0"/>
              <a:cs typeface="Courier New" pitchFamily="49" charset="0"/>
            </a:endParaRPr>
          </a:p>
          <a:p>
            <a:pPr lvl="1"/>
            <a:r>
              <a:rPr lang="en-US" dirty="0"/>
              <a:t>C</a:t>
            </a:r>
            <a:r>
              <a:rPr lang="en-US" dirty="0" smtClean="0"/>
              <a:t>an </a:t>
            </a:r>
            <a:r>
              <a:rPr lang="en-US" dirty="0"/>
              <a:t>be used with user-defined </a:t>
            </a:r>
            <a:r>
              <a:rPr lang="en-US" dirty="0" smtClean="0"/>
              <a:t>locks.</a:t>
            </a:r>
          </a:p>
          <a:p>
            <a:pPr lvl="1"/>
            <a:r>
              <a:rPr lang="en-US" dirty="0"/>
              <a:t>Possibly less efficient, more flexible.</a:t>
            </a:r>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Tree>
    <p:extLst>
      <p:ext uri="{BB962C8B-B14F-4D97-AF65-F5344CB8AC3E}">
        <p14:creationId xmlns:p14="http://schemas.microsoft.com/office/powerpoint/2010/main" val="133255149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 variable interface</a:t>
            </a:r>
            <a:endParaRPr lang="en-US" dirty="0"/>
          </a:p>
        </p:txBody>
      </p:sp>
      <p:sp>
        <p:nvSpPr>
          <p:cNvPr id="3" name="Content Placeholder 2"/>
          <p:cNvSpPr>
            <a:spLocks noGrp="1"/>
          </p:cNvSpPr>
          <p:nvPr>
            <p:ph idx="1"/>
          </p:nvPr>
        </p:nvSpPr>
        <p:spPr/>
        <p:txBody>
          <a:bodyPr>
            <a:normAutofit fontScale="40000" lnSpcReduction="20000"/>
          </a:bodyPr>
          <a:lstStyle/>
          <a:p>
            <a:pPr marL="0" indent="0">
              <a:buNone/>
            </a:pPr>
            <a:r>
              <a:rPr lang="en-US" dirty="0" err="1">
                <a:solidFill>
                  <a:srgbClr val="0000FF"/>
                </a:solidFill>
                <a:highlight>
                  <a:srgbClr val="FFFFFF"/>
                </a:highlight>
                <a:latin typeface="Consolas"/>
              </a:rPr>
              <a:t>enum</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cv_status</a:t>
            </a:r>
            <a:r>
              <a:rPr lang="en-US" dirty="0">
                <a:solidFill>
                  <a:srgbClr val="000000"/>
                </a:solidFill>
                <a:highlight>
                  <a:srgbClr val="FFFFFF"/>
                </a:highlight>
                <a:latin typeface="Consolas"/>
              </a:rPr>
              <a:t> {</a:t>
            </a:r>
          </a:p>
          <a:p>
            <a:pPr marL="0" indent="0">
              <a:buNone/>
            </a:pPr>
            <a:r>
              <a:rPr lang="en-US" dirty="0" smtClean="0">
                <a:solidFill>
                  <a:srgbClr val="2F4F4F"/>
                </a:solidFill>
                <a:highlight>
                  <a:srgbClr val="FFFFFF"/>
                </a:highlight>
                <a:latin typeface="Consolas"/>
              </a:rPr>
              <a:t>   timeout</a:t>
            </a:r>
            <a:r>
              <a:rPr lang="en-US" dirty="0">
                <a:solidFill>
                  <a:srgbClr val="000000"/>
                </a:solidFill>
                <a:highlight>
                  <a:srgbClr val="FFFFFF"/>
                </a:highlight>
                <a:latin typeface="Consolas"/>
              </a:rPr>
              <a:t>,</a:t>
            </a:r>
          </a:p>
          <a:p>
            <a:pPr marL="0" indent="0">
              <a:buNone/>
            </a:pPr>
            <a:r>
              <a:rPr lang="en-US" dirty="0" smtClean="0">
                <a:solidFill>
                  <a:srgbClr val="2F4F4F"/>
                </a:solidFill>
                <a:highlight>
                  <a:srgbClr val="FFFFFF"/>
                </a:highlight>
                <a:latin typeface="Consolas"/>
              </a:rPr>
              <a:t>   </a:t>
            </a:r>
            <a:r>
              <a:rPr lang="en-US" dirty="0" err="1" smtClean="0">
                <a:solidFill>
                  <a:srgbClr val="2F4F4F"/>
                </a:solidFill>
                <a:highlight>
                  <a:srgbClr val="FFFFFF"/>
                </a:highlight>
                <a:latin typeface="Consolas"/>
              </a:rPr>
              <a:t>no_timeout</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endParaRPr lang="en-US" dirty="0">
              <a:solidFill>
                <a:srgbClr val="000000"/>
              </a:solidFill>
              <a:highlight>
                <a:srgbClr val="FFFFFF"/>
              </a:highlight>
              <a:latin typeface="Consolas"/>
            </a:endParaRPr>
          </a:p>
          <a:p>
            <a:pPr marL="0" indent="0">
              <a:buNone/>
            </a:pP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condition_variable</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condition_variable</a:t>
            </a:r>
            <a:r>
              <a:rPr lang="en-US" dirty="0" smtClean="0">
                <a:solidFill>
                  <a:srgbClr val="000000"/>
                </a:solidFill>
                <a:highlight>
                  <a:srgbClr val="FFFFFF"/>
                </a:highlight>
                <a:latin typeface="Consolas"/>
              </a:rPr>
              <a:t>();                                    </a:t>
            </a:r>
            <a:r>
              <a:rPr lang="en-US" dirty="0" smtClean="0">
                <a:solidFill>
                  <a:srgbClr val="008000"/>
                </a:solidFill>
                <a:highlight>
                  <a:srgbClr val="FFFFFF"/>
                </a:highlight>
                <a:latin typeface="Consolas"/>
              </a:rPr>
              <a:t>// </a:t>
            </a:r>
            <a:r>
              <a:rPr lang="en-US" dirty="0">
                <a:solidFill>
                  <a:srgbClr val="008000"/>
                </a:solidFill>
                <a:highlight>
                  <a:srgbClr val="FFFFFF"/>
                </a:highlight>
                <a:latin typeface="Consolas"/>
              </a:rPr>
              <a:t>default </a:t>
            </a:r>
            <a:r>
              <a:rPr lang="en-US" dirty="0" smtClean="0">
                <a:solidFill>
                  <a:srgbClr val="008000"/>
                </a:solidFill>
                <a:highlight>
                  <a:srgbClr val="FFFFFF"/>
                </a:highlight>
                <a:latin typeface="Consolas"/>
              </a:rPr>
              <a:t>constructible</a:t>
            </a:r>
            <a:endParaRPr lang="en-US" dirty="0">
              <a:solidFill>
                <a:srgbClr val="000000"/>
              </a:solidFill>
              <a:highlight>
                <a:srgbClr val="FFFFFF"/>
              </a:highlight>
              <a:latin typeface="Consolas"/>
            </a:endParaRPr>
          </a:p>
          <a:p>
            <a:pPr marL="0" indent="0">
              <a:buNone/>
            </a:pP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condition_variable</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condition_variable</a:t>
            </a:r>
            <a:r>
              <a:rPr lang="en-US" dirty="0" smtClean="0">
                <a:solidFill>
                  <a:srgbClr val="000000"/>
                </a:solidFill>
                <a:highlight>
                  <a:srgbClr val="FFFFFF"/>
                </a:highlight>
                <a:latin typeface="Consolas"/>
              </a:rPr>
              <a:t>(</a:t>
            </a:r>
            <a:r>
              <a:rPr lang="en-US" dirty="0" err="1" smtClean="0">
                <a:solidFill>
                  <a:srgbClr val="2B91AF"/>
                </a:solidFill>
                <a:highlight>
                  <a:srgbClr val="FFFFFF"/>
                </a:highlight>
                <a:latin typeface="Consolas"/>
              </a:rPr>
              <a:t>condition_variable</a:t>
            </a:r>
            <a:r>
              <a:rPr lang="en-US" dirty="0" smtClean="0">
                <a:solidFill>
                  <a:srgbClr val="000000"/>
                </a:solidFill>
                <a:highlight>
                  <a:srgbClr val="FFFFFF"/>
                </a:highlight>
                <a:latin typeface="Consolas"/>
              </a:rPr>
              <a:t>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&amp; ) = </a:t>
            </a:r>
            <a:r>
              <a:rPr lang="en-US" dirty="0">
                <a:solidFill>
                  <a:srgbClr val="0000FF"/>
                </a:solidFill>
                <a:highlight>
                  <a:srgbClr val="FFFFFF"/>
                </a:highlight>
                <a:latin typeface="Consolas"/>
              </a:rPr>
              <a:t>delete</a:t>
            </a:r>
            <a:r>
              <a:rPr lang="en-US" dirty="0" smtClean="0">
                <a:solidFill>
                  <a:srgbClr val="000000"/>
                </a:solidFill>
                <a:highlight>
                  <a:srgbClr val="FFFFFF"/>
                </a:highlight>
                <a:latin typeface="Consolas"/>
              </a:rPr>
              <a:t>; </a:t>
            </a:r>
            <a:r>
              <a:rPr lang="en-US" dirty="0">
                <a:solidFill>
                  <a:srgbClr val="008000"/>
                </a:solidFill>
                <a:highlight>
                  <a:srgbClr val="FFFFFF"/>
                </a:highlight>
                <a:latin typeface="Consolas"/>
              </a:rPr>
              <a:t>// not </a:t>
            </a:r>
            <a:r>
              <a:rPr lang="en-US" dirty="0" err="1">
                <a:solidFill>
                  <a:srgbClr val="008000"/>
                </a:solidFill>
                <a:highlight>
                  <a:srgbClr val="FFFFFF"/>
                </a:highlight>
                <a:latin typeface="Consolas"/>
              </a:rPr>
              <a:t>copyable</a:t>
            </a:r>
            <a:r>
              <a:rPr lang="en-US" dirty="0">
                <a:solidFill>
                  <a:srgbClr val="008000"/>
                </a:solidFill>
                <a:highlight>
                  <a:srgbClr val="FFFFFF"/>
                </a:highlight>
                <a:latin typeface="Consolas"/>
              </a:rPr>
              <a:t> nor </a:t>
            </a:r>
            <a:r>
              <a:rPr lang="en-US" dirty="0" smtClean="0">
                <a:solidFill>
                  <a:srgbClr val="008000"/>
                </a:solidFill>
                <a:highlight>
                  <a:srgbClr val="FFFFFF"/>
                </a:highlight>
                <a:latin typeface="Consolas"/>
              </a:rPr>
              <a:t>moveable</a:t>
            </a:r>
            <a:endParaRPr lang="en-US" dirty="0">
              <a:solidFill>
                <a:srgbClr val="000000"/>
              </a:solidFill>
              <a:highlight>
                <a:srgbClr val="FFFFFF"/>
              </a:highlight>
              <a:latin typeface="Consolas"/>
            </a:endParaRP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condition_variable</a:t>
            </a:r>
            <a:r>
              <a:rPr lang="en-US" dirty="0">
                <a:solidFill>
                  <a:srgbClr val="000000"/>
                </a:solidFill>
                <a:highlight>
                  <a:srgbClr val="FFFFFF"/>
                </a:highlight>
                <a:latin typeface="Consolas"/>
              </a:rPr>
              <a:t>&amp; operator=(</a:t>
            </a:r>
            <a:r>
              <a:rPr lang="en-US" dirty="0" err="1">
                <a:solidFill>
                  <a:srgbClr val="2B91AF"/>
                </a:solidFill>
                <a:highlight>
                  <a:srgbClr val="FFFFFF"/>
                </a:highlight>
                <a:latin typeface="Consolas"/>
              </a:rPr>
              <a:t>condition_variable</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&amp; ) = </a:t>
            </a:r>
            <a:r>
              <a:rPr lang="en-US" dirty="0">
                <a:solidFill>
                  <a:srgbClr val="0000FF"/>
                </a:solidFill>
                <a:highlight>
                  <a:srgbClr val="FFFFFF"/>
                </a:highlight>
                <a:latin typeface="Consolas"/>
              </a:rPr>
              <a:t>delete</a:t>
            </a:r>
            <a:r>
              <a:rPr lang="en-US" dirty="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   void</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notify_one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noexcept</a:t>
            </a:r>
            <a:r>
              <a:rPr lang="en-US" dirty="0" smtClean="0">
                <a:solidFill>
                  <a:srgbClr val="000000"/>
                </a:solidFill>
                <a:highlight>
                  <a:srgbClr val="FFFFFF"/>
                </a:highlight>
                <a:latin typeface="Consolas"/>
              </a:rPr>
              <a:t>;                              </a:t>
            </a:r>
            <a:r>
              <a:rPr lang="en-US" dirty="0" smtClean="0">
                <a:solidFill>
                  <a:srgbClr val="008000"/>
                </a:solidFill>
                <a:highlight>
                  <a:srgbClr val="FFFFFF"/>
                </a:highlight>
                <a:latin typeface="Consolas"/>
              </a:rPr>
              <a:t>// </a:t>
            </a:r>
            <a:r>
              <a:rPr lang="en-US" dirty="0">
                <a:solidFill>
                  <a:srgbClr val="008000"/>
                </a:solidFill>
                <a:highlight>
                  <a:srgbClr val="FFFFFF"/>
                </a:highlight>
                <a:latin typeface="Consolas"/>
              </a:rPr>
              <a:t>for </a:t>
            </a:r>
            <a:r>
              <a:rPr lang="en-US" dirty="0" smtClean="0">
                <a:solidFill>
                  <a:srgbClr val="008000"/>
                </a:solidFill>
                <a:highlight>
                  <a:srgbClr val="FFFFFF"/>
                </a:highlight>
                <a:latin typeface="Consolas"/>
              </a:rPr>
              <a:t>producer</a:t>
            </a:r>
            <a:endParaRPr lang="en-US" dirty="0">
              <a:solidFill>
                <a:srgbClr val="000000"/>
              </a:solidFill>
              <a:highlight>
                <a:srgbClr val="FFFFFF"/>
              </a:highlight>
              <a:latin typeface="Consolas"/>
            </a:endParaRPr>
          </a:p>
          <a:p>
            <a:pPr marL="0" indent="0">
              <a:buNone/>
            </a:pPr>
            <a:r>
              <a:rPr lang="en-US" dirty="0" smtClean="0">
                <a:solidFill>
                  <a:srgbClr val="0000FF"/>
                </a:solidFill>
                <a:highlight>
                  <a:srgbClr val="FFFFFF"/>
                </a:highlight>
                <a:latin typeface="Consolas"/>
              </a:rPr>
              <a:t>   void</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notify_all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noexcept</a:t>
            </a:r>
            <a:r>
              <a:rPr lang="en-US" dirty="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   void</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wait(lock</a:t>
            </a:r>
            <a:r>
              <a:rPr lang="en-US" dirty="0" smtClean="0">
                <a:solidFill>
                  <a:srgbClr val="000000"/>
                </a:solidFill>
                <a:highlight>
                  <a:srgbClr val="FFFFFF"/>
                </a:highlight>
                <a:latin typeface="Consolas"/>
              </a:rPr>
              <a:t>);                                         </a:t>
            </a:r>
            <a:r>
              <a:rPr lang="en-US" dirty="0" smtClean="0">
                <a:solidFill>
                  <a:srgbClr val="008000"/>
                </a:solidFill>
                <a:highlight>
                  <a:srgbClr val="FFFFFF"/>
                </a:highlight>
                <a:latin typeface="Consolas"/>
              </a:rPr>
              <a:t>// </a:t>
            </a:r>
            <a:r>
              <a:rPr lang="en-US" dirty="0">
                <a:solidFill>
                  <a:srgbClr val="008000"/>
                </a:solidFill>
                <a:highlight>
                  <a:srgbClr val="FFFFFF"/>
                </a:highlight>
                <a:latin typeface="Consolas"/>
              </a:rPr>
              <a:t>for </a:t>
            </a:r>
            <a:r>
              <a:rPr lang="en-US" dirty="0" smtClean="0">
                <a:solidFill>
                  <a:srgbClr val="008000"/>
                </a:solidFill>
                <a:highlight>
                  <a:srgbClr val="FFFFFF"/>
                </a:highlight>
                <a:latin typeface="Consolas"/>
              </a:rPr>
              <a:t>consumer</a:t>
            </a:r>
            <a:endParaRPr lang="en-US" dirty="0">
              <a:solidFill>
                <a:srgbClr val="000000"/>
              </a:solidFill>
              <a:highlight>
                <a:srgbClr val="FFFFFF"/>
              </a:highlight>
              <a:latin typeface="Consolas"/>
            </a:endParaRPr>
          </a:p>
          <a:p>
            <a:pPr marL="0" indent="0">
              <a:buNone/>
            </a:pPr>
            <a:r>
              <a:rPr lang="en-US" dirty="0" smtClean="0">
                <a:solidFill>
                  <a:srgbClr val="0000FF"/>
                </a:solidFill>
                <a:highlight>
                  <a:srgbClr val="FFFFFF"/>
                </a:highlight>
                <a:latin typeface="Consolas"/>
              </a:rPr>
              <a:t>   void</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wait(lock, </a:t>
            </a:r>
            <a:r>
              <a:rPr lang="en-US" dirty="0" err="1">
                <a:solidFill>
                  <a:srgbClr val="000000"/>
                </a:solidFill>
                <a:highlight>
                  <a:srgbClr val="FFFFFF"/>
                </a:highlight>
                <a:latin typeface="Consolas"/>
              </a:rPr>
              <a:t>pred</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cv_status</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wait_until</a:t>
            </a:r>
            <a:r>
              <a:rPr lang="en-US" dirty="0">
                <a:solidFill>
                  <a:srgbClr val="000000"/>
                </a:solidFill>
                <a:highlight>
                  <a:srgbClr val="FFFFFF"/>
                </a:highlight>
                <a:latin typeface="Consolas"/>
              </a:rPr>
              <a:t>(lock, </a:t>
            </a:r>
            <a:r>
              <a:rPr lang="en-US" dirty="0" err="1">
                <a:solidFill>
                  <a:srgbClr val="000000"/>
                </a:solidFill>
                <a:highlight>
                  <a:srgbClr val="FFFFFF"/>
                </a:highlight>
                <a:latin typeface="Consolas"/>
              </a:rPr>
              <a:t>absolute_time</a:t>
            </a:r>
            <a:r>
              <a:rPr lang="en-US" dirty="0" smtClean="0">
                <a:solidFill>
                  <a:srgbClr val="000000"/>
                </a:solidFill>
                <a:highlight>
                  <a:srgbClr val="FFFFFF"/>
                </a:highlight>
                <a:latin typeface="Consolas"/>
              </a:rPr>
              <a:t>);               </a:t>
            </a:r>
            <a:r>
              <a:rPr lang="en-US" dirty="0" smtClean="0">
                <a:solidFill>
                  <a:srgbClr val="008000"/>
                </a:solidFill>
                <a:highlight>
                  <a:srgbClr val="FFFFFF"/>
                </a:highlight>
                <a:latin typeface="Consolas"/>
              </a:rPr>
              <a:t>// </a:t>
            </a:r>
            <a:r>
              <a:rPr lang="en-US" dirty="0">
                <a:solidFill>
                  <a:srgbClr val="008000"/>
                </a:solidFill>
                <a:highlight>
                  <a:srgbClr val="FFFFFF"/>
                </a:highlight>
                <a:latin typeface="Consolas"/>
              </a:rPr>
              <a:t>timed </a:t>
            </a:r>
            <a:r>
              <a:rPr lang="en-US" dirty="0" smtClean="0">
                <a:solidFill>
                  <a:srgbClr val="008000"/>
                </a:solidFill>
                <a:highlight>
                  <a:srgbClr val="FFFFFF"/>
                </a:highlight>
                <a:latin typeface="Consolas"/>
              </a:rPr>
              <a:t>wait</a:t>
            </a:r>
            <a:endParaRPr lang="en-US" dirty="0">
              <a:solidFill>
                <a:srgbClr val="000000"/>
              </a:solidFill>
              <a:highlight>
                <a:srgbClr val="FFFFFF"/>
              </a:highlight>
              <a:latin typeface="Consolas"/>
            </a:endParaRPr>
          </a:p>
          <a:p>
            <a:pPr marL="0" indent="0">
              <a:buNone/>
            </a:pPr>
            <a:r>
              <a:rPr lang="en-US" dirty="0" smtClean="0">
                <a:solidFill>
                  <a:srgbClr val="0000FF"/>
                </a:solidFill>
                <a:highlight>
                  <a:srgbClr val="FFFFFF"/>
                </a:highlight>
                <a:latin typeface="Consolas"/>
              </a:rPr>
              <a:t>   </a:t>
            </a:r>
            <a:r>
              <a:rPr lang="en-US" dirty="0" err="1" smtClean="0">
                <a:solidFill>
                  <a:srgbClr val="0000FF"/>
                </a:solidFill>
                <a:highlight>
                  <a:srgbClr val="FFFFFF"/>
                </a:highlight>
                <a:latin typeface="Consolas"/>
              </a:rPr>
              <a:t>bool</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wait_until</a:t>
            </a:r>
            <a:r>
              <a:rPr lang="en-US" dirty="0">
                <a:solidFill>
                  <a:srgbClr val="000000"/>
                </a:solidFill>
                <a:highlight>
                  <a:srgbClr val="FFFFFF"/>
                </a:highlight>
                <a:latin typeface="Consolas"/>
              </a:rPr>
              <a:t>(lock, </a:t>
            </a:r>
            <a:r>
              <a:rPr lang="en-US" dirty="0" err="1">
                <a:solidFill>
                  <a:srgbClr val="000000"/>
                </a:solidFill>
                <a:highlight>
                  <a:srgbClr val="FFFFFF"/>
                </a:highlight>
                <a:latin typeface="Consolas"/>
              </a:rPr>
              <a:t>absolute_time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pred</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cv_status</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wait_for</a:t>
            </a:r>
            <a:r>
              <a:rPr lang="en-US" dirty="0">
                <a:solidFill>
                  <a:srgbClr val="000000"/>
                </a:solidFill>
                <a:highlight>
                  <a:srgbClr val="FFFFFF"/>
                </a:highlight>
                <a:latin typeface="Consolas"/>
              </a:rPr>
              <a:t>  (lock, </a:t>
            </a:r>
            <a:r>
              <a:rPr lang="en-US" dirty="0" err="1">
                <a:solidFill>
                  <a:srgbClr val="000000"/>
                </a:solidFill>
                <a:highlight>
                  <a:srgbClr val="FFFFFF"/>
                </a:highlight>
                <a:latin typeface="Consolas"/>
              </a:rPr>
              <a:t>relative_time</a:t>
            </a:r>
            <a:r>
              <a:rPr lang="en-US" dirty="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   </a:t>
            </a:r>
            <a:r>
              <a:rPr lang="en-US" dirty="0" err="1" smtClean="0">
                <a:solidFill>
                  <a:srgbClr val="0000FF"/>
                </a:solidFill>
                <a:highlight>
                  <a:srgbClr val="FFFFFF"/>
                </a:highlight>
                <a:latin typeface="Consolas"/>
              </a:rPr>
              <a:t>bool</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wait_for</a:t>
            </a:r>
            <a:r>
              <a:rPr lang="en-US" dirty="0">
                <a:solidFill>
                  <a:srgbClr val="000000"/>
                </a:solidFill>
                <a:highlight>
                  <a:srgbClr val="FFFFFF"/>
                </a:highlight>
                <a:latin typeface="Consolas"/>
              </a:rPr>
              <a:t>  (lock, </a:t>
            </a:r>
            <a:r>
              <a:rPr lang="en-US" dirty="0" err="1">
                <a:solidFill>
                  <a:srgbClr val="000000"/>
                </a:solidFill>
                <a:highlight>
                  <a:srgbClr val="FFFFFF"/>
                </a:highlight>
                <a:latin typeface="Consolas"/>
              </a:rPr>
              <a:t>relative_time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pred</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p14="http://schemas.microsoft.com/office/powerpoint/2010/main" val="364018161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dirty="0" smtClean="0"/>
              <a:t>Waiting for conditions</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err="1" smtClean="0">
                <a:latin typeface="Courier New" pitchFamily="49" charset="0"/>
                <a:cs typeface="Courier New" pitchFamily="49" charset="0"/>
              </a:rPr>
              <a:t>cv.wait</a:t>
            </a:r>
            <a:r>
              <a:rPr lang="en-US" dirty="0" smtClean="0">
                <a:latin typeface="Courier New" pitchFamily="49" charset="0"/>
                <a:cs typeface="Courier New" pitchFamily="49" charset="0"/>
              </a:rPr>
              <a:t>(lock)</a:t>
            </a:r>
          </a:p>
          <a:p>
            <a:pPr marL="0" indent="0">
              <a:buNone/>
            </a:pPr>
            <a:r>
              <a:rPr lang="en-US" dirty="0" err="1" smtClean="0">
                <a:latin typeface="Courier New" pitchFamily="49" charset="0"/>
                <a:cs typeface="Courier New" pitchFamily="49" charset="0"/>
              </a:rPr>
              <a:t>cv.wait</a:t>
            </a:r>
            <a:r>
              <a:rPr lang="en-US" dirty="0" smtClean="0">
                <a:latin typeface="Courier New" pitchFamily="49" charset="0"/>
                <a:cs typeface="Courier New" pitchFamily="49" charset="0"/>
              </a:rPr>
              <a:t>(lock</a:t>
            </a:r>
            <a:r>
              <a:rPr lang="en-US" dirty="0">
                <a:latin typeface="Courier New" pitchFamily="49" charset="0"/>
                <a:cs typeface="Courier New" pitchFamily="49" charset="0"/>
              </a:rPr>
              <a:t>, </a:t>
            </a:r>
            <a:r>
              <a:rPr lang="en-US" dirty="0" smtClean="0">
                <a:latin typeface="Courier New" pitchFamily="49" charset="0"/>
                <a:cs typeface="Courier New" pitchFamily="49" charset="0"/>
              </a:rPr>
              <a:t>predicate)</a:t>
            </a:r>
          </a:p>
          <a:p>
            <a:pPr marL="0" indent="0">
              <a:buNone/>
            </a:pPr>
            <a:r>
              <a:rPr lang="en-US" dirty="0" err="1" smtClean="0">
                <a:latin typeface="Courier New" pitchFamily="49" charset="0"/>
                <a:cs typeface="Courier New" pitchFamily="49" charset="0"/>
              </a:rPr>
              <a:t>cv.wait_for</a:t>
            </a:r>
            <a:r>
              <a:rPr lang="en-US" dirty="0" smtClean="0">
                <a:latin typeface="Courier New" pitchFamily="49" charset="0"/>
                <a:cs typeface="Courier New" pitchFamily="49" charset="0"/>
              </a:rPr>
              <a:t>(lock, </a:t>
            </a:r>
            <a:r>
              <a:rPr lang="en-US" dirty="0" err="1" smtClean="0">
                <a:latin typeface="Courier New" pitchFamily="49" charset="0"/>
                <a:cs typeface="Courier New" pitchFamily="49" charset="0"/>
              </a:rPr>
              <a:t>relative_time</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a:p>
            <a:pPr marL="0" indent="0">
              <a:buNone/>
            </a:pPr>
            <a:r>
              <a:rPr lang="en-US" dirty="0" err="1" smtClean="0">
                <a:latin typeface="Courier New" pitchFamily="49" charset="0"/>
                <a:cs typeface="Courier New" pitchFamily="49" charset="0"/>
              </a:rPr>
              <a:t>cv.wait_until</a:t>
            </a:r>
            <a:r>
              <a:rPr lang="en-US" dirty="0" smtClean="0">
                <a:latin typeface="Courier New" pitchFamily="49" charset="0"/>
                <a:cs typeface="Courier New" pitchFamily="49" charset="0"/>
              </a:rPr>
              <a:t>(lock, </a:t>
            </a:r>
            <a:r>
              <a:rPr lang="en-US" dirty="0" err="1" smtClean="0">
                <a:latin typeface="Courier New" pitchFamily="49" charset="0"/>
                <a:cs typeface="Courier New" pitchFamily="49" charset="0"/>
              </a:rPr>
              <a:t>absolute_time</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a:p>
            <a:r>
              <a:rPr lang="en-US" dirty="0" smtClean="0"/>
              <a:t>wait </a:t>
            </a:r>
            <a:r>
              <a:rPr lang="en-US" dirty="0"/>
              <a:t>until </a:t>
            </a:r>
            <a:r>
              <a:rPr lang="en-US" dirty="0" smtClean="0"/>
              <a:t>notified</a:t>
            </a:r>
            <a:r>
              <a:rPr lang="cs-CZ" dirty="0" smtClean="0"/>
              <a:t> </a:t>
            </a:r>
            <a:r>
              <a:rPr lang="en-US" dirty="0" smtClean="0"/>
              <a:t>(possibly </a:t>
            </a:r>
            <a:r>
              <a:rPr lang="en-US" dirty="0"/>
              <a:t>multiple </a:t>
            </a:r>
            <a:r>
              <a:rPr lang="en-US" dirty="0" smtClean="0"/>
              <a:t>times)</a:t>
            </a:r>
          </a:p>
          <a:p>
            <a:r>
              <a:rPr lang="en-US" dirty="0"/>
              <a:t>thread must hold the lock when calling wait</a:t>
            </a:r>
            <a:r>
              <a:rPr lang="en-US" dirty="0" smtClean="0"/>
              <a:t>()</a:t>
            </a:r>
          </a:p>
          <a:p>
            <a:r>
              <a:rPr lang="en-US" dirty="0"/>
              <a:t>wait unlocks mutex, blocks thread, </a:t>
            </a:r>
            <a:r>
              <a:rPr lang="en-US" dirty="0" err="1"/>
              <a:t>enqueues</a:t>
            </a:r>
            <a:r>
              <a:rPr lang="en-US" dirty="0"/>
              <a:t> it for notification.</a:t>
            </a:r>
            <a:endParaRPr lang="en-US" dirty="0" smtClean="0"/>
          </a:p>
          <a:p>
            <a:r>
              <a:rPr lang="en-US" dirty="0"/>
              <a:t>wait functions allow passing a predicate (</a:t>
            </a:r>
            <a:r>
              <a:rPr lang="en-US" dirty="0" err="1"/>
              <a:t>bool</a:t>
            </a:r>
            <a:r>
              <a:rPr lang="en-US" dirty="0"/>
              <a:t> function) as a </a:t>
            </a:r>
            <a:r>
              <a:rPr lang="en-US" dirty="0" smtClean="0"/>
              <a:t>condition</a:t>
            </a:r>
          </a:p>
          <a:p>
            <a:pPr lvl="1"/>
            <a:r>
              <a:rPr lang="en-US" dirty="0"/>
              <a:t>no external loop needed, wait returns when predicate becomes true or a timeout </a:t>
            </a:r>
            <a:r>
              <a:rPr lang="en-US" dirty="0" smtClean="0"/>
              <a:t>happens</a:t>
            </a: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Tree>
    <p:extLst>
      <p:ext uri="{BB962C8B-B14F-4D97-AF65-F5344CB8AC3E}">
        <p14:creationId xmlns:p14="http://schemas.microsoft.com/office/powerpoint/2010/main" val="9152415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Notifying</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err="1">
                <a:latin typeface="Courier New" pitchFamily="49" charset="0"/>
                <a:cs typeface="Courier New" pitchFamily="49" charset="0"/>
              </a:rPr>
              <a:t>cv.notify_one</a:t>
            </a:r>
            <a:r>
              <a:rPr lang="en-US" dirty="0">
                <a:latin typeface="Courier New" pitchFamily="49" charset="0"/>
                <a:cs typeface="Courier New" pitchFamily="49" charset="0"/>
              </a:rPr>
              <a:t>()</a:t>
            </a:r>
          </a:p>
          <a:p>
            <a:pPr marL="0" indent="0">
              <a:buNone/>
            </a:pPr>
            <a:r>
              <a:rPr lang="en-US" dirty="0" err="1">
                <a:latin typeface="Courier New" pitchFamily="49" charset="0"/>
                <a:cs typeface="Courier New" pitchFamily="49" charset="0"/>
              </a:rPr>
              <a:t>cv.notify_all</a:t>
            </a:r>
            <a:r>
              <a:rPr lang="en-US" dirty="0">
                <a:latin typeface="Courier New" pitchFamily="49" charset="0"/>
                <a:cs typeface="Courier New" pitchFamily="49" charset="0"/>
              </a:rPr>
              <a:t>()</a:t>
            </a:r>
          </a:p>
          <a:p>
            <a:r>
              <a:rPr lang="en-US" dirty="0"/>
              <a:t>notify one/all waiting threads blocked in wait().</a:t>
            </a:r>
          </a:p>
          <a:p>
            <a:r>
              <a:rPr lang="en-US" dirty="0"/>
              <a:t>thread is unblocked and moved to mutex queue. Notified threads awake and run with the mutex locked.</a:t>
            </a:r>
          </a:p>
          <a:p>
            <a:r>
              <a:rPr lang="en-US" dirty="0"/>
              <a:t>spurious wakeups in wait() are allowed (need to check underlying predicate</a:t>
            </a:r>
            <a:r>
              <a:rPr lang="en-US" dirty="0" smtClean="0"/>
              <a:t>!)</a:t>
            </a:r>
          </a:p>
          <a:p>
            <a:r>
              <a:rPr lang="en-US" dirty="0" err="1" smtClean="0">
                <a:latin typeface="Courier New" pitchFamily="49" charset="0"/>
                <a:cs typeface="Courier New" pitchFamily="49" charset="0"/>
              </a:rPr>
              <a:t>notify_one</a:t>
            </a:r>
            <a:r>
              <a:rPr lang="en-US" dirty="0" smtClean="0"/>
              <a:t> is </a:t>
            </a:r>
            <a:r>
              <a:rPr lang="en-US" dirty="0"/>
              <a:t>similar to an auto-reset </a:t>
            </a:r>
            <a:r>
              <a:rPr lang="en-US" dirty="0" smtClean="0"/>
              <a:t>event in </a:t>
            </a:r>
            <a:r>
              <a:rPr lang="en-US" dirty="0"/>
              <a:t>Windows</a:t>
            </a:r>
            <a:r>
              <a:rPr lang="en-US" dirty="0" smtClean="0"/>
              <a:t>.</a:t>
            </a:r>
          </a:p>
          <a:p>
            <a:r>
              <a:rPr lang="en-US" dirty="0"/>
              <a:t>The most common use case for </a:t>
            </a:r>
            <a:r>
              <a:rPr lang="en-US" dirty="0" err="1">
                <a:latin typeface="Courier New" pitchFamily="49" charset="0"/>
                <a:cs typeface="Courier New" pitchFamily="49" charset="0"/>
              </a:rPr>
              <a:t>notify_all</a:t>
            </a:r>
            <a:r>
              <a:rPr lang="en-US" dirty="0"/>
              <a:t> seems to be after a producer adds </a:t>
            </a:r>
            <a:r>
              <a:rPr lang="en-US" dirty="0" smtClean="0"/>
              <a:t>multiple elements </a:t>
            </a:r>
            <a:r>
              <a:rPr lang="en-US" dirty="0"/>
              <a:t>to a work queue, at which point multiple consumers can be awakened.</a:t>
            </a:r>
          </a:p>
          <a:p>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Tree>
    <p:extLst>
      <p:ext uri="{BB962C8B-B14F-4D97-AF65-F5344CB8AC3E}">
        <p14:creationId xmlns:p14="http://schemas.microsoft.com/office/powerpoint/2010/main" val="208892432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Arrow Connector 19"/>
          <p:cNvCxnSpPr/>
          <p:nvPr/>
        </p:nvCxnSpPr>
        <p:spPr>
          <a:xfrm>
            <a:off x="5257800" y="2268498"/>
            <a:ext cx="0" cy="92606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Wait and notify</a:t>
            </a:r>
            <a:endParaRPr lang="en-US" dirty="0"/>
          </a:p>
        </p:txBody>
      </p:sp>
      <p:sp>
        <p:nvSpPr>
          <p:cNvPr id="3" name="Content Placeholder 2"/>
          <p:cNvSpPr>
            <a:spLocks noGrp="1"/>
          </p:cNvSpPr>
          <p:nvPr>
            <p:ph idx="1"/>
          </p:nvPr>
        </p:nvSpPr>
        <p:spPr>
          <a:xfrm>
            <a:off x="457200" y="4800600"/>
            <a:ext cx="8229600" cy="1325563"/>
          </a:xfrm>
        </p:spPr>
        <p:txBody>
          <a:bodyPr>
            <a:normAutofit fontScale="85000" lnSpcReduction="20000"/>
          </a:bodyPr>
          <a:lstStyle/>
          <a:p>
            <a:r>
              <a:rPr lang="en-US" dirty="0" smtClean="0"/>
              <a:t>Condition variable is shared between multiple threads</a:t>
            </a:r>
          </a:p>
          <a:p>
            <a:r>
              <a:rPr lang="en-US" dirty="0" smtClean="0"/>
              <a:t>Consumer thread is blocked after </a:t>
            </a:r>
            <a:r>
              <a:rPr lang="en-US" i="1" dirty="0" smtClean="0"/>
              <a:t>wait</a:t>
            </a:r>
            <a:r>
              <a:rPr lang="en-US" dirty="0" smtClean="0"/>
              <a:t> call.</a:t>
            </a:r>
          </a:p>
          <a:p>
            <a:r>
              <a:rPr lang="en-US" dirty="0" smtClean="0"/>
              <a:t>Producer calls </a:t>
            </a:r>
            <a:r>
              <a:rPr lang="en-US" i="1" dirty="0" smtClean="0"/>
              <a:t>notify</a:t>
            </a:r>
            <a:r>
              <a:rPr lang="en-US" dirty="0" smtClean="0"/>
              <a:t> to wake up consumer</a:t>
            </a:r>
            <a:endParaRPr lang="en-US" dirty="0"/>
          </a:p>
        </p:txBody>
      </p:sp>
      <p:sp>
        <p:nvSpPr>
          <p:cNvPr id="4" name="Right Arrow 3"/>
          <p:cNvSpPr/>
          <p:nvPr/>
        </p:nvSpPr>
        <p:spPr>
          <a:xfrm>
            <a:off x="1524000" y="1740932"/>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52400" y="1899166"/>
            <a:ext cx="1143000" cy="369332"/>
          </a:xfrm>
          <a:prstGeom prst="rect">
            <a:avLst/>
          </a:prstGeom>
          <a:noFill/>
        </p:spPr>
        <p:txBody>
          <a:bodyPr wrap="square" rtlCol="0">
            <a:spAutoFit/>
          </a:bodyPr>
          <a:lstStyle/>
          <a:p>
            <a:r>
              <a:rPr lang="en-US" dirty="0" smtClean="0"/>
              <a:t>Producer</a:t>
            </a:r>
            <a:endParaRPr lang="en-US" dirty="0"/>
          </a:p>
        </p:txBody>
      </p:sp>
      <p:sp>
        <p:nvSpPr>
          <p:cNvPr id="6" name="Right Arrow 5"/>
          <p:cNvSpPr/>
          <p:nvPr/>
        </p:nvSpPr>
        <p:spPr>
          <a:xfrm>
            <a:off x="1524000" y="3036332"/>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52400" y="3194566"/>
            <a:ext cx="1143000" cy="369332"/>
          </a:xfrm>
          <a:prstGeom prst="rect">
            <a:avLst/>
          </a:prstGeom>
          <a:noFill/>
        </p:spPr>
        <p:txBody>
          <a:bodyPr wrap="square" rtlCol="0">
            <a:spAutoFit/>
          </a:bodyPr>
          <a:lstStyle/>
          <a:p>
            <a:r>
              <a:rPr lang="en-US" dirty="0" smtClean="0"/>
              <a:t>Consumer</a:t>
            </a:r>
            <a:endParaRPr lang="en-US" dirty="0"/>
          </a:p>
        </p:txBody>
      </p:sp>
      <p:sp>
        <p:nvSpPr>
          <p:cNvPr id="8" name="Rectangle 7"/>
          <p:cNvSpPr/>
          <p:nvPr/>
        </p:nvSpPr>
        <p:spPr>
          <a:xfrm>
            <a:off x="2438400" y="3194566"/>
            <a:ext cx="3581400" cy="3693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blocked</a:t>
            </a:r>
            <a:endParaRPr lang="en-US" dirty="0"/>
          </a:p>
        </p:txBody>
      </p:sp>
      <p:sp>
        <p:nvSpPr>
          <p:cNvPr id="11" name="Down Arrow 10"/>
          <p:cNvSpPr/>
          <p:nvPr/>
        </p:nvSpPr>
        <p:spPr>
          <a:xfrm rot="10800000">
            <a:off x="2247900" y="3645932"/>
            <a:ext cx="3810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2095500" y="3962400"/>
            <a:ext cx="685800" cy="369332"/>
          </a:xfrm>
          <a:prstGeom prst="rect">
            <a:avLst/>
          </a:prstGeom>
          <a:noFill/>
        </p:spPr>
        <p:txBody>
          <a:bodyPr wrap="square" rtlCol="0">
            <a:spAutoFit/>
          </a:bodyPr>
          <a:lstStyle/>
          <a:p>
            <a:pPr algn="ctr"/>
            <a:r>
              <a:rPr lang="en-US" dirty="0" smtClean="0"/>
              <a:t>wait</a:t>
            </a:r>
            <a:endParaRPr lang="en-US" dirty="0"/>
          </a:p>
        </p:txBody>
      </p:sp>
      <p:sp>
        <p:nvSpPr>
          <p:cNvPr id="13" name="Down Arrow 12"/>
          <p:cNvSpPr/>
          <p:nvPr/>
        </p:nvSpPr>
        <p:spPr>
          <a:xfrm rot="10800000">
            <a:off x="5829300" y="3645933"/>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TextBox 13"/>
          <p:cNvSpPr txBox="1"/>
          <p:nvPr/>
        </p:nvSpPr>
        <p:spPr>
          <a:xfrm>
            <a:off x="5543549" y="3983168"/>
            <a:ext cx="952500" cy="369332"/>
          </a:xfrm>
          <a:prstGeom prst="rect">
            <a:avLst/>
          </a:prstGeom>
          <a:noFill/>
        </p:spPr>
        <p:txBody>
          <a:bodyPr wrap="square" rtlCol="0">
            <a:spAutoFit/>
          </a:bodyPr>
          <a:lstStyle/>
          <a:p>
            <a:pPr algn="ctr"/>
            <a:r>
              <a:rPr lang="en-US" dirty="0" smtClean="0"/>
              <a:t>wakeup</a:t>
            </a:r>
            <a:endParaRPr lang="en-US" dirty="0"/>
          </a:p>
        </p:txBody>
      </p:sp>
      <p:sp>
        <p:nvSpPr>
          <p:cNvPr id="15" name="Oval 14"/>
          <p:cNvSpPr/>
          <p:nvPr/>
        </p:nvSpPr>
        <p:spPr>
          <a:xfrm>
            <a:off x="2438400" y="2426732"/>
            <a:ext cx="3581400" cy="6096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err="1" smtClean="0"/>
              <a:t>condition_variable</a:t>
            </a:r>
            <a:endParaRPr lang="en-US" dirty="0"/>
          </a:p>
        </p:txBody>
      </p:sp>
      <p:cxnSp>
        <p:nvCxnSpPr>
          <p:cNvPr id="17" name="Straight Arrow Connector 16"/>
          <p:cNvCxnSpPr>
            <a:endCxn id="15" idx="2"/>
          </p:cNvCxnSpPr>
          <p:nvPr/>
        </p:nvCxnSpPr>
        <p:spPr>
          <a:xfrm flipV="1">
            <a:off x="2438400" y="2731532"/>
            <a:ext cx="0" cy="46303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Down Arrow 20"/>
          <p:cNvSpPr/>
          <p:nvPr/>
        </p:nvSpPr>
        <p:spPr>
          <a:xfrm>
            <a:off x="5067300" y="1521578"/>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TextBox 21"/>
          <p:cNvSpPr txBox="1"/>
          <p:nvPr/>
        </p:nvSpPr>
        <p:spPr>
          <a:xfrm>
            <a:off x="4781550" y="1219200"/>
            <a:ext cx="952500" cy="369332"/>
          </a:xfrm>
          <a:prstGeom prst="rect">
            <a:avLst/>
          </a:prstGeom>
          <a:noFill/>
        </p:spPr>
        <p:txBody>
          <a:bodyPr wrap="square" rtlCol="0">
            <a:spAutoFit/>
          </a:bodyPr>
          <a:lstStyle/>
          <a:p>
            <a:pPr algn="ctr"/>
            <a:r>
              <a:rPr lang="en-US" dirty="0" smtClean="0"/>
              <a:t>notify</a:t>
            </a:r>
            <a:endParaRPr lang="en-US" dirty="0"/>
          </a:p>
        </p:txBody>
      </p:sp>
      <p:sp>
        <p:nvSpPr>
          <p:cNvPr id="23" name="TextBox 22"/>
          <p:cNvSpPr txBox="1"/>
          <p:nvPr/>
        </p:nvSpPr>
        <p:spPr>
          <a:xfrm>
            <a:off x="161924" y="2401669"/>
            <a:ext cx="1933575" cy="646331"/>
          </a:xfrm>
          <a:prstGeom prst="rect">
            <a:avLst/>
          </a:prstGeom>
          <a:noFill/>
        </p:spPr>
        <p:txBody>
          <a:bodyPr wrap="square" rtlCol="0">
            <a:spAutoFit/>
          </a:bodyPr>
          <a:lstStyle/>
          <a:p>
            <a:r>
              <a:rPr lang="en-US" dirty="0" smtClean="0"/>
              <a:t>Shared </a:t>
            </a:r>
            <a:r>
              <a:rPr lang="en-US" dirty="0" err="1" smtClean="0"/>
              <a:t>condition_variable</a:t>
            </a:r>
            <a:endParaRPr lang="en-US" dirty="0"/>
          </a:p>
        </p:txBody>
      </p:sp>
      <p:sp>
        <p:nvSpPr>
          <p:cNvPr id="9" name="Date Placeholder 8"/>
          <p:cNvSpPr>
            <a:spLocks noGrp="1"/>
          </p:cNvSpPr>
          <p:nvPr>
            <p:ph type="dt" sz="half" idx="10"/>
          </p:nvPr>
        </p:nvSpPr>
        <p:spPr/>
        <p:txBody>
          <a:bodyPr/>
          <a:lstStyle/>
          <a:p>
            <a:r>
              <a:rPr lang="cs-CZ" smtClean="0"/>
              <a:t>19.1.2014</a:t>
            </a:r>
            <a:endParaRPr lang="en-US"/>
          </a:p>
        </p:txBody>
      </p:sp>
      <p:sp>
        <p:nvSpPr>
          <p:cNvPr id="16" name="Slide Number Placeholder 15"/>
          <p:cNvSpPr>
            <a:spLocks noGrp="1"/>
          </p:cNvSpPr>
          <p:nvPr>
            <p:ph type="sldNum" sz="quarter" idx="12"/>
          </p:nvPr>
        </p:nvSpPr>
        <p:spPr/>
        <p:txBody>
          <a:bodyPr/>
          <a:lstStyle/>
          <a:p>
            <a:fld id="{B6F15528-21DE-4FAA-801E-634DDDAF4B2B}" type="slidenum">
              <a:rPr lang="en-US" smtClean="0"/>
              <a:pPr/>
              <a:t>90</a:t>
            </a:fld>
            <a:endParaRPr lang="en-US"/>
          </a:p>
        </p:txBody>
      </p:sp>
    </p:spTree>
    <p:extLst>
      <p:ext uri="{BB962C8B-B14F-4D97-AF65-F5344CB8AC3E}">
        <p14:creationId xmlns:p14="http://schemas.microsoft.com/office/powerpoint/2010/main" val="126496567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Reversed order: notify and wait</a:t>
            </a:r>
            <a:endParaRPr lang="en-US" dirty="0"/>
          </a:p>
        </p:txBody>
      </p:sp>
      <p:sp>
        <p:nvSpPr>
          <p:cNvPr id="3" name="Content Placeholder 2"/>
          <p:cNvSpPr>
            <a:spLocks noGrp="1"/>
          </p:cNvSpPr>
          <p:nvPr>
            <p:ph idx="1"/>
          </p:nvPr>
        </p:nvSpPr>
        <p:spPr>
          <a:xfrm>
            <a:off x="457200" y="4953000"/>
            <a:ext cx="8229600" cy="1173163"/>
          </a:xfrm>
        </p:spPr>
        <p:txBody>
          <a:bodyPr>
            <a:normAutofit fontScale="62500" lnSpcReduction="20000"/>
          </a:bodyPr>
          <a:lstStyle/>
          <a:p>
            <a:r>
              <a:rPr lang="en-US" dirty="0" smtClean="0"/>
              <a:t>If producer calls notify before consumer wait, then the notification is lost.</a:t>
            </a:r>
          </a:p>
          <a:p>
            <a:r>
              <a:rPr lang="en-US" dirty="0" smtClean="0"/>
              <a:t>Conditional variable does not remember that notify has already been called.</a:t>
            </a:r>
            <a:endParaRPr lang="en-US" dirty="0"/>
          </a:p>
        </p:txBody>
      </p:sp>
      <p:cxnSp>
        <p:nvCxnSpPr>
          <p:cNvPr id="4" name="Straight Arrow Connector 3"/>
          <p:cNvCxnSpPr/>
          <p:nvPr/>
        </p:nvCxnSpPr>
        <p:spPr>
          <a:xfrm>
            <a:off x="2724150" y="2268498"/>
            <a:ext cx="0" cy="32230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Right Arrow 4"/>
          <p:cNvSpPr/>
          <p:nvPr/>
        </p:nvSpPr>
        <p:spPr>
          <a:xfrm>
            <a:off x="1524000" y="1740932"/>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52400" y="1899166"/>
            <a:ext cx="1143000" cy="369332"/>
          </a:xfrm>
          <a:prstGeom prst="rect">
            <a:avLst/>
          </a:prstGeom>
          <a:noFill/>
        </p:spPr>
        <p:txBody>
          <a:bodyPr wrap="square" rtlCol="0">
            <a:spAutoFit/>
          </a:bodyPr>
          <a:lstStyle/>
          <a:p>
            <a:r>
              <a:rPr lang="en-US" dirty="0" smtClean="0"/>
              <a:t>Producer</a:t>
            </a:r>
            <a:endParaRPr lang="en-US" dirty="0"/>
          </a:p>
        </p:txBody>
      </p:sp>
      <p:sp>
        <p:nvSpPr>
          <p:cNvPr id="7" name="Right Arrow 6"/>
          <p:cNvSpPr/>
          <p:nvPr/>
        </p:nvSpPr>
        <p:spPr>
          <a:xfrm>
            <a:off x="1524000" y="3036332"/>
            <a:ext cx="6629400" cy="685800"/>
          </a:xfrm>
          <a:prstGeom prst="rightArrow">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Box 7"/>
          <p:cNvSpPr txBox="1"/>
          <p:nvPr/>
        </p:nvSpPr>
        <p:spPr>
          <a:xfrm>
            <a:off x="152400" y="3194566"/>
            <a:ext cx="1143000" cy="369332"/>
          </a:xfrm>
          <a:prstGeom prst="rect">
            <a:avLst/>
          </a:prstGeom>
          <a:noFill/>
        </p:spPr>
        <p:txBody>
          <a:bodyPr wrap="square" rtlCol="0">
            <a:spAutoFit/>
          </a:bodyPr>
          <a:lstStyle/>
          <a:p>
            <a:r>
              <a:rPr lang="en-US" dirty="0" smtClean="0"/>
              <a:t>Consumer</a:t>
            </a:r>
            <a:endParaRPr lang="en-US" dirty="0"/>
          </a:p>
        </p:txBody>
      </p:sp>
      <p:sp>
        <p:nvSpPr>
          <p:cNvPr id="9" name="Rectangle 8"/>
          <p:cNvSpPr/>
          <p:nvPr/>
        </p:nvSpPr>
        <p:spPr>
          <a:xfrm>
            <a:off x="4267200" y="3276600"/>
            <a:ext cx="2343150" cy="21031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blocked</a:t>
            </a:r>
            <a:endParaRPr lang="en-US" dirty="0"/>
          </a:p>
        </p:txBody>
      </p:sp>
      <p:sp>
        <p:nvSpPr>
          <p:cNvPr id="10" name="Down Arrow 9"/>
          <p:cNvSpPr/>
          <p:nvPr/>
        </p:nvSpPr>
        <p:spPr>
          <a:xfrm rot="10800000">
            <a:off x="4724400" y="3645932"/>
            <a:ext cx="3810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572000" y="3962400"/>
            <a:ext cx="685800" cy="369332"/>
          </a:xfrm>
          <a:prstGeom prst="rect">
            <a:avLst/>
          </a:prstGeom>
          <a:noFill/>
        </p:spPr>
        <p:txBody>
          <a:bodyPr wrap="square" rtlCol="0">
            <a:spAutoFit/>
          </a:bodyPr>
          <a:lstStyle/>
          <a:p>
            <a:pPr algn="ctr"/>
            <a:r>
              <a:rPr lang="en-US" dirty="0" smtClean="0"/>
              <a:t>wait</a:t>
            </a:r>
            <a:endParaRPr lang="en-US" dirty="0"/>
          </a:p>
        </p:txBody>
      </p:sp>
      <p:sp>
        <p:nvSpPr>
          <p:cNvPr id="13" name="TextBox 12"/>
          <p:cNvSpPr txBox="1"/>
          <p:nvPr/>
        </p:nvSpPr>
        <p:spPr>
          <a:xfrm>
            <a:off x="5543548" y="3962400"/>
            <a:ext cx="1314451" cy="369332"/>
          </a:xfrm>
          <a:prstGeom prst="rect">
            <a:avLst/>
          </a:prstGeom>
          <a:noFill/>
        </p:spPr>
        <p:txBody>
          <a:bodyPr wrap="square" rtlCol="0">
            <a:spAutoFit/>
          </a:bodyPr>
          <a:lstStyle/>
          <a:p>
            <a:pPr algn="ctr"/>
            <a:r>
              <a:rPr lang="en-US" dirty="0"/>
              <a:t>n</a:t>
            </a:r>
            <a:r>
              <a:rPr lang="en-US" dirty="0" smtClean="0"/>
              <a:t>o wakeup</a:t>
            </a:r>
            <a:endParaRPr lang="en-US" dirty="0"/>
          </a:p>
        </p:txBody>
      </p:sp>
      <p:sp>
        <p:nvSpPr>
          <p:cNvPr id="14" name="Oval 13"/>
          <p:cNvSpPr/>
          <p:nvPr/>
        </p:nvSpPr>
        <p:spPr>
          <a:xfrm>
            <a:off x="2438400" y="2426732"/>
            <a:ext cx="3581400" cy="6096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err="1" smtClean="0"/>
              <a:t>condition_variable</a:t>
            </a:r>
            <a:endParaRPr lang="en-US" dirty="0"/>
          </a:p>
        </p:txBody>
      </p:sp>
      <p:cxnSp>
        <p:nvCxnSpPr>
          <p:cNvPr id="15" name="Straight Arrow Connector 14"/>
          <p:cNvCxnSpPr/>
          <p:nvPr/>
        </p:nvCxnSpPr>
        <p:spPr>
          <a:xfrm flipV="1">
            <a:off x="4914900" y="2963049"/>
            <a:ext cx="0" cy="23151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Down Arrow 15"/>
          <p:cNvSpPr/>
          <p:nvPr/>
        </p:nvSpPr>
        <p:spPr>
          <a:xfrm>
            <a:off x="2533650" y="1521578"/>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TextBox 16"/>
          <p:cNvSpPr txBox="1"/>
          <p:nvPr/>
        </p:nvSpPr>
        <p:spPr>
          <a:xfrm>
            <a:off x="2247900" y="1219200"/>
            <a:ext cx="952500" cy="369332"/>
          </a:xfrm>
          <a:prstGeom prst="rect">
            <a:avLst/>
          </a:prstGeom>
          <a:noFill/>
        </p:spPr>
        <p:txBody>
          <a:bodyPr wrap="square" rtlCol="0">
            <a:spAutoFit/>
          </a:bodyPr>
          <a:lstStyle/>
          <a:p>
            <a:pPr algn="ctr"/>
            <a:r>
              <a:rPr lang="en-US" dirty="0" smtClean="0"/>
              <a:t>notify</a:t>
            </a:r>
            <a:endParaRPr lang="en-US" dirty="0"/>
          </a:p>
        </p:txBody>
      </p:sp>
      <p:sp>
        <p:nvSpPr>
          <p:cNvPr id="18" name="TextBox 17"/>
          <p:cNvSpPr txBox="1"/>
          <p:nvPr/>
        </p:nvSpPr>
        <p:spPr>
          <a:xfrm>
            <a:off x="161924" y="2401669"/>
            <a:ext cx="1933575" cy="646331"/>
          </a:xfrm>
          <a:prstGeom prst="rect">
            <a:avLst/>
          </a:prstGeom>
          <a:noFill/>
        </p:spPr>
        <p:txBody>
          <a:bodyPr wrap="square" rtlCol="0">
            <a:spAutoFit/>
          </a:bodyPr>
          <a:lstStyle/>
          <a:p>
            <a:r>
              <a:rPr lang="en-US" dirty="0" smtClean="0"/>
              <a:t>Shared </a:t>
            </a:r>
            <a:r>
              <a:rPr lang="en-US" dirty="0" err="1" smtClean="0"/>
              <a:t>condition_variable</a:t>
            </a:r>
            <a:endParaRPr lang="en-US" dirty="0"/>
          </a:p>
        </p:txBody>
      </p:sp>
      <p:sp>
        <p:nvSpPr>
          <p:cNvPr id="21" name="Rectangle 20"/>
          <p:cNvSpPr/>
          <p:nvPr/>
        </p:nvSpPr>
        <p:spPr>
          <a:xfrm>
            <a:off x="1524000" y="3194566"/>
            <a:ext cx="33909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ate Placeholder 11"/>
          <p:cNvSpPr>
            <a:spLocks noGrp="1"/>
          </p:cNvSpPr>
          <p:nvPr>
            <p:ph type="dt" sz="half" idx="10"/>
          </p:nvPr>
        </p:nvSpPr>
        <p:spPr/>
        <p:txBody>
          <a:bodyPr/>
          <a:lstStyle/>
          <a:p>
            <a:r>
              <a:rPr lang="cs-CZ" smtClean="0"/>
              <a:t>19.1.2014</a:t>
            </a:r>
            <a:endParaRPr lang="en-US"/>
          </a:p>
        </p:txBody>
      </p:sp>
      <p:sp>
        <p:nvSpPr>
          <p:cNvPr id="20" name="Slide Number Placeholder 19"/>
          <p:cNvSpPr>
            <a:spLocks noGrp="1"/>
          </p:cNvSpPr>
          <p:nvPr>
            <p:ph type="sldNum" sz="quarter" idx="12"/>
          </p:nvPr>
        </p:nvSpPr>
        <p:spPr/>
        <p:txBody>
          <a:bodyPr/>
          <a:lstStyle/>
          <a:p>
            <a:fld id="{B6F15528-21DE-4FAA-801E-634DDDAF4B2B}" type="slidenum">
              <a:rPr lang="en-US" smtClean="0"/>
              <a:pPr/>
              <a:t>91</a:t>
            </a:fld>
            <a:endParaRPr lang="en-US"/>
          </a:p>
        </p:txBody>
      </p:sp>
    </p:spTree>
    <p:extLst>
      <p:ext uri="{BB962C8B-B14F-4D97-AF65-F5344CB8AC3E}">
        <p14:creationId xmlns:p14="http://schemas.microsoft.com/office/powerpoint/2010/main" val="61822169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notify_one</a:t>
            </a:r>
            <a:endParaRPr lang="en-US" dirty="0"/>
          </a:p>
        </p:txBody>
      </p:sp>
      <p:sp>
        <p:nvSpPr>
          <p:cNvPr id="3" name="Content Placeholder 2"/>
          <p:cNvSpPr>
            <a:spLocks noGrp="1"/>
          </p:cNvSpPr>
          <p:nvPr>
            <p:ph idx="1"/>
          </p:nvPr>
        </p:nvSpPr>
        <p:spPr>
          <a:xfrm>
            <a:off x="418415" y="1388850"/>
            <a:ext cx="8229600" cy="759123"/>
          </a:xfrm>
        </p:spPr>
        <p:txBody>
          <a:bodyPr>
            <a:normAutofit fontScale="85000" lnSpcReduction="10000"/>
          </a:bodyPr>
          <a:lstStyle/>
          <a:p>
            <a:pPr marL="0" indent="0">
              <a:buNone/>
            </a:pPr>
            <a:r>
              <a:rPr lang="en-US" dirty="0" err="1" smtClean="0">
                <a:latin typeface="Courier New" pitchFamily="49" charset="0"/>
                <a:cs typeface="Courier New" pitchFamily="49" charset="0"/>
              </a:rPr>
              <a:t>notify_one</a:t>
            </a:r>
            <a:r>
              <a:rPr lang="en-US" dirty="0" smtClean="0"/>
              <a:t> wakes up only one consumer thread!</a:t>
            </a:r>
            <a:endParaRPr lang="en-US" dirty="0"/>
          </a:p>
        </p:txBody>
      </p:sp>
      <p:cxnSp>
        <p:nvCxnSpPr>
          <p:cNvPr id="4" name="Straight Arrow Connector 3"/>
          <p:cNvCxnSpPr/>
          <p:nvPr/>
        </p:nvCxnSpPr>
        <p:spPr>
          <a:xfrm>
            <a:off x="3869014" y="3510642"/>
            <a:ext cx="0" cy="58965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Right Arrow 4"/>
          <p:cNvSpPr/>
          <p:nvPr/>
        </p:nvSpPr>
        <p:spPr>
          <a:xfrm>
            <a:off x="1524000" y="2983076"/>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52400" y="3141310"/>
            <a:ext cx="1143000" cy="369332"/>
          </a:xfrm>
          <a:prstGeom prst="rect">
            <a:avLst/>
          </a:prstGeom>
          <a:noFill/>
        </p:spPr>
        <p:txBody>
          <a:bodyPr wrap="square" rtlCol="0">
            <a:spAutoFit/>
          </a:bodyPr>
          <a:lstStyle/>
          <a:p>
            <a:r>
              <a:rPr lang="en-US" dirty="0" smtClean="0"/>
              <a:t>Producer</a:t>
            </a:r>
            <a:endParaRPr lang="en-US" dirty="0"/>
          </a:p>
        </p:txBody>
      </p:sp>
      <p:sp>
        <p:nvSpPr>
          <p:cNvPr id="7" name="Right Arrow 6"/>
          <p:cNvSpPr/>
          <p:nvPr/>
        </p:nvSpPr>
        <p:spPr>
          <a:xfrm>
            <a:off x="1524000" y="3942062"/>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52400" y="4100296"/>
            <a:ext cx="1371600" cy="369332"/>
          </a:xfrm>
          <a:prstGeom prst="rect">
            <a:avLst/>
          </a:prstGeom>
          <a:noFill/>
        </p:spPr>
        <p:txBody>
          <a:bodyPr wrap="square" rtlCol="0">
            <a:spAutoFit/>
          </a:bodyPr>
          <a:lstStyle/>
          <a:p>
            <a:r>
              <a:rPr lang="en-US" dirty="0" smtClean="0"/>
              <a:t>Consumer 1</a:t>
            </a:r>
            <a:endParaRPr lang="en-US" dirty="0"/>
          </a:p>
        </p:txBody>
      </p:sp>
      <p:sp>
        <p:nvSpPr>
          <p:cNvPr id="9" name="Rectangle 8"/>
          <p:cNvSpPr/>
          <p:nvPr/>
        </p:nvSpPr>
        <p:spPr>
          <a:xfrm>
            <a:off x="2438400" y="4100296"/>
            <a:ext cx="1588793" cy="369332"/>
          </a:xfrm>
          <a:prstGeom prst="rect">
            <a:avLst/>
          </a:prstGeom>
          <a:pattFill prst="dashVert">
            <a:fgClr>
              <a:schemeClr val="lt1"/>
            </a:fgClr>
            <a:bgClr>
              <a:schemeClr val="bg1"/>
            </a:bgClr>
          </a:patt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0" name="Down Arrow 9"/>
          <p:cNvSpPr/>
          <p:nvPr/>
        </p:nvSpPr>
        <p:spPr>
          <a:xfrm rot="10800000">
            <a:off x="2247900" y="4491280"/>
            <a:ext cx="3810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095500" y="4807748"/>
            <a:ext cx="685800" cy="369332"/>
          </a:xfrm>
          <a:prstGeom prst="rect">
            <a:avLst/>
          </a:prstGeom>
          <a:noFill/>
        </p:spPr>
        <p:txBody>
          <a:bodyPr wrap="square" rtlCol="0">
            <a:spAutoFit/>
          </a:bodyPr>
          <a:lstStyle/>
          <a:p>
            <a:pPr algn="ctr"/>
            <a:r>
              <a:rPr lang="en-US" dirty="0" smtClean="0"/>
              <a:t>wait</a:t>
            </a:r>
            <a:endParaRPr lang="en-US" dirty="0"/>
          </a:p>
        </p:txBody>
      </p:sp>
      <p:sp>
        <p:nvSpPr>
          <p:cNvPr id="12" name="Down Arrow 11"/>
          <p:cNvSpPr/>
          <p:nvPr/>
        </p:nvSpPr>
        <p:spPr>
          <a:xfrm rot="10800000">
            <a:off x="3836694" y="4491281"/>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 name="TextBox 12"/>
          <p:cNvSpPr txBox="1"/>
          <p:nvPr/>
        </p:nvSpPr>
        <p:spPr>
          <a:xfrm>
            <a:off x="3550943" y="4828516"/>
            <a:ext cx="952500" cy="369332"/>
          </a:xfrm>
          <a:prstGeom prst="rect">
            <a:avLst/>
          </a:prstGeom>
          <a:noFill/>
        </p:spPr>
        <p:txBody>
          <a:bodyPr wrap="square" rtlCol="0">
            <a:spAutoFit/>
          </a:bodyPr>
          <a:lstStyle/>
          <a:p>
            <a:pPr algn="ctr"/>
            <a:r>
              <a:rPr lang="en-US" dirty="0" smtClean="0"/>
              <a:t>wakeup</a:t>
            </a:r>
            <a:endParaRPr lang="en-US" dirty="0"/>
          </a:p>
        </p:txBody>
      </p:sp>
      <p:sp>
        <p:nvSpPr>
          <p:cNvPr id="16" name="Down Arrow 15"/>
          <p:cNvSpPr/>
          <p:nvPr/>
        </p:nvSpPr>
        <p:spPr>
          <a:xfrm>
            <a:off x="3678514" y="2763722"/>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TextBox 16"/>
          <p:cNvSpPr txBox="1"/>
          <p:nvPr/>
        </p:nvSpPr>
        <p:spPr>
          <a:xfrm>
            <a:off x="3249889" y="2429715"/>
            <a:ext cx="1238250" cy="369332"/>
          </a:xfrm>
          <a:prstGeom prst="rect">
            <a:avLst/>
          </a:prstGeom>
          <a:noFill/>
        </p:spPr>
        <p:txBody>
          <a:bodyPr wrap="square" rtlCol="0">
            <a:spAutoFit/>
          </a:bodyPr>
          <a:lstStyle/>
          <a:p>
            <a:pPr algn="ctr"/>
            <a:r>
              <a:rPr lang="en-US" dirty="0" err="1" smtClean="0"/>
              <a:t>notify_one</a:t>
            </a:r>
            <a:endParaRPr lang="en-US" dirty="0"/>
          </a:p>
        </p:txBody>
      </p:sp>
      <p:sp>
        <p:nvSpPr>
          <p:cNvPr id="21" name="Right Arrow 20"/>
          <p:cNvSpPr/>
          <p:nvPr/>
        </p:nvSpPr>
        <p:spPr>
          <a:xfrm>
            <a:off x="1524000" y="5026070"/>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52400" y="5184304"/>
            <a:ext cx="1371600" cy="369332"/>
          </a:xfrm>
          <a:prstGeom prst="rect">
            <a:avLst/>
          </a:prstGeom>
          <a:noFill/>
        </p:spPr>
        <p:txBody>
          <a:bodyPr wrap="square" rtlCol="0">
            <a:spAutoFit/>
          </a:bodyPr>
          <a:lstStyle/>
          <a:p>
            <a:r>
              <a:rPr lang="en-US" dirty="0" smtClean="0"/>
              <a:t>Consumer 2</a:t>
            </a:r>
            <a:endParaRPr lang="en-US" dirty="0"/>
          </a:p>
        </p:txBody>
      </p:sp>
      <p:sp>
        <p:nvSpPr>
          <p:cNvPr id="23" name="Rectangle 22"/>
          <p:cNvSpPr/>
          <p:nvPr/>
        </p:nvSpPr>
        <p:spPr>
          <a:xfrm>
            <a:off x="3111227" y="5173267"/>
            <a:ext cx="2194018" cy="369332"/>
          </a:xfrm>
          <a:prstGeom prst="rect">
            <a:avLst/>
          </a:prstGeom>
          <a:pattFill prst="pct5">
            <a:fgClr>
              <a:schemeClr val="lt1"/>
            </a:fgClr>
            <a:bgClr>
              <a:schemeClr val="bg1"/>
            </a:bgClr>
          </a:patt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4" name="Down Arrow 23"/>
          <p:cNvSpPr/>
          <p:nvPr/>
        </p:nvSpPr>
        <p:spPr>
          <a:xfrm rot="10800000">
            <a:off x="2920728" y="5575288"/>
            <a:ext cx="3810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2768328" y="5891756"/>
            <a:ext cx="685800" cy="369332"/>
          </a:xfrm>
          <a:prstGeom prst="rect">
            <a:avLst/>
          </a:prstGeom>
          <a:noFill/>
        </p:spPr>
        <p:txBody>
          <a:bodyPr wrap="square" rtlCol="0">
            <a:spAutoFit/>
          </a:bodyPr>
          <a:lstStyle/>
          <a:p>
            <a:pPr algn="ctr"/>
            <a:r>
              <a:rPr lang="en-US" dirty="0" smtClean="0"/>
              <a:t>wait</a:t>
            </a:r>
            <a:endParaRPr lang="en-US" dirty="0"/>
          </a:p>
        </p:txBody>
      </p:sp>
      <p:sp>
        <p:nvSpPr>
          <p:cNvPr id="26" name="Down Arrow 25"/>
          <p:cNvSpPr/>
          <p:nvPr/>
        </p:nvSpPr>
        <p:spPr>
          <a:xfrm rot="10800000">
            <a:off x="5104716" y="5575289"/>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TextBox 26"/>
          <p:cNvSpPr txBox="1"/>
          <p:nvPr/>
        </p:nvSpPr>
        <p:spPr>
          <a:xfrm>
            <a:off x="4818965" y="5912524"/>
            <a:ext cx="952500" cy="369332"/>
          </a:xfrm>
          <a:prstGeom prst="rect">
            <a:avLst/>
          </a:prstGeom>
          <a:noFill/>
        </p:spPr>
        <p:txBody>
          <a:bodyPr wrap="square" rtlCol="0">
            <a:spAutoFit/>
          </a:bodyPr>
          <a:lstStyle/>
          <a:p>
            <a:pPr algn="ctr"/>
            <a:r>
              <a:rPr lang="en-US" dirty="0" smtClean="0"/>
              <a:t>wakeup</a:t>
            </a:r>
            <a:endParaRPr lang="en-US" dirty="0"/>
          </a:p>
        </p:txBody>
      </p:sp>
      <p:cxnSp>
        <p:nvCxnSpPr>
          <p:cNvPr id="28" name="Straight Arrow Connector 27"/>
          <p:cNvCxnSpPr/>
          <p:nvPr/>
        </p:nvCxnSpPr>
        <p:spPr>
          <a:xfrm>
            <a:off x="5152340" y="3510642"/>
            <a:ext cx="0" cy="167366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9" name="Down Arrow 28"/>
          <p:cNvSpPr/>
          <p:nvPr/>
        </p:nvSpPr>
        <p:spPr>
          <a:xfrm>
            <a:off x="4961840" y="2763722"/>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0" name="TextBox 29"/>
          <p:cNvSpPr txBox="1"/>
          <p:nvPr/>
        </p:nvSpPr>
        <p:spPr>
          <a:xfrm>
            <a:off x="4533215" y="2429715"/>
            <a:ext cx="1238250" cy="369332"/>
          </a:xfrm>
          <a:prstGeom prst="rect">
            <a:avLst/>
          </a:prstGeom>
          <a:noFill/>
        </p:spPr>
        <p:txBody>
          <a:bodyPr wrap="square" rtlCol="0">
            <a:spAutoFit/>
          </a:bodyPr>
          <a:lstStyle/>
          <a:p>
            <a:pPr algn="ctr"/>
            <a:r>
              <a:rPr lang="en-US" dirty="0" err="1" smtClean="0"/>
              <a:t>notify_one</a:t>
            </a:r>
            <a:endParaRPr lang="en-US" dirty="0"/>
          </a:p>
        </p:txBody>
      </p:sp>
      <p:sp>
        <p:nvSpPr>
          <p:cNvPr id="14" name="Date Placeholder 13"/>
          <p:cNvSpPr>
            <a:spLocks noGrp="1"/>
          </p:cNvSpPr>
          <p:nvPr>
            <p:ph type="dt" sz="half" idx="10"/>
          </p:nvPr>
        </p:nvSpPr>
        <p:spPr/>
        <p:txBody>
          <a:bodyPr/>
          <a:lstStyle/>
          <a:p>
            <a:r>
              <a:rPr lang="cs-CZ" smtClean="0"/>
              <a:t>19.1.2014</a:t>
            </a:r>
            <a:endParaRPr lang="en-US"/>
          </a:p>
        </p:txBody>
      </p:sp>
      <p:sp>
        <p:nvSpPr>
          <p:cNvPr id="18" name="Slide Number Placeholder 17"/>
          <p:cNvSpPr>
            <a:spLocks noGrp="1"/>
          </p:cNvSpPr>
          <p:nvPr>
            <p:ph type="sldNum" sz="quarter" idx="12"/>
          </p:nvPr>
        </p:nvSpPr>
        <p:spPr/>
        <p:txBody>
          <a:bodyPr/>
          <a:lstStyle/>
          <a:p>
            <a:fld id="{B6F15528-21DE-4FAA-801E-634DDDAF4B2B}" type="slidenum">
              <a:rPr lang="en-US" smtClean="0"/>
              <a:pPr/>
              <a:t>92</a:t>
            </a:fld>
            <a:endParaRPr lang="en-US"/>
          </a:p>
        </p:txBody>
      </p:sp>
    </p:spTree>
    <p:extLst>
      <p:ext uri="{BB962C8B-B14F-4D97-AF65-F5344CB8AC3E}">
        <p14:creationId xmlns:p14="http://schemas.microsoft.com/office/powerpoint/2010/main" val="196255782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notify_all</a:t>
            </a:r>
            <a:endParaRPr lang="en-US" dirty="0"/>
          </a:p>
        </p:txBody>
      </p:sp>
      <p:sp>
        <p:nvSpPr>
          <p:cNvPr id="4" name="Content Placeholder 2"/>
          <p:cNvSpPr>
            <a:spLocks noGrp="1"/>
          </p:cNvSpPr>
          <p:nvPr>
            <p:ph idx="1"/>
          </p:nvPr>
        </p:nvSpPr>
        <p:spPr>
          <a:xfrm>
            <a:off x="418415" y="1388850"/>
            <a:ext cx="8229600" cy="759123"/>
          </a:xfrm>
        </p:spPr>
        <p:txBody>
          <a:bodyPr>
            <a:normAutofit/>
          </a:bodyPr>
          <a:lstStyle/>
          <a:p>
            <a:pPr marL="0" indent="0">
              <a:buNone/>
            </a:pPr>
            <a:r>
              <a:rPr lang="en-US" dirty="0" err="1" smtClean="0">
                <a:latin typeface="Courier New" pitchFamily="49" charset="0"/>
                <a:cs typeface="Courier New" pitchFamily="49" charset="0"/>
              </a:rPr>
              <a:t>notify_all</a:t>
            </a:r>
            <a:r>
              <a:rPr lang="en-US" dirty="0" smtClean="0"/>
              <a:t> wakes up all consumer threads!</a:t>
            </a:r>
            <a:endParaRPr lang="en-US" dirty="0"/>
          </a:p>
        </p:txBody>
      </p:sp>
      <p:sp>
        <p:nvSpPr>
          <p:cNvPr id="6" name="Right Arrow 5"/>
          <p:cNvSpPr/>
          <p:nvPr/>
        </p:nvSpPr>
        <p:spPr>
          <a:xfrm>
            <a:off x="1524000" y="2983076"/>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52400" y="3141310"/>
            <a:ext cx="1143000" cy="369332"/>
          </a:xfrm>
          <a:prstGeom prst="rect">
            <a:avLst/>
          </a:prstGeom>
          <a:noFill/>
        </p:spPr>
        <p:txBody>
          <a:bodyPr wrap="square" rtlCol="0">
            <a:spAutoFit/>
          </a:bodyPr>
          <a:lstStyle/>
          <a:p>
            <a:r>
              <a:rPr lang="en-US" dirty="0" smtClean="0"/>
              <a:t>Producer</a:t>
            </a:r>
            <a:endParaRPr lang="en-US" dirty="0"/>
          </a:p>
        </p:txBody>
      </p:sp>
      <p:sp>
        <p:nvSpPr>
          <p:cNvPr id="8" name="Right Arrow 7"/>
          <p:cNvSpPr/>
          <p:nvPr/>
        </p:nvSpPr>
        <p:spPr>
          <a:xfrm>
            <a:off x="1524000" y="3942062"/>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52400" y="4100296"/>
            <a:ext cx="1371600" cy="369332"/>
          </a:xfrm>
          <a:prstGeom prst="rect">
            <a:avLst/>
          </a:prstGeom>
          <a:noFill/>
        </p:spPr>
        <p:txBody>
          <a:bodyPr wrap="square" rtlCol="0">
            <a:spAutoFit/>
          </a:bodyPr>
          <a:lstStyle/>
          <a:p>
            <a:r>
              <a:rPr lang="en-US" dirty="0" smtClean="0"/>
              <a:t>Consumer 1</a:t>
            </a:r>
            <a:endParaRPr lang="en-US" dirty="0"/>
          </a:p>
        </p:txBody>
      </p:sp>
      <p:sp>
        <p:nvSpPr>
          <p:cNvPr id="10" name="Rectangle 9"/>
          <p:cNvSpPr/>
          <p:nvPr/>
        </p:nvSpPr>
        <p:spPr>
          <a:xfrm>
            <a:off x="2438400" y="4100296"/>
            <a:ext cx="2400300" cy="369332"/>
          </a:xfrm>
          <a:prstGeom prst="rect">
            <a:avLst/>
          </a:prstGeom>
          <a:pattFill prst="dashVert">
            <a:fgClr>
              <a:schemeClr val="lt1"/>
            </a:fgClr>
            <a:bgClr>
              <a:schemeClr val="bg1"/>
            </a:bgClr>
          </a:patt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1" name="Down Arrow 10"/>
          <p:cNvSpPr/>
          <p:nvPr/>
        </p:nvSpPr>
        <p:spPr>
          <a:xfrm rot="10800000">
            <a:off x="2247900" y="4491280"/>
            <a:ext cx="3810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2095500" y="4807748"/>
            <a:ext cx="685800" cy="369332"/>
          </a:xfrm>
          <a:prstGeom prst="rect">
            <a:avLst/>
          </a:prstGeom>
          <a:noFill/>
        </p:spPr>
        <p:txBody>
          <a:bodyPr wrap="square" rtlCol="0">
            <a:spAutoFit/>
          </a:bodyPr>
          <a:lstStyle/>
          <a:p>
            <a:pPr algn="ctr"/>
            <a:r>
              <a:rPr lang="en-US" dirty="0" smtClean="0"/>
              <a:t>wait</a:t>
            </a:r>
            <a:endParaRPr lang="en-US" dirty="0"/>
          </a:p>
        </p:txBody>
      </p:sp>
      <p:sp>
        <p:nvSpPr>
          <p:cNvPr id="13" name="Down Arrow 12"/>
          <p:cNvSpPr/>
          <p:nvPr/>
        </p:nvSpPr>
        <p:spPr>
          <a:xfrm rot="10800000">
            <a:off x="4630286" y="4491281"/>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TextBox 13"/>
          <p:cNvSpPr txBox="1"/>
          <p:nvPr/>
        </p:nvSpPr>
        <p:spPr>
          <a:xfrm>
            <a:off x="4344535" y="4828516"/>
            <a:ext cx="952500" cy="369332"/>
          </a:xfrm>
          <a:prstGeom prst="rect">
            <a:avLst/>
          </a:prstGeom>
          <a:noFill/>
        </p:spPr>
        <p:txBody>
          <a:bodyPr wrap="square" rtlCol="0">
            <a:spAutoFit/>
          </a:bodyPr>
          <a:lstStyle/>
          <a:p>
            <a:pPr algn="ctr"/>
            <a:r>
              <a:rPr lang="en-US" dirty="0" smtClean="0"/>
              <a:t>wakeup</a:t>
            </a:r>
            <a:endParaRPr lang="en-US" dirty="0"/>
          </a:p>
        </p:txBody>
      </p:sp>
      <p:sp>
        <p:nvSpPr>
          <p:cNvPr id="17" name="Right Arrow 16"/>
          <p:cNvSpPr/>
          <p:nvPr/>
        </p:nvSpPr>
        <p:spPr>
          <a:xfrm>
            <a:off x="1524000" y="5026070"/>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52400" y="5184304"/>
            <a:ext cx="1371600" cy="369332"/>
          </a:xfrm>
          <a:prstGeom prst="rect">
            <a:avLst/>
          </a:prstGeom>
          <a:noFill/>
        </p:spPr>
        <p:txBody>
          <a:bodyPr wrap="square" rtlCol="0">
            <a:spAutoFit/>
          </a:bodyPr>
          <a:lstStyle/>
          <a:p>
            <a:r>
              <a:rPr lang="en-US" dirty="0" smtClean="0"/>
              <a:t>Consumer 2</a:t>
            </a:r>
            <a:endParaRPr lang="en-US" dirty="0"/>
          </a:p>
        </p:txBody>
      </p:sp>
      <p:sp>
        <p:nvSpPr>
          <p:cNvPr id="19" name="Rectangle 18"/>
          <p:cNvSpPr/>
          <p:nvPr/>
        </p:nvSpPr>
        <p:spPr>
          <a:xfrm>
            <a:off x="3111227" y="5173267"/>
            <a:ext cx="2194018" cy="369332"/>
          </a:xfrm>
          <a:prstGeom prst="rect">
            <a:avLst/>
          </a:prstGeom>
          <a:pattFill prst="pct5">
            <a:fgClr>
              <a:schemeClr val="lt1"/>
            </a:fgClr>
            <a:bgClr>
              <a:schemeClr val="bg1"/>
            </a:bgClr>
          </a:patt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20" name="Down Arrow 19"/>
          <p:cNvSpPr/>
          <p:nvPr/>
        </p:nvSpPr>
        <p:spPr>
          <a:xfrm rot="10800000">
            <a:off x="2920728" y="5575288"/>
            <a:ext cx="3810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2768328" y="5891756"/>
            <a:ext cx="685800" cy="369332"/>
          </a:xfrm>
          <a:prstGeom prst="rect">
            <a:avLst/>
          </a:prstGeom>
          <a:noFill/>
        </p:spPr>
        <p:txBody>
          <a:bodyPr wrap="square" rtlCol="0">
            <a:spAutoFit/>
          </a:bodyPr>
          <a:lstStyle/>
          <a:p>
            <a:pPr algn="ctr"/>
            <a:r>
              <a:rPr lang="en-US" dirty="0" smtClean="0"/>
              <a:t>wait</a:t>
            </a:r>
            <a:endParaRPr lang="en-US" dirty="0"/>
          </a:p>
        </p:txBody>
      </p:sp>
      <p:sp>
        <p:nvSpPr>
          <p:cNvPr id="22" name="Down Arrow 21"/>
          <p:cNvSpPr/>
          <p:nvPr/>
        </p:nvSpPr>
        <p:spPr>
          <a:xfrm rot="10800000">
            <a:off x="5104716" y="5575289"/>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TextBox 22"/>
          <p:cNvSpPr txBox="1"/>
          <p:nvPr/>
        </p:nvSpPr>
        <p:spPr>
          <a:xfrm>
            <a:off x="4818965" y="5912524"/>
            <a:ext cx="952500" cy="369332"/>
          </a:xfrm>
          <a:prstGeom prst="rect">
            <a:avLst/>
          </a:prstGeom>
          <a:noFill/>
        </p:spPr>
        <p:txBody>
          <a:bodyPr wrap="square" rtlCol="0">
            <a:spAutoFit/>
          </a:bodyPr>
          <a:lstStyle/>
          <a:p>
            <a:pPr algn="ctr"/>
            <a:r>
              <a:rPr lang="en-US" dirty="0" smtClean="0"/>
              <a:t>wakeup</a:t>
            </a:r>
            <a:endParaRPr lang="en-US" dirty="0"/>
          </a:p>
        </p:txBody>
      </p:sp>
      <p:cxnSp>
        <p:nvCxnSpPr>
          <p:cNvPr id="24" name="Straight Arrow Connector 23"/>
          <p:cNvCxnSpPr/>
          <p:nvPr/>
        </p:nvCxnSpPr>
        <p:spPr>
          <a:xfrm>
            <a:off x="4324244" y="3510642"/>
            <a:ext cx="0" cy="167366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Down Arrow 24"/>
          <p:cNvSpPr/>
          <p:nvPr/>
        </p:nvSpPr>
        <p:spPr>
          <a:xfrm>
            <a:off x="4133744" y="2763722"/>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TextBox 25"/>
          <p:cNvSpPr txBox="1"/>
          <p:nvPr/>
        </p:nvSpPr>
        <p:spPr>
          <a:xfrm>
            <a:off x="3705119" y="2429715"/>
            <a:ext cx="1238250" cy="369332"/>
          </a:xfrm>
          <a:prstGeom prst="rect">
            <a:avLst/>
          </a:prstGeom>
          <a:noFill/>
        </p:spPr>
        <p:txBody>
          <a:bodyPr wrap="square" rtlCol="0">
            <a:spAutoFit/>
          </a:bodyPr>
          <a:lstStyle/>
          <a:p>
            <a:pPr algn="ctr"/>
            <a:r>
              <a:rPr lang="en-US" dirty="0" err="1" smtClean="0"/>
              <a:t>notify_all</a:t>
            </a:r>
            <a:endParaRPr lang="en-US" dirty="0"/>
          </a:p>
        </p:txBody>
      </p:sp>
      <p:cxnSp>
        <p:nvCxnSpPr>
          <p:cNvPr id="27" name="Straight Arrow Connector 26"/>
          <p:cNvCxnSpPr/>
          <p:nvPr/>
        </p:nvCxnSpPr>
        <p:spPr>
          <a:xfrm>
            <a:off x="4321376" y="3499605"/>
            <a:ext cx="0" cy="60069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Date Placeholder 2"/>
          <p:cNvSpPr>
            <a:spLocks noGrp="1"/>
          </p:cNvSpPr>
          <p:nvPr>
            <p:ph type="dt" sz="half" idx="10"/>
          </p:nvPr>
        </p:nvSpPr>
        <p:spPr/>
        <p:txBody>
          <a:bodyPr/>
          <a:lstStyle/>
          <a:p>
            <a:r>
              <a:rPr lang="cs-CZ" smtClean="0"/>
              <a:t>19.1.2014</a:t>
            </a:r>
            <a:endParaRPr lang="en-US"/>
          </a:p>
        </p:txBody>
      </p:sp>
      <p:sp>
        <p:nvSpPr>
          <p:cNvPr id="15" name="Slide Number Placeholder 14"/>
          <p:cNvSpPr>
            <a:spLocks noGrp="1"/>
          </p:cNvSpPr>
          <p:nvPr>
            <p:ph type="sldNum" sz="quarter" idx="12"/>
          </p:nvPr>
        </p:nvSpPr>
        <p:spPr/>
        <p:txBody>
          <a:bodyPr/>
          <a:lstStyle/>
          <a:p>
            <a:fld id="{B6F15528-21DE-4FAA-801E-634DDDAF4B2B}" type="slidenum">
              <a:rPr lang="en-US" smtClean="0"/>
              <a:pPr/>
              <a:t>93</a:t>
            </a:fld>
            <a:endParaRPr lang="en-US"/>
          </a:p>
        </p:txBody>
      </p:sp>
    </p:spTree>
    <p:extLst>
      <p:ext uri="{BB962C8B-B14F-4D97-AF65-F5344CB8AC3E}">
        <p14:creationId xmlns:p14="http://schemas.microsoft.com/office/powerpoint/2010/main" val="126117852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Spurious wakeup</a:t>
            </a:r>
            <a:endParaRPr lang="en-US" dirty="0"/>
          </a:p>
        </p:txBody>
      </p:sp>
      <p:sp>
        <p:nvSpPr>
          <p:cNvPr id="4" name="Content Placeholder 2"/>
          <p:cNvSpPr>
            <a:spLocks noGrp="1"/>
          </p:cNvSpPr>
          <p:nvPr>
            <p:ph idx="1"/>
          </p:nvPr>
        </p:nvSpPr>
        <p:spPr>
          <a:xfrm>
            <a:off x="418415" y="1388849"/>
            <a:ext cx="8229600" cy="2165233"/>
          </a:xfrm>
        </p:spPr>
        <p:txBody>
          <a:bodyPr>
            <a:normAutofit fontScale="85000" lnSpcReduction="10000"/>
          </a:bodyPr>
          <a:lstStyle/>
          <a:p>
            <a:r>
              <a:rPr lang="en-US" dirty="0" smtClean="0"/>
              <a:t>Allows </a:t>
            </a:r>
            <a:r>
              <a:rPr lang="en-US" dirty="0"/>
              <a:t>flexibility in the </a:t>
            </a:r>
            <a:r>
              <a:rPr lang="en-US" dirty="0" smtClean="0"/>
              <a:t>implementation. </a:t>
            </a:r>
            <a:r>
              <a:rPr lang="en-US" dirty="0" smtClean="0">
                <a:cs typeface="Courier New" pitchFamily="49" charset="0"/>
              </a:rPr>
              <a:t>On some operating systems it is easier to implement condition variables if you can have spurious wakeup.</a:t>
            </a:r>
          </a:p>
          <a:p>
            <a:r>
              <a:rPr lang="en-US" dirty="0" smtClean="0">
                <a:cs typeface="Courier New" pitchFamily="49" charset="0"/>
              </a:rPr>
              <a:t>The consumer wakes up even though nobody called notify.</a:t>
            </a:r>
            <a:endParaRPr lang="en-US" dirty="0"/>
          </a:p>
        </p:txBody>
      </p:sp>
      <p:sp>
        <p:nvSpPr>
          <p:cNvPr id="5" name="Right Arrow 4"/>
          <p:cNvSpPr/>
          <p:nvPr/>
        </p:nvSpPr>
        <p:spPr>
          <a:xfrm>
            <a:off x="1524000" y="3819798"/>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52400" y="3978032"/>
            <a:ext cx="1143000" cy="369332"/>
          </a:xfrm>
          <a:prstGeom prst="rect">
            <a:avLst/>
          </a:prstGeom>
          <a:noFill/>
        </p:spPr>
        <p:txBody>
          <a:bodyPr wrap="square" rtlCol="0">
            <a:spAutoFit/>
          </a:bodyPr>
          <a:lstStyle/>
          <a:p>
            <a:r>
              <a:rPr lang="en-US" dirty="0" smtClean="0"/>
              <a:t>Producer</a:t>
            </a:r>
            <a:endParaRPr lang="en-US" dirty="0"/>
          </a:p>
        </p:txBody>
      </p:sp>
      <p:sp>
        <p:nvSpPr>
          <p:cNvPr id="7" name="Right Arrow 6"/>
          <p:cNvSpPr/>
          <p:nvPr/>
        </p:nvSpPr>
        <p:spPr>
          <a:xfrm>
            <a:off x="1524000" y="4778784"/>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52400" y="4937018"/>
            <a:ext cx="1371600" cy="369332"/>
          </a:xfrm>
          <a:prstGeom prst="rect">
            <a:avLst/>
          </a:prstGeom>
          <a:noFill/>
        </p:spPr>
        <p:txBody>
          <a:bodyPr wrap="square" rtlCol="0">
            <a:spAutoFit/>
          </a:bodyPr>
          <a:lstStyle/>
          <a:p>
            <a:r>
              <a:rPr lang="en-US" dirty="0" smtClean="0"/>
              <a:t>Consumer</a:t>
            </a:r>
            <a:endParaRPr lang="en-US" dirty="0"/>
          </a:p>
        </p:txBody>
      </p:sp>
      <p:sp>
        <p:nvSpPr>
          <p:cNvPr id="9" name="Rectangle 8"/>
          <p:cNvSpPr/>
          <p:nvPr/>
        </p:nvSpPr>
        <p:spPr>
          <a:xfrm>
            <a:off x="2438400" y="4937018"/>
            <a:ext cx="2400300" cy="369332"/>
          </a:xfrm>
          <a:prstGeom prst="rect">
            <a:avLst/>
          </a:prstGeom>
          <a:pattFill prst="dashVert">
            <a:fgClr>
              <a:schemeClr val="lt1"/>
            </a:fgClr>
            <a:bgClr>
              <a:schemeClr val="bg1"/>
            </a:bgClr>
          </a:patt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0" name="Down Arrow 9"/>
          <p:cNvSpPr/>
          <p:nvPr/>
        </p:nvSpPr>
        <p:spPr>
          <a:xfrm rot="10800000">
            <a:off x="2247900" y="5328002"/>
            <a:ext cx="3810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095500" y="5644470"/>
            <a:ext cx="685800" cy="369332"/>
          </a:xfrm>
          <a:prstGeom prst="rect">
            <a:avLst/>
          </a:prstGeom>
          <a:noFill/>
        </p:spPr>
        <p:txBody>
          <a:bodyPr wrap="square" rtlCol="0">
            <a:spAutoFit/>
          </a:bodyPr>
          <a:lstStyle/>
          <a:p>
            <a:pPr algn="ctr"/>
            <a:r>
              <a:rPr lang="en-US" dirty="0" smtClean="0"/>
              <a:t>wait</a:t>
            </a:r>
            <a:endParaRPr lang="en-US" dirty="0"/>
          </a:p>
        </p:txBody>
      </p:sp>
      <p:sp>
        <p:nvSpPr>
          <p:cNvPr id="12" name="Down Arrow 11"/>
          <p:cNvSpPr/>
          <p:nvPr/>
        </p:nvSpPr>
        <p:spPr>
          <a:xfrm rot="10800000">
            <a:off x="4630286" y="5328003"/>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 name="TextBox 12"/>
          <p:cNvSpPr txBox="1"/>
          <p:nvPr/>
        </p:nvSpPr>
        <p:spPr>
          <a:xfrm>
            <a:off x="4301611" y="5665238"/>
            <a:ext cx="1038348" cy="646331"/>
          </a:xfrm>
          <a:prstGeom prst="rect">
            <a:avLst/>
          </a:prstGeom>
          <a:noFill/>
        </p:spPr>
        <p:txBody>
          <a:bodyPr wrap="square" rtlCol="0">
            <a:spAutoFit/>
          </a:bodyPr>
          <a:lstStyle/>
          <a:p>
            <a:pPr algn="ctr"/>
            <a:r>
              <a:rPr lang="en-US" dirty="0" err="1" smtClean="0"/>
              <a:t>spuriouswakeup</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15" name="Slide Number Placeholder 14"/>
          <p:cNvSpPr>
            <a:spLocks noGrp="1"/>
          </p:cNvSpPr>
          <p:nvPr>
            <p:ph type="sldNum" sz="quarter" idx="12"/>
          </p:nvPr>
        </p:nvSpPr>
        <p:spPr/>
        <p:txBody>
          <a:bodyPr/>
          <a:lstStyle/>
          <a:p>
            <a:fld id="{B6F15528-21DE-4FAA-801E-634DDDAF4B2B}" type="slidenum">
              <a:rPr lang="en-US" smtClean="0"/>
              <a:pPr/>
              <a:t>94</a:t>
            </a:fld>
            <a:endParaRPr lang="en-US"/>
          </a:p>
        </p:txBody>
      </p:sp>
    </p:spTree>
    <p:extLst>
      <p:ext uri="{BB962C8B-B14F-4D97-AF65-F5344CB8AC3E}">
        <p14:creationId xmlns:p14="http://schemas.microsoft.com/office/powerpoint/2010/main" val="166807698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Shared state protocol</a:t>
            </a:r>
            <a:endParaRPr lang="en-US" dirty="0"/>
          </a:p>
        </p:txBody>
      </p:sp>
      <p:cxnSp>
        <p:nvCxnSpPr>
          <p:cNvPr id="4" name="Straight Arrow Connector 3"/>
          <p:cNvCxnSpPr/>
          <p:nvPr/>
        </p:nvCxnSpPr>
        <p:spPr>
          <a:xfrm>
            <a:off x="5689100" y="2268498"/>
            <a:ext cx="0" cy="92606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Content Placeholder 2"/>
          <p:cNvSpPr>
            <a:spLocks noGrp="1"/>
          </p:cNvSpPr>
          <p:nvPr>
            <p:ph idx="1"/>
          </p:nvPr>
        </p:nvSpPr>
        <p:spPr>
          <a:xfrm>
            <a:off x="457200" y="4468483"/>
            <a:ext cx="8229600" cy="2165230"/>
          </a:xfrm>
        </p:spPr>
        <p:txBody>
          <a:bodyPr>
            <a:normAutofit fontScale="62500" lnSpcReduction="20000"/>
          </a:bodyPr>
          <a:lstStyle/>
          <a:p>
            <a:r>
              <a:rPr lang="en-US" dirty="0" smtClean="0"/>
              <a:t>In addition to </a:t>
            </a:r>
            <a:r>
              <a:rPr lang="en-US" dirty="0" err="1" smtClean="0"/>
              <a:t>condition_variable</a:t>
            </a:r>
            <a:r>
              <a:rPr lang="en-US" dirty="0" smtClean="0"/>
              <a:t> another variable is shared, which is used to detect </a:t>
            </a:r>
            <a:r>
              <a:rPr lang="en-US" i="1" dirty="0" smtClean="0"/>
              <a:t>“not signaled” </a:t>
            </a:r>
            <a:r>
              <a:rPr lang="en-US" dirty="0" smtClean="0"/>
              <a:t>or </a:t>
            </a:r>
            <a:r>
              <a:rPr lang="en-US" i="1" dirty="0" smtClean="0"/>
              <a:t>“signaled”</a:t>
            </a:r>
            <a:r>
              <a:rPr lang="en-US" dirty="0" smtClean="0"/>
              <a:t> state.</a:t>
            </a:r>
          </a:p>
          <a:p>
            <a:r>
              <a:rPr lang="en-US" dirty="0" smtClean="0"/>
              <a:t>Consumer calls wait only if variable is in </a:t>
            </a:r>
            <a:r>
              <a:rPr lang="en-US" i="1" dirty="0" smtClean="0"/>
              <a:t>“not signaled”</a:t>
            </a:r>
            <a:r>
              <a:rPr lang="en-US" dirty="0" smtClean="0"/>
              <a:t> state. It eliminates missed notification.</a:t>
            </a:r>
          </a:p>
          <a:p>
            <a:r>
              <a:rPr lang="en-US" dirty="0" smtClean="0"/>
              <a:t>When consumer wakes up it immediately checks for </a:t>
            </a:r>
            <a:r>
              <a:rPr lang="en-US" i="1" dirty="0" smtClean="0"/>
              <a:t>“signaled”</a:t>
            </a:r>
            <a:r>
              <a:rPr lang="en-US" dirty="0" smtClean="0"/>
              <a:t> state (if still </a:t>
            </a:r>
            <a:r>
              <a:rPr lang="en-US" i="1" dirty="0" smtClean="0"/>
              <a:t>“not signaled”</a:t>
            </a:r>
            <a:r>
              <a:rPr lang="en-US" dirty="0" smtClean="0"/>
              <a:t> then wait again). It eliminates spurious wakeup.</a:t>
            </a:r>
          </a:p>
          <a:p>
            <a:r>
              <a:rPr lang="en-US" dirty="0" smtClean="0"/>
              <a:t>Mutex is usually needed for synchronizing access to shared state variable.</a:t>
            </a:r>
            <a:endParaRPr lang="en-US" dirty="0"/>
          </a:p>
        </p:txBody>
      </p:sp>
      <p:sp>
        <p:nvSpPr>
          <p:cNvPr id="6" name="Right Arrow 5"/>
          <p:cNvSpPr/>
          <p:nvPr/>
        </p:nvSpPr>
        <p:spPr>
          <a:xfrm>
            <a:off x="1524000" y="1740932"/>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52400" y="1899166"/>
            <a:ext cx="1143000" cy="369332"/>
          </a:xfrm>
          <a:prstGeom prst="rect">
            <a:avLst/>
          </a:prstGeom>
          <a:noFill/>
        </p:spPr>
        <p:txBody>
          <a:bodyPr wrap="square" rtlCol="0">
            <a:spAutoFit/>
          </a:bodyPr>
          <a:lstStyle/>
          <a:p>
            <a:r>
              <a:rPr lang="en-US" dirty="0" smtClean="0"/>
              <a:t>Producer</a:t>
            </a:r>
            <a:endParaRPr lang="en-US" dirty="0"/>
          </a:p>
        </p:txBody>
      </p:sp>
      <p:sp>
        <p:nvSpPr>
          <p:cNvPr id="8" name="Right Arrow 7"/>
          <p:cNvSpPr/>
          <p:nvPr/>
        </p:nvSpPr>
        <p:spPr>
          <a:xfrm>
            <a:off x="1524000" y="3036332"/>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52400" y="3194566"/>
            <a:ext cx="1143000" cy="369332"/>
          </a:xfrm>
          <a:prstGeom prst="rect">
            <a:avLst/>
          </a:prstGeom>
          <a:noFill/>
        </p:spPr>
        <p:txBody>
          <a:bodyPr wrap="square" rtlCol="0">
            <a:spAutoFit/>
          </a:bodyPr>
          <a:lstStyle/>
          <a:p>
            <a:r>
              <a:rPr lang="en-US" dirty="0" smtClean="0"/>
              <a:t>Consumer</a:t>
            </a:r>
            <a:endParaRPr lang="en-US" dirty="0"/>
          </a:p>
        </p:txBody>
      </p:sp>
      <p:sp>
        <p:nvSpPr>
          <p:cNvPr id="10" name="Rectangle 9"/>
          <p:cNvSpPr/>
          <p:nvPr/>
        </p:nvSpPr>
        <p:spPr>
          <a:xfrm>
            <a:off x="2438400" y="3194566"/>
            <a:ext cx="3581400" cy="3693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blocked</a:t>
            </a:r>
            <a:endParaRPr lang="en-US" dirty="0"/>
          </a:p>
        </p:txBody>
      </p:sp>
      <p:sp>
        <p:nvSpPr>
          <p:cNvPr id="11" name="Down Arrow 10"/>
          <p:cNvSpPr/>
          <p:nvPr/>
        </p:nvSpPr>
        <p:spPr>
          <a:xfrm rot="10800000">
            <a:off x="2247900" y="3645932"/>
            <a:ext cx="3810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2095500" y="3962400"/>
            <a:ext cx="685800" cy="369332"/>
          </a:xfrm>
          <a:prstGeom prst="rect">
            <a:avLst/>
          </a:prstGeom>
          <a:noFill/>
        </p:spPr>
        <p:txBody>
          <a:bodyPr wrap="square" rtlCol="0">
            <a:spAutoFit/>
          </a:bodyPr>
          <a:lstStyle/>
          <a:p>
            <a:pPr algn="ctr"/>
            <a:r>
              <a:rPr lang="en-US" dirty="0" smtClean="0"/>
              <a:t>wait</a:t>
            </a:r>
            <a:endParaRPr lang="en-US" dirty="0"/>
          </a:p>
        </p:txBody>
      </p:sp>
      <p:sp>
        <p:nvSpPr>
          <p:cNvPr id="13" name="Down Arrow 12"/>
          <p:cNvSpPr/>
          <p:nvPr/>
        </p:nvSpPr>
        <p:spPr>
          <a:xfrm rot="10800000">
            <a:off x="5829300" y="3645933"/>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TextBox 13"/>
          <p:cNvSpPr txBox="1"/>
          <p:nvPr/>
        </p:nvSpPr>
        <p:spPr>
          <a:xfrm>
            <a:off x="5543549" y="3983168"/>
            <a:ext cx="952500" cy="369332"/>
          </a:xfrm>
          <a:prstGeom prst="rect">
            <a:avLst/>
          </a:prstGeom>
          <a:noFill/>
        </p:spPr>
        <p:txBody>
          <a:bodyPr wrap="square" rtlCol="0">
            <a:spAutoFit/>
          </a:bodyPr>
          <a:lstStyle/>
          <a:p>
            <a:pPr algn="ctr"/>
            <a:r>
              <a:rPr lang="en-US" dirty="0" smtClean="0"/>
              <a:t>wakeup</a:t>
            </a:r>
            <a:endParaRPr lang="en-US" dirty="0"/>
          </a:p>
        </p:txBody>
      </p:sp>
      <p:sp>
        <p:nvSpPr>
          <p:cNvPr id="17" name="Down Arrow 16"/>
          <p:cNvSpPr/>
          <p:nvPr/>
        </p:nvSpPr>
        <p:spPr>
          <a:xfrm>
            <a:off x="5498600" y="1521578"/>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 name="TextBox 17"/>
          <p:cNvSpPr txBox="1"/>
          <p:nvPr/>
        </p:nvSpPr>
        <p:spPr>
          <a:xfrm>
            <a:off x="5212850" y="1219200"/>
            <a:ext cx="952500" cy="369332"/>
          </a:xfrm>
          <a:prstGeom prst="rect">
            <a:avLst/>
          </a:prstGeom>
          <a:noFill/>
        </p:spPr>
        <p:txBody>
          <a:bodyPr wrap="square" rtlCol="0">
            <a:spAutoFit/>
          </a:bodyPr>
          <a:lstStyle/>
          <a:p>
            <a:pPr algn="ctr"/>
            <a:r>
              <a:rPr lang="en-US" dirty="0" smtClean="0"/>
              <a:t>notify</a:t>
            </a:r>
            <a:endParaRPr lang="en-US" dirty="0"/>
          </a:p>
        </p:txBody>
      </p:sp>
      <p:sp>
        <p:nvSpPr>
          <p:cNvPr id="19" name="TextBox 18"/>
          <p:cNvSpPr txBox="1"/>
          <p:nvPr/>
        </p:nvSpPr>
        <p:spPr>
          <a:xfrm>
            <a:off x="118074" y="2546866"/>
            <a:ext cx="1933575" cy="369332"/>
          </a:xfrm>
          <a:prstGeom prst="rect">
            <a:avLst/>
          </a:prstGeom>
          <a:noFill/>
        </p:spPr>
        <p:txBody>
          <a:bodyPr wrap="square" rtlCol="0">
            <a:spAutoFit/>
          </a:bodyPr>
          <a:lstStyle/>
          <a:p>
            <a:r>
              <a:rPr lang="en-US" dirty="0" smtClean="0"/>
              <a:t>Shared </a:t>
            </a:r>
            <a:r>
              <a:rPr lang="en-US" dirty="0" err="1" smtClean="0"/>
              <a:t>var</a:t>
            </a:r>
            <a:endParaRPr lang="en-US" dirty="0"/>
          </a:p>
        </p:txBody>
      </p:sp>
      <p:cxnSp>
        <p:nvCxnSpPr>
          <p:cNvPr id="20" name="Straight Arrow Connector 19"/>
          <p:cNvCxnSpPr/>
          <p:nvPr/>
        </p:nvCxnSpPr>
        <p:spPr>
          <a:xfrm>
            <a:off x="1524000" y="2731532"/>
            <a:ext cx="3039374"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563374" y="2731532"/>
            <a:ext cx="3364301" cy="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563374" y="1805464"/>
            <a:ext cx="0" cy="92606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087124" y="1219200"/>
            <a:ext cx="952500" cy="369332"/>
          </a:xfrm>
          <a:prstGeom prst="rect">
            <a:avLst/>
          </a:prstGeom>
          <a:noFill/>
        </p:spPr>
        <p:txBody>
          <a:bodyPr wrap="square" rtlCol="0">
            <a:spAutoFit/>
          </a:bodyPr>
          <a:lstStyle/>
          <a:p>
            <a:pPr algn="ctr"/>
            <a:r>
              <a:rPr lang="en-US" dirty="0" smtClean="0"/>
              <a:t>set </a:t>
            </a:r>
            <a:r>
              <a:rPr lang="en-US" dirty="0" err="1" smtClean="0"/>
              <a:t>var</a:t>
            </a:r>
            <a:endParaRPr lang="en-US" dirty="0"/>
          </a:p>
        </p:txBody>
      </p:sp>
      <p:sp>
        <p:nvSpPr>
          <p:cNvPr id="28" name="TextBox 27"/>
          <p:cNvSpPr txBox="1"/>
          <p:nvPr/>
        </p:nvSpPr>
        <p:spPr>
          <a:xfrm>
            <a:off x="1179303" y="3722132"/>
            <a:ext cx="952500" cy="369332"/>
          </a:xfrm>
          <a:prstGeom prst="rect">
            <a:avLst/>
          </a:prstGeom>
          <a:noFill/>
        </p:spPr>
        <p:txBody>
          <a:bodyPr wrap="square" rtlCol="0">
            <a:spAutoFit/>
          </a:bodyPr>
          <a:lstStyle/>
          <a:p>
            <a:pPr algn="r"/>
            <a:r>
              <a:rPr lang="en-US" dirty="0" smtClean="0"/>
              <a:t>test </a:t>
            </a:r>
            <a:r>
              <a:rPr lang="en-US" dirty="0" err="1" smtClean="0"/>
              <a:t>var</a:t>
            </a:r>
            <a:endParaRPr lang="en-US" dirty="0"/>
          </a:p>
        </p:txBody>
      </p:sp>
      <p:sp>
        <p:nvSpPr>
          <p:cNvPr id="29" name="TextBox 28"/>
          <p:cNvSpPr txBox="1"/>
          <p:nvPr/>
        </p:nvSpPr>
        <p:spPr>
          <a:xfrm>
            <a:off x="6360903" y="3722132"/>
            <a:ext cx="952500" cy="369332"/>
          </a:xfrm>
          <a:prstGeom prst="rect">
            <a:avLst/>
          </a:prstGeom>
          <a:noFill/>
        </p:spPr>
        <p:txBody>
          <a:bodyPr wrap="square" rtlCol="0">
            <a:spAutoFit/>
          </a:bodyPr>
          <a:lstStyle/>
          <a:p>
            <a:r>
              <a:rPr lang="en-US" dirty="0" smtClean="0"/>
              <a:t>test </a:t>
            </a:r>
            <a:r>
              <a:rPr lang="en-US" dirty="0" err="1" smtClean="0"/>
              <a:t>var</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16" name="Slide Number Placeholder 15"/>
          <p:cNvSpPr>
            <a:spLocks noGrp="1"/>
          </p:cNvSpPr>
          <p:nvPr>
            <p:ph type="sldNum" sz="quarter" idx="12"/>
          </p:nvPr>
        </p:nvSpPr>
        <p:spPr/>
        <p:txBody>
          <a:bodyPr/>
          <a:lstStyle/>
          <a:p>
            <a:fld id="{B6F15528-21DE-4FAA-801E-634DDDAF4B2B}" type="slidenum">
              <a:rPr lang="en-US" smtClean="0"/>
              <a:pPr/>
              <a:t>95</a:t>
            </a:fld>
            <a:endParaRPr lang="en-US"/>
          </a:p>
        </p:txBody>
      </p:sp>
    </p:spTree>
    <p:extLst>
      <p:ext uri="{BB962C8B-B14F-4D97-AF65-F5344CB8AC3E}">
        <p14:creationId xmlns:p14="http://schemas.microsoft.com/office/powerpoint/2010/main" val="292388682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Shared variable protocol</a:t>
            </a:r>
            <a:endParaRPr lang="en-US" dirty="0"/>
          </a:p>
        </p:txBody>
      </p:sp>
      <p:sp>
        <p:nvSpPr>
          <p:cNvPr id="3" name="Content Placeholder 2"/>
          <p:cNvSpPr>
            <a:spLocks noGrp="1"/>
          </p:cNvSpPr>
          <p:nvPr>
            <p:ph idx="1"/>
          </p:nvPr>
        </p:nvSpPr>
        <p:spPr>
          <a:xfrm>
            <a:off x="457200" y="4891176"/>
            <a:ext cx="8229600" cy="1440613"/>
          </a:xfrm>
        </p:spPr>
        <p:txBody>
          <a:bodyPr>
            <a:normAutofit fontScale="62500" lnSpcReduction="20000"/>
          </a:bodyPr>
          <a:lstStyle/>
          <a:p>
            <a:r>
              <a:rPr lang="en-US" dirty="0" smtClean="0"/>
              <a:t>Producer locks mutex, writes to shared variable, unlocks mutex and finally calls notify.</a:t>
            </a:r>
          </a:p>
          <a:p>
            <a:r>
              <a:rPr lang="en-US" dirty="0" smtClean="0"/>
              <a:t>Consumer locks, tests shared variable and if not signaled calls wait.</a:t>
            </a:r>
          </a:p>
          <a:p>
            <a:r>
              <a:rPr lang="en-US" dirty="0" smtClean="0"/>
              <a:t>Wait method of </a:t>
            </a:r>
            <a:r>
              <a:rPr lang="en-US" dirty="0" err="1" smtClean="0"/>
              <a:t>condition_variable</a:t>
            </a:r>
            <a:r>
              <a:rPr lang="en-US" dirty="0" smtClean="0"/>
              <a:t> first unlocks supplied mutex, then waits for notify. When it wakes up, the lock is acquired again.</a:t>
            </a:r>
          </a:p>
          <a:p>
            <a:endParaRPr lang="en-US" dirty="0"/>
          </a:p>
        </p:txBody>
      </p:sp>
      <p:sp>
        <p:nvSpPr>
          <p:cNvPr id="4" name="TextBox 3"/>
          <p:cNvSpPr txBox="1"/>
          <p:nvPr/>
        </p:nvSpPr>
        <p:spPr>
          <a:xfrm>
            <a:off x="2967487" y="1406100"/>
            <a:ext cx="3209026" cy="923330"/>
          </a:xfrm>
          <a:prstGeom prst="rect">
            <a:avLst/>
          </a:prstGeom>
          <a:noFill/>
          <a:ln w="3175">
            <a:solidFill>
              <a:schemeClr val="tx1"/>
            </a:solidFill>
          </a:ln>
        </p:spPr>
        <p:txBody>
          <a:bodyPr wrap="square" rtlCol="0">
            <a:spAutoFit/>
          </a:bodyPr>
          <a:lstStyle/>
          <a:p>
            <a:r>
              <a:rPr lang="en-US" dirty="0">
                <a:solidFill>
                  <a:srgbClr val="2B91AF"/>
                </a:solidFill>
                <a:highlight>
                  <a:srgbClr val="FFFFFF"/>
                </a:highlight>
                <a:latin typeface="Consolas"/>
              </a:rPr>
              <a:t>mutex</a:t>
            </a:r>
            <a:r>
              <a:rPr lang="en-US" dirty="0">
                <a:solidFill>
                  <a:srgbClr val="000000"/>
                </a:solidFill>
                <a:highlight>
                  <a:srgbClr val="FFFFFF"/>
                </a:highlight>
                <a:latin typeface="Consolas"/>
              </a:rPr>
              <a:t> m;</a:t>
            </a:r>
          </a:p>
          <a:p>
            <a:r>
              <a:rPr lang="en-US" dirty="0" err="1">
                <a:solidFill>
                  <a:srgbClr val="0000FF"/>
                </a:solidFill>
                <a:highlight>
                  <a:srgbClr val="FFFFFF"/>
                </a:highlight>
                <a:latin typeface="Consolas"/>
              </a:rPr>
              <a:t>bool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is_signaled</a:t>
            </a:r>
            <a:r>
              <a:rPr lang="en-US" dirty="0">
                <a:solidFill>
                  <a:srgbClr val="000000"/>
                </a:solidFill>
                <a:highlight>
                  <a:srgbClr val="FFFFFF"/>
                </a:highlight>
                <a:latin typeface="Consolas"/>
              </a:rPr>
              <a:t>=</a:t>
            </a:r>
            <a:r>
              <a:rPr lang="en-US" dirty="0">
                <a:solidFill>
                  <a:srgbClr val="0000FF"/>
                </a:solidFill>
                <a:highlight>
                  <a:srgbClr val="FFFFFF"/>
                </a:highlight>
                <a:latin typeface="Consolas"/>
              </a:rPr>
              <a:t>false</a:t>
            </a:r>
            <a:r>
              <a:rPr lang="en-US" dirty="0">
                <a:solidFill>
                  <a:srgbClr val="000000"/>
                </a:solidFill>
                <a:highlight>
                  <a:srgbClr val="FFFFFF"/>
                </a:highlight>
                <a:latin typeface="Consolas"/>
              </a:rPr>
              <a:t>;</a:t>
            </a:r>
          </a:p>
          <a:p>
            <a:r>
              <a:rPr lang="en-US" dirty="0" err="1">
                <a:solidFill>
                  <a:srgbClr val="2B91AF"/>
                </a:solidFill>
                <a:highlight>
                  <a:srgbClr val="FFFFFF"/>
                </a:highlight>
                <a:latin typeface="Consolas"/>
              </a:rPr>
              <a:t>condition_variable</a:t>
            </a:r>
            <a:r>
              <a:rPr lang="en-US" dirty="0">
                <a:solidFill>
                  <a:srgbClr val="000000"/>
                </a:solidFill>
                <a:highlight>
                  <a:srgbClr val="FFFFFF"/>
                </a:highlight>
                <a:latin typeface="Consolas"/>
              </a:rPr>
              <a:t> cv;</a:t>
            </a:r>
            <a:endParaRPr lang="en-US" dirty="0"/>
          </a:p>
        </p:txBody>
      </p:sp>
      <p:sp>
        <p:nvSpPr>
          <p:cNvPr id="5" name="TextBox 4"/>
          <p:cNvSpPr txBox="1"/>
          <p:nvPr/>
        </p:nvSpPr>
        <p:spPr>
          <a:xfrm>
            <a:off x="457200" y="2398139"/>
            <a:ext cx="4149306" cy="2308324"/>
          </a:xfrm>
          <a:prstGeom prst="rect">
            <a:avLst/>
          </a:prstGeom>
          <a:noFill/>
          <a:ln w="3175">
            <a:solidFill>
              <a:schemeClr val="tx1"/>
            </a:solidFill>
          </a:ln>
        </p:spPr>
        <p:txBody>
          <a:bodyPr wrap="square" rtlCol="0">
            <a:spAutoFit/>
          </a:bodyPr>
          <a:lstStyle/>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producer()</a:t>
            </a:r>
          </a:p>
          <a:p>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(m);</a:t>
            </a:r>
          </a:p>
          <a:p>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is_signaled</a:t>
            </a:r>
            <a:r>
              <a:rPr lang="en-US" dirty="0">
                <a:solidFill>
                  <a:srgbClr val="000000"/>
                </a:solidFill>
                <a:highlight>
                  <a:srgbClr val="FFFFFF"/>
                </a:highlight>
                <a:latin typeface="Consolas"/>
              </a:rPr>
              <a:t> = </a:t>
            </a:r>
            <a:r>
              <a:rPr lang="en-US" dirty="0">
                <a:solidFill>
                  <a:srgbClr val="0000FF"/>
                </a:solidFill>
                <a:highlight>
                  <a:srgbClr val="FFFFFF"/>
                </a:highlight>
                <a:latin typeface="Consolas"/>
              </a:rPr>
              <a:t>true</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cv.notify_one</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a:t>
            </a:r>
            <a:endParaRPr lang="en-US" dirty="0"/>
          </a:p>
        </p:txBody>
      </p:sp>
      <p:sp>
        <p:nvSpPr>
          <p:cNvPr id="6" name="TextBox 5"/>
          <p:cNvSpPr txBox="1"/>
          <p:nvPr/>
        </p:nvSpPr>
        <p:spPr>
          <a:xfrm>
            <a:off x="4658274" y="2398139"/>
            <a:ext cx="4037162" cy="2308324"/>
          </a:xfrm>
          <a:prstGeom prst="rect">
            <a:avLst/>
          </a:prstGeom>
          <a:noFill/>
          <a:ln w="3175">
            <a:solidFill>
              <a:schemeClr val="tx1"/>
            </a:solidFill>
          </a:ln>
        </p:spPr>
        <p:txBody>
          <a:bodyPr wrap="square" rtlCol="0">
            <a:spAutoFit/>
          </a:bodyPr>
          <a:lstStyle/>
          <a:p>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consumer()</a:t>
            </a:r>
          </a:p>
          <a:p>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unique_lock</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(m);</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while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is_signaled</a:t>
            </a:r>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cv.wait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a:t>
            </a:r>
            <a:endParaRPr lang="en-US" dirty="0"/>
          </a:p>
        </p:txBody>
      </p:sp>
      <p:sp>
        <p:nvSpPr>
          <p:cNvPr id="7" name="Date Placeholder 6"/>
          <p:cNvSpPr>
            <a:spLocks noGrp="1"/>
          </p:cNvSpPr>
          <p:nvPr>
            <p:ph type="dt" sz="half" idx="10"/>
          </p:nvPr>
        </p:nvSpPr>
        <p:spPr/>
        <p:txBody>
          <a:bodyPr/>
          <a:lstStyle/>
          <a:p>
            <a:r>
              <a:rPr lang="cs-CZ" smtClean="0"/>
              <a:t>19.1.2014</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96</a:t>
            </a:fld>
            <a:endParaRPr lang="en-US"/>
          </a:p>
        </p:txBody>
      </p:sp>
    </p:spTree>
    <p:extLst>
      <p:ext uri="{BB962C8B-B14F-4D97-AF65-F5344CB8AC3E}">
        <p14:creationId xmlns:p14="http://schemas.microsoft.com/office/powerpoint/2010/main" val="173660438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Locking and condition variables</a:t>
            </a:r>
            <a:endParaRPr lang="en-US" dirty="0"/>
          </a:p>
        </p:txBody>
      </p:sp>
      <p:cxnSp>
        <p:nvCxnSpPr>
          <p:cNvPr id="4" name="Straight Arrow Connector 3"/>
          <p:cNvCxnSpPr/>
          <p:nvPr/>
        </p:nvCxnSpPr>
        <p:spPr>
          <a:xfrm>
            <a:off x="5689100" y="2268498"/>
            <a:ext cx="0" cy="191805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Right Arrow 4"/>
          <p:cNvSpPr/>
          <p:nvPr/>
        </p:nvSpPr>
        <p:spPr>
          <a:xfrm>
            <a:off x="1524000" y="1740932"/>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52400" y="1899166"/>
            <a:ext cx="1143000" cy="369332"/>
          </a:xfrm>
          <a:prstGeom prst="rect">
            <a:avLst/>
          </a:prstGeom>
          <a:noFill/>
        </p:spPr>
        <p:txBody>
          <a:bodyPr wrap="square" rtlCol="0">
            <a:spAutoFit/>
          </a:bodyPr>
          <a:lstStyle/>
          <a:p>
            <a:r>
              <a:rPr lang="en-US" dirty="0" smtClean="0"/>
              <a:t>Producer</a:t>
            </a:r>
            <a:endParaRPr lang="en-US" dirty="0"/>
          </a:p>
        </p:txBody>
      </p:sp>
      <p:sp>
        <p:nvSpPr>
          <p:cNvPr id="7" name="Right Arrow 6"/>
          <p:cNvSpPr/>
          <p:nvPr/>
        </p:nvSpPr>
        <p:spPr>
          <a:xfrm>
            <a:off x="1524000" y="4028322"/>
            <a:ext cx="66294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52400" y="4186556"/>
            <a:ext cx="1143000" cy="369332"/>
          </a:xfrm>
          <a:prstGeom prst="rect">
            <a:avLst/>
          </a:prstGeom>
          <a:noFill/>
        </p:spPr>
        <p:txBody>
          <a:bodyPr wrap="square" rtlCol="0">
            <a:spAutoFit/>
          </a:bodyPr>
          <a:lstStyle/>
          <a:p>
            <a:r>
              <a:rPr lang="en-US" dirty="0" smtClean="0"/>
              <a:t>Consumer</a:t>
            </a:r>
            <a:endParaRPr lang="en-US" dirty="0"/>
          </a:p>
        </p:txBody>
      </p:sp>
      <p:sp>
        <p:nvSpPr>
          <p:cNvPr id="9" name="Rectangle 8"/>
          <p:cNvSpPr/>
          <p:nvPr/>
        </p:nvSpPr>
        <p:spPr>
          <a:xfrm>
            <a:off x="2438400" y="4186556"/>
            <a:ext cx="3581400" cy="3693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r>
              <a:rPr lang="en-US" dirty="0" smtClean="0"/>
              <a:t>locked inside wait</a:t>
            </a:r>
            <a:endParaRPr lang="en-US" dirty="0"/>
          </a:p>
        </p:txBody>
      </p:sp>
      <p:sp>
        <p:nvSpPr>
          <p:cNvPr id="10" name="Down Arrow 9"/>
          <p:cNvSpPr/>
          <p:nvPr/>
        </p:nvSpPr>
        <p:spPr>
          <a:xfrm rot="10800000">
            <a:off x="2247900" y="4637922"/>
            <a:ext cx="3810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095500" y="4954390"/>
            <a:ext cx="685800" cy="369332"/>
          </a:xfrm>
          <a:prstGeom prst="rect">
            <a:avLst/>
          </a:prstGeom>
          <a:noFill/>
        </p:spPr>
        <p:txBody>
          <a:bodyPr wrap="square" rtlCol="0">
            <a:spAutoFit/>
          </a:bodyPr>
          <a:lstStyle/>
          <a:p>
            <a:pPr algn="ctr"/>
            <a:r>
              <a:rPr lang="en-US" dirty="0" smtClean="0"/>
              <a:t>wait</a:t>
            </a:r>
            <a:endParaRPr lang="en-US" dirty="0"/>
          </a:p>
        </p:txBody>
      </p:sp>
      <p:sp>
        <p:nvSpPr>
          <p:cNvPr id="12" name="Down Arrow 11"/>
          <p:cNvSpPr/>
          <p:nvPr/>
        </p:nvSpPr>
        <p:spPr>
          <a:xfrm rot="10800000">
            <a:off x="5829300" y="4637923"/>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 name="TextBox 12"/>
          <p:cNvSpPr txBox="1"/>
          <p:nvPr/>
        </p:nvSpPr>
        <p:spPr>
          <a:xfrm>
            <a:off x="5543549" y="4975158"/>
            <a:ext cx="952500" cy="369332"/>
          </a:xfrm>
          <a:prstGeom prst="rect">
            <a:avLst/>
          </a:prstGeom>
          <a:noFill/>
        </p:spPr>
        <p:txBody>
          <a:bodyPr wrap="square" rtlCol="0">
            <a:spAutoFit/>
          </a:bodyPr>
          <a:lstStyle/>
          <a:p>
            <a:pPr algn="ctr"/>
            <a:r>
              <a:rPr lang="en-US" dirty="0" smtClean="0"/>
              <a:t>wakeup</a:t>
            </a:r>
            <a:endParaRPr lang="en-US" dirty="0"/>
          </a:p>
        </p:txBody>
      </p:sp>
      <p:sp>
        <p:nvSpPr>
          <p:cNvPr id="14" name="Down Arrow 13"/>
          <p:cNvSpPr/>
          <p:nvPr/>
        </p:nvSpPr>
        <p:spPr>
          <a:xfrm>
            <a:off x="5498600" y="1521578"/>
            <a:ext cx="381000" cy="381000"/>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 name="TextBox 14"/>
          <p:cNvSpPr txBox="1"/>
          <p:nvPr/>
        </p:nvSpPr>
        <p:spPr>
          <a:xfrm>
            <a:off x="5212850" y="1219200"/>
            <a:ext cx="952500" cy="369332"/>
          </a:xfrm>
          <a:prstGeom prst="rect">
            <a:avLst/>
          </a:prstGeom>
          <a:noFill/>
        </p:spPr>
        <p:txBody>
          <a:bodyPr wrap="square" rtlCol="0">
            <a:spAutoFit/>
          </a:bodyPr>
          <a:lstStyle/>
          <a:p>
            <a:pPr algn="ctr"/>
            <a:r>
              <a:rPr lang="en-US" dirty="0" smtClean="0"/>
              <a:t>notify</a:t>
            </a:r>
            <a:endParaRPr lang="en-US" dirty="0"/>
          </a:p>
        </p:txBody>
      </p:sp>
      <p:sp>
        <p:nvSpPr>
          <p:cNvPr id="16" name="TextBox 15"/>
          <p:cNvSpPr txBox="1"/>
          <p:nvPr/>
        </p:nvSpPr>
        <p:spPr>
          <a:xfrm>
            <a:off x="118074" y="3038548"/>
            <a:ext cx="1933575" cy="369332"/>
          </a:xfrm>
          <a:prstGeom prst="rect">
            <a:avLst/>
          </a:prstGeom>
          <a:noFill/>
        </p:spPr>
        <p:txBody>
          <a:bodyPr wrap="square" rtlCol="0">
            <a:spAutoFit/>
          </a:bodyPr>
          <a:lstStyle/>
          <a:p>
            <a:r>
              <a:rPr lang="en-US" dirty="0" smtClean="0"/>
              <a:t>Shared </a:t>
            </a:r>
            <a:r>
              <a:rPr lang="en-US" dirty="0" err="1" smtClean="0"/>
              <a:t>var</a:t>
            </a:r>
            <a:endParaRPr lang="en-US" dirty="0"/>
          </a:p>
        </p:txBody>
      </p:sp>
      <p:cxnSp>
        <p:nvCxnSpPr>
          <p:cNvPr id="17" name="Straight Arrow Connector 16"/>
          <p:cNvCxnSpPr/>
          <p:nvPr/>
        </p:nvCxnSpPr>
        <p:spPr>
          <a:xfrm>
            <a:off x="1524000" y="3223214"/>
            <a:ext cx="3039374"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563374" y="3223214"/>
            <a:ext cx="3364301" cy="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563374" y="1805464"/>
            <a:ext cx="0" cy="1417750"/>
          </a:xfrm>
          <a:prstGeom prst="straightConnector1">
            <a:avLst/>
          </a:prstGeom>
          <a:ln w="38100">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rot="16200000">
            <a:off x="1192669" y="2899847"/>
            <a:ext cx="1805664" cy="664234"/>
          </a:xfrm>
          <a:prstGeom prst="rect">
            <a:avLst/>
          </a:prstGeom>
          <a:solidFill>
            <a:schemeClr val="accent6">
              <a:lumMod val="60000"/>
              <a:lumOff val="40000"/>
              <a:alpha val="5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Consumer lock</a:t>
            </a:r>
            <a:endParaRPr lang="en-US" dirty="0"/>
          </a:p>
        </p:txBody>
      </p:sp>
      <p:sp>
        <p:nvSpPr>
          <p:cNvPr id="24" name="Rectangle 23"/>
          <p:cNvSpPr/>
          <p:nvPr/>
        </p:nvSpPr>
        <p:spPr>
          <a:xfrm rot="16200000">
            <a:off x="5475323" y="2899848"/>
            <a:ext cx="1805664" cy="664234"/>
          </a:xfrm>
          <a:prstGeom prst="rect">
            <a:avLst/>
          </a:prstGeom>
          <a:solidFill>
            <a:schemeClr val="accent6">
              <a:lumMod val="60000"/>
              <a:lumOff val="40000"/>
              <a:alpha val="5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Consumer lock</a:t>
            </a:r>
            <a:endParaRPr lang="en-US" dirty="0"/>
          </a:p>
        </p:txBody>
      </p:sp>
      <p:sp>
        <p:nvSpPr>
          <p:cNvPr id="25" name="Rectangle 24"/>
          <p:cNvSpPr/>
          <p:nvPr/>
        </p:nvSpPr>
        <p:spPr>
          <a:xfrm>
            <a:off x="1084862" y="4852865"/>
            <a:ext cx="966788" cy="332117"/>
          </a:xfrm>
          <a:prstGeom prst="rect">
            <a:avLst/>
          </a:prstGeom>
          <a:solidFill>
            <a:schemeClr val="accent6">
              <a:lumMod val="60000"/>
              <a:lumOff val="40000"/>
              <a:alpha val="5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t</a:t>
            </a:r>
            <a:r>
              <a:rPr lang="en-US" dirty="0" smtClean="0"/>
              <a:t>est </a:t>
            </a:r>
            <a:r>
              <a:rPr lang="en-US" dirty="0" err="1" smtClean="0"/>
              <a:t>var</a:t>
            </a:r>
            <a:endParaRPr lang="en-US" dirty="0"/>
          </a:p>
        </p:txBody>
      </p:sp>
      <p:cxnSp>
        <p:nvCxnSpPr>
          <p:cNvPr id="29" name="Straight Arrow Connector 28"/>
          <p:cNvCxnSpPr/>
          <p:nvPr/>
        </p:nvCxnSpPr>
        <p:spPr>
          <a:xfrm flipV="1">
            <a:off x="1846053" y="3231964"/>
            <a:ext cx="0" cy="1620901"/>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30" name="Rectangle 29"/>
          <p:cNvSpPr/>
          <p:nvPr/>
        </p:nvSpPr>
        <p:spPr>
          <a:xfrm>
            <a:off x="6495331" y="4852865"/>
            <a:ext cx="932014" cy="332117"/>
          </a:xfrm>
          <a:prstGeom prst="rect">
            <a:avLst/>
          </a:prstGeom>
          <a:solidFill>
            <a:schemeClr val="accent6">
              <a:lumMod val="60000"/>
              <a:lumOff val="40000"/>
              <a:alpha val="5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t</a:t>
            </a:r>
            <a:r>
              <a:rPr lang="en-US" dirty="0" smtClean="0"/>
              <a:t>est </a:t>
            </a:r>
            <a:r>
              <a:rPr lang="en-US" dirty="0" err="1" smtClean="0"/>
              <a:t>var</a:t>
            </a:r>
            <a:endParaRPr lang="en-US" dirty="0"/>
          </a:p>
        </p:txBody>
      </p:sp>
      <p:cxnSp>
        <p:nvCxnSpPr>
          <p:cNvPr id="31" name="Straight Arrow Connector 30"/>
          <p:cNvCxnSpPr/>
          <p:nvPr/>
        </p:nvCxnSpPr>
        <p:spPr>
          <a:xfrm flipV="1">
            <a:off x="6633310" y="3231964"/>
            <a:ext cx="0" cy="1620901"/>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33" name="Straight Connector 32"/>
          <p:cNvCxnSpPr/>
          <p:nvPr/>
        </p:nvCxnSpPr>
        <p:spPr>
          <a:xfrm>
            <a:off x="2444871" y="1403866"/>
            <a:ext cx="0" cy="4884791"/>
          </a:xfrm>
          <a:prstGeom prst="line">
            <a:avLst/>
          </a:prstGeom>
          <a:ln w="19050">
            <a:solidFill>
              <a:srgbClr val="FF0000">
                <a:alpha val="50000"/>
              </a:srgbClr>
            </a:solidFill>
            <a:prstDash val="lgDash"/>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438400" y="5650302"/>
            <a:ext cx="2461404" cy="646331"/>
          </a:xfrm>
          <a:prstGeom prst="rect">
            <a:avLst/>
          </a:prstGeom>
          <a:noFill/>
        </p:spPr>
        <p:txBody>
          <a:bodyPr wrap="square" rtlCol="0">
            <a:spAutoFit/>
          </a:bodyPr>
          <a:lstStyle/>
          <a:p>
            <a:r>
              <a:rPr lang="en-US" dirty="0" smtClean="0">
                <a:solidFill>
                  <a:srgbClr val="FF0000"/>
                </a:solidFill>
              </a:rPr>
              <a:t>Atomically unlock and enter wait state</a:t>
            </a:r>
            <a:endParaRPr lang="en-US" dirty="0">
              <a:solidFill>
                <a:srgbClr val="FF0000"/>
              </a:solidFill>
            </a:endParaRPr>
          </a:p>
        </p:txBody>
      </p:sp>
      <p:sp>
        <p:nvSpPr>
          <p:cNvPr id="37" name="Rectangle 36"/>
          <p:cNvSpPr/>
          <p:nvPr/>
        </p:nvSpPr>
        <p:spPr>
          <a:xfrm rot="16200000">
            <a:off x="3381621" y="2616614"/>
            <a:ext cx="1805664" cy="1230702"/>
          </a:xfrm>
          <a:prstGeom prst="rect">
            <a:avLst/>
          </a:prstGeom>
          <a:solidFill>
            <a:schemeClr val="accent3">
              <a:lumMod val="60000"/>
              <a:lumOff val="40000"/>
              <a:alpha val="50000"/>
            </a:schemeClr>
          </a:solidFill>
          <a:ln>
            <a:solidFill>
              <a:schemeClr val="accent3">
                <a:lumMod val="75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Producer lock</a:t>
            </a:r>
            <a:endParaRPr lang="en-US" dirty="0"/>
          </a:p>
        </p:txBody>
      </p:sp>
      <p:sp>
        <p:nvSpPr>
          <p:cNvPr id="38" name="Rectangle 37"/>
          <p:cNvSpPr/>
          <p:nvPr/>
        </p:nvSpPr>
        <p:spPr>
          <a:xfrm>
            <a:off x="4111958" y="1434463"/>
            <a:ext cx="902832" cy="371001"/>
          </a:xfrm>
          <a:prstGeom prst="rect">
            <a:avLst/>
          </a:prstGeom>
          <a:solidFill>
            <a:schemeClr val="accent3">
              <a:lumMod val="60000"/>
              <a:lumOff val="40000"/>
              <a:alpha val="50000"/>
            </a:schemeClr>
          </a:solidFill>
          <a:ln>
            <a:solidFill>
              <a:schemeClr val="accent3">
                <a:lumMod val="75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set </a:t>
            </a:r>
            <a:r>
              <a:rPr lang="en-US" dirty="0" err="1" smtClean="0"/>
              <a:t>var</a:t>
            </a:r>
            <a:endParaRPr lang="en-US" dirty="0"/>
          </a:p>
        </p:txBody>
      </p:sp>
      <p:cxnSp>
        <p:nvCxnSpPr>
          <p:cNvPr id="40" name="Straight Connector 39"/>
          <p:cNvCxnSpPr/>
          <p:nvPr/>
        </p:nvCxnSpPr>
        <p:spPr>
          <a:xfrm>
            <a:off x="6029146" y="1403865"/>
            <a:ext cx="0" cy="4884791"/>
          </a:xfrm>
          <a:prstGeom prst="line">
            <a:avLst/>
          </a:prstGeom>
          <a:ln w="19050">
            <a:solidFill>
              <a:srgbClr val="FF0000">
                <a:alpha val="50000"/>
              </a:srgbClr>
            </a:solidFill>
            <a:prstDash val="lgDash"/>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6022675" y="5650301"/>
            <a:ext cx="2461404" cy="646331"/>
          </a:xfrm>
          <a:prstGeom prst="rect">
            <a:avLst/>
          </a:prstGeom>
          <a:noFill/>
        </p:spPr>
        <p:txBody>
          <a:bodyPr wrap="square" rtlCol="0">
            <a:spAutoFit/>
          </a:bodyPr>
          <a:lstStyle/>
          <a:p>
            <a:r>
              <a:rPr lang="en-US" dirty="0" smtClean="0">
                <a:solidFill>
                  <a:srgbClr val="FF0000"/>
                </a:solidFill>
              </a:rPr>
              <a:t>Locked again before returning from wait</a:t>
            </a:r>
            <a:endParaRPr lang="en-US" dirty="0">
              <a:solidFill>
                <a:srgbClr val="FF0000"/>
              </a:solidFill>
            </a:endParaRPr>
          </a:p>
        </p:txBody>
      </p:sp>
      <p:sp>
        <p:nvSpPr>
          <p:cNvPr id="3" name="Date Placeholder 2"/>
          <p:cNvSpPr>
            <a:spLocks noGrp="1"/>
          </p:cNvSpPr>
          <p:nvPr>
            <p:ph type="dt" sz="half" idx="10"/>
          </p:nvPr>
        </p:nvSpPr>
        <p:spPr/>
        <p:txBody>
          <a:bodyPr/>
          <a:lstStyle/>
          <a:p>
            <a:r>
              <a:rPr lang="cs-CZ" smtClean="0"/>
              <a:t>19.1.2014</a:t>
            </a:r>
            <a:endParaRPr lang="en-US"/>
          </a:p>
        </p:txBody>
      </p:sp>
      <p:sp>
        <p:nvSpPr>
          <p:cNvPr id="21" name="Slide Number Placeholder 20"/>
          <p:cNvSpPr>
            <a:spLocks noGrp="1"/>
          </p:cNvSpPr>
          <p:nvPr>
            <p:ph type="sldNum" sz="quarter" idx="12"/>
          </p:nvPr>
        </p:nvSpPr>
        <p:spPr/>
        <p:txBody>
          <a:bodyPr/>
          <a:lstStyle/>
          <a:p>
            <a:fld id="{B6F15528-21DE-4FAA-801E-634DDDAF4B2B}" type="slidenum">
              <a:rPr lang="en-US" smtClean="0"/>
              <a:pPr/>
              <a:t>97</a:t>
            </a:fld>
            <a:endParaRPr lang="en-US"/>
          </a:p>
        </p:txBody>
      </p:sp>
    </p:spTree>
    <p:extLst>
      <p:ext uri="{BB962C8B-B14F-4D97-AF65-F5344CB8AC3E}">
        <p14:creationId xmlns:p14="http://schemas.microsoft.com/office/powerpoint/2010/main" val="169024066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Simplifying control structure</a:t>
            </a:r>
            <a:endParaRPr lang="en-US" dirty="0"/>
          </a:p>
        </p:txBody>
      </p:sp>
      <p:sp>
        <p:nvSpPr>
          <p:cNvPr id="3" name="Content Placeholder 2"/>
          <p:cNvSpPr>
            <a:spLocks noGrp="1"/>
          </p:cNvSpPr>
          <p:nvPr>
            <p:ph idx="1"/>
          </p:nvPr>
        </p:nvSpPr>
        <p:spPr>
          <a:xfrm>
            <a:off x="457200" y="1427681"/>
            <a:ext cx="8229600" cy="340742"/>
          </a:xfrm>
        </p:spPr>
        <p:txBody>
          <a:bodyPr>
            <a:normAutofit fontScale="62500" lnSpcReduction="20000"/>
          </a:bodyPr>
          <a:lstStyle/>
          <a:p>
            <a:pPr marL="0" indent="0">
              <a:buNone/>
            </a:pPr>
            <a:r>
              <a:rPr lang="en-US" dirty="0" smtClean="0"/>
              <a:t>Hiding loop in consumer</a:t>
            </a:r>
            <a:endParaRPr lang="en-US" dirty="0"/>
          </a:p>
        </p:txBody>
      </p:sp>
      <p:sp>
        <p:nvSpPr>
          <p:cNvPr id="4" name="TextBox 3"/>
          <p:cNvSpPr txBox="1"/>
          <p:nvPr/>
        </p:nvSpPr>
        <p:spPr>
          <a:xfrm>
            <a:off x="457200" y="1794319"/>
            <a:ext cx="4149306" cy="1477328"/>
          </a:xfrm>
          <a:prstGeom prst="rect">
            <a:avLst/>
          </a:prstGeom>
          <a:noFill/>
          <a:ln w="3175">
            <a:solidFill>
              <a:schemeClr val="tx1"/>
            </a:solidFill>
          </a:ln>
        </p:spPr>
        <p:txBody>
          <a:bodyPr wrap="square" rtlCol="0">
            <a:spAutoFit/>
          </a:bodyPr>
          <a:lstStyle/>
          <a:p>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r>
              <a:rPr lang="en-US" dirty="0" smtClean="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(m);</a:t>
            </a:r>
          </a:p>
          <a:p>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is_signaled</a:t>
            </a:r>
            <a:r>
              <a:rPr lang="en-US" dirty="0">
                <a:solidFill>
                  <a:srgbClr val="000000"/>
                </a:solidFill>
                <a:highlight>
                  <a:srgbClr val="FFFFFF"/>
                </a:highlight>
                <a:latin typeface="Consolas"/>
              </a:rPr>
              <a:t> = </a:t>
            </a:r>
            <a:r>
              <a:rPr lang="en-US" dirty="0">
                <a:solidFill>
                  <a:srgbClr val="0000FF"/>
                </a:solidFill>
                <a:highlight>
                  <a:srgbClr val="FFFFFF"/>
                </a:highlight>
                <a:latin typeface="Consolas"/>
              </a:rPr>
              <a:t>true</a:t>
            </a:r>
            <a:r>
              <a:rPr lang="en-US" dirty="0">
                <a:solidFill>
                  <a:srgbClr val="000000"/>
                </a:solidFill>
                <a:highlight>
                  <a:srgbClr val="FFFFFF"/>
                </a:highlight>
                <a:latin typeface="Consolas"/>
              </a:rPr>
              <a:t>;</a:t>
            </a:r>
          </a:p>
          <a:p>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r>
              <a:rPr lang="en-US" dirty="0" err="1" smtClean="0">
                <a:solidFill>
                  <a:srgbClr val="000000"/>
                </a:solidFill>
                <a:highlight>
                  <a:srgbClr val="FFFFFF"/>
                </a:highlight>
                <a:latin typeface="Consolas"/>
              </a:rPr>
              <a:t>cv.notify_one</a:t>
            </a:r>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p:txBody>
      </p:sp>
      <p:sp>
        <p:nvSpPr>
          <p:cNvPr id="5" name="TextBox 4"/>
          <p:cNvSpPr txBox="1"/>
          <p:nvPr/>
        </p:nvSpPr>
        <p:spPr>
          <a:xfrm>
            <a:off x="4658274" y="1794319"/>
            <a:ext cx="4037162" cy="1477328"/>
          </a:xfrm>
          <a:prstGeom prst="rect">
            <a:avLst/>
          </a:prstGeom>
          <a:noFill/>
          <a:ln w="3175">
            <a:solidFill>
              <a:schemeClr val="tx1"/>
            </a:solidFill>
          </a:ln>
        </p:spPr>
        <p:txBody>
          <a:bodyPr wrap="square" rtlCol="0">
            <a:spAutoFit/>
          </a:bodyPr>
          <a:lstStyle/>
          <a:p>
            <a:r>
              <a:rPr lang="en-US" dirty="0" err="1" smtClean="0">
                <a:solidFill>
                  <a:srgbClr val="2B91AF"/>
                </a:solidFill>
                <a:highlight>
                  <a:srgbClr val="FFFFFF"/>
                </a:highlight>
                <a:latin typeface="Consolas"/>
              </a:rPr>
              <a:t>unique_lock</a:t>
            </a:r>
            <a:r>
              <a:rPr lang="en-US" dirty="0" smtClean="0">
                <a:solidFill>
                  <a:srgbClr val="000000"/>
                </a:solidFill>
                <a:highlight>
                  <a:srgbClr val="FFFFFF"/>
                </a:highlight>
                <a:latin typeface="Consolas"/>
              </a:rPr>
              <a:t>&lt;</a:t>
            </a:r>
            <a:r>
              <a:rPr lang="en-US" dirty="0" err="1" smtClean="0">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(m);</a:t>
            </a:r>
          </a:p>
          <a:p>
            <a:r>
              <a:rPr lang="en-US" dirty="0" smtClean="0">
                <a:solidFill>
                  <a:srgbClr val="0000FF"/>
                </a:solidFill>
                <a:highlight>
                  <a:srgbClr val="FFFFFF"/>
                </a:highlight>
                <a:latin typeface="Consolas"/>
              </a:rPr>
              <a:t>while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is_signaled</a:t>
            </a:r>
            <a:r>
              <a:rPr lang="en-US" dirty="0">
                <a:solidFill>
                  <a:srgbClr val="000000"/>
                </a:solidFill>
                <a:highlight>
                  <a:srgbClr val="FFFFFF"/>
                </a:highlight>
                <a:latin typeface="Consolas"/>
              </a:rPr>
              <a:t> ) {</a:t>
            </a:r>
          </a:p>
          <a:p>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cv.wait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 );</a:t>
            </a:r>
          </a:p>
          <a:p>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is_signaled</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false</a:t>
            </a:r>
            <a:r>
              <a:rPr lang="en-US" dirty="0">
                <a:solidFill>
                  <a:srgbClr val="000000"/>
                </a:solidFill>
                <a:highlight>
                  <a:srgbClr val="FFFFFF"/>
                </a:highlight>
                <a:latin typeface="Consolas"/>
              </a:rPr>
              <a:t>;</a:t>
            </a:r>
          </a:p>
          <a:p>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p:txBody>
      </p:sp>
      <p:sp>
        <p:nvSpPr>
          <p:cNvPr id="7" name="Content Placeholder 2"/>
          <p:cNvSpPr txBox="1">
            <a:spLocks/>
          </p:cNvSpPr>
          <p:nvPr/>
        </p:nvSpPr>
        <p:spPr>
          <a:xfrm>
            <a:off x="457200" y="3397517"/>
            <a:ext cx="8229600" cy="340742"/>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smtClean="0"/>
              <a:t>Equivalent code with predicate</a:t>
            </a:r>
            <a:endParaRPr lang="en-US" dirty="0"/>
          </a:p>
        </p:txBody>
      </p:sp>
      <p:sp>
        <p:nvSpPr>
          <p:cNvPr id="8" name="TextBox 7"/>
          <p:cNvSpPr txBox="1"/>
          <p:nvPr/>
        </p:nvSpPr>
        <p:spPr>
          <a:xfrm>
            <a:off x="457200" y="3764155"/>
            <a:ext cx="4149306" cy="1477328"/>
          </a:xfrm>
          <a:prstGeom prst="rect">
            <a:avLst/>
          </a:prstGeom>
          <a:noFill/>
          <a:ln w="3175">
            <a:solidFill>
              <a:schemeClr val="tx1"/>
            </a:solidFill>
          </a:ln>
        </p:spPr>
        <p:txBody>
          <a:bodyPr wrap="square" rtlCol="0">
            <a:spAutoFit/>
          </a:bodyPr>
          <a:lstStyle/>
          <a:p>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lock_guard</a:t>
            </a:r>
            <a:r>
              <a:rPr lang="en-US" dirty="0">
                <a:solidFill>
                  <a:srgbClr val="000000"/>
                </a:solidFill>
                <a:highlight>
                  <a:srgbClr val="FFFFFF"/>
                </a:highlight>
                <a:latin typeface="Consolas"/>
              </a:rPr>
              <a:t>&lt;</a:t>
            </a:r>
            <a:r>
              <a:rPr lang="en-US" dirty="0" err="1">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(m);</a:t>
            </a:r>
          </a:p>
          <a:p>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is_signaled</a:t>
            </a:r>
            <a:r>
              <a:rPr lang="en-US" dirty="0">
                <a:solidFill>
                  <a:srgbClr val="000000"/>
                </a:solidFill>
                <a:highlight>
                  <a:srgbClr val="FFFFFF"/>
                </a:highlight>
                <a:latin typeface="Consolas"/>
              </a:rPr>
              <a:t> = </a:t>
            </a:r>
            <a:r>
              <a:rPr lang="en-US" dirty="0">
                <a:solidFill>
                  <a:srgbClr val="0000FF"/>
                </a:solidFill>
                <a:highlight>
                  <a:srgbClr val="FFFFFF"/>
                </a:highlight>
                <a:latin typeface="Consolas"/>
              </a:rPr>
              <a:t>true</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a:t>
            </a:r>
          </a:p>
          <a:p>
            <a:r>
              <a:rPr lang="en-US" dirty="0" err="1">
                <a:solidFill>
                  <a:srgbClr val="000000"/>
                </a:solidFill>
                <a:highlight>
                  <a:srgbClr val="FFFFFF"/>
                </a:highlight>
                <a:latin typeface="Consolas"/>
              </a:rPr>
              <a:t>cv.notify_one</a:t>
            </a:r>
            <a:r>
              <a:rPr lang="en-US" dirty="0">
                <a:solidFill>
                  <a:srgbClr val="000000"/>
                </a:solidFill>
                <a:highlight>
                  <a:srgbClr val="FFFFFF"/>
                </a:highlight>
                <a:latin typeface="Consolas"/>
              </a:rPr>
              <a:t>();</a:t>
            </a:r>
          </a:p>
        </p:txBody>
      </p:sp>
      <p:sp>
        <p:nvSpPr>
          <p:cNvPr id="9" name="TextBox 8"/>
          <p:cNvSpPr txBox="1"/>
          <p:nvPr/>
        </p:nvSpPr>
        <p:spPr>
          <a:xfrm>
            <a:off x="4658274" y="3764155"/>
            <a:ext cx="4037162" cy="1477328"/>
          </a:xfrm>
          <a:prstGeom prst="rect">
            <a:avLst/>
          </a:prstGeom>
          <a:noFill/>
          <a:ln w="3175">
            <a:solidFill>
              <a:schemeClr val="tx1"/>
            </a:solidFill>
          </a:ln>
        </p:spPr>
        <p:txBody>
          <a:bodyPr wrap="square" rtlCol="0">
            <a:spAutoFit/>
          </a:bodyPr>
          <a:lstStyle/>
          <a:p>
            <a:r>
              <a:rPr lang="en-US" dirty="0" err="1" smtClean="0">
                <a:solidFill>
                  <a:srgbClr val="2B91AF"/>
                </a:solidFill>
                <a:highlight>
                  <a:srgbClr val="FFFFFF"/>
                </a:highlight>
                <a:latin typeface="Consolas"/>
              </a:rPr>
              <a:t>unique_lock</a:t>
            </a:r>
            <a:r>
              <a:rPr lang="en-US" dirty="0" smtClean="0">
                <a:solidFill>
                  <a:srgbClr val="000000"/>
                </a:solidFill>
                <a:highlight>
                  <a:srgbClr val="FFFFFF"/>
                </a:highlight>
                <a:latin typeface="Consolas"/>
              </a:rPr>
              <a:t>&lt;</a:t>
            </a:r>
            <a:r>
              <a:rPr lang="en-US" dirty="0" err="1" smtClean="0">
                <a:solidFill>
                  <a:srgbClr val="2B91AF"/>
                </a:solidFill>
                <a:highlight>
                  <a:srgbClr val="FFFFFF"/>
                </a:highlight>
                <a:latin typeface="Consolas"/>
              </a:rPr>
              <a:t>mutex</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(m);</a:t>
            </a:r>
          </a:p>
          <a:p>
            <a:r>
              <a:rPr lang="en-US" dirty="0" err="1" smtClean="0">
                <a:solidFill>
                  <a:srgbClr val="000000"/>
                </a:solidFill>
                <a:highlight>
                  <a:srgbClr val="FFFFFF"/>
                </a:highlight>
                <a:latin typeface="Consolas"/>
              </a:rPr>
              <a:t>cv.wait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lck</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smtClean="0">
                <a:solidFill>
                  <a:srgbClr val="0000FF"/>
                </a:solidFill>
                <a:highlight>
                  <a:srgbClr val="FFFFFF"/>
                </a:highlight>
                <a:latin typeface="Consolas"/>
              </a:rPr>
              <a:t>return</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is_signaled</a:t>
            </a:r>
            <a:r>
              <a:rPr lang="en-US" dirty="0">
                <a:solidFill>
                  <a:srgbClr val="000000"/>
                </a:solidFill>
                <a:highlight>
                  <a:srgbClr val="FFFFFF"/>
                </a:highlight>
                <a:latin typeface="Consolas"/>
              </a:rPr>
              <a:t>; </a:t>
            </a:r>
            <a:endParaRPr lang="en-US" dirty="0" smtClean="0">
              <a:solidFill>
                <a:srgbClr val="000000"/>
              </a:solidFill>
              <a:highlight>
                <a:srgbClr val="FFFFFF"/>
              </a:highlight>
              <a:latin typeface="Consolas"/>
            </a:endParaRPr>
          </a:p>
          <a:p>
            <a:r>
              <a:rPr lang="en-US" dirty="0" smtClean="0">
                <a:solidFill>
                  <a:srgbClr val="000000"/>
                </a:solidFill>
                <a:highlight>
                  <a:srgbClr val="FFFFFF"/>
                </a:highlight>
                <a:latin typeface="Consolas"/>
              </a:rPr>
              <a:t>});</a:t>
            </a:r>
            <a:endParaRPr lang="en-US" dirty="0">
              <a:solidFill>
                <a:srgbClr val="000000"/>
              </a:solidFill>
              <a:highlight>
                <a:srgbClr val="FFFFFF"/>
              </a:highlight>
              <a:latin typeface="Consolas"/>
            </a:endParaRPr>
          </a:p>
          <a:p>
            <a:r>
              <a:rPr lang="en-US" dirty="0" err="1" smtClean="0">
                <a:solidFill>
                  <a:srgbClr val="000000"/>
                </a:solidFill>
                <a:highlight>
                  <a:srgbClr val="FFFFFF"/>
                </a:highlight>
                <a:latin typeface="Consolas"/>
              </a:rPr>
              <a:t>is_signaled</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false</a:t>
            </a:r>
            <a:r>
              <a:rPr lang="en-US" dirty="0">
                <a:solidFill>
                  <a:srgbClr val="000000"/>
                </a:solidFill>
                <a:highlight>
                  <a:srgbClr val="FFFFFF"/>
                </a:highlight>
                <a:latin typeface="Consolas"/>
              </a:rPr>
              <a:t>;</a:t>
            </a:r>
            <a:endParaRPr lang="en-US" dirty="0"/>
          </a:p>
        </p:txBody>
      </p:sp>
      <p:sp>
        <p:nvSpPr>
          <p:cNvPr id="10" name="Content Placeholder 2"/>
          <p:cNvSpPr txBox="1">
            <a:spLocks/>
          </p:cNvSpPr>
          <p:nvPr/>
        </p:nvSpPr>
        <p:spPr>
          <a:xfrm>
            <a:off x="457200" y="5313872"/>
            <a:ext cx="8229600" cy="1017917"/>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Predicate is called under lock. If it is true, then wait returns.</a:t>
            </a:r>
          </a:p>
          <a:p>
            <a:r>
              <a:rPr lang="en-US" dirty="0" smtClean="0"/>
              <a:t>If predicate returns false, lock is released and wait state is entered.</a:t>
            </a:r>
          </a:p>
          <a:p>
            <a:r>
              <a:rPr lang="en-US" dirty="0" smtClean="0"/>
              <a:t>On wakeup, lock is acquired and predicate retested (if false wait again).</a:t>
            </a:r>
          </a:p>
          <a:p>
            <a:endParaRPr lang="en-US" dirty="0"/>
          </a:p>
        </p:txBody>
      </p:sp>
      <p:sp>
        <p:nvSpPr>
          <p:cNvPr id="6" name="Date Placeholder 5"/>
          <p:cNvSpPr>
            <a:spLocks noGrp="1"/>
          </p:cNvSpPr>
          <p:nvPr>
            <p:ph type="dt" sz="half" idx="10"/>
          </p:nvPr>
        </p:nvSpPr>
        <p:spPr/>
        <p:txBody>
          <a:bodyPr/>
          <a:lstStyle/>
          <a:p>
            <a:r>
              <a:rPr lang="cs-CZ" smtClean="0"/>
              <a:t>19.1.2014</a:t>
            </a:r>
            <a:endParaRPr lang="en-US"/>
          </a:p>
        </p:txBody>
      </p:sp>
      <p:sp>
        <p:nvSpPr>
          <p:cNvPr id="12" name="Slide Number Placeholder 11"/>
          <p:cNvSpPr>
            <a:spLocks noGrp="1"/>
          </p:cNvSpPr>
          <p:nvPr>
            <p:ph type="sldNum" sz="quarter" idx="12"/>
          </p:nvPr>
        </p:nvSpPr>
        <p:spPr/>
        <p:txBody>
          <a:bodyPr/>
          <a:lstStyle/>
          <a:p>
            <a:fld id="{B6F15528-21DE-4FAA-801E-634DDDAF4B2B}" type="slidenum">
              <a:rPr lang="en-US" smtClean="0"/>
              <a:pPr/>
              <a:t>98</a:t>
            </a:fld>
            <a:endParaRPr lang="en-US"/>
          </a:p>
        </p:txBody>
      </p:sp>
    </p:spTree>
    <p:extLst>
      <p:ext uri="{BB962C8B-B14F-4D97-AF65-F5344CB8AC3E}">
        <p14:creationId xmlns:p14="http://schemas.microsoft.com/office/powerpoint/2010/main" val="134815615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Concurrent queue</a:t>
            </a:r>
            <a:endParaRPr lang="en-US" dirty="0"/>
          </a:p>
        </p:txBody>
      </p:sp>
      <p:sp>
        <p:nvSpPr>
          <p:cNvPr id="4" name="Content Placeholder 3"/>
          <p:cNvSpPr>
            <a:spLocks noGrp="1"/>
          </p:cNvSpPr>
          <p:nvPr>
            <p:ph sz="half" idx="1"/>
          </p:nvPr>
        </p:nvSpPr>
        <p:spPr/>
        <p:txBody>
          <a:bodyPr>
            <a:normAutofit fontScale="85000" lnSpcReduction="20000"/>
          </a:bodyPr>
          <a:lstStyle/>
          <a:p>
            <a:pPr marL="0" indent="0">
              <a:buNone/>
            </a:pPr>
            <a:r>
              <a:rPr lang="en-US" dirty="0">
                <a:solidFill>
                  <a:srgbClr val="0000FF"/>
                </a:solidFill>
                <a:highlight>
                  <a:srgbClr val="FFFFFF"/>
                </a:highlight>
                <a:latin typeface="Consolas"/>
              </a:rPr>
              <a:t>template</a:t>
            </a:r>
            <a:r>
              <a:rPr lang="en-US" dirty="0">
                <a:solidFill>
                  <a:srgbClr val="000000"/>
                </a:solidFill>
                <a:highlight>
                  <a:srgbClr val="FFFFFF"/>
                </a:highlight>
                <a:latin typeface="Consolas"/>
              </a:rPr>
              <a:t> &lt; </a:t>
            </a: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T</a:t>
            </a:r>
            <a:r>
              <a:rPr lang="en-US" dirty="0">
                <a:solidFill>
                  <a:srgbClr val="000000"/>
                </a:solidFill>
                <a:highlight>
                  <a:srgbClr val="FFFFFF"/>
                </a:highlight>
                <a:latin typeface="Consolas"/>
              </a:rPr>
              <a:t> &gt;</a:t>
            </a:r>
          </a:p>
          <a:p>
            <a:pPr marL="0" indent="0">
              <a:buNone/>
            </a:pPr>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concurent_queue</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deque</a:t>
            </a:r>
            <a:r>
              <a:rPr lang="en-US" dirty="0" smtClean="0">
                <a:solidFill>
                  <a:srgbClr val="000000"/>
                </a:solidFill>
                <a:highlight>
                  <a:srgbClr val="FFFFFF"/>
                </a:highlight>
                <a:latin typeface="Consolas"/>
              </a:rPr>
              <a:t>&lt;</a:t>
            </a:r>
            <a:r>
              <a:rPr lang="en-US" dirty="0" smtClean="0">
                <a:solidFill>
                  <a:srgbClr val="2B91AF"/>
                </a:solidFill>
                <a:highlight>
                  <a:srgbClr val="FFFFFF"/>
                </a:highlight>
                <a:latin typeface="Consolas"/>
              </a:rPr>
              <a:t>T</a:t>
            </a:r>
            <a:r>
              <a:rPr lang="en-US" dirty="0">
                <a:solidFill>
                  <a:srgbClr val="000000"/>
                </a:solidFill>
                <a:highlight>
                  <a:srgbClr val="FFFFFF"/>
                </a:highlight>
                <a:latin typeface="Consolas"/>
              </a:rPr>
              <a:t>&gt; </a:t>
            </a:r>
            <a:r>
              <a:rPr lang="en-US" dirty="0" err="1">
                <a:solidFill>
                  <a:srgbClr val="000000"/>
                </a:solidFill>
                <a:highlight>
                  <a:srgbClr val="FFFFFF"/>
                </a:highlight>
                <a:latin typeface="Consolas"/>
              </a:rPr>
              <a:t>m_queue</a:t>
            </a:r>
            <a:r>
              <a:rPr lang="en-US" dirty="0">
                <a:solidFill>
                  <a:srgbClr val="000000"/>
                </a:solidFill>
                <a:highlight>
                  <a:srgbClr val="FFFFFF"/>
                </a:highlight>
                <a:latin typeface="Consolas"/>
              </a:rPr>
              <a:t>;</a:t>
            </a: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condition_variable</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m_cv</a:t>
            </a:r>
            <a:r>
              <a:rPr lang="en-US" dirty="0">
                <a:solidFill>
                  <a:srgbClr val="000000"/>
                </a:solidFill>
                <a:highlight>
                  <a:srgbClr val="FFFFFF"/>
                </a:highlight>
                <a:latin typeface="Consolas"/>
              </a:rPr>
              <a:t>;</a:t>
            </a:r>
          </a:p>
          <a:p>
            <a:pPr marL="0" indent="0">
              <a:buNone/>
            </a:pPr>
            <a:r>
              <a:rPr lang="en-US" dirty="0" smtClean="0">
                <a:solidFill>
                  <a:srgbClr val="2B91AF"/>
                </a:solidFill>
                <a:highlight>
                  <a:srgbClr val="FFFFFF"/>
                </a:highlight>
                <a:latin typeface="Consolas"/>
              </a:rPr>
              <a:t>   mutex</a:t>
            </a:r>
            <a:r>
              <a:rPr lang="en-US" dirty="0" smtClean="0">
                <a:solidFill>
                  <a:srgbClr val="000000"/>
                </a:solidFill>
                <a:highlight>
                  <a:srgbClr val="FFFFFF"/>
                </a:highlight>
                <a:latin typeface="Consolas"/>
              </a:rPr>
              <a:t> </a:t>
            </a:r>
            <a:r>
              <a:rPr lang="en-US" dirty="0" err="1">
                <a:solidFill>
                  <a:srgbClr val="000000"/>
                </a:solidFill>
                <a:highlight>
                  <a:srgbClr val="FFFFFF"/>
                </a:highlight>
                <a:latin typeface="Consolas"/>
              </a:rPr>
              <a:t>m_lock</a:t>
            </a:r>
            <a:r>
              <a:rPr lang="en-US" dirty="0">
                <a:solidFill>
                  <a:srgbClr val="000000"/>
                </a:solidFill>
                <a:highlight>
                  <a:srgbClr val="FFFFFF"/>
                </a:highlight>
                <a:latin typeface="Consolas"/>
              </a:rPr>
              <a:t>;</a:t>
            </a:r>
          </a:p>
          <a:p>
            <a:pPr marL="0" indent="0">
              <a:buNone/>
            </a:pPr>
            <a:r>
              <a:rPr lang="en-US" dirty="0">
                <a:solidFill>
                  <a:srgbClr val="0000FF"/>
                </a:solidFill>
                <a:highlight>
                  <a:srgbClr val="FFFFFF"/>
                </a:highlight>
                <a:latin typeface="Consolas"/>
              </a:rPr>
              <a:t>public</a:t>
            </a:r>
            <a:r>
              <a:rPr lang="en-US" dirty="0">
                <a:solidFill>
                  <a:srgbClr val="000000"/>
                </a:solidFill>
                <a:highlight>
                  <a:srgbClr val="FFFFFF"/>
                </a:highlight>
                <a:latin typeface="Consolas"/>
              </a:rPr>
              <a:t>:</a:t>
            </a:r>
          </a:p>
          <a:p>
            <a:pPr marL="0" indent="0">
              <a:buNone/>
            </a:pPr>
            <a:r>
              <a:rPr lang="en-US" dirty="0" smtClean="0">
                <a:solidFill>
                  <a:srgbClr val="0000FF"/>
                </a:solidFill>
                <a:highlight>
                  <a:srgbClr val="FFFFFF"/>
                </a:highlight>
                <a:latin typeface="Consolas"/>
              </a:rPr>
              <a:t>   void</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send(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T</a:t>
            </a:r>
            <a:r>
              <a:rPr lang="en-US" dirty="0">
                <a:solidFill>
                  <a:srgbClr val="000000"/>
                </a:solidFill>
                <a:highlight>
                  <a:srgbClr val="FFFFFF"/>
                </a:highlight>
                <a:latin typeface="Consolas"/>
              </a:rPr>
              <a:t>&amp; </a:t>
            </a:r>
            <a:r>
              <a:rPr lang="en-US" dirty="0" err="1">
                <a:solidFill>
                  <a:srgbClr val="808080"/>
                </a:solidFill>
                <a:highlight>
                  <a:srgbClr val="FFFFFF"/>
                </a:highlight>
                <a:latin typeface="Consolas"/>
              </a:rPr>
              <a:t>val</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lock_guard</a:t>
            </a:r>
            <a:r>
              <a:rPr lang="en-US" dirty="0" smtClean="0">
                <a:solidFill>
                  <a:srgbClr val="000000"/>
                </a:solidFill>
                <a:highlight>
                  <a:srgbClr val="FFFFFF"/>
                </a:highlight>
                <a:latin typeface="Consolas"/>
              </a:rPr>
              <a:t>&lt;</a:t>
            </a:r>
            <a:r>
              <a:rPr lang="en-US" dirty="0" err="1" smtClean="0">
                <a:solidFill>
                  <a:srgbClr val="2B91AF"/>
                </a:solidFill>
                <a:highlight>
                  <a:srgbClr val="FFFFFF"/>
                </a:highlight>
                <a:latin typeface="Consolas"/>
              </a:rPr>
              <a:t>mutex</a:t>
            </a:r>
            <a:r>
              <a:rPr lang="en-US" dirty="0">
                <a:solidFill>
                  <a:srgbClr val="000000"/>
                </a:solidFill>
                <a:highlight>
                  <a:srgbClr val="FFFFFF"/>
                </a:highlight>
                <a:latin typeface="Consolas"/>
              </a:rPr>
              <a:t>&gt; hold(</a:t>
            </a:r>
            <a:r>
              <a:rPr lang="en-US" dirty="0" err="1">
                <a:solidFill>
                  <a:srgbClr val="000000"/>
                </a:solidFill>
                <a:highlight>
                  <a:srgbClr val="FFFFFF"/>
                </a:highlight>
                <a:latin typeface="Consolas"/>
              </a:rPr>
              <a:t>m_lock</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m_queue.push_front</a:t>
            </a: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val</a:t>
            </a:r>
            <a:r>
              <a:rPr lang="en-US" dirty="0">
                <a:solidFill>
                  <a:srgbClr val="000000"/>
                </a:solidFill>
                <a:highlight>
                  <a:srgbClr val="FFFFFF"/>
                </a:highlight>
                <a:latin typeface="Consolas"/>
              </a:rPr>
              <a:t> );</a:t>
            </a:r>
          </a:p>
          <a:p>
            <a:pPr marL="0" indent="0">
              <a:buNone/>
            </a:pP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m_cv.notify_one</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smtClean="0">
                <a:solidFill>
                  <a:srgbClr val="0000FF"/>
                </a:solidFill>
                <a:highlight>
                  <a:srgbClr val="FFFFFF"/>
                </a:highlight>
                <a:latin typeface="Consolas"/>
              </a:rPr>
              <a:t>   void</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receive( </a:t>
            </a:r>
            <a:r>
              <a:rPr lang="en-US" dirty="0">
                <a:solidFill>
                  <a:srgbClr val="2B91AF"/>
                </a:solidFill>
                <a:highlight>
                  <a:srgbClr val="FFFFFF"/>
                </a:highlight>
                <a:latin typeface="Consolas"/>
              </a:rPr>
              <a:t>T</a:t>
            </a:r>
            <a:r>
              <a:rPr lang="en-US" dirty="0">
                <a:solidFill>
                  <a:srgbClr val="000000"/>
                </a:solidFill>
                <a:highlight>
                  <a:srgbClr val="FFFFFF"/>
                </a:highlight>
                <a:latin typeface="Consolas"/>
              </a:rPr>
              <a:t>&amp; </a:t>
            </a:r>
            <a:r>
              <a:rPr lang="en-US" dirty="0" err="1">
                <a:solidFill>
                  <a:srgbClr val="808080"/>
                </a:solidFill>
                <a:highlight>
                  <a:srgbClr val="FFFFFF"/>
                </a:highlight>
                <a:latin typeface="Consolas"/>
              </a:rPr>
              <a:t>val</a:t>
            </a: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smtClean="0">
                <a:solidFill>
                  <a:srgbClr val="2B91AF"/>
                </a:solidFill>
                <a:highlight>
                  <a:srgbClr val="FFFFFF"/>
                </a:highlight>
                <a:latin typeface="Consolas"/>
              </a:rPr>
              <a:t>      </a:t>
            </a:r>
            <a:r>
              <a:rPr lang="en-US" dirty="0" err="1" smtClean="0">
                <a:solidFill>
                  <a:srgbClr val="2B91AF"/>
                </a:solidFill>
                <a:highlight>
                  <a:srgbClr val="FFFFFF"/>
                </a:highlight>
                <a:latin typeface="Consolas"/>
              </a:rPr>
              <a:t>unique_lock</a:t>
            </a:r>
            <a:r>
              <a:rPr lang="en-US" dirty="0" smtClean="0">
                <a:solidFill>
                  <a:srgbClr val="000000"/>
                </a:solidFill>
                <a:highlight>
                  <a:srgbClr val="FFFFFF"/>
                </a:highlight>
                <a:latin typeface="Consolas"/>
              </a:rPr>
              <a:t>&lt;</a:t>
            </a:r>
            <a:r>
              <a:rPr lang="en-US" dirty="0" err="1" smtClean="0">
                <a:solidFill>
                  <a:srgbClr val="2B91AF"/>
                </a:solidFill>
                <a:highlight>
                  <a:srgbClr val="FFFFFF"/>
                </a:highlight>
                <a:latin typeface="Consolas"/>
              </a:rPr>
              <a:t>mutex</a:t>
            </a:r>
            <a:r>
              <a:rPr lang="en-US" dirty="0">
                <a:solidFill>
                  <a:srgbClr val="000000"/>
                </a:solidFill>
                <a:highlight>
                  <a:srgbClr val="FFFFFF"/>
                </a:highlight>
                <a:latin typeface="Consolas"/>
              </a:rPr>
              <a:t>&gt; hold(</a:t>
            </a:r>
            <a:r>
              <a:rPr lang="en-US" dirty="0" err="1">
                <a:solidFill>
                  <a:srgbClr val="000000"/>
                </a:solidFill>
                <a:highlight>
                  <a:srgbClr val="FFFFFF"/>
                </a:highlight>
                <a:latin typeface="Consolas"/>
              </a:rPr>
              <a:t>m_lock</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m_cv.wait</a:t>
            </a:r>
            <a:r>
              <a:rPr lang="en-US" dirty="0">
                <a:solidFill>
                  <a:srgbClr val="000000"/>
                </a:solidFill>
                <a:highlight>
                  <a:srgbClr val="FFFFFF"/>
                </a:highlight>
                <a:latin typeface="Consolas"/>
              </a:rPr>
              <a:t>( hold, [] { </a:t>
            </a:r>
            <a:endParaRPr lang="en-US" dirty="0" smtClean="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smtClean="0">
                <a:solidFill>
                  <a:srgbClr val="0000FF"/>
                </a:solidFill>
                <a:highlight>
                  <a:srgbClr val="FFFFFF"/>
                </a:highlight>
                <a:latin typeface="Consolas"/>
              </a:rPr>
              <a:t>return</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a:t>
            </a:r>
            <a:r>
              <a:rPr lang="en-US" dirty="0" err="1">
                <a:solidFill>
                  <a:srgbClr val="000000"/>
                </a:solidFill>
                <a:highlight>
                  <a:srgbClr val="FFFFFF"/>
                </a:highlight>
                <a:latin typeface="Consolas"/>
              </a:rPr>
              <a:t>m_queue.empty</a:t>
            </a:r>
            <a:r>
              <a:rPr lang="en-US" dirty="0">
                <a:solidFill>
                  <a:srgbClr val="000000"/>
                </a:solidFill>
                <a:highlight>
                  <a:srgbClr val="FFFFFF"/>
                </a:highlight>
                <a:latin typeface="Consolas"/>
              </a:rPr>
              <a:t>(); </a:t>
            </a:r>
            <a:endParaRPr lang="en-US" dirty="0" smtClean="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smtClean="0">
                <a:solidFill>
                  <a:srgbClr val="808080"/>
                </a:solidFill>
                <a:highlight>
                  <a:srgbClr val="FFFFFF"/>
                </a:highlight>
                <a:latin typeface="Consolas"/>
              </a:rPr>
              <a:t>      </a:t>
            </a:r>
            <a:r>
              <a:rPr lang="en-US" dirty="0" err="1" smtClean="0">
                <a:solidFill>
                  <a:srgbClr val="808080"/>
                </a:solidFill>
                <a:highlight>
                  <a:srgbClr val="FFFFFF"/>
                </a:highlight>
                <a:latin typeface="Consolas"/>
              </a:rPr>
              <a:t>val</a:t>
            </a:r>
            <a:r>
              <a:rPr lang="en-US" dirty="0" smtClean="0">
                <a:solidFill>
                  <a:srgbClr val="000000"/>
                </a:solidFill>
                <a:highlight>
                  <a:srgbClr val="FFFFFF"/>
                </a:highlight>
                <a:latin typeface="Consolas"/>
              </a:rPr>
              <a:t> </a:t>
            </a:r>
            <a:r>
              <a:rPr lang="en-US" dirty="0">
                <a:solidFill>
                  <a:srgbClr val="000000"/>
                </a:solidFill>
                <a:highlight>
                  <a:srgbClr val="FFFFFF"/>
                </a:highlight>
                <a:latin typeface="Consolas"/>
              </a:rPr>
              <a:t>= move( </a:t>
            </a:r>
            <a:r>
              <a:rPr lang="en-US" dirty="0" err="1">
                <a:solidFill>
                  <a:srgbClr val="000000"/>
                </a:solidFill>
                <a:highlight>
                  <a:srgbClr val="FFFFFF"/>
                </a:highlight>
                <a:latin typeface="Consolas"/>
              </a:rPr>
              <a:t>m_queue.back</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r>
              <a:rPr lang="en-US" dirty="0" err="1" smtClean="0">
                <a:solidFill>
                  <a:srgbClr val="000000"/>
                </a:solidFill>
                <a:highlight>
                  <a:srgbClr val="FFFFFF"/>
                </a:highlight>
                <a:latin typeface="Consolas"/>
              </a:rPr>
              <a:t>m_queue.pop_back</a:t>
            </a:r>
            <a:r>
              <a:rPr lang="en-US" dirty="0">
                <a:solidFill>
                  <a:srgbClr val="000000"/>
                </a:solidFill>
                <a:highlight>
                  <a:srgbClr val="FFFFFF"/>
                </a:highlight>
                <a:latin typeface="Consolas"/>
              </a:rPr>
              <a:t>();</a:t>
            </a:r>
          </a:p>
          <a:p>
            <a:pPr marL="0" indent="0">
              <a:buNone/>
            </a:pPr>
            <a:r>
              <a:rPr lang="en-US" dirty="0" smtClean="0">
                <a:solidFill>
                  <a:srgbClr val="000000"/>
                </a:solidFill>
                <a:highlight>
                  <a:srgbClr val="FFFFFF"/>
                </a:highlight>
                <a:latin typeface="Consolas"/>
              </a:rPr>
              <a:t>   }</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a:t>
            </a:r>
            <a:endParaRPr lang="en-US" dirty="0"/>
          </a:p>
        </p:txBody>
      </p:sp>
      <p:sp>
        <p:nvSpPr>
          <p:cNvPr id="5" name="Content Placeholder 4"/>
          <p:cNvSpPr>
            <a:spLocks noGrp="1"/>
          </p:cNvSpPr>
          <p:nvPr>
            <p:ph sz="half" idx="2"/>
          </p:nvPr>
        </p:nvSpPr>
        <p:spPr/>
        <p:txBody>
          <a:bodyPr>
            <a:normAutofit fontScale="85000" lnSpcReduction="20000"/>
          </a:bodyPr>
          <a:lstStyle/>
          <a:p>
            <a:pPr marL="0" indent="0">
              <a:buNone/>
            </a:pPr>
            <a:r>
              <a:rPr lang="en-US" dirty="0" smtClean="0"/>
              <a:t>Design decision: Receive method takes a reference to returned data.</a:t>
            </a:r>
          </a:p>
          <a:p>
            <a:r>
              <a:rPr lang="en-US" dirty="0" smtClean="0"/>
              <a:t>Eliminates possible problem when return by value throws an exception.</a:t>
            </a:r>
          </a:p>
          <a:p>
            <a:r>
              <a:rPr lang="en-US" dirty="0" smtClean="0"/>
              <a:t>Instance of stored type must be created by user prior calling receive. Default </a:t>
            </a:r>
            <a:r>
              <a:rPr lang="en-US" dirty="0" err="1" smtClean="0"/>
              <a:t>ctor</a:t>
            </a:r>
            <a:r>
              <a:rPr lang="en-US" dirty="0" smtClean="0"/>
              <a:t> might not be available or can be expensive.</a:t>
            </a:r>
          </a:p>
          <a:p>
            <a:r>
              <a:rPr lang="en-US" dirty="0" smtClean="0"/>
              <a:t>Requires that stored type T is assignable. Many UDT is not assignable.</a:t>
            </a:r>
          </a:p>
          <a:p>
            <a:pPr marL="0" indent="0">
              <a:buNone/>
            </a:pPr>
            <a:r>
              <a:rPr lang="en-US" dirty="0" smtClean="0"/>
              <a:t>Other designs:</a:t>
            </a:r>
          </a:p>
          <a:p>
            <a:r>
              <a:rPr lang="en-US" dirty="0" smtClean="0"/>
              <a:t>Return by value if copy or move </a:t>
            </a:r>
            <a:r>
              <a:rPr lang="en-US" dirty="0" err="1" smtClean="0"/>
              <a:t>ctor</a:t>
            </a:r>
            <a:r>
              <a:rPr lang="en-US" dirty="0" smtClean="0"/>
              <a:t> of stored object don’t throw.</a:t>
            </a:r>
          </a:p>
          <a:p>
            <a:r>
              <a:rPr lang="en-US" dirty="0" smtClean="0"/>
              <a:t>Store and return a shared pointer.</a:t>
            </a:r>
            <a:endParaRPr lang="en-US" dirty="0"/>
          </a:p>
        </p:txBody>
      </p:sp>
      <p:sp>
        <p:nvSpPr>
          <p:cNvPr id="3" name="Date Placeholder 2"/>
          <p:cNvSpPr>
            <a:spLocks noGrp="1"/>
          </p:cNvSpPr>
          <p:nvPr>
            <p:ph type="dt" sz="half" idx="10"/>
          </p:nvPr>
        </p:nvSpPr>
        <p:spPr/>
        <p:txBody>
          <a:bodyPr/>
          <a:lstStyle/>
          <a:p>
            <a:r>
              <a:rPr lang="cs-CZ" smtClean="0"/>
              <a:t>19.1.2014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99</a:t>
            </a:fld>
            <a:endParaRPr lang="en-US"/>
          </a:p>
        </p:txBody>
      </p:sp>
    </p:spTree>
    <p:extLst>
      <p:ext uri="{BB962C8B-B14F-4D97-AF65-F5344CB8AC3E}">
        <p14:creationId xmlns:p14="http://schemas.microsoft.com/office/powerpoint/2010/main" val="198667147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std</a:t>
            </a:r>
            <a:r>
              <a:rPr lang="en-US" dirty="0"/>
              <a:t>::</a:t>
            </a:r>
            <a:r>
              <a:rPr lang="en-US" dirty="0" err="1"/>
              <a:t>notify_all_at_thread_exit</a:t>
            </a:r>
            <a:endParaRPr lang="en-US" dirty="0"/>
          </a:p>
        </p:txBody>
      </p:sp>
      <p:sp>
        <p:nvSpPr>
          <p:cNvPr id="5" name="Content Placeholder 4"/>
          <p:cNvSpPr>
            <a:spLocks noGrp="1"/>
          </p:cNvSpPr>
          <p:nvPr>
            <p:ph idx="1"/>
          </p:nvPr>
        </p:nvSpPr>
        <p:spPr/>
        <p:txBody>
          <a:bodyPr>
            <a:normAutofit fontScale="77500" lnSpcReduction="20000"/>
          </a:bodyPr>
          <a:lstStyle/>
          <a:p>
            <a:pPr marL="0" indent="0">
              <a:buNone/>
            </a:pPr>
            <a:r>
              <a:rPr lang="en-US" sz="2100" dirty="0">
                <a:solidFill>
                  <a:srgbClr val="0000FF"/>
                </a:solidFill>
                <a:highlight>
                  <a:srgbClr val="FFFFFF"/>
                </a:highlight>
                <a:latin typeface="Consolas"/>
              </a:rPr>
              <a:t>void</a:t>
            </a:r>
            <a:r>
              <a:rPr lang="en-US" sz="2100" dirty="0">
                <a:solidFill>
                  <a:srgbClr val="000000"/>
                </a:solidFill>
                <a:highlight>
                  <a:srgbClr val="FFFFFF"/>
                </a:highlight>
                <a:latin typeface="Consolas"/>
              </a:rPr>
              <a:t> </a:t>
            </a:r>
            <a:r>
              <a:rPr lang="en-US" sz="2100" dirty="0" err="1" smtClean="0">
                <a:solidFill>
                  <a:srgbClr val="000000"/>
                </a:solidFill>
                <a:highlight>
                  <a:srgbClr val="FFFFFF"/>
                </a:highlight>
                <a:latin typeface="Consolas"/>
              </a:rPr>
              <a:t>notify_all_at_thread_exit</a:t>
            </a:r>
            <a:r>
              <a:rPr lang="en-US" sz="2100" dirty="0" smtClean="0">
                <a:solidFill>
                  <a:srgbClr val="000000"/>
                </a:solidFill>
                <a:highlight>
                  <a:srgbClr val="FFFFFF"/>
                </a:highlight>
                <a:latin typeface="Consolas"/>
              </a:rPr>
              <a:t>(</a:t>
            </a:r>
          </a:p>
          <a:p>
            <a:pPr marL="0" indent="0">
              <a:buNone/>
            </a:pPr>
            <a:r>
              <a:rPr lang="en-US" sz="2100" dirty="0" smtClean="0">
                <a:solidFill>
                  <a:srgbClr val="000000"/>
                </a:solidFill>
                <a:highlight>
                  <a:srgbClr val="FFFFFF"/>
                </a:highlight>
                <a:latin typeface="Consolas"/>
              </a:rPr>
              <a:t>   </a:t>
            </a:r>
            <a:r>
              <a:rPr lang="en-US" sz="2100" dirty="0" err="1" smtClean="0">
                <a:solidFill>
                  <a:srgbClr val="000000"/>
                </a:solidFill>
                <a:highlight>
                  <a:srgbClr val="FFFFFF"/>
                </a:highlight>
                <a:latin typeface="Consolas"/>
              </a:rPr>
              <a:t>condition_variable</a:t>
            </a:r>
            <a:r>
              <a:rPr lang="en-US" sz="2100" dirty="0">
                <a:solidFill>
                  <a:srgbClr val="000000"/>
                </a:solidFill>
                <a:highlight>
                  <a:srgbClr val="FFFFFF"/>
                </a:highlight>
                <a:latin typeface="Consolas"/>
              </a:rPr>
              <a:t>&amp; </a:t>
            </a:r>
            <a:r>
              <a:rPr lang="en-US" sz="2100" dirty="0" smtClean="0">
                <a:solidFill>
                  <a:srgbClr val="000000"/>
                </a:solidFill>
                <a:highlight>
                  <a:srgbClr val="FFFFFF"/>
                </a:highlight>
                <a:latin typeface="Consolas"/>
              </a:rPr>
              <a:t>cv, </a:t>
            </a:r>
          </a:p>
          <a:p>
            <a:pPr marL="0" indent="0">
              <a:buNone/>
            </a:pPr>
            <a:r>
              <a:rPr lang="en-US" sz="2100" dirty="0" smtClean="0">
                <a:solidFill>
                  <a:srgbClr val="2B91AF"/>
                </a:solidFill>
                <a:highlight>
                  <a:srgbClr val="FFFFFF"/>
                </a:highlight>
                <a:latin typeface="Consolas"/>
              </a:rPr>
              <a:t>   </a:t>
            </a:r>
            <a:r>
              <a:rPr lang="en-US" sz="2100" dirty="0" err="1" smtClean="0">
                <a:solidFill>
                  <a:srgbClr val="2B91AF"/>
                </a:solidFill>
                <a:highlight>
                  <a:srgbClr val="FFFFFF"/>
                </a:highlight>
                <a:latin typeface="Consolas"/>
              </a:rPr>
              <a:t>unique_lock</a:t>
            </a:r>
            <a:r>
              <a:rPr lang="en-US" sz="2100" dirty="0" smtClean="0">
                <a:solidFill>
                  <a:srgbClr val="000000"/>
                </a:solidFill>
                <a:highlight>
                  <a:srgbClr val="FFFFFF"/>
                </a:highlight>
                <a:latin typeface="Consolas"/>
              </a:rPr>
              <a:t>&lt;</a:t>
            </a:r>
            <a:r>
              <a:rPr lang="en-US" sz="2100" dirty="0" err="1" smtClean="0">
                <a:solidFill>
                  <a:srgbClr val="2B91AF"/>
                </a:solidFill>
                <a:highlight>
                  <a:srgbClr val="FFFFFF"/>
                </a:highlight>
                <a:latin typeface="Consolas"/>
              </a:rPr>
              <a:t>mutex</a:t>
            </a:r>
            <a:r>
              <a:rPr lang="en-US" sz="2100" dirty="0">
                <a:solidFill>
                  <a:srgbClr val="000000"/>
                </a:solidFill>
                <a:highlight>
                  <a:srgbClr val="FFFFFF"/>
                </a:highlight>
                <a:latin typeface="Consolas"/>
              </a:rPr>
              <a:t>&gt; </a:t>
            </a:r>
            <a:r>
              <a:rPr lang="en-US" sz="2100" dirty="0" err="1" smtClean="0">
                <a:solidFill>
                  <a:srgbClr val="000000"/>
                </a:solidFill>
                <a:highlight>
                  <a:srgbClr val="FFFFFF"/>
                </a:highlight>
                <a:latin typeface="Consolas"/>
              </a:rPr>
              <a:t>lk</a:t>
            </a:r>
            <a:r>
              <a:rPr lang="en-US" sz="2100" dirty="0" smtClean="0">
                <a:solidFill>
                  <a:srgbClr val="000000"/>
                </a:solidFill>
                <a:highlight>
                  <a:srgbClr val="FFFFFF"/>
                </a:highlight>
                <a:latin typeface="Consolas"/>
              </a:rPr>
              <a:t> </a:t>
            </a:r>
          </a:p>
          <a:p>
            <a:pPr marL="0" indent="0">
              <a:buNone/>
            </a:pPr>
            <a:r>
              <a:rPr lang="en-US" sz="2100" dirty="0" smtClean="0">
                <a:solidFill>
                  <a:srgbClr val="000000"/>
                </a:solidFill>
                <a:highlight>
                  <a:srgbClr val="FFFFFF"/>
                </a:highlight>
                <a:latin typeface="Consolas"/>
              </a:rPr>
              <a:t>);</a:t>
            </a:r>
          </a:p>
          <a:p>
            <a:pPr marL="0" indent="0">
              <a:buNone/>
            </a:pPr>
            <a:endParaRPr lang="en-US" sz="2100" dirty="0" smtClean="0">
              <a:solidFill>
                <a:srgbClr val="000000"/>
              </a:solidFill>
              <a:highlight>
                <a:srgbClr val="FFFFFF"/>
              </a:highlight>
              <a:latin typeface="Consolas"/>
            </a:endParaRPr>
          </a:p>
          <a:p>
            <a:r>
              <a:rPr lang="en-US" dirty="0"/>
              <a:t>Wake all of the threads waiting on a </a:t>
            </a:r>
            <a:r>
              <a:rPr lang="en-US" dirty="0" smtClean="0"/>
              <a:t>condition variable </a:t>
            </a:r>
            <a:r>
              <a:rPr lang="en-US" dirty="0"/>
              <a:t>when the current thread exits</a:t>
            </a:r>
            <a:r>
              <a:rPr lang="en-US" dirty="0" smtClean="0"/>
              <a:t>.</a:t>
            </a:r>
          </a:p>
          <a:p>
            <a:r>
              <a:rPr lang="en-US" dirty="0" err="1" smtClean="0">
                <a:latin typeface="Courier New" pitchFamily="49" charset="0"/>
                <a:cs typeface="Courier New" pitchFamily="49" charset="0"/>
              </a:rPr>
              <a:t>lk</a:t>
            </a:r>
            <a:r>
              <a:rPr lang="en-US" dirty="0" smtClean="0">
                <a:cs typeface="Courier New" pitchFamily="49" charset="0"/>
              </a:rPr>
              <a:t> must be locked by calling thread</a:t>
            </a:r>
            <a:r>
              <a:rPr lang="en-US" dirty="0" smtClean="0"/>
              <a:t>. Ownership of the lock is moved to an internal storage. When </a:t>
            </a:r>
            <a:r>
              <a:rPr lang="en-US" dirty="0"/>
              <a:t>the thread exits, it will </a:t>
            </a:r>
            <a:r>
              <a:rPr lang="en-US" dirty="0" smtClean="0"/>
              <a:t>automatically execute </a:t>
            </a:r>
            <a:r>
              <a:rPr lang="en-US" dirty="0"/>
              <a:t>the following</a:t>
            </a:r>
            <a:r>
              <a:rPr lang="en-US" dirty="0" smtClean="0"/>
              <a:t>:</a:t>
            </a:r>
          </a:p>
          <a:p>
            <a:pPr marL="800100" lvl="2" indent="0">
              <a:buNone/>
            </a:pPr>
            <a:r>
              <a:rPr lang="en-US" dirty="0" err="1"/>
              <a:t>lk.unlock</a:t>
            </a:r>
            <a:r>
              <a:rPr lang="en-US" dirty="0"/>
              <a:t>();</a:t>
            </a:r>
          </a:p>
          <a:p>
            <a:pPr marL="800100" lvl="2" indent="0">
              <a:buNone/>
            </a:pPr>
            <a:r>
              <a:rPr lang="en-US" dirty="0" err="1"/>
              <a:t>cv.notify_all</a:t>
            </a:r>
            <a:r>
              <a:rPr lang="en-US" dirty="0" smtClean="0"/>
              <a:t>();</a:t>
            </a:r>
          </a:p>
          <a:p>
            <a:r>
              <a:rPr lang="en-US" dirty="0"/>
              <a:t>it is recommended that the thread should be exited as soon as possible, and that no blocking or time-consuming tasks are run on that thread.</a:t>
            </a:r>
          </a:p>
        </p:txBody>
      </p:sp>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Tree>
    <p:extLst>
      <p:ext uri="{BB962C8B-B14F-4D97-AF65-F5344CB8AC3E}">
        <p14:creationId xmlns:p14="http://schemas.microsoft.com/office/powerpoint/2010/main" val="149435637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Atomic types</a:t>
            </a:r>
            <a:endParaRPr lang="en-US" dirty="0"/>
          </a:p>
        </p:txBody>
      </p:sp>
      <p:sp>
        <p:nvSpPr>
          <p:cNvPr id="3" name="Content Placeholder 2"/>
          <p:cNvSpPr>
            <a:spLocks noGrp="1"/>
          </p:cNvSpPr>
          <p:nvPr>
            <p:ph idx="1"/>
          </p:nvPr>
        </p:nvSpPr>
        <p:spPr/>
        <p:txBody>
          <a:bodyPr>
            <a:normAutofit lnSpcReduction="10000"/>
          </a:bodyPr>
          <a:lstStyle/>
          <a:p>
            <a:r>
              <a:rPr lang="en-US" dirty="0" smtClean="0"/>
              <a:t>Concurrent </a:t>
            </a:r>
            <a:r>
              <a:rPr lang="en-US" dirty="0"/>
              <a:t>reading and writing without additional synchronization </a:t>
            </a:r>
            <a:r>
              <a:rPr lang="en-US" dirty="0" smtClean="0"/>
              <a:t>is allowed.</a:t>
            </a:r>
          </a:p>
          <a:p>
            <a:r>
              <a:rPr lang="en-US" dirty="0" smtClean="0"/>
              <a:t>More </a:t>
            </a:r>
            <a:r>
              <a:rPr lang="en-US" dirty="0"/>
              <a:t>expensive than normal data </a:t>
            </a:r>
            <a:r>
              <a:rPr lang="en-US" dirty="0" smtClean="0"/>
              <a:t>accesses.</a:t>
            </a:r>
          </a:p>
          <a:p>
            <a:pPr lvl="1"/>
            <a:r>
              <a:rPr lang="en-US" dirty="0"/>
              <a:t>but cheaper than full </a:t>
            </a:r>
            <a:r>
              <a:rPr lang="en-US" dirty="0" smtClean="0"/>
              <a:t>synchronization </a:t>
            </a:r>
            <a:r>
              <a:rPr lang="en-US" dirty="0"/>
              <a:t>on systems supporting atomic </a:t>
            </a:r>
            <a:r>
              <a:rPr lang="en-US" dirty="0" smtClean="0"/>
              <a:t>operations</a:t>
            </a:r>
          </a:p>
          <a:p>
            <a:r>
              <a:rPr lang="en-US" dirty="0" err="1">
                <a:latin typeface="Courier New" pitchFamily="49" charset="0"/>
                <a:cs typeface="Courier New" pitchFamily="49" charset="0"/>
              </a:rPr>
              <a:t>is_lock_free</a:t>
            </a:r>
            <a:r>
              <a:rPr lang="en-US" dirty="0">
                <a:latin typeface="Courier New" pitchFamily="49" charset="0"/>
                <a:cs typeface="Courier New" pitchFamily="49" charset="0"/>
              </a:rPr>
              <a:t>()</a:t>
            </a:r>
            <a:r>
              <a:rPr lang="en-US" dirty="0"/>
              <a:t> </a:t>
            </a:r>
            <a:r>
              <a:rPr lang="en-US" dirty="0" smtClean="0"/>
              <a:t>allows to </a:t>
            </a:r>
            <a:r>
              <a:rPr lang="en-US" dirty="0"/>
              <a:t>determine </a:t>
            </a:r>
            <a:r>
              <a:rPr lang="en-US" dirty="0" smtClean="0"/>
              <a:t>if operations are done </a:t>
            </a:r>
            <a:r>
              <a:rPr lang="en-US" dirty="0"/>
              <a:t>with </a:t>
            </a:r>
            <a:r>
              <a:rPr lang="en-US" dirty="0" smtClean="0"/>
              <a:t>atomic instructions or by </a:t>
            </a:r>
            <a:r>
              <a:rPr lang="en-US" dirty="0"/>
              <a:t>using a lock internal to </a:t>
            </a:r>
            <a:r>
              <a:rPr lang="en-US" dirty="0" smtClean="0"/>
              <a:t>the compiler </a:t>
            </a:r>
            <a:r>
              <a:rPr lang="en-US" dirty="0"/>
              <a:t>and </a:t>
            </a:r>
            <a:r>
              <a:rPr lang="en-US" dirty="0" smtClean="0"/>
              <a:t>library.</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Tree>
    <p:extLst>
      <p:ext uri="{BB962C8B-B14F-4D97-AF65-F5344CB8AC3E}">
        <p14:creationId xmlns:p14="http://schemas.microsoft.com/office/powerpoint/2010/main" val="379208380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atomic&lt;</a:t>
            </a:r>
            <a:r>
              <a:rPr lang="cs-CZ" dirty="0" smtClean="0"/>
              <a:t>T</a:t>
            </a:r>
            <a:r>
              <a:rPr lang="en-US" dirty="0" smtClean="0"/>
              <a:t>&gt;</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a:solidFill>
                  <a:srgbClr val="0000FF"/>
                </a:solidFill>
                <a:highlight>
                  <a:srgbClr val="FFFFFF"/>
                </a:highlight>
                <a:latin typeface="Consolas"/>
              </a:rPr>
              <a:t>template</a:t>
            </a:r>
            <a:r>
              <a:rPr lang="en-US" dirty="0">
                <a:solidFill>
                  <a:srgbClr val="000000"/>
                </a:solidFill>
                <a:highlight>
                  <a:srgbClr val="FFFFFF"/>
                </a:highlight>
                <a:latin typeface="Consolas"/>
              </a:rPr>
              <a:t>&lt; T &gt; </a:t>
            </a:r>
            <a:r>
              <a:rPr lang="en-US" dirty="0" err="1">
                <a:solidFill>
                  <a:srgbClr val="0000FF"/>
                </a:solidFill>
                <a:highlight>
                  <a:srgbClr val="FFFFFF"/>
                </a:highlight>
                <a:latin typeface="Consolas"/>
              </a:rPr>
              <a:t>struct</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atomic</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GREATLY simplified</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constexpr</a:t>
            </a:r>
            <a:r>
              <a:rPr lang="en-US" dirty="0">
                <a:solidFill>
                  <a:srgbClr val="000000"/>
                </a:solidFill>
                <a:highlight>
                  <a:srgbClr val="FFFFFF"/>
                </a:highlight>
                <a:latin typeface="Consolas"/>
              </a:rPr>
              <a:t> atomic( T ) </a:t>
            </a:r>
            <a:r>
              <a:rPr lang="en-US" dirty="0" err="1">
                <a:solidFill>
                  <a:srgbClr val="000000"/>
                </a:solidFill>
                <a:highlight>
                  <a:srgbClr val="FFFFFF"/>
                </a:highlight>
                <a:latin typeface="Consolas"/>
              </a:rPr>
              <a:t>noexcept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atomic(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atomic</a:t>
            </a:r>
            <a:r>
              <a:rPr lang="en-US" dirty="0">
                <a:solidFill>
                  <a:srgbClr val="000000"/>
                </a:solidFill>
                <a:highlight>
                  <a:srgbClr val="FFFFFF"/>
                </a:highlight>
                <a:latin typeface="Consolas"/>
              </a:rPr>
              <a:t>&amp; ) </a:t>
            </a:r>
            <a:r>
              <a:rPr lang="cs-CZ" dirty="0" smtClean="0">
                <a:solidFill>
                  <a:srgbClr val="000000"/>
                </a:solidFill>
                <a:highlight>
                  <a:srgbClr val="FFFFFF"/>
                </a:highlight>
                <a:latin typeface="Consolas"/>
              </a:rPr>
              <a:t>            </a:t>
            </a:r>
            <a:r>
              <a:rPr lang="en-US" dirty="0" smtClean="0">
                <a:solidFill>
                  <a:srgbClr val="000000"/>
                </a:solidFill>
                <a:highlight>
                  <a:srgbClr val="FFFFFF"/>
                </a:highlight>
                <a:latin typeface="Consolas"/>
              </a:rPr>
              <a:t>= </a:t>
            </a:r>
            <a:r>
              <a:rPr lang="en-US" dirty="0">
                <a:solidFill>
                  <a:srgbClr val="0000FF"/>
                </a:solidFill>
                <a:highlight>
                  <a:srgbClr val="FFFFFF"/>
                </a:highlight>
                <a:latin typeface="Consolas"/>
              </a:rPr>
              <a:t>delete</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atomic</a:t>
            </a:r>
            <a:r>
              <a:rPr lang="en-US" dirty="0">
                <a:solidFill>
                  <a:srgbClr val="000000"/>
                </a:solidFill>
                <a:highlight>
                  <a:srgbClr val="FFFFFF"/>
                </a:highlight>
                <a:latin typeface="Consolas"/>
              </a:rPr>
              <a:t>&amp; operator =(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 </a:t>
            </a:r>
            <a:r>
              <a:rPr lang="en-US" dirty="0">
                <a:solidFill>
                  <a:srgbClr val="2B91AF"/>
                </a:solidFill>
                <a:highlight>
                  <a:srgbClr val="FFFFFF"/>
                </a:highlight>
                <a:latin typeface="Consolas"/>
              </a:rPr>
              <a:t>atomic</a:t>
            </a:r>
            <a:r>
              <a:rPr lang="en-US" dirty="0">
                <a:solidFill>
                  <a:srgbClr val="000000"/>
                </a:solidFill>
                <a:highlight>
                  <a:srgbClr val="FFFFFF"/>
                </a:highlight>
                <a:latin typeface="Consolas"/>
              </a:rPr>
              <a:t>&amp; ) = </a:t>
            </a:r>
            <a:r>
              <a:rPr lang="en-US" dirty="0">
                <a:solidFill>
                  <a:srgbClr val="0000FF"/>
                </a:solidFill>
                <a:highlight>
                  <a:srgbClr val="FFFFFF"/>
                </a:highlight>
                <a:latin typeface="Consolas"/>
              </a:rPr>
              <a:t>delete</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void</a:t>
            </a:r>
            <a:r>
              <a:rPr lang="en-US" dirty="0">
                <a:solidFill>
                  <a:srgbClr val="000000"/>
                </a:solidFill>
                <a:highlight>
                  <a:srgbClr val="FFFFFF"/>
                </a:highlight>
                <a:latin typeface="Consolas"/>
              </a:rPr>
              <a:t> store( T ) </a:t>
            </a:r>
            <a:r>
              <a:rPr lang="en-US" dirty="0" err="1">
                <a:solidFill>
                  <a:srgbClr val="000000"/>
                </a:solidFill>
                <a:highlight>
                  <a:srgbClr val="FFFFFF"/>
                </a:highlight>
                <a:latin typeface="Consolas"/>
              </a:rPr>
              <a:t>noexcept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T load( ) </a:t>
            </a:r>
            <a:r>
              <a:rPr lang="en-US" dirty="0" err="1">
                <a:solidFill>
                  <a:srgbClr val="000000"/>
                </a:solidFill>
                <a:highlight>
                  <a:srgbClr val="FFFFFF"/>
                </a:highlight>
                <a:latin typeface="Consolas"/>
              </a:rPr>
              <a:t>noexcept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T operator =( T ) </a:t>
            </a:r>
            <a:r>
              <a:rPr lang="en-US" dirty="0" err="1">
                <a:solidFill>
                  <a:srgbClr val="000000"/>
                </a:solidFill>
                <a:highlight>
                  <a:srgbClr val="FFFFFF"/>
                </a:highlight>
                <a:latin typeface="Consolas"/>
              </a:rPr>
              <a:t>noexcept</a:t>
            </a:r>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similar to store()</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T </a:t>
            </a:r>
            <a:r>
              <a:rPr lang="en-US" dirty="0">
                <a:solidFill>
                  <a:srgbClr val="0000FF"/>
                </a:solidFill>
                <a:highlight>
                  <a:srgbClr val="FFFFFF"/>
                </a:highlight>
                <a:latin typeface="Consolas"/>
              </a:rPr>
              <a:t>operator</a:t>
            </a:r>
            <a:r>
              <a:rPr lang="en-US" dirty="0">
                <a:solidFill>
                  <a:srgbClr val="000000"/>
                </a:solidFill>
                <a:highlight>
                  <a:srgbClr val="FFFFFF"/>
                </a:highlight>
                <a:latin typeface="Consolas"/>
              </a:rPr>
              <a:t> T () </a:t>
            </a:r>
            <a:r>
              <a:rPr lang="en-US" dirty="0" err="1">
                <a:solidFill>
                  <a:srgbClr val="000000"/>
                </a:solidFill>
                <a:highlight>
                  <a:srgbClr val="FFFFFF"/>
                </a:highlight>
                <a:latin typeface="Consolas"/>
              </a:rPr>
              <a:t>noexcept</a:t>
            </a:r>
            <a:r>
              <a:rPr lang="en-US" dirty="0" smtClean="0">
                <a:solidFill>
                  <a:srgbClr val="000000"/>
                </a:solidFill>
                <a:highlight>
                  <a:srgbClr val="FFFFFF"/>
                </a:highlight>
                <a:latin typeface="Consolas"/>
              </a:rPr>
              <a:t>;    </a:t>
            </a:r>
            <a:r>
              <a:rPr lang="en-US" dirty="0" smtClean="0">
                <a:solidFill>
                  <a:srgbClr val="008000"/>
                </a:solidFill>
                <a:highlight>
                  <a:srgbClr val="FFFFFF"/>
                </a:highlight>
                <a:latin typeface="Consolas"/>
              </a:rPr>
              <a:t>// </a:t>
            </a:r>
            <a:r>
              <a:rPr lang="en-US" dirty="0">
                <a:solidFill>
                  <a:srgbClr val="008000"/>
                </a:solidFill>
                <a:highlight>
                  <a:srgbClr val="FFFFFF"/>
                </a:highlight>
                <a:latin typeface="Consolas"/>
              </a:rPr>
              <a:t>equivalent to load()</a:t>
            </a:r>
            <a:endParaRPr lang="en-US" dirty="0">
              <a:solidFill>
                <a:srgbClr val="000000"/>
              </a:solidFill>
              <a:highlight>
                <a:srgbClr val="FFFFFF"/>
              </a:highlight>
              <a:latin typeface="Consolas"/>
            </a:endParaRPr>
          </a:p>
          <a:p>
            <a:pPr marL="0" indent="0">
              <a:buNone/>
            </a:pPr>
            <a:r>
              <a:rPr lang="en-US" dirty="0">
                <a:solidFill>
                  <a:srgbClr val="000000"/>
                </a:solidFill>
                <a:highlight>
                  <a:srgbClr val="FFFFFF"/>
                </a:highlight>
                <a:latin typeface="Consolas"/>
              </a:rPr>
              <a:t>   T exchange( T ) </a:t>
            </a:r>
            <a:r>
              <a:rPr lang="en-US" dirty="0" err="1">
                <a:solidFill>
                  <a:srgbClr val="000000"/>
                </a:solidFill>
                <a:highlight>
                  <a:srgbClr val="FFFFFF"/>
                </a:highlight>
                <a:latin typeface="Consolas"/>
              </a:rPr>
              <a:t>noexcept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bool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compare_exchange_weak</a:t>
            </a:r>
            <a:r>
              <a:rPr lang="en-US" dirty="0">
                <a:solidFill>
                  <a:srgbClr val="000000"/>
                </a:solidFill>
                <a:highlight>
                  <a:srgbClr val="FFFFFF"/>
                </a:highlight>
                <a:latin typeface="Consolas"/>
              </a:rPr>
              <a:t>( T&amp;, T) </a:t>
            </a:r>
            <a:r>
              <a:rPr lang="en-US" dirty="0" err="1">
                <a:solidFill>
                  <a:srgbClr val="000000"/>
                </a:solidFill>
                <a:highlight>
                  <a:srgbClr val="FFFFFF"/>
                </a:highlight>
                <a:latin typeface="Consolas"/>
              </a:rPr>
              <a:t>noexcept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bool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compare_exchange_strong</a:t>
            </a:r>
            <a:r>
              <a:rPr lang="en-US" dirty="0">
                <a:solidFill>
                  <a:srgbClr val="000000"/>
                </a:solidFill>
                <a:highlight>
                  <a:srgbClr val="FFFFFF"/>
                </a:highlight>
                <a:latin typeface="Consolas"/>
              </a:rPr>
              <a:t>( T&amp;, T) </a:t>
            </a:r>
            <a:r>
              <a:rPr lang="en-US" dirty="0" err="1">
                <a:solidFill>
                  <a:srgbClr val="000000"/>
                </a:solidFill>
                <a:highlight>
                  <a:srgbClr val="FFFFFF"/>
                </a:highlight>
                <a:latin typeface="Consolas"/>
              </a:rPr>
              <a:t>noexcept</a:t>
            </a:r>
            <a:r>
              <a:rPr lang="en-US" dirty="0">
                <a:solidFill>
                  <a:srgbClr val="000000"/>
                </a:solidFill>
                <a:highlight>
                  <a:srgbClr val="FFFFFF"/>
                </a:highlight>
                <a:latin typeface="Consolas"/>
              </a:rPr>
              <a:t>; </a:t>
            </a:r>
          </a:p>
          <a:p>
            <a:pPr marL="0" indent="0">
              <a:buNone/>
            </a:pP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bool</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is_lock_free</a:t>
            </a:r>
            <a:r>
              <a:rPr lang="en-US" dirty="0">
                <a:solidFill>
                  <a:srgbClr val="000000"/>
                </a:solidFill>
                <a:highlight>
                  <a:srgbClr val="FFFFFF"/>
                </a:highlight>
                <a:latin typeface="Consolas"/>
              </a:rPr>
              <a:t>() </a:t>
            </a:r>
            <a:r>
              <a:rPr lang="en-US" dirty="0" err="1">
                <a:solidFill>
                  <a:srgbClr val="0000FF"/>
                </a:solidFill>
                <a:highlight>
                  <a:srgbClr val="FFFFFF"/>
                </a:highlight>
                <a:latin typeface="Consolas"/>
              </a:rPr>
              <a:t>const</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noexcept</a:t>
            </a:r>
            <a:r>
              <a:rPr lang="en-US" dirty="0">
                <a:solidFill>
                  <a:srgbClr val="000000"/>
                </a:solidFill>
                <a:highlight>
                  <a:srgbClr val="FFFFFF"/>
                </a:highlight>
                <a:latin typeface="Consolas"/>
              </a:rPr>
              <a:t>;</a:t>
            </a:r>
          </a:p>
          <a:p>
            <a:pPr marL="0" indent="0">
              <a:buNone/>
            </a:pPr>
            <a:r>
              <a:rPr lang="en-US" dirty="0">
                <a:solidFill>
                  <a:srgbClr val="000000"/>
                </a:solidFill>
                <a:highlight>
                  <a:srgbClr val="FFFFFF"/>
                </a:highlight>
                <a:latin typeface="Consolas"/>
              </a:rPr>
              <a:t>};</a:t>
            </a: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Tree>
    <p:extLst>
      <p:ext uri="{BB962C8B-B14F-4D97-AF65-F5344CB8AC3E}">
        <p14:creationId xmlns:p14="http://schemas.microsoft.com/office/powerpoint/2010/main" val="48766072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Predefined types</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95813162"/>
              </p:ext>
            </p:extLst>
          </p:nvPr>
        </p:nvGraphicFramePr>
        <p:xfrm>
          <a:off x="542925" y="1600200"/>
          <a:ext cx="8162925" cy="4766623"/>
        </p:xfrm>
        <a:graphic>
          <a:graphicData uri="http://schemas.openxmlformats.org/drawingml/2006/table">
            <a:tbl>
              <a:tblPr firstRow="1">
                <a:tableStyleId>{69012ECD-51FC-41F1-AA8D-1B2483CD663E}</a:tableStyleId>
              </a:tblPr>
              <a:tblGrid>
                <a:gridCol w="2438400"/>
                <a:gridCol w="3371850"/>
                <a:gridCol w="2352675"/>
              </a:tblGrid>
              <a:tr h="460727">
                <a:tc>
                  <a:txBody>
                    <a:bodyPr/>
                    <a:lstStyle/>
                    <a:p>
                      <a:pPr algn="l" fontAlgn="b"/>
                      <a:r>
                        <a:rPr lang="en-US" sz="1800" u="none" strike="noStrike" dirty="0" smtClean="0">
                          <a:effectLst/>
                        </a:rPr>
                        <a:t>NAMED ATOMIC TYPE</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EQUIVALENT ATOMIC TYPE</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INTEGRAL TYPE</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dirty="0" err="1">
                          <a:effectLst/>
                        </a:rPr>
                        <a:t>atomic_char</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a:effectLst/>
                        </a:rPr>
                        <a:t>atomic&lt;char&gt;</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a:effectLst/>
                        </a:rPr>
                        <a:t>char</a:t>
                      </a:r>
                      <a:endParaRPr lang="en-US" sz="1800" b="0" i="0" u="none" strike="noStrike">
                        <a:solidFill>
                          <a:srgbClr val="000000"/>
                        </a:solidFill>
                        <a:effectLst/>
                        <a:latin typeface="Calibri"/>
                      </a:endParaRPr>
                    </a:p>
                  </a:txBody>
                  <a:tcPr marL="6453" marR="6453" marT="6453" marB="0" anchor="b"/>
                </a:tc>
              </a:tr>
              <a:tr h="307564">
                <a:tc>
                  <a:txBody>
                    <a:bodyPr/>
                    <a:lstStyle/>
                    <a:p>
                      <a:pPr algn="l" fontAlgn="b"/>
                      <a:r>
                        <a:rPr lang="en-US" sz="1800" u="none" strike="noStrike" dirty="0" err="1">
                          <a:effectLst/>
                        </a:rPr>
                        <a:t>atomic_schar</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atomic&lt;signed char</a:t>
                      </a:r>
                      <a:r>
                        <a:rPr lang="en-US" sz="1800" u="none" strike="noStrike" dirty="0">
                          <a:effectLst/>
                        </a:rPr>
                        <a: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signed char</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dirty="0" err="1">
                          <a:effectLst/>
                        </a:rPr>
                        <a:t>atomic_uchar</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atomic&lt;unsigned</a:t>
                      </a:r>
                      <a:r>
                        <a:rPr lang="en-US" sz="1800" u="none" strike="noStrike" baseline="0" dirty="0" smtClean="0">
                          <a:effectLst/>
                        </a:rPr>
                        <a:t> </a:t>
                      </a:r>
                      <a:r>
                        <a:rPr lang="en-US" sz="1800" u="none" strike="noStrike" dirty="0" smtClean="0">
                          <a:effectLst/>
                        </a:rPr>
                        <a:t>char</a:t>
                      </a:r>
                      <a:r>
                        <a:rPr lang="en-US" sz="1800" u="none" strike="noStrike" dirty="0">
                          <a:effectLst/>
                        </a:rPr>
                        <a: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unsigned char</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a:effectLst/>
                        </a:rPr>
                        <a:t>atomic_short</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a:effectLst/>
                        </a:rPr>
                        <a:t>atomic&lt;short&gt;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short</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a:effectLst/>
                        </a:rPr>
                        <a:t>atomic_ushort</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atomic&lt;unsigned</a:t>
                      </a:r>
                      <a:r>
                        <a:rPr lang="en-US" sz="1800" u="none" strike="noStrike" baseline="0" dirty="0" smtClean="0">
                          <a:effectLst/>
                        </a:rPr>
                        <a:t> </a:t>
                      </a:r>
                      <a:r>
                        <a:rPr lang="en-US" sz="1800" u="none" strike="noStrike" dirty="0" smtClean="0">
                          <a:effectLst/>
                        </a:rPr>
                        <a:t>short</a:t>
                      </a:r>
                      <a:r>
                        <a:rPr lang="en-US" sz="1800" u="none" strike="noStrike" dirty="0">
                          <a:effectLst/>
                        </a:rPr>
                        <a: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unsigned short</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a:effectLst/>
                        </a:rPr>
                        <a:t>atomic_int</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a:effectLst/>
                        </a:rPr>
                        <a:t>atomic&lt;</a:t>
                      </a:r>
                      <a:r>
                        <a:rPr lang="en-US" sz="1800" u="none" strike="noStrike" dirty="0" err="1">
                          <a:effectLst/>
                        </a:rPr>
                        <a:t>int</a:t>
                      </a:r>
                      <a:r>
                        <a:rPr lang="en-US" sz="1800" u="none" strike="noStrike" dirty="0">
                          <a:effectLst/>
                        </a:rPr>
                        <a: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err="1" smtClean="0">
                          <a:effectLst/>
                        </a:rPr>
                        <a:t>int</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a:effectLst/>
                        </a:rPr>
                        <a:t>atomic_uint</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atomic&lt;unsigned</a:t>
                      </a:r>
                      <a:r>
                        <a:rPr lang="en-US" sz="1800" u="none" strike="noStrike" baseline="0" dirty="0" smtClean="0">
                          <a:effectLst/>
                        </a:rPr>
                        <a:t> </a:t>
                      </a:r>
                      <a:r>
                        <a:rPr lang="en-US" sz="1800" u="none" strike="noStrike" dirty="0" err="1" smtClean="0">
                          <a:effectLst/>
                        </a:rPr>
                        <a:t>int</a:t>
                      </a:r>
                      <a:r>
                        <a:rPr lang="en-US" sz="1800" u="none" strike="noStrike" dirty="0">
                          <a:effectLst/>
                        </a:rPr>
                        <a: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unsigned </a:t>
                      </a:r>
                      <a:r>
                        <a:rPr lang="en-US" sz="1800" u="none" strike="noStrike" dirty="0" err="1" smtClean="0">
                          <a:effectLst/>
                        </a:rPr>
                        <a:t>int</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a:effectLst/>
                        </a:rPr>
                        <a:t>atomic_long</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a:effectLst/>
                        </a:rPr>
                        <a:t>atomic&lt;long&gt;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a:effectLst/>
                        </a:rPr>
                        <a:t>long</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a:effectLst/>
                        </a:rPr>
                        <a:t>atomic_ulong</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atomic&lt;unsigned</a:t>
                      </a:r>
                      <a:r>
                        <a:rPr lang="en-US" sz="1800" u="none" strike="noStrike" baseline="0" dirty="0" smtClean="0">
                          <a:effectLst/>
                        </a:rPr>
                        <a:t> </a:t>
                      </a:r>
                      <a:r>
                        <a:rPr lang="en-US" sz="1800" u="none" strike="noStrike" dirty="0" smtClean="0">
                          <a:effectLst/>
                        </a:rPr>
                        <a:t>long</a:t>
                      </a:r>
                      <a:r>
                        <a:rPr lang="en-US" sz="1800" u="none" strike="noStrike" dirty="0">
                          <a:effectLst/>
                        </a:rPr>
                        <a: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unsigned long</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a:effectLst/>
                        </a:rPr>
                        <a:t>atomic_llong</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atomic&lt;long</a:t>
                      </a:r>
                      <a:r>
                        <a:rPr lang="en-US" sz="1800" u="none" strike="noStrike" baseline="0" dirty="0" smtClean="0">
                          <a:effectLst/>
                        </a:rPr>
                        <a:t> </a:t>
                      </a:r>
                      <a:r>
                        <a:rPr lang="en-US" sz="1800" u="none" strike="noStrike" dirty="0" smtClean="0">
                          <a:effectLst/>
                        </a:rPr>
                        <a:t>long</a:t>
                      </a:r>
                      <a:r>
                        <a:rPr lang="en-US" sz="1800" u="none" strike="noStrike" dirty="0">
                          <a:effectLst/>
                        </a:rPr>
                        <a: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long</a:t>
                      </a:r>
                      <a:r>
                        <a:rPr lang="en-US" sz="1800" u="none" strike="noStrike" baseline="0" dirty="0" smtClean="0">
                          <a:effectLst/>
                        </a:rPr>
                        <a:t> </a:t>
                      </a:r>
                      <a:r>
                        <a:rPr lang="en-US" sz="1800" u="none" strike="noStrike" dirty="0" err="1" smtClean="0">
                          <a:effectLst/>
                        </a:rPr>
                        <a:t>long</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dirty="0" err="1">
                          <a:effectLst/>
                        </a:rPr>
                        <a:t>atomic_ullong</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atomic&lt;unsigned</a:t>
                      </a:r>
                      <a:r>
                        <a:rPr lang="en-US" sz="1800" u="none" strike="noStrike" baseline="0" dirty="0" smtClean="0">
                          <a:effectLst/>
                        </a:rPr>
                        <a:t> </a:t>
                      </a:r>
                      <a:r>
                        <a:rPr lang="en-US" sz="1800" u="none" strike="noStrike" dirty="0" smtClean="0">
                          <a:effectLst/>
                        </a:rPr>
                        <a:t>long long</a:t>
                      </a:r>
                      <a:r>
                        <a:rPr lang="en-US" sz="1800" u="none" strike="noStrike" dirty="0">
                          <a:effectLst/>
                        </a:rPr>
                        <a: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smtClean="0">
                          <a:effectLst/>
                        </a:rPr>
                        <a:t>unsigned long </a:t>
                      </a:r>
                      <a:r>
                        <a:rPr lang="en-US" sz="1800" u="none" strike="noStrike" dirty="0" err="1" smtClean="0">
                          <a:effectLst/>
                        </a:rPr>
                        <a:t>long</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a:effectLst/>
                        </a:rPr>
                        <a:t>atomic_char16_t</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a:effectLst/>
                        </a:rPr>
                        <a:t>atomic&lt;char16_t&gt;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dirty="0">
                          <a:effectLst/>
                        </a:rPr>
                        <a:t>char16_t</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a:effectLst/>
                        </a:rPr>
                        <a:t>atomic_char32_t</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a:effectLst/>
                        </a:rPr>
                        <a:t>atomic&lt;char32_t&gt;</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a:effectLst/>
                        </a:rPr>
                        <a:t>char32_t</a:t>
                      </a:r>
                      <a:endParaRPr lang="en-US" sz="1800" b="0" i="0" u="none" strike="noStrike" dirty="0">
                        <a:solidFill>
                          <a:srgbClr val="000000"/>
                        </a:solidFill>
                        <a:effectLst/>
                        <a:latin typeface="Calibri"/>
                      </a:endParaRPr>
                    </a:p>
                  </a:txBody>
                  <a:tcPr marL="6453" marR="6453" marT="6453" marB="0" anchor="b"/>
                </a:tc>
              </a:tr>
              <a:tr h="307564">
                <a:tc>
                  <a:txBody>
                    <a:bodyPr/>
                    <a:lstStyle/>
                    <a:p>
                      <a:pPr algn="l" fontAlgn="b"/>
                      <a:r>
                        <a:rPr lang="en-US" sz="1800" u="none" strike="noStrike" dirty="0" err="1">
                          <a:effectLst/>
                        </a:rPr>
                        <a:t>atomic_wchar_t</a:t>
                      </a:r>
                      <a:endParaRPr lang="en-US" sz="1800" b="0" i="0" u="none" strike="noStrike" dirty="0">
                        <a:solidFill>
                          <a:srgbClr val="000000"/>
                        </a:solidFill>
                        <a:effectLst/>
                        <a:latin typeface="Calibri"/>
                      </a:endParaRPr>
                    </a:p>
                  </a:txBody>
                  <a:tcPr marL="6453" marR="6453" marT="6453" marB="0" anchor="b"/>
                </a:tc>
                <a:tc>
                  <a:txBody>
                    <a:bodyPr/>
                    <a:lstStyle/>
                    <a:p>
                      <a:pPr algn="l" fontAlgn="b"/>
                      <a:r>
                        <a:rPr lang="en-US" sz="1800" u="none" strike="noStrike">
                          <a:effectLst/>
                        </a:rPr>
                        <a:t>atomic&lt;wchar_t&gt;</a:t>
                      </a:r>
                      <a:endParaRPr lang="en-US" sz="1800" b="0" i="0" u="none" strike="noStrike">
                        <a:solidFill>
                          <a:srgbClr val="000000"/>
                        </a:solidFill>
                        <a:effectLst/>
                        <a:latin typeface="Calibri"/>
                      </a:endParaRPr>
                    </a:p>
                  </a:txBody>
                  <a:tcPr marL="6453" marR="6453" marT="6453" marB="0" anchor="b"/>
                </a:tc>
                <a:tc>
                  <a:txBody>
                    <a:bodyPr/>
                    <a:lstStyle/>
                    <a:p>
                      <a:pPr algn="l" fontAlgn="b"/>
                      <a:r>
                        <a:rPr lang="en-US" sz="1800" u="none" strike="noStrike" dirty="0" err="1">
                          <a:effectLst/>
                        </a:rPr>
                        <a:t>wchar_t</a:t>
                      </a:r>
                      <a:endParaRPr lang="en-US" sz="1800" b="0" i="0" u="none" strike="noStrike" dirty="0">
                        <a:solidFill>
                          <a:srgbClr val="000000"/>
                        </a:solidFill>
                        <a:effectLst/>
                        <a:latin typeface="Calibri"/>
                      </a:endParaRPr>
                    </a:p>
                  </a:txBody>
                  <a:tcPr marL="6453" marR="6453" marT="6453" marB="0" anchor="b"/>
                </a:tc>
              </a:tr>
            </a:tbl>
          </a:graphicData>
        </a:graphic>
      </p:graphicFrame>
      <p:sp>
        <p:nvSpPr>
          <p:cNvPr id="3" name="Date Placeholder 2"/>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Tree>
    <p:extLst>
      <p:ext uri="{BB962C8B-B14F-4D97-AF65-F5344CB8AC3E}">
        <p14:creationId xmlns:p14="http://schemas.microsoft.com/office/powerpoint/2010/main" val="58417136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Atomic counter</a:t>
            </a:r>
            <a:endParaRPr lang="en-US" dirty="0"/>
          </a:p>
        </p:txBody>
      </p:sp>
      <p:sp>
        <p:nvSpPr>
          <p:cNvPr id="3" name="Content Placeholder 2"/>
          <p:cNvSpPr>
            <a:spLocks noGrp="1"/>
          </p:cNvSpPr>
          <p:nvPr>
            <p:ph idx="1"/>
          </p:nvPr>
        </p:nvSpPr>
        <p:spPr>
          <a:xfrm>
            <a:off x="457200" y="1266031"/>
            <a:ext cx="8229600" cy="934244"/>
          </a:xfrm>
        </p:spPr>
        <p:txBody>
          <a:bodyPr>
            <a:normAutofit fontScale="92500" lnSpcReduction="10000"/>
          </a:bodyPr>
          <a:lstStyle/>
          <a:p>
            <a:pPr marL="0" indent="0">
              <a:buNone/>
            </a:pPr>
            <a:r>
              <a:rPr lang="en-US" dirty="0" smtClean="0"/>
              <a:t>Following </a:t>
            </a:r>
            <a:r>
              <a:rPr lang="en-US" dirty="0"/>
              <a:t>code is not thread-safe and can show race </a:t>
            </a:r>
            <a:r>
              <a:rPr lang="en-US" dirty="0" smtClean="0"/>
              <a:t>condition behavior:</a:t>
            </a:r>
            <a:endParaRPr lang="en-US" dirty="0"/>
          </a:p>
        </p:txBody>
      </p:sp>
      <p:sp>
        <p:nvSpPr>
          <p:cNvPr id="4" name="TextBox 3"/>
          <p:cNvSpPr txBox="1"/>
          <p:nvPr/>
        </p:nvSpPr>
        <p:spPr>
          <a:xfrm>
            <a:off x="457200" y="2411968"/>
            <a:ext cx="4371976" cy="738664"/>
          </a:xfrm>
          <a:prstGeom prst="rect">
            <a:avLst/>
          </a:prstGeom>
          <a:noFill/>
        </p:spPr>
        <p:txBody>
          <a:bodyPr wrap="square" rtlCol="0">
            <a:spAutoFit/>
          </a:bodyPr>
          <a:lstStyle/>
          <a:p>
            <a:r>
              <a:rPr lang="en-US" sz="1400" dirty="0" err="1">
                <a:solidFill>
                  <a:srgbClr val="0000FF"/>
                </a:solidFill>
                <a:highlight>
                  <a:srgbClr val="FFFFFF"/>
                </a:highlight>
                <a:latin typeface="Consolas"/>
              </a:rPr>
              <a:t>int</a:t>
            </a:r>
            <a:r>
              <a:rPr lang="en-US" sz="1400" dirty="0">
                <a:solidFill>
                  <a:srgbClr val="000000"/>
                </a:solidFill>
                <a:highlight>
                  <a:srgbClr val="FFFFFF"/>
                </a:highlight>
                <a:latin typeface="Consolas"/>
              </a:rPr>
              <a:t> counter = 0; </a:t>
            </a:r>
            <a:r>
              <a:rPr lang="en-US" sz="1400" dirty="0">
                <a:solidFill>
                  <a:srgbClr val="008000"/>
                </a:solidFill>
                <a:highlight>
                  <a:srgbClr val="FFFFFF"/>
                </a:highlight>
                <a:latin typeface="Consolas"/>
              </a:rPr>
              <a:t>// Global variable</a:t>
            </a:r>
            <a:endParaRPr lang="en-US" sz="1400" dirty="0">
              <a:solidFill>
                <a:srgbClr val="000000"/>
              </a:solidFill>
              <a:highlight>
                <a:srgbClr val="FFFFFF"/>
              </a:highlight>
              <a:latin typeface="Consolas"/>
            </a:endParaRPr>
          </a:p>
          <a:p>
            <a:r>
              <a:rPr lang="en-US" sz="1400" dirty="0">
                <a:solidFill>
                  <a:srgbClr val="000000"/>
                </a:solidFill>
                <a:highlight>
                  <a:srgbClr val="FFFFFF"/>
                </a:highlight>
                <a:latin typeface="Consolas"/>
              </a:rPr>
              <a:t>...</a:t>
            </a:r>
          </a:p>
          <a:p>
            <a:r>
              <a:rPr lang="en-US" sz="1400" dirty="0">
                <a:solidFill>
                  <a:srgbClr val="000000"/>
                </a:solidFill>
                <a:highlight>
                  <a:srgbClr val="FFFFFF"/>
                </a:highlight>
                <a:latin typeface="Consolas"/>
              </a:rPr>
              <a:t>++counter; </a:t>
            </a:r>
            <a:r>
              <a:rPr lang="en-US" sz="1400" dirty="0">
                <a:solidFill>
                  <a:srgbClr val="008000"/>
                </a:solidFill>
                <a:highlight>
                  <a:srgbClr val="FFFFFF"/>
                </a:highlight>
                <a:latin typeface="Consolas"/>
              </a:rPr>
              <a:t>// Executed in multiple threads</a:t>
            </a:r>
            <a:endParaRPr lang="en-US" sz="1400" dirty="0"/>
          </a:p>
        </p:txBody>
      </p:sp>
      <p:sp>
        <p:nvSpPr>
          <p:cNvPr id="5" name="TextBox 4"/>
          <p:cNvSpPr txBox="1"/>
          <p:nvPr/>
        </p:nvSpPr>
        <p:spPr>
          <a:xfrm>
            <a:off x="457200" y="4610100"/>
            <a:ext cx="5895975" cy="738664"/>
          </a:xfrm>
          <a:prstGeom prst="rect">
            <a:avLst/>
          </a:prstGeom>
          <a:noFill/>
        </p:spPr>
        <p:txBody>
          <a:bodyPr wrap="square" rtlCol="0">
            <a:spAutoFit/>
          </a:bodyPr>
          <a:lstStyle/>
          <a:p>
            <a:r>
              <a:rPr lang="en-US" sz="1400" dirty="0">
                <a:solidFill>
                  <a:srgbClr val="000000"/>
                </a:solidFill>
                <a:highlight>
                  <a:srgbClr val="FFFFFF"/>
                </a:highlight>
                <a:latin typeface="Consolas"/>
              </a:rPr>
              <a:t>atomic&lt;</a:t>
            </a:r>
            <a:r>
              <a:rPr lang="en-US" sz="1400" dirty="0" err="1">
                <a:solidFill>
                  <a:srgbClr val="0000FF"/>
                </a:solidFill>
                <a:highlight>
                  <a:srgbClr val="FFFFFF"/>
                </a:highlight>
                <a:latin typeface="Consolas"/>
              </a:rPr>
              <a:t>int</a:t>
            </a:r>
            <a:r>
              <a:rPr lang="en-US" sz="1400" dirty="0">
                <a:solidFill>
                  <a:srgbClr val="000000"/>
                </a:solidFill>
                <a:highlight>
                  <a:srgbClr val="FFFFFF"/>
                </a:highlight>
                <a:latin typeface="Consolas"/>
              </a:rPr>
              <a:t>&gt; counter(0</a:t>
            </a:r>
            <a:r>
              <a:rPr lang="en-US" sz="1400" dirty="0" smtClean="0">
                <a:solidFill>
                  <a:srgbClr val="000000"/>
                </a:solidFill>
                <a:highlight>
                  <a:srgbClr val="FFFFFF"/>
                </a:highlight>
                <a:latin typeface="Consolas"/>
              </a:rPr>
              <a:t>);</a:t>
            </a:r>
            <a:endParaRPr lang="en-US" sz="1400" dirty="0">
              <a:solidFill>
                <a:srgbClr val="000000"/>
              </a:solidFill>
              <a:highlight>
                <a:srgbClr val="FFFFFF"/>
              </a:highlight>
              <a:latin typeface="Consolas"/>
            </a:endParaRPr>
          </a:p>
          <a:p>
            <a:r>
              <a:rPr lang="en-US" sz="1400" dirty="0">
                <a:solidFill>
                  <a:srgbClr val="000000"/>
                </a:solidFill>
                <a:highlight>
                  <a:srgbClr val="FFFFFF"/>
                </a:highlight>
                <a:latin typeface="Consolas"/>
              </a:rPr>
              <a:t>...</a:t>
            </a:r>
          </a:p>
          <a:p>
            <a:r>
              <a:rPr lang="en-US" sz="1400" dirty="0">
                <a:solidFill>
                  <a:srgbClr val="000000"/>
                </a:solidFill>
                <a:highlight>
                  <a:srgbClr val="FFFFFF"/>
                </a:highlight>
                <a:latin typeface="Consolas"/>
              </a:rPr>
              <a:t>++counter; </a:t>
            </a:r>
            <a:r>
              <a:rPr lang="en-US" sz="1400" dirty="0">
                <a:solidFill>
                  <a:srgbClr val="008000"/>
                </a:solidFill>
                <a:highlight>
                  <a:srgbClr val="FFFFFF"/>
                </a:highlight>
                <a:latin typeface="Consolas"/>
              </a:rPr>
              <a:t>// </a:t>
            </a:r>
            <a:r>
              <a:rPr lang="en-US" sz="1400" dirty="0" smtClean="0">
                <a:solidFill>
                  <a:srgbClr val="008000"/>
                </a:solidFill>
                <a:highlight>
                  <a:srgbClr val="FFFFFF"/>
                </a:highlight>
                <a:latin typeface="Consolas"/>
              </a:rPr>
              <a:t>NOT x = x + 1</a:t>
            </a:r>
            <a:endParaRPr lang="en-US" sz="1400" dirty="0"/>
          </a:p>
        </p:txBody>
      </p:sp>
      <p:sp>
        <p:nvSpPr>
          <p:cNvPr id="6" name="Content Placeholder 2"/>
          <p:cNvSpPr txBox="1">
            <a:spLocks/>
          </p:cNvSpPr>
          <p:nvPr/>
        </p:nvSpPr>
        <p:spPr>
          <a:xfrm>
            <a:off x="457200" y="3447256"/>
            <a:ext cx="8229600" cy="934244"/>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To make </a:t>
            </a:r>
            <a:r>
              <a:rPr lang="en-US" dirty="0" smtClean="0"/>
              <a:t>it thread-safe </a:t>
            </a:r>
            <a:r>
              <a:rPr lang="en-US" dirty="0"/>
              <a:t>without explicitly using any locks, </a:t>
            </a:r>
            <a:r>
              <a:rPr lang="en-US" dirty="0" smtClean="0"/>
              <a:t>an </a:t>
            </a:r>
            <a:r>
              <a:rPr lang="en-US" dirty="0"/>
              <a:t>atomic </a:t>
            </a:r>
            <a:r>
              <a:rPr lang="en-US" dirty="0" smtClean="0"/>
              <a:t>type has to be used:</a:t>
            </a:r>
            <a:endParaRPr lang="en-US" dirty="0"/>
          </a:p>
        </p:txBody>
      </p:sp>
      <p:sp>
        <p:nvSpPr>
          <p:cNvPr id="7" name="Date Placeholder 6"/>
          <p:cNvSpPr>
            <a:spLocks noGrp="1"/>
          </p:cNvSpPr>
          <p:nvPr>
            <p:ph type="dt" sz="half" idx="10"/>
          </p:nvPr>
        </p:nvSpPr>
        <p:spPr/>
        <p:txBody>
          <a:bodyPr/>
          <a:lstStyle/>
          <a:p>
            <a:r>
              <a:rPr lang="cs-CZ" smtClean="0"/>
              <a:t>19.1.2014</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104</a:t>
            </a:fld>
            <a:endParaRPr lang="en-US"/>
          </a:p>
        </p:txBody>
      </p:sp>
    </p:spTree>
    <p:extLst>
      <p:ext uri="{BB962C8B-B14F-4D97-AF65-F5344CB8AC3E}">
        <p14:creationId xmlns:p14="http://schemas.microsoft.com/office/powerpoint/2010/main" val="373907077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Books</a:t>
            </a:r>
            <a:endParaRPr lang="en-US" dirty="0"/>
          </a:p>
        </p:txBody>
      </p:sp>
      <p:sp>
        <p:nvSpPr>
          <p:cNvPr id="3" name="Content Placeholder 2"/>
          <p:cNvSpPr>
            <a:spLocks noGrp="1"/>
          </p:cNvSpPr>
          <p:nvPr>
            <p:ph idx="1"/>
          </p:nvPr>
        </p:nvSpPr>
        <p:spPr/>
        <p:txBody>
          <a:bodyPr/>
          <a:lstStyle/>
          <a:p>
            <a:r>
              <a:rPr lang="en-US" i="1" dirty="0" smtClean="0"/>
              <a:t>C++ </a:t>
            </a:r>
            <a:r>
              <a:rPr lang="en-US" i="1" dirty="0" err="1" smtClean="0"/>
              <a:t>Concurency</a:t>
            </a:r>
            <a:r>
              <a:rPr lang="en-US" i="1" dirty="0" smtClean="0"/>
              <a:t> in action</a:t>
            </a:r>
            <a:r>
              <a:rPr lang="en-US" dirty="0" smtClean="0"/>
              <a:t>, Anthony Williams</a:t>
            </a:r>
          </a:p>
          <a:p>
            <a:r>
              <a:rPr lang="en-US" i="1" dirty="0" smtClean="0"/>
              <a:t>Professional C++ 2</a:t>
            </a:r>
            <a:r>
              <a:rPr lang="en-US" i="1" baseline="30000" dirty="0" smtClean="0"/>
              <a:t>nd</a:t>
            </a:r>
            <a:r>
              <a:rPr lang="en-US" i="1" dirty="0" smtClean="0"/>
              <a:t> edition</a:t>
            </a:r>
            <a:r>
              <a:rPr lang="en-US" dirty="0" smtClean="0"/>
              <a:t>, Marc </a:t>
            </a:r>
            <a:r>
              <a:rPr lang="en-US" dirty="0" err="1" smtClean="0"/>
              <a:t>Gregoire</a:t>
            </a:r>
            <a:r>
              <a:rPr lang="en-US" dirty="0" smtClean="0"/>
              <a:t>, Nicholas A. </a:t>
            </a:r>
            <a:r>
              <a:rPr lang="en-US" dirty="0" err="1" smtClean="0"/>
              <a:t>Solter</a:t>
            </a:r>
            <a:r>
              <a:rPr lang="en-US" dirty="0" smtClean="0"/>
              <a:t>, Scott J. </a:t>
            </a:r>
            <a:r>
              <a:rPr lang="en-US" dirty="0" err="1" smtClean="0"/>
              <a:t>Kleper</a:t>
            </a:r>
            <a:endParaRPr lang="en-US" dirty="0" smtClean="0"/>
          </a:p>
          <a:p>
            <a:r>
              <a:rPr lang="en-US" i="1" dirty="0" smtClean="0"/>
              <a:t>Overview of The New C++ (C++0x)</a:t>
            </a:r>
            <a:r>
              <a:rPr lang="en-US" dirty="0" smtClean="0"/>
              <a:t>, Scott Meyers</a:t>
            </a:r>
            <a:endParaRPr lang="en-US" i="1"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a:p>
        </p:txBody>
      </p:sp>
    </p:spTree>
    <p:extLst>
      <p:ext uri="{BB962C8B-B14F-4D97-AF65-F5344CB8AC3E}">
        <p14:creationId xmlns:p14="http://schemas.microsoft.com/office/powerpoint/2010/main" val="2046093674"/>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Papers &amp; presentations</a:t>
            </a:r>
            <a:endParaRPr lang="en-US" dirty="0"/>
          </a:p>
        </p:txBody>
      </p:sp>
      <p:sp>
        <p:nvSpPr>
          <p:cNvPr id="3" name="Content Placeholder 2"/>
          <p:cNvSpPr>
            <a:spLocks noGrp="1"/>
          </p:cNvSpPr>
          <p:nvPr>
            <p:ph idx="1"/>
          </p:nvPr>
        </p:nvSpPr>
        <p:spPr/>
        <p:txBody>
          <a:bodyPr/>
          <a:lstStyle/>
          <a:p>
            <a:r>
              <a:rPr lang="en-US" i="1" dirty="0"/>
              <a:t>Simple C++ (Vol.2) </a:t>
            </a:r>
            <a:r>
              <a:rPr lang="en-US" dirty="0"/>
              <a:t>ACCU </a:t>
            </a:r>
            <a:r>
              <a:rPr lang="en-US" dirty="0" smtClean="0"/>
              <a:t>2012 conference, </a:t>
            </a:r>
            <a:r>
              <a:rPr lang="en-US" dirty="0"/>
              <a:t>Prof. Peter </a:t>
            </a:r>
            <a:r>
              <a:rPr lang="en-US" dirty="0" err="1" smtClean="0"/>
              <a:t>Sommerlad</a:t>
            </a:r>
            <a:endParaRPr lang="en-US" dirty="0"/>
          </a:p>
          <a:p>
            <a:r>
              <a:rPr lang="en-US" dirty="0"/>
              <a:t> </a:t>
            </a:r>
            <a:r>
              <a:rPr lang="en-US" i="1" dirty="0" err="1"/>
              <a:t>async</a:t>
            </a:r>
            <a:r>
              <a:rPr lang="en-US" i="1" dirty="0"/>
              <a:t> and ~</a:t>
            </a:r>
            <a:r>
              <a:rPr lang="en-US" i="1" dirty="0" smtClean="0"/>
              <a:t>future</a:t>
            </a:r>
            <a:r>
              <a:rPr lang="en-US" dirty="0" smtClean="0"/>
              <a:t>, Herb Sutter</a:t>
            </a:r>
          </a:p>
          <a:p>
            <a:r>
              <a:rPr lang="en-US" i="1" dirty="0"/>
              <a:t>C++11 Concurrency </a:t>
            </a:r>
            <a:r>
              <a:rPr lang="en-US" i="1" dirty="0" smtClean="0"/>
              <a:t>Tutorial</a:t>
            </a:r>
            <a:r>
              <a:rPr lang="en-US" dirty="0" smtClean="0"/>
              <a:t>, </a:t>
            </a:r>
            <a:r>
              <a:rPr lang="en-US" dirty="0"/>
              <a:t>Anthony </a:t>
            </a:r>
            <a:r>
              <a:rPr lang="en-US" dirty="0" smtClean="0"/>
              <a:t>Williams</a:t>
            </a:r>
          </a:p>
          <a:p>
            <a:r>
              <a:rPr lang="en-US" i="1" dirty="0"/>
              <a:t>C++ </a:t>
            </a:r>
            <a:r>
              <a:rPr lang="en-US" i="1" dirty="0" smtClean="0"/>
              <a:t>2011, </a:t>
            </a:r>
            <a:r>
              <a:rPr lang="en-US" dirty="0" err="1"/>
              <a:t>Dietmar</a:t>
            </a:r>
            <a:r>
              <a:rPr lang="en-US" dirty="0"/>
              <a:t> </a:t>
            </a:r>
            <a:r>
              <a:rPr lang="en-US" dirty="0" err="1"/>
              <a:t>Kühl</a:t>
            </a:r>
            <a:r>
              <a:rPr lang="en-US" dirty="0"/>
              <a:t>, Bloomberg L.P</a:t>
            </a:r>
            <a:r>
              <a:rPr lang="en-US" dirty="0" smtClean="0"/>
              <a:t>.</a:t>
            </a:r>
          </a:p>
          <a:p>
            <a:r>
              <a:rPr lang="en-US" i="1" dirty="0"/>
              <a:t>Double-Checked </a:t>
            </a:r>
            <a:r>
              <a:rPr lang="en-US" i="1" dirty="0" smtClean="0"/>
              <a:t>Locking</a:t>
            </a:r>
            <a:r>
              <a:rPr lang="en-US" dirty="0" smtClean="0"/>
              <a:t>, </a:t>
            </a:r>
            <a:r>
              <a:rPr lang="en-US" dirty="0"/>
              <a:t>Douglas C. </a:t>
            </a:r>
            <a:r>
              <a:rPr lang="en-US" dirty="0" smtClean="0"/>
              <a:t>Schmidt, </a:t>
            </a:r>
            <a:r>
              <a:rPr lang="en-US" dirty="0"/>
              <a:t>Tim </a:t>
            </a:r>
            <a:r>
              <a:rPr lang="en-US" dirty="0" smtClean="0"/>
              <a:t>Harrison</a:t>
            </a:r>
          </a:p>
          <a:p>
            <a:r>
              <a:rPr lang="en-US" i="1" dirty="0"/>
              <a:t>Monitor </a:t>
            </a:r>
            <a:r>
              <a:rPr lang="en-US" i="1" dirty="0" smtClean="0"/>
              <a:t>Object</a:t>
            </a:r>
            <a:r>
              <a:rPr lang="en-US" dirty="0" smtClean="0"/>
              <a:t>, </a:t>
            </a:r>
            <a:r>
              <a:rPr lang="en-US" dirty="0"/>
              <a:t>Douglas C. Schmidt</a:t>
            </a:r>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a:p>
        </p:txBody>
      </p:sp>
    </p:spTree>
    <p:extLst>
      <p:ext uri="{BB962C8B-B14F-4D97-AF65-F5344CB8AC3E}">
        <p14:creationId xmlns:p14="http://schemas.microsoft.com/office/powerpoint/2010/main" val="311611266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pages</a:t>
            </a:r>
            <a:endParaRPr lang="en-US" dirty="0"/>
          </a:p>
        </p:txBody>
      </p:sp>
      <p:sp>
        <p:nvSpPr>
          <p:cNvPr id="3" name="Content Placeholder 2"/>
          <p:cNvSpPr>
            <a:spLocks noGrp="1"/>
          </p:cNvSpPr>
          <p:nvPr>
            <p:ph idx="1"/>
          </p:nvPr>
        </p:nvSpPr>
        <p:spPr/>
        <p:txBody>
          <a:bodyPr>
            <a:normAutofit fontScale="85000" lnSpcReduction="20000"/>
          </a:bodyPr>
          <a:lstStyle/>
          <a:p>
            <a:r>
              <a:rPr lang="en-US" dirty="0">
                <a:hlinkClick r:id="rId2"/>
              </a:rPr>
              <a:t>http://akrzemi1.wordpress.com/2012/11/14/not-using-stdthread</a:t>
            </a:r>
            <a:r>
              <a:rPr lang="en-US" dirty="0" smtClean="0">
                <a:hlinkClick r:id="rId2"/>
              </a:rPr>
              <a:t>/</a:t>
            </a:r>
            <a:endParaRPr lang="en-US" dirty="0" smtClean="0"/>
          </a:p>
          <a:p>
            <a:r>
              <a:rPr lang="en-US" dirty="0">
                <a:hlinkClick r:id="rId3"/>
              </a:rPr>
              <a:t>http://bartoszmilewski.com/2009/03/03/broken-promises-c0x-futures</a:t>
            </a:r>
            <a:r>
              <a:rPr lang="en-US" dirty="0" smtClean="0">
                <a:hlinkClick r:id="rId3"/>
              </a:rPr>
              <a:t>/</a:t>
            </a:r>
            <a:endParaRPr lang="en-US" dirty="0" smtClean="0"/>
          </a:p>
          <a:p>
            <a:r>
              <a:rPr lang="en-US" dirty="0">
                <a:hlinkClick r:id="rId4"/>
              </a:rPr>
              <a:t>http://bartoszmilewski.com/2012/05/11/the-future-of-c-concurrency-and-parallelism</a:t>
            </a:r>
            <a:r>
              <a:rPr lang="en-US" dirty="0" smtClean="0">
                <a:hlinkClick r:id="rId4"/>
              </a:rPr>
              <a:t>/</a:t>
            </a:r>
            <a:endParaRPr lang="en-US" dirty="0" smtClean="0"/>
          </a:p>
          <a:p>
            <a:r>
              <a:rPr lang="en-US" dirty="0">
                <a:hlinkClick r:id="rId5"/>
              </a:rPr>
              <a:t>http://</a:t>
            </a:r>
            <a:r>
              <a:rPr lang="en-US" dirty="0" smtClean="0">
                <a:hlinkClick r:id="rId5"/>
              </a:rPr>
              <a:t>stackoverflow.com/questions/11004273/what-is-stdpromise</a:t>
            </a:r>
            <a:endParaRPr lang="en-US" dirty="0" smtClean="0"/>
          </a:p>
          <a:p>
            <a:r>
              <a:rPr lang="en-US" dirty="0">
                <a:hlinkClick r:id="rId6"/>
              </a:rPr>
              <a:t>http://www.baptiste-wicht.com/series/cpp11-concurrency-tutorial</a:t>
            </a:r>
            <a:r>
              <a:rPr lang="en-US" dirty="0" smtClean="0">
                <a:hlinkClick r:id="rId6"/>
              </a:rPr>
              <a:t>/</a:t>
            </a:r>
            <a:endParaRPr lang="en-US" dirty="0" smtClean="0"/>
          </a:p>
          <a:p>
            <a:r>
              <a:rPr lang="en-US" dirty="0">
                <a:hlinkClick r:id="rId7"/>
              </a:rPr>
              <a:t>http://www.justsoftwaresolutions.co.uk/threading/multithreading-in-c++</a:t>
            </a:r>
            <a:r>
              <a:rPr lang="en-US" dirty="0" smtClean="0">
                <a:hlinkClick r:id="rId7"/>
              </a:rPr>
              <a:t>0x-part-1-starting-threads.html</a:t>
            </a:r>
            <a:endParaRPr lang="en-US" dirty="0" smtClean="0"/>
          </a:p>
          <a:p>
            <a:pPr marL="0" indent="0">
              <a:buNone/>
            </a:pPr>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a:p>
        </p:txBody>
      </p:sp>
    </p:spTree>
    <p:extLst>
      <p:ext uri="{BB962C8B-B14F-4D97-AF65-F5344CB8AC3E}">
        <p14:creationId xmlns:p14="http://schemas.microsoft.com/office/powerpoint/2010/main" val="351324769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Video</a:t>
            </a:r>
            <a:endParaRPr lang="en-US" dirty="0"/>
          </a:p>
        </p:txBody>
      </p:sp>
      <p:sp>
        <p:nvSpPr>
          <p:cNvPr id="3" name="Content Placeholder 2"/>
          <p:cNvSpPr>
            <a:spLocks noGrp="1"/>
          </p:cNvSpPr>
          <p:nvPr>
            <p:ph idx="1"/>
          </p:nvPr>
        </p:nvSpPr>
        <p:spPr/>
        <p:txBody>
          <a:bodyPr>
            <a:normAutofit fontScale="85000" lnSpcReduction="20000"/>
          </a:bodyPr>
          <a:lstStyle/>
          <a:p>
            <a:r>
              <a:rPr lang="en-US" dirty="0">
                <a:hlinkClick r:id="rId2"/>
              </a:rPr>
              <a:t>http://</a:t>
            </a:r>
            <a:r>
              <a:rPr lang="en-US" dirty="0" smtClean="0">
                <a:hlinkClick r:id="rId2"/>
              </a:rPr>
              <a:t>channel9.msdn.com/Events/GoingNative/GoingNative-2012/Threads-and-Shared-Variables-in-C-11</a:t>
            </a:r>
            <a:endParaRPr lang="en-US" dirty="0" smtClean="0"/>
          </a:p>
          <a:p>
            <a:pPr marL="457200" lvl="1" indent="0">
              <a:buNone/>
            </a:pPr>
            <a:r>
              <a:rPr lang="en-US" dirty="0" smtClean="0"/>
              <a:t>Hans Boehm, Going Native 2012</a:t>
            </a:r>
          </a:p>
          <a:p>
            <a:r>
              <a:rPr lang="en-US" dirty="0">
                <a:hlinkClick r:id="rId3"/>
              </a:rPr>
              <a:t>http://</a:t>
            </a:r>
            <a:r>
              <a:rPr lang="en-US" dirty="0" smtClean="0">
                <a:hlinkClick r:id="rId3"/>
              </a:rPr>
              <a:t>channel9.msdn.com/Shows/Going+Deep/C-and-Beyond-2012-Herb-Sutter-Concurrency-and-Parallelism</a:t>
            </a:r>
            <a:endParaRPr lang="en-US" dirty="0" smtClean="0"/>
          </a:p>
          <a:p>
            <a:pPr marL="400050" lvl="1" indent="0">
              <a:buNone/>
            </a:pPr>
            <a:r>
              <a:rPr lang="en-US" dirty="0" smtClean="0"/>
              <a:t>Herb Sutter, C++ and Beyond 2012</a:t>
            </a:r>
          </a:p>
          <a:p>
            <a:r>
              <a:rPr lang="en-US" dirty="0">
                <a:hlinkClick r:id="rId4"/>
              </a:rPr>
              <a:t>http://</a:t>
            </a:r>
            <a:r>
              <a:rPr lang="en-US" dirty="0" smtClean="0">
                <a:hlinkClick r:id="rId4"/>
              </a:rPr>
              <a:t>www.youtube.com/watch?v=LQ0n9TQ2gNo&amp;feature=player_detailpage</a:t>
            </a:r>
            <a:endParaRPr lang="en-US" dirty="0" smtClean="0"/>
          </a:p>
          <a:p>
            <a:pPr marL="457200" lvl="1" indent="0">
              <a:buNone/>
            </a:pPr>
            <a:r>
              <a:rPr lang="en-US" dirty="0" smtClean="0"/>
              <a:t>Lawrence </a:t>
            </a:r>
            <a:r>
              <a:rPr lang="en-US" dirty="0" err="1" smtClean="0"/>
              <a:t>Crowl</a:t>
            </a:r>
            <a:r>
              <a:rPr lang="en-US" dirty="0" smtClean="0"/>
              <a:t>, Google talks</a:t>
            </a:r>
          </a:p>
          <a:p>
            <a:pPr marL="514350" indent="-457200"/>
            <a:r>
              <a:rPr lang="en-US" dirty="0">
                <a:hlinkClick r:id="rId5"/>
              </a:rPr>
              <a:t>http://</a:t>
            </a:r>
            <a:r>
              <a:rPr lang="en-US" dirty="0" smtClean="0">
                <a:hlinkClick r:id="rId5"/>
              </a:rPr>
              <a:t>www.youtube.com/playlist?list=PL1835A90FC78FF8BE</a:t>
            </a:r>
            <a:endParaRPr lang="en-US" dirty="0" smtClean="0"/>
          </a:p>
          <a:p>
            <a:pPr marL="457200" lvl="1" indent="0">
              <a:buNone/>
            </a:pPr>
            <a:r>
              <a:rPr lang="en-US" dirty="0" err="1" smtClean="0"/>
              <a:t>Bartosz</a:t>
            </a:r>
            <a:r>
              <a:rPr lang="en-US" dirty="0" smtClean="0"/>
              <a:t> </a:t>
            </a:r>
            <a:r>
              <a:rPr lang="en-US" dirty="0" err="1" smtClean="0"/>
              <a:t>Milewski</a:t>
            </a:r>
            <a:r>
              <a:rPr lang="en-US" dirty="0" smtClean="0"/>
              <a:t>, </a:t>
            </a:r>
            <a:r>
              <a:rPr lang="en-US" dirty="0"/>
              <a:t>C++11 </a:t>
            </a:r>
            <a:r>
              <a:rPr lang="en-US" dirty="0" smtClean="0"/>
              <a:t>Concurrency video tutorial</a:t>
            </a:r>
          </a:p>
          <a:p>
            <a:endParaRPr lang="en-US" dirty="0"/>
          </a:p>
        </p:txBody>
      </p:sp>
      <p:sp>
        <p:nvSpPr>
          <p:cNvPr id="4" name="Date Placeholder 3"/>
          <p:cNvSpPr>
            <a:spLocks noGrp="1"/>
          </p:cNvSpPr>
          <p:nvPr>
            <p:ph type="dt" sz="half" idx="10"/>
          </p:nvPr>
        </p:nvSpPr>
        <p:spPr/>
        <p:txBody>
          <a:bodyPr/>
          <a:lstStyle/>
          <a:p>
            <a:r>
              <a:rPr lang="cs-CZ" smtClean="0"/>
              <a:t>19.1.2014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a:p>
        </p:txBody>
      </p:sp>
    </p:spTree>
    <p:extLst>
      <p:ext uri="{BB962C8B-B14F-4D97-AF65-F5344CB8AC3E}">
        <p14:creationId xmlns:p14="http://schemas.microsoft.com/office/powerpoint/2010/main" val="5108993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7078</TotalTime>
  <Words>10124</Words>
  <Application>Microsoft Office PowerPoint</Application>
  <PresentationFormat>On-screen Show (4:3)</PresentationFormat>
  <Paragraphs>2006</Paragraphs>
  <Slides>108</Slides>
  <Notes>31</Notes>
  <HiddenSlides>0</HiddenSlides>
  <MMClips>0</MMClips>
  <ScaleCrop>false</ScaleCrop>
  <HeadingPairs>
    <vt:vector size="4" baseType="variant">
      <vt:variant>
        <vt:lpstr>Theme</vt:lpstr>
      </vt:variant>
      <vt:variant>
        <vt:i4>1</vt:i4>
      </vt:variant>
      <vt:variant>
        <vt:lpstr>Slide Titles</vt:lpstr>
      </vt:variant>
      <vt:variant>
        <vt:i4>108</vt:i4>
      </vt:variant>
    </vt:vector>
  </HeadingPairs>
  <TitlesOfParts>
    <vt:vector size="109" baseType="lpstr">
      <vt:lpstr>Office Theme</vt:lpstr>
      <vt:lpstr>C++ 11 Thread library</vt:lpstr>
      <vt:lpstr>Other libraries</vt:lpstr>
      <vt:lpstr>C++ volatile keyword</vt:lpstr>
      <vt:lpstr>New header files</vt:lpstr>
      <vt:lpstr>this_thread namespace</vt:lpstr>
      <vt:lpstr>Threads</vt:lpstr>
      <vt:lpstr>std::thread class</vt:lpstr>
      <vt:lpstr>std::thread methods</vt:lpstr>
      <vt:lpstr>Launch a tread</vt:lpstr>
      <vt:lpstr>Thread moveability</vt:lpstr>
      <vt:lpstr>Deferred, suspended start</vt:lpstr>
      <vt:lpstr>std::thread destructor</vt:lpstr>
      <vt:lpstr>Fork and join</vt:lpstr>
      <vt:lpstr>Thread creation overhead</vt:lpstr>
      <vt:lpstr>Thread barrier</vt:lpstr>
      <vt:lpstr>Non-determinism</vt:lpstr>
      <vt:lpstr>Using function objects</vt:lpstr>
      <vt:lpstr>Using lambdas</vt:lpstr>
      <vt:lpstr>Passing parameters</vt:lpstr>
      <vt:lpstr>3 ways of passing arguments</vt:lpstr>
      <vt:lpstr>Passing parameters</vt:lpstr>
      <vt:lpstr>Life time issues</vt:lpstr>
      <vt:lpstr>Using member functions</vt:lpstr>
      <vt:lpstr>Detaching threads</vt:lpstr>
      <vt:lpstr>Exception safety</vt:lpstr>
      <vt:lpstr>RAII thread guard</vt:lpstr>
      <vt:lpstr>Exceptions across threads</vt:lpstr>
      <vt:lpstr>Parallel execution</vt:lpstr>
      <vt:lpstr>std::thread vs. std::async</vt:lpstr>
      <vt:lpstr>How many threads</vt:lpstr>
      <vt:lpstr>Launch policy of std::async </vt:lpstr>
      <vt:lpstr>Futures</vt:lpstr>
      <vt:lpstr>std::future (unique)</vt:lpstr>
      <vt:lpstr>std::shared_future</vt:lpstr>
      <vt:lpstr>future::get</vt:lpstr>
      <vt:lpstr>Waiting for a future</vt:lpstr>
      <vt:lpstr>Wait sample</vt:lpstr>
      <vt:lpstr>Done flag via future&lt;void&gt;</vt:lpstr>
      <vt:lpstr>Done flag via future&lt;void&gt;</vt:lpstr>
      <vt:lpstr>async and ~future</vt:lpstr>
      <vt:lpstr>packaged_task&lt;T&gt;</vt:lpstr>
      <vt:lpstr>Synchronous task</vt:lpstr>
      <vt:lpstr>Binding task with parameters</vt:lpstr>
      <vt:lpstr>Moving task to a thread</vt:lpstr>
      <vt:lpstr>Notifying UI thread</vt:lpstr>
      <vt:lpstr>Promise and future value</vt:lpstr>
      <vt:lpstr>Using std::promise</vt:lpstr>
      <vt:lpstr>Shared state</vt:lpstr>
      <vt:lpstr>Copying exceptions</vt:lpstr>
      <vt:lpstr>std::future_error</vt:lpstr>
      <vt:lpstr>future_already_retrieved</vt:lpstr>
      <vt:lpstr>promise_already_satisfied</vt:lpstr>
      <vt:lpstr>broken_promise</vt:lpstr>
      <vt:lpstr>Inactive promise</vt:lpstr>
      <vt:lpstr>Active promise</vt:lpstr>
      <vt:lpstr>Satisfied promise</vt:lpstr>
      <vt:lpstr>Satisfied by exception</vt:lpstr>
      <vt:lpstr>Using shared_future</vt:lpstr>
      <vt:lpstr>Mutual exclusion</vt:lpstr>
      <vt:lpstr>Mutex</vt:lpstr>
      <vt:lpstr>Happens before relationship</vt:lpstr>
      <vt:lpstr>Mutex restricts interleaving</vt:lpstr>
      <vt:lpstr>Mutex types</vt:lpstr>
      <vt:lpstr>Mutex operations</vt:lpstr>
      <vt:lpstr>Lockable concept</vt:lpstr>
      <vt:lpstr>Timed mutex operations</vt:lpstr>
      <vt:lpstr>Lock &amp; unlock</vt:lpstr>
      <vt:lpstr>Lock objects</vt:lpstr>
      <vt:lpstr>Using lock objects</vt:lpstr>
      <vt:lpstr>Lock object consideration</vt:lpstr>
      <vt:lpstr>Monitor pattern</vt:lpstr>
      <vt:lpstr>Implementing monitor</vt:lpstr>
      <vt:lpstr>Deadlock</vt:lpstr>
      <vt:lpstr>Deadlock sample</vt:lpstr>
      <vt:lpstr>Deadlock prevention - std::lock</vt:lpstr>
      <vt:lpstr>std::lock sample</vt:lpstr>
      <vt:lpstr>std::lock and std::unique_lock</vt:lpstr>
      <vt:lpstr>One time initialization</vt:lpstr>
      <vt:lpstr>One time initialization #1</vt:lpstr>
      <vt:lpstr>Double checked locking</vt:lpstr>
      <vt:lpstr>Double checked locking #1</vt:lpstr>
      <vt:lpstr>std::call_once</vt:lpstr>
      <vt:lpstr>Function-local static storage</vt:lpstr>
      <vt:lpstr>Thread Local Storage</vt:lpstr>
      <vt:lpstr>thread_local sample</vt:lpstr>
      <vt:lpstr>Condition variables</vt:lpstr>
      <vt:lpstr>Condition variable interface</vt:lpstr>
      <vt:lpstr>Waiting for conditions</vt:lpstr>
      <vt:lpstr>Notifying</vt:lpstr>
      <vt:lpstr>Wait and notify</vt:lpstr>
      <vt:lpstr>Reversed order: notify and wait</vt:lpstr>
      <vt:lpstr>notify_one</vt:lpstr>
      <vt:lpstr>notify_all</vt:lpstr>
      <vt:lpstr>Spurious wakeup</vt:lpstr>
      <vt:lpstr>Shared state protocol</vt:lpstr>
      <vt:lpstr>Shared variable protocol</vt:lpstr>
      <vt:lpstr>Locking and condition variables</vt:lpstr>
      <vt:lpstr>Simplifying control structure</vt:lpstr>
      <vt:lpstr>Concurrent queue</vt:lpstr>
      <vt:lpstr>std::notify_all_at_thread_exit</vt:lpstr>
      <vt:lpstr>Atomic types</vt:lpstr>
      <vt:lpstr>atomic&lt;T&gt;</vt:lpstr>
      <vt:lpstr>Predefined types</vt:lpstr>
      <vt:lpstr>Atomic counter</vt:lpstr>
      <vt:lpstr>Books</vt:lpstr>
      <vt:lpstr>Papers &amp; presentations</vt:lpstr>
      <vt:lpstr>Web pages</vt:lpstr>
      <vt:lpstr>Video</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C++ 11 Threads</dc:title>
  <dc:creator>Petr Krulik (CZ)</dc:creator>
  <cp:lastModifiedBy>Petr Krulik (CZ)</cp:lastModifiedBy>
  <cp:revision>278</cp:revision>
  <dcterms:created xsi:type="dcterms:W3CDTF">2006-08-16T00:00:00Z</dcterms:created>
  <dcterms:modified xsi:type="dcterms:W3CDTF">2014-08-29T06:52:57Z</dcterms:modified>
</cp:coreProperties>
</file>