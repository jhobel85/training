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9" r:id="rId3"/>
    <p:sldId id="261" r:id="rId4"/>
    <p:sldId id="266" r:id="rId5"/>
    <p:sldId id="26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82" r:id="rId15"/>
    <p:sldId id="278" r:id="rId16"/>
    <p:sldId id="277" r:id="rId17"/>
    <p:sldId id="280" r:id="rId18"/>
    <p:sldId id="281" r:id="rId19"/>
    <p:sldId id="284" r:id="rId20"/>
    <p:sldId id="285" r:id="rId21"/>
    <p:sldId id="279" r:id="rId22"/>
    <p:sldId id="286" r:id="rId23"/>
    <p:sldId id="265" r:id="rId24"/>
    <p:sldId id="288" r:id="rId25"/>
    <p:sldId id="289" r:id="rId26"/>
    <p:sldId id="283" r:id="rId27"/>
    <p:sldId id="290" r:id="rId28"/>
    <p:sldId id="291" r:id="rId29"/>
    <p:sldId id="292" r:id="rId30"/>
    <p:sldId id="293" r:id="rId31"/>
  </p:sldIdLst>
  <p:sldSz cx="9144000" cy="6858000" type="screen4x3"/>
  <p:notesSz cx="6858000" cy="9144000"/>
  <p:defaultTextStyle>
    <a:defPPr>
      <a:defRPr lang="cs-CZ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 autoAdjust="0"/>
    <p:restoredTop sz="84114" autoAdjust="0"/>
  </p:normalViewPr>
  <p:slideViewPr>
    <p:cSldViewPr>
      <p:cViewPr varScale="1">
        <p:scale>
          <a:sx n="98" d="100"/>
          <a:sy n="98" d="100"/>
        </p:scale>
        <p:origin x="-200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A4B1447-925A-4141-99CF-A37E82C5C937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221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952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noProof="0" smtClean="0"/>
              <a:t>Klepnutím lze upravit styly předlohy textu.</a:t>
            </a:r>
          </a:p>
          <a:p>
            <a:pPr lvl="1"/>
            <a:r>
              <a:rPr lang="cs-CZ" noProof="0" smtClean="0"/>
              <a:t>Druhá úroveň</a:t>
            </a:r>
          </a:p>
          <a:p>
            <a:pPr lvl="2"/>
            <a:r>
              <a:rPr lang="cs-CZ" noProof="0" smtClean="0"/>
              <a:t>Třetí úroveň</a:t>
            </a:r>
          </a:p>
          <a:p>
            <a:pPr lvl="3"/>
            <a:r>
              <a:rPr lang="cs-CZ" noProof="0" smtClean="0"/>
              <a:t>Čtvrtá úroveň</a:t>
            </a:r>
          </a:p>
          <a:p>
            <a:pPr lvl="4"/>
            <a:r>
              <a:rPr lang="cs-CZ" noProof="0" smtClean="0"/>
              <a:t>Pátá úroveň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01D15F9-D65D-4252-AADF-28B59525DF81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789825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891611B-5E39-484D-85F4-F727E6B8438C}" type="slidenum">
              <a:rPr lang="cs-CZ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cs-CZ" altLang="en-US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EBEEEC-CF9B-45CE-A09E-7BE72E8B73DC}" type="slidenum">
              <a:rPr lang="cs-CZ" altLang="en-US" smtClean="0"/>
              <a:pPr eaLnBrk="1" hangingPunct="1">
                <a:spcBef>
                  <a:spcPct val="0"/>
                </a:spcBef>
              </a:pPr>
              <a:t>2</a:t>
            </a:fld>
            <a:endParaRPr lang="cs-CZ" altLang="en-US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b="1" dirty="0" smtClean="0">
                <a:effectLst/>
              </a:rPr>
              <a:t>C++ Templates: The Complete Guide</a:t>
            </a:r>
          </a:p>
          <a:p>
            <a:pPr eaLnBrk="1" hangingPunct="1"/>
            <a:r>
              <a:rPr lang="en-US" altLang="en-US" dirty="0" smtClean="0"/>
              <a:t>David </a:t>
            </a:r>
            <a:r>
              <a:rPr lang="en-US" altLang="en-US" dirty="0" err="1" smtClean="0"/>
              <a:t>Vandevoorde</a:t>
            </a:r>
            <a:endParaRPr lang="en-US" alt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 smtClean="0"/>
              <a:t>http://en.cppreference.com/w/cpp/language/templates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1D15F9-D65D-4252-AADF-28B59525DF81}" type="slidenum">
              <a:rPr lang="cs-CZ" smtClean="0"/>
              <a:pPr>
                <a:defRPr/>
              </a:pPr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52276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Template parameter a template argument není jedno a to samé.</a:t>
            </a:r>
          </a:p>
          <a:p>
            <a:r>
              <a:rPr lang="cs-CZ" dirty="0" smtClean="0"/>
              <a:t>template </a:t>
            </a:r>
            <a:r>
              <a:rPr lang="en-US" dirty="0" smtClean="0"/>
              <a:t>&lt;</a:t>
            </a:r>
            <a:r>
              <a:rPr lang="en-US" baseline="0" dirty="0" smtClean="0"/>
              <a:t> class T &gt; void print(T);</a:t>
            </a:r>
          </a:p>
          <a:p>
            <a:r>
              <a:rPr lang="en-US" baseline="0" dirty="0" smtClean="0"/>
              <a:t>T je “template parameter” </a:t>
            </a:r>
            <a:r>
              <a:rPr lang="en-US" baseline="0" dirty="0" err="1" smtClean="0"/>
              <a:t>zat</a:t>
            </a:r>
            <a:r>
              <a:rPr lang="cs-CZ" baseline="0" dirty="0" smtClean="0"/>
              <a:t>ím neznámý typ</a:t>
            </a:r>
            <a:r>
              <a:rPr lang="en-US" baseline="0" dirty="0" smtClean="0"/>
              <a:t>. </a:t>
            </a:r>
            <a:endParaRPr lang="cs-CZ" baseline="0" dirty="0" smtClean="0"/>
          </a:p>
          <a:p>
            <a:r>
              <a:rPr lang="en-US" baseline="0" dirty="0" smtClean="0"/>
              <a:t>print&lt;</a:t>
            </a:r>
            <a:r>
              <a:rPr lang="en-US" baseline="0" dirty="0" err="1" smtClean="0"/>
              <a:t>int</a:t>
            </a:r>
            <a:r>
              <a:rPr lang="en-US" baseline="0" dirty="0" smtClean="0"/>
              <a:t>&gt;(10);</a:t>
            </a:r>
            <a:endParaRPr lang="cs-CZ" baseline="0" dirty="0" smtClean="0"/>
          </a:p>
          <a:p>
            <a:r>
              <a:rPr lang="en-US" baseline="0" dirty="0" err="1" smtClean="0"/>
              <a:t>Typ</a:t>
            </a:r>
            <a:r>
              <a:rPr lang="en-US" baseline="0" dirty="0" smtClean="0"/>
              <a:t> </a:t>
            </a:r>
            <a:r>
              <a:rPr lang="en-US" baseline="0" dirty="0" err="1" smtClean="0"/>
              <a:t>int</a:t>
            </a:r>
            <a:r>
              <a:rPr lang="en-US" baseline="0" dirty="0" smtClean="0"/>
              <a:t> je “template argument”.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1D15F9-D65D-4252-AADF-28B59525DF81}" type="slidenum">
              <a:rPr lang="cs-CZ" smtClean="0"/>
              <a:pPr>
                <a:defRPr/>
              </a:pPr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71275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Why Not Specialize Function Templates?</a:t>
            </a:r>
            <a:endParaRPr lang="cs-CZ" dirty="0" smtClean="0"/>
          </a:p>
          <a:p>
            <a:r>
              <a:rPr lang="en-US" dirty="0" smtClean="0"/>
              <a:t>http://www.gotw.ca/publications/mill17.htm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1D15F9-D65D-4252-AADF-28B59525DF81}" type="slidenum">
              <a:rPr lang="cs-CZ" smtClean="0"/>
              <a:pPr>
                <a:defRPr/>
              </a:pPr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1015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1D15F9-D65D-4252-AADF-28B59525DF81}" type="slidenum">
              <a:rPr lang="cs-CZ" smtClean="0"/>
              <a:pPr>
                <a:defRPr/>
              </a:pPr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29153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K</a:t>
            </a:r>
            <a:r>
              <a:rPr lang="cs-CZ" baseline="0" dirty="0" smtClean="0"/>
              <a:t> vykreslení rekurze použij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std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::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cout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&lt;&lt; __FUNCSIG__ &lt;&lt; "\n";</a:t>
            </a:r>
            <a:endParaRPr lang="cs-CZ" sz="1200" kern="1200" dirty="0" smtClean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cs-CZ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nebo</a:t>
            </a:r>
            <a:endParaRPr lang="en-US" sz="1200" kern="1200" dirty="0" smtClean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std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::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cout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&lt;&lt; </a:t>
            </a:r>
            <a:r>
              <a:rPr lang="en-US" dirty="0" smtClean="0"/>
              <a:t>__PRETTY_FUNCTION__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&lt;&lt; "\n";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1D15F9-D65D-4252-AADF-28B59525DF81}" type="slidenum">
              <a:rPr lang="cs-CZ" smtClean="0"/>
              <a:pPr>
                <a:defRPr/>
              </a:pPr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854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 smtClean="0"/>
              <a:t>Pokud nepoužijeme univerzální referenci a std::forward, tak musíme funkci</a:t>
            </a:r>
            <a:r>
              <a:rPr lang="cs-CZ" baseline="0" dirty="0" smtClean="0"/>
              <a:t> f() napsat 3x</a:t>
            </a:r>
          </a:p>
          <a:p>
            <a:endParaRPr lang="cs-CZ" baseline="0" dirty="0" smtClean="0"/>
          </a:p>
          <a:p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// let f() forward argument 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val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to g():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void f(X&amp; 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val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)</a:t>
            </a:r>
            <a:r>
              <a:rPr lang="cs-CZ" sz="1200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{</a:t>
            </a:r>
          </a:p>
          <a:p>
            <a:r>
              <a:rPr lang="cs-CZ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  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g(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val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); // 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val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is non-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const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lvalue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=&gt; calls g(X&amp;)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void f(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const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X&amp; 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val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)</a:t>
            </a:r>
            <a:r>
              <a:rPr lang="cs-CZ" sz="1200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{</a:t>
            </a:r>
          </a:p>
          <a:p>
            <a:r>
              <a:rPr lang="cs-CZ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  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g(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val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); // 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val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is 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const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lvalue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=&gt; calls g(X 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const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&amp;)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void f(X&amp;&amp; 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val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)</a:t>
            </a:r>
            <a:r>
              <a:rPr lang="cs-CZ" sz="1200" kern="1200" baseline="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{</a:t>
            </a:r>
          </a:p>
          <a:p>
            <a:r>
              <a:rPr lang="cs-CZ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  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g(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std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::move(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val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)); // 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val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is non-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const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lvalue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=&gt; needs </a:t>
            </a:r>
            <a:r>
              <a:rPr lang="en-US" sz="1200" kern="1200" dirty="0" err="1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std</a:t>
            </a:r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::move() to call g(X&amp;&amp;)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}</a:t>
            </a:r>
            <a:endParaRPr lang="cs-CZ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1D15F9-D65D-4252-AADF-28B59525DF81}" type="slidenum">
              <a:rPr lang="cs-CZ" smtClean="0"/>
              <a:pPr>
                <a:defRPr/>
              </a:pPr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4666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https://channel9.msdn.com/Events/GoingNative/2013/Inheritance-Is-The-Base-Class-of-Evil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1D15F9-D65D-4252-AADF-28B59525DF81}" type="slidenum">
              <a:rPr lang="cs-CZ" smtClean="0"/>
              <a:pPr>
                <a:defRPr/>
              </a:pPr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6356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https://accu.org/index.php/journals/442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1D15F9-D65D-4252-AADF-28B59525DF81}" type="slidenum">
              <a:rPr lang="cs-CZ" smtClean="0"/>
              <a:pPr>
                <a:defRPr/>
              </a:pPr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33813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https://www.desmos.com/calculator/pfdwlq5qht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1D15F9-D65D-4252-AADF-28B59525DF81}" type="slidenum">
              <a:rPr lang="cs-CZ" smtClean="0"/>
              <a:pPr>
                <a:defRPr/>
              </a:pPr>
              <a:t>29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6781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cs-C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2C067F-E6A7-4908-8766-AAF35AAA44C5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295E3-9E8E-49AD-8503-B087CB7A3479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0869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A8203-8F0C-433D-A0B7-06684973572B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7245D-76CA-4639-8BF0-392510358B79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975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22EFCD-8351-4D66-BF49-F5546A00A984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2190C-A9AD-4EBA-A33D-4D35959AB81A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7637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CBB2B-2FFD-4BBF-8890-09608BA364C8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BEBC39-52FF-4A43-9EE1-839C38EAC9E8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8539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A7E382-DCE6-447B-9B81-786CA32CAA56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6FE532-F6D5-4CE3-8202-EBBC50D1625E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035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EA26C7-9877-41CB-9557-CEFD301DBA86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A6C3DC-8870-41DD-B3DC-6AC8988BF3AB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8289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7630B5-3526-44B8-9688-F6E679B7CDC1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F3A25-6C69-44F1-A6EA-7BAC30A32A5A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647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E8B55-99FD-46FD-8EF5-3E6ADC293FA4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5B642-8378-4A30-A40A-627A7D33B56F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871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7F435-3A40-487A-8F88-9EF9CFA5DA23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6A0B1-17F7-45D4-86AC-02E199349445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12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60336-5F31-46E9-9C1F-0E437A274391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3006EC-B546-4C2F-AE37-5554CC5E7D8B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865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34201-FAAF-49BE-B106-B066E7FF90A2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8DB66-4B94-437A-9CDE-481687411474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3703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0A3D7-9A06-42C3-B8B2-3CA17E91D72E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AEDDC7-E11A-4E44-B9F4-B3DBD1E4CEA8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0132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C9A270-A932-425C-B27F-ED8DD86B00A7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695856-8F1D-4CB9-B36D-8E261EDF2C81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89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08CB0-DB7D-4675-9F40-E197D0B6BC55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3F6F44-4899-4DB6-9A10-4819A643A0F1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13027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cs-CZ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B789C-D357-428B-AE03-0E1AAE6C5B4C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511F65-6BF0-4365-9D0E-EA3636327806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04469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B4C62-F00E-4EB0-BA01-D68596AE58F5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80BC2-5275-4466-A60E-39ECA28BEA18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16207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cs-CZ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97C2D-C85C-4253-ADC8-9B6DA13D1400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19FB26-D721-46CF-8668-79BF260DCB4C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72335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en-US" smtClean="0"/>
              <a:t>Klepnutím lze upravit styl předlohy nadpisů.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en-US" smtClean="0"/>
              <a:t>Klepnutím lze upravit styly předlohy textu.</a:t>
            </a:r>
          </a:p>
          <a:p>
            <a:pPr lvl="1"/>
            <a:r>
              <a:rPr lang="cs-CZ" altLang="en-US" smtClean="0"/>
              <a:t>Druhá úroveň</a:t>
            </a:r>
          </a:p>
          <a:p>
            <a:pPr lvl="2"/>
            <a:r>
              <a:rPr lang="cs-CZ" altLang="en-US" smtClean="0"/>
              <a:t>Třetí úroveň</a:t>
            </a:r>
          </a:p>
          <a:p>
            <a:pPr lvl="3"/>
            <a:r>
              <a:rPr lang="cs-CZ" altLang="en-US" smtClean="0"/>
              <a:t>Čtvrtá úroveň</a:t>
            </a:r>
          </a:p>
          <a:p>
            <a:pPr lvl="4"/>
            <a:r>
              <a:rPr lang="cs-CZ" altLang="en-US" smtClean="0"/>
              <a:t>Pátá úroveň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C1F88F86-AABC-46CD-B705-B239B6863B62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DEA1413-2175-437F-B3C9-184A9189A48A}" type="slidenum">
              <a:rPr lang="cs-CZ"/>
              <a:pPr>
                <a:defRPr/>
              </a:pPr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dirty="0" smtClean="0"/>
              <a:t>C++ templates</a:t>
            </a:r>
            <a:endParaRPr lang="cs-CZ" altLang="en-US" dirty="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cs-CZ" altLang="en-US" dirty="0" smtClean="0"/>
              <a:t>Petr Krulík</a:t>
            </a:r>
          </a:p>
          <a:p>
            <a:pPr eaLnBrk="1" hangingPunct="1"/>
            <a:r>
              <a:rPr lang="en-US" altLang="en-US" dirty="0" smtClean="0"/>
              <a:t>p</a:t>
            </a:r>
            <a:r>
              <a:rPr lang="cs-CZ" altLang="en-US" dirty="0" smtClean="0"/>
              <a:t>etr.krulik</a:t>
            </a:r>
            <a:r>
              <a:rPr lang="en-US" altLang="en-US" dirty="0" smtClean="0"/>
              <a:t>@gopas.cz</a:t>
            </a:r>
            <a:endParaRPr lang="cs-CZ" altLang="en-US" dirty="0" smtClean="0"/>
          </a:p>
        </p:txBody>
      </p:sp>
      <p:pic>
        <p:nvPicPr>
          <p:cNvPr id="2052" name="Obrázek 8" descr="cid:image001.jpg@01CA7E5D.022FDD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981075"/>
            <a:ext cx="575310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C4D11E-EB9F-4379-98D7-CA988C4B202C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3295E3-9E8E-49AD-8503-B087CB7A3479}" type="slidenum">
              <a:rPr lang="cs-CZ" smtClean="0"/>
              <a:pPr>
                <a:defRPr/>
              </a:pPr>
              <a:t>1</a:t>
            </a:fld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 smtClean="0"/>
              <a:t>Obsah</a:t>
            </a:r>
            <a:endParaRPr lang="cs-CZ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60847"/>
            <a:ext cx="8229600" cy="4065315"/>
          </a:xfrm>
        </p:spPr>
        <p:txBody>
          <a:bodyPr/>
          <a:lstStyle/>
          <a:p>
            <a:pPr marL="457200" indent="-457200" eaLnBrk="1" hangingPunct="1">
              <a:buFont typeface="+mj-lt"/>
              <a:buAutoNum type="arabicPeriod"/>
            </a:pPr>
            <a:r>
              <a:rPr lang="en-US" sz="2000" strike="sngStrike" dirty="0" err="1"/>
              <a:t>Standardy</a:t>
            </a:r>
            <a:r>
              <a:rPr lang="en-US" sz="2000" strike="sngStrike" dirty="0"/>
              <a:t> C++98/03 a C++11,14,17 - </a:t>
            </a:r>
            <a:r>
              <a:rPr lang="en-US" sz="2000" strike="sngStrike" dirty="0" err="1"/>
              <a:t>stručné</a:t>
            </a:r>
            <a:r>
              <a:rPr lang="en-US" sz="2000" strike="sngStrike" dirty="0"/>
              <a:t> </a:t>
            </a:r>
            <a:r>
              <a:rPr lang="en-US" sz="2000" strike="sngStrike" dirty="0" err="1" smtClean="0"/>
              <a:t>rozdíly</a:t>
            </a:r>
            <a:endParaRPr lang="en-US" sz="2000" strike="sngStrike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err="1" smtClean="0"/>
              <a:t>Šablony</a:t>
            </a:r>
            <a:r>
              <a:rPr lang="en-US" sz="2000" dirty="0" smtClean="0"/>
              <a:t> </a:t>
            </a:r>
            <a:r>
              <a:rPr lang="en-US" sz="2000" dirty="0" err="1" smtClean="0"/>
              <a:t>funkcí</a:t>
            </a:r>
            <a:endParaRPr lang="en-US" sz="2000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err="1" smtClean="0"/>
              <a:t>Šablony</a:t>
            </a:r>
            <a:r>
              <a:rPr lang="en-US" sz="2000" dirty="0" smtClean="0"/>
              <a:t> </a:t>
            </a:r>
            <a:r>
              <a:rPr lang="en-US" sz="2000" dirty="0" err="1" smtClean="0"/>
              <a:t>tříd</a:t>
            </a:r>
            <a:endParaRPr lang="en-US" sz="2000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err="1" smtClean="0"/>
              <a:t>Netypové</a:t>
            </a:r>
            <a:r>
              <a:rPr lang="en-US" sz="2000" dirty="0" smtClean="0"/>
              <a:t> </a:t>
            </a:r>
            <a:r>
              <a:rPr lang="en-US" sz="2000" dirty="0" err="1"/>
              <a:t>parametry</a:t>
            </a:r>
            <a:r>
              <a:rPr lang="en-US" sz="2000" dirty="0"/>
              <a:t> </a:t>
            </a:r>
            <a:r>
              <a:rPr lang="en-US" sz="2000" dirty="0" err="1" smtClean="0"/>
              <a:t>šablon</a:t>
            </a:r>
            <a:endParaRPr lang="en-US" sz="2000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err="1" smtClean="0"/>
              <a:t>Variadické</a:t>
            </a:r>
            <a:r>
              <a:rPr lang="en-US" sz="2000" dirty="0" smtClean="0"/>
              <a:t> </a:t>
            </a:r>
            <a:r>
              <a:rPr lang="en-US" sz="2000" dirty="0" err="1" smtClean="0"/>
              <a:t>šablony</a:t>
            </a:r>
            <a:endParaRPr lang="en-US" sz="2000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smtClean="0"/>
              <a:t>Move </a:t>
            </a:r>
            <a:r>
              <a:rPr lang="en-US" sz="2000" dirty="0" err="1" smtClean="0"/>
              <a:t>semantika</a:t>
            </a:r>
            <a:endParaRPr lang="en-US" sz="2000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err="1" smtClean="0"/>
              <a:t>Předávání</a:t>
            </a:r>
            <a:r>
              <a:rPr lang="en-US" sz="2000" dirty="0" smtClean="0"/>
              <a:t> </a:t>
            </a:r>
            <a:r>
              <a:rPr lang="en-US" sz="2000" dirty="0" err="1"/>
              <a:t>parametrů</a:t>
            </a:r>
            <a:r>
              <a:rPr lang="en-US" sz="2000" dirty="0"/>
              <a:t> </a:t>
            </a:r>
            <a:r>
              <a:rPr lang="en-US" sz="2000" dirty="0" err="1" smtClean="0"/>
              <a:t>hodnotou</a:t>
            </a:r>
            <a:r>
              <a:rPr lang="en-US" sz="2000" dirty="0" smtClean="0"/>
              <a:t>/</a:t>
            </a:r>
            <a:r>
              <a:rPr lang="en-US" sz="2000" dirty="0" err="1" smtClean="0"/>
              <a:t>odkazem</a:t>
            </a:r>
            <a:endParaRPr lang="en-US" sz="2000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err="1" smtClean="0"/>
              <a:t>Statický</a:t>
            </a:r>
            <a:r>
              <a:rPr lang="en-US" sz="2000" dirty="0" smtClean="0"/>
              <a:t> </a:t>
            </a:r>
            <a:r>
              <a:rPr lang="en-US" sz="2000" dirty="0"/>
              <a:t>vs. </a:t>
            </a:r>
            <a:r>
              <a:rPr lang="en-US" sz="2000" dirty="0" err="1"/>
              <a:t>dynamický</a:t>
            </a:r>
            <a:r>
              <a:rPr lang="en-US" sz="2000" dirty="0"/>
              <a:t> </a:t>
            </a:r>
            <a:r>
              <a:rPr lang="en-US" sz="2000" dirty="0" err="1" smtClean="0"/>
              <a:t>polymorfismus</a:t>
            </a:r>
            <a:endParaRPr lang="en-US" sz="2000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smtClean="0"/>
              <a:t>Traits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strike="sngStrike" dirty="0" err="1" smtClean="0"/>
              <a:t>Typelists</a:t>
            </a:r>
            <a:endParaRPr lang="en-US" sz="2000" strike="sngStrike" dirty="0" smtClean="0"/>
          </a:p>
          <a:p>
            <a:pPr marL="457200" indent="-457200" eaLnBrk="1" hangingPunct="1">
              <a:buFont typeface="+mj-lt"/>
              <a:buAutoNum type="arabicPeriod"/>
            </a:pPr>
            <a:r>
              <a:rPr lang="en-US" sz="2000" dirty="0" smtClean="0"/>
              <a:t>Tuples</a:t>
            </a:r>
            <a:endParaRPr lang="cs-CZ" altLang="en-US" sz="2000" dirty="0" smtClean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468313" y="1401763"/>
            <a:ext cx="7991475" cy="366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cs-CZ" altLang="en-US" sz="1800" i="1" dirty="0" smtClean="0"/>
              <a:t>Úvod do C++ šablon.</a:t>
            </a:r>
            <a:endParaRPr lang="cs-CZ" altLang="en-US" sz="1800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1D896BB-FE85-4FDA-93EA-4D08E89331D1}" type="datetime4">
              <a:rPr lang="en-US" smtClean="0"/>
              <a:t>January 14, 2018</a:t>
            </a:fld>
            <a:endParaRPr lang="cs-CZ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689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 dirty="0"/>
              <a:t>Základní druhy šablon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cs-CZ" altLang="en-US" sz="2400" dirty="0" smtClean="0"/>
              <a:t>Pomocí klíčového slova </a:t>
            </a:r>
            <a:r>
              <a:rPr lang="cs-CZ" altLang="en-US" sz="2400" b="1" i="1" dirty="0" smtClean="0"/>
              <a:t>template</a:t>
            </a:r>
            <a:r>
              <a:rPr lang="cs-CZ" altLang="en-US" sz="2400" dirty="0" smtClean="0"/>
              <a:t> můžeme vytvořit: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cs-CZ" altLang="en-US" sz="2400" dirty="0" smtClean="0"/>
              <a:t>Rodinu </a:t>
            </a:r>
            <a:r>
              <a:rPr lang="cs-CZ" altLang="en-US" sz="2400" dirty="0"/>
              <a:t>tříd (class template</a:t>
            </a:r>
            <a:r>
              <a:rPr lang="cs-CZ" altLang="en-US" sz="2400" dirty="0" smtClean="0"/>
              <a:t>), </a:t>
            </a:r>
            <a:r>
              <a:rPr lang="cs-CZ" altLang="en-US" sz="2400" dirty="0"/>
              <a:t>včetně vnořených tříd.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cs-CZ" altLang="en-US" sz="2400" dirty="0"/>
              <a:t>Rodinu funkcí (function template</a:t>
            </a:r>
            <a:r>
              <a:rPr lang="cs-CZ" altLang="en-US" sz="2400" dirty="0" smtClean="0"/>
              <a:t>), </a:t>
            </a:r>
            <a:r>
              <a:rPr lang="cs-CZ" altLang="en-US" sz="2400" dirty="0"/>
              <a:t>včetně členských funkcí.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cs-CZ" altLang="en-US" sz="2400" dirty="0"/>
              <a:t>Alias pro danou rodinu typů (alias template</a:t>
            </a:r>
            <a:r>
              <a:rPr lang="cs-CZ" altLang="en-US" sz="2400" dirty="0" smtClean="0"/>
              <a:t>), </a:t>
            </a:r>
            <a:r>
              <a:rPr lang="cs-CZ" altLang="en-US" sz="2400" dirty="0"/>
              <a:t>od C++ 11.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cs-CZ" altLang="en-US" sz="2400" dirty="0"/>
              <a:t>Rodinu proměnných (variable template</a:t>
            </a:r>
            <a:r>
              <a:rPr lang="cs-CZ" altLang="en-US" sz="2400" dirty="0" smtClean="0"/>
              <a:t>), </a:t>
            </a:r>
            <a:r>
              <a:rPr lang="cs-CZ" altLang="en-US" sz="2400" dirty="0"/>
              <a:t>od C++ </a:t>
            </a:r>
            <a:r>
              <a:rPr lang="cs-CZ" altLang="en-US" sz="2400" dirty="0" smtClean="0"/>
              <a:t>14</a:t>
            </a:r>
            <a:r>
              <a:rPr lang="en-US" altLang="en-US" sz="2400" dirty="0" smtClean="0"/>
              <a:t>.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49407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Šablony</a:t>
            </a:r>
            <a:r>
              <a:rPr lang="en-US" dirty="0"/>
              <a:t> funk</a:t>
            </a:r>
            <a:r>
              <a:rPr lang="cs-CZ" dirty="0"/>
              <a:t>cí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&gt;</a:t>
            </a:r>
          </a:p>
          <a:p>
            <a:pPr marL="0" indent="0">
              <a:buNone/>
            </a:pPr>
            <a:r>
              <a:rPr lang="fr-FR" sz="20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fr-FR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2000" dirty="0" err="1">
                <a:solidFill>
                  <a:srgbClr val="000000"/>
                </a:solidFill>
                <a:latin typeface="Consolas"/>
              </a:rPr>
              <a:t>cpp_min</a:t>
            </a:r>
            <a:r>
              <a:rPr lang="fr-FR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20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fr-FR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20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fr-FR" sz="2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fr-FR" sz="20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fr-FR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20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fr-FR" sz="2000" dirty="0" smtClean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{</a:t>
            </a:r>
            <a:endParaRPr lang="en-US" sz="20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   return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? 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20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}</a:t>
            </a: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sz="2000" dirty="0" smtClean="0"/>
              <a:t>Seznam parametrů šablony v úhlových závorkách.</a:t>
            </a:r>
          </a:p>
          <a:p>
            <a:r>
              <a:rPr lang="cs-CZ" sz="2000" dirty="0" smtClean="0"/>
              <a:t>Typový </a:t>
            </a:r>
            <a:r>
              <a:rPr lang="cs-CZ" sz="2000" dirty="0"/>
              <a:t>parametr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2B91AF"/>
                </a:solidFill>
                <a:latin typeface="Consolas"/>
              </a:rPr>
              <a:t>T</a:t>
            </a:r>
            <a:r>
              <a:rPr lang="cs-CZ" sz="2000" dirty="0" smtClean="0"/>
              <a:t>.</a:t>
            </a:r>
          </a:p>
          <a:p>
            <a:r>
              <a:rPr lang="cs-CZ" sz="2000" dirty="0" smtClean="0"/>
              <a:t>Synonymum pro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class </a:t>
            </a:r>
            <a:r>
              <a:rPr lang="cs-CZ" sz="2000" dirty="0" smtClean="0"/>
              <a:t>je </a:t>
            </a:r>
            <a:r>
              <a:rPr lang="cs-CZ" sz="2000" dirty="0" smtClean="0">
                <a:solidFill>
                  <a:srgbClr val="0000FF"/>
                </a:solidFill>
                <a:latin typeface="Consolas"/>
              </a:rPr>
              <a:t>typename</a:t>
            </a:r>
            <a:r>
              <a:rPr lang="cs-CZ" sz="2000" dirty="0" smtClean="0"/>
              <a:t>.</a:t>
            </a:r>
          </a:p>
          <a:p>
            <a:r>
              <a:rPr lang="cs-CZ" sz="2000" dirty="0" smtClean="0"/>
              <a:t>Samotná šablona negeneruje kód, jen se kontroluje syntaxe (chybějící středníky, neznámé symboly, statické aserce).</a:t>
            </a:r>
          </a:p>
          <a:p>
            <a:r>
              <a:rPr lang="cs-CZ" sz="2000" dirty="0" smtClean="0"/>
              <a:t>Kód se generuje až v okamžiku použití šablony: dvoufázový překlad.</a:t>
            </a:r>
          </a:p>
          <a:p>
            <a:r>
              <a:rPr lang="cs-CZ" sz="2000" dirty="0" smtClean="0"/>
              <a:t>Šablony se nejčastěji dodávají v hlavičkách i s tělem funkce. Nemusí být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inline</a:t>
            </a:r>
            <a:r>
              <a:rPr lang="cs-CZ" sz="2000" dirty="0" smtClean="0"/>
              <a:t>.</a:t>
            </a:r>
            <a:endParaRPr lang="en-US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40988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Použití šablony funkcí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i1 = 10, i2 = 20;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cpp_min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(i1, i2) </a:t>
            </a:r>
            <a:r>
              <a:rPr lang="en-US" sz="16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'\n</a:t>
            </a:r>
            <a:r>
              <a:rPr lang="en-US" sz="1600" dirty="0" smtClean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fr-FR" sz="1600" dirty="0">
                <a:solidFill>
                  <a:srgbClr val="0000FF"/>
                </a:solidFill>
                <a:latin typeface="Consolas"/>
              </a:rPr>
              <a:t>double</a:t>
            </a:r>
            <a:r>
              <a:rPr lang="fr-FR" sz="1600" dirty="0">
                <a:solidFill>
                  <a:srgbClr val="000000"/>
                </a:solidFill>
                <a:latin typeface="Consolas"/>
              </a:rPr>
              <a:t> d1 = 0.5, d2 = 0.1;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cpp_min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(d1, d2) </a:t>
            </a:r>
            <a:r>
              <a:rPr lang="en-US" sz="16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'\n</a:t>
            </a:r>
            <a:r>
              <a:rPr lang="en-US" sz="1600" dirty="0" smtClean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2B91AF"/>
                </a:solidFill>
                <a:latin typeface="Consolas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s1 =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"pes"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s2 =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"les"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cpp_min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(s1, s2) </a:t>
            </a:r>
            <a:r>
              <a:rPr lang="en-US" sz="16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/>
              </a:rPr>
              <a:t>'\n'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 err="1" smtClean="0"/>
              <a:t>Proces</a:t>
            </a:r>
            <a:r>
              <a:rPr lang="en-US" sz="2000" dirty="0" smtClean="0"/>
              <a:t> </a:t>
            </a:r>
            <a:r>
              <a:rPr lang="en-US" sz="2000" dirty="0" err="1" smtClean="0"/>
              <a:t>nahrazen</a:t>
            </a:r>
            <a:r>
              <a:rPr lang="cs-CZ" sz="2000" dirty="0" smtClean="0"/>
              <a:t>í parametrů šablony se nazývá instanciace šablony.</a:t>
            </a:r>
          </a:p>
          <a:p>
            <a:r>
              <a:rPr lang="cs-CZ" sz="2000" dirty="0"/>
              <a:t>P</a:t>
            </a:r>
            <a:r>
              <a:rPr lang="cs-CZ" sz="2000" dirty="0" smtClean="0"/>
              <a:t>arametr </a:t>
            </a:r>
            <a:r>
              <a:rPr lang="en-US" sz="2000" dirty="0" smtClean="0">
                <a:solidFill>
                  <a:srgbClr val="2B91AF"/>
                </a:solidFill>
                <a:latin typeface="Consolas"/>
              </a:rPr>
              <a:t>T</a:t>
            </a:r>
            <a:r>
              <a:rPr lang="cs-CZ" sz="2000" dirty="0"/>
              <a:t> </a:t>
            </a:r>
            <a:r>
              <a:rPr lang="cs-CZ" sz="2000" dirty="0" smtClean="0"/>
              <a:t>je libovolný typ podporující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 operator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cs-CZ" sz="2000" dirty="0" smtClean="0"/>
              <a:t> </a:t>
            </a:r>
            <a:r>
              <a:rPr lang="en-US" sz="2000" dirty="0" smtClean="0"/>
              <a:t>a je kop</a:t>
            </a:r>
            <a:r>
              <a:rPr lang="cs-CZ" sz="2000" dirty="0" smtClean="0"/>
              <a:t>írovatelný.</a:t>
            </a:r>
          </a:p>
          <a:p>
            <a:r>
              <a:rPr lang="cs-CZ" sz="2000" dirty="0" smtClean="0"/>
              <a:t>Překladač generuje cpp_min pro každý typ zvlášt. Lepší optimalizace, ale větší množství binárního kódu (code bloat).</a:t>
            </a:r>
            <a:endParaRPr lang="en-US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2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Argumenty</a:t>
            </a:r>
            <a:r>
              <a:rPr lang="cs-CZ" dirty="0"/>
              <a:t> šablony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err="1"/>
              <a:t>Automatick</a:t>
            </a:r>
            <a:r>
              <a:rPr lang="cs-CZ" sz="2800" dirty="0"/>
              <a:t>á</a:t>
            </a:r>
            <a:r>
              <a:rPr lang="en-US" sz="2800" dirty="0"/>
              <a:t> </a:t>
            </a:r>
            <a:r>
              <a:rPr lang="en-US" sz="2800" dirty="0" err="1"/>
              <a:t>dedukce</a:t>
            </a:r>
            <a:r>
              <a:rPr lang="cs-CZ" sz="2800" dirty="0" smtClean="0"/>
              <a:t>.</a:t>
            </a:r>
          </a:p>
          <a:p>
            <a:pPr marL="400050" lvl="1" indent="0">
              <a:buNone/>
            </a:pPr>
            <a:r>
              <a:rPr lang="fr-FR" sz="1400" dirty="0">
                <a:solidFill>
                  <a:srgbClr val="0000FF"/>
                </a:solidFill>
                <a:latin typeface="Consolas"/>
              </a:rPr>
              <a:t>double</a:t>
            </a:r>
            <a:r>
              <a:rPr lang="fr-FR" sz="1400" dirty="0">
                <a:solidFill>
                  <a:srgbClr val="000000"/>
                </a:solidFill>
                <a:latin typeface="Consolas"/>
              </a:rPr>
              <a:t> d1 = 0.5, d2 = 0.1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400050" lvl="1" indent="0">
              <a:buNone/>
            </a:pP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cpp_min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(d1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d2);</a:t>
            </a:r>
            <a:r>
              <a:rPr lang="pl-PL" sz="1400" dirty="0">
                <a:solidFill>
                  <a:srgbClr val="008000"/>
                </a:solidFill>
                <a:latin typeface="Consolas"/>
              </a:rPr>
              <a:t> </a:t>
            </a:r>
            <a:r>
              <a:rPr lang="pl-PL" sz="1400" dirty="0" smtClean="0">
                <a:solidFill>
                  <a:srgbClr val="008000"/>
                </a:solidFill>
                <a:latin typeface="Consolas"/>
              </a:rPr>
              <a:t>  // OK: T </a:t>
            </a:r>
            <a:r>
              <a:rPr lang="pl-PL" sz="1400" dirty="0">
                <a:solidFill>
                  <a:srgbClr val="008000"/>
                </a:solidFill>
                <a:latin typeface="Consolas"/>
              </a:rPr>
              <a:t>je dedukováno jako </a:t>
            </a:r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double</a:t>
            </a:r>
            <a:endParaRPr lang="pl-PL" sz="1400" dirty="0" smtClean="0">
              <a:solidFill>
                <a:srgbClr val="008000"/>
              </a:solidFill>
              <a:latin typeface="Consolas"/>
            </a:endParaRPr>
          </a:p>
          <a:p>
            <a:pPr marL="400050" lvl="1" indent="0">
              <a:buNone/>
            </a:pP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cpp_min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(d1, 42);</a:t>
            </a:r>
            <a:r>
              <a:rPr lang="pl-PL" sz="1400" dirty="0" smtClean="0">
                <a:solidFill>
                  <a:srgbClr val="008000"/>
                </a:solidFill>
                <a:latin typeface="Consolas"/>
              </a:rPr>
              <a:t> </a:t>
            </a:r>
            <a:r>
              <a:rPr lang="pl-PL" sz="14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pl-PL" sz="1400" dirty="0" smtClean="0">
                <a:solidFill>
                  <a:srgbClr val="008000"/>
                </a:solidFill>
                <a:latin typeface="Consolas"/>
              </a:rPr>
              <a:t>ERROR: Nelze dedukovat T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endParaRPr lang="cs-CZ" sz="2800" dirty="0" smtClean="0"/>
          </a:p>
          <a:p>
            <a:pPr marL="0" indent="0">
              <a:buNone/>
            </a:pPr>
            <a:r>
              <a:rPr lang="cs-CZ" sz="2800" dirty="0" smtClean="0"/>
              <a:t>Explicitní specializace.</a:t>
            </a:r>
            <a:endParaRPr lang="en-US" sz="2800" dirty="0" smtClean="0"/>
          </a:p>
          <a:p>
            <a:pPr marL="400050" lvl="1" indent="0">
              <a:buNone/>
            </a:pP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cpp_min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double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&gt;(d1, 42);</a:t>
            </a:r>
            <a:r>
              <a:rPr lang="pl-PL" sz="1400" dirty="0" smtClean="0">
                <a:solidFill>
                  <a:srgbClr val="008000"/>
                </a:solidFill>
                <a:latin typeface="Consolas"/>
              </a:rPr>
              <a:t> // OK: T je </a:t>
            </a:r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p</a:t>
            </a:r>
            <a:r>
              <a:rPr lang="cs-CZ" sz="1400" dirty="0" smtClean="0">
                <a:solidFill>
                  <a:srgbClr val="008000"/>
                </a:solidFill>
                <a:latin typeface="Consolas"/>
              </a:rPr>
              <a:t>ředem určeno </a:t>
            </a:r>
            <a:r>
              <a:rPr lang="pl-PL" sz="1400" dirty="0" smtClean="0">
                <a:solidFill>
                  <a:srgbClr val="008000"/>
                </a:solidFill>
                <a:latin typeface="Consolas"/>
              </a:rPr>
              <a:t>jako </a:t>
            </a:r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double</a:t>
            </a:r>
          </a:p>
          <a:p>
            <a:pPr marL="400050" lvl="1" indent="0">
              <a:buNone/>
            </a:pPr>
            <a:endParaRPr lang="en-US" sz="1400" dirty="0" smtClean="0">
              <a:solidFill>
                <a:srgbClr val="008000"/>
              </a:solidFill>
              <a:latin typeface="Consolas"/>
            </a:endParaRPr>
          </a:p>
          <a:p>
            <a:pPr marL="400050" lvl="1" indent="0">
              <a:buNone/>
            </a:pPr>
            <a:r>
              <a:rPr lang="pl-PL" sz="14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T </a:t>
            </a:r>
            <a:r>
              <a:rPr lang="en-US" sz="1400" dirty="0" err="1" smtClean="0">
                <a:solidFill>
                  <a:srgbClr val="008000"/>
                </a:solidFill>
                <a:latin typeface="Consolas"/>
              </a:rPr>
              <a:t>nen</a:t>
            </a:r>
            <a:r>
              <a:rPr lang="cs-CZ" sz="1400" dirty="0" smtClean="0">
                <a:solidFill>
                  <a:srgbClr val="008000"/>
                </a:solidFill>
                <a:latin typeface="Consolas"/>
              </a:rPr>
              <a:t>í součástí seznamu parametrů funkce.</a:t>
            </a:r>
          </a:p>
          <a:p>
            <a:pPr marL="400050" lvl="1" indent="0">
              <a:buNone/>
            </a:pPr>
            <a:r>
              <a:rPr lang="cs-CZ" sz="1400" dirty="0" smtClean="0">
                <a:solidFill>
                  <a:srgbClr val="008000"/>
                </a:solidFill>
                <a:latin typeface="Consolas"/>
              </a:rPr>
              <a:t>// Automatická dedukce není možná.</a:t>
            </a:r>
            <a:endParaRPr lang="en-US" sz="1400" dirty="0" smtClean="0">
              <a:solidFill>
                <a:srgbClr val="008000"/>
              </a:solidFill>
              <a:latin typeface="Consolas"/>
            </a:endParaRPr>
          </a:p>
          <a:p>
            <a:pPr marL="400050" lvl="1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US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&gt;</a:t>
            </a:r>
          </a:p>
          <a:p>
            <a:pPr marL="400050" lvl="1" indent="0">
              <a:buNone/>
            </a:pP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zero() {</a:t>
            </a:r>
          </a:p>
          <a:p>
            <a:pPr marL="400050" lvl="1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   return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{};</a:t>
            </a:r>
          </a:p>
          <a:p>
            <a:pPr marL="400050" lvl="1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400050" lvl="1" indent="0">
              <a:buNone/>
            </a:pP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zero&lt;</a:t>
            </a:r>
            <a:r>
              <a:rPr lang="en-US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&gt;() </a:t>
            </a:r>
            <a:r>
              <a:rPr lang="en-US" sz="14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  <a:endParaRPr lang="cs-CZ" sz="1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4141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Přetěžování šablon funkcí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a – first class citizen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char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cpp_min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char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char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strcmp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) &lt; 0 ?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b – second class citizen</a:t>
            </a:r>
            <a:endParaRPr lang="en-US" sz="11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US" sz="11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&gt;</a:t>
            </a:r>
          </a:p>
          <a:p>
            <a:pPr marL="0" indent="0">
              <a:buNone/>
            </a:pPr>
            <a:r>
              <a:rPr lang="fr-FR" sz="11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onsolas"/>
              </a:rPr>
              <a:t>cpp_min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1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fr-FR" sz="11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) </a:t>
            </a:r>
            <a:endParaRPr lang="fr-FR" sz="11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{</a:t>
            </a:r>
            <a:endParaRPr lang="fr-FR" sz="11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100" dirty="0" smtClean="0">
                <a:solidFill>
                  <a:srgbClr val="0000FF"/>
                </a:solidFill>
                <a:latin typeface="Consolas"/>
              </a:rPr>
              <a:t>   return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?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1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endParaRPr lang="cs-CZ" sz="11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1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1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nsolas"/>
              </a:rPr>
              <a:t>cpp_min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(10, 20) </a:t>
            </a:r>
            <a:r>
              <a:rPr lang="en-US" sz="11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A31515"/>
                </a:solidFill>
                <a:latin typeface="Consolas"/>
              </a:rPr>
              <a:t>'\n'</a:t>
            </a:r>
            <a:r>
              <a:rPr lang="en-US" sz="1100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en-US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cs-CZ" sz="1100" dirty="0" smtClean="0">
                <a:solidFill>
                  <a:srgbClr val="008000"/>
                </a:solidFill>
                <a:latin typeface="Consolas"/>
              </a:rPr>
              <a:t>b</a:t>
            </a:r>
            <a:endParaRPr lang="en-US" sz="1100" dirty="0" smtClean="0">
              <a:solidFill>
                <a:srgbClr val="008000"/>
              </a:solidFill>
              <a:latin typeface="Consolas"/>
            </a:endParaRPr>
          </a:p>
          <a:p>
            <a:pPr marL="0" indent="0">
              <a:buNone/>
            </a:pPr>
            <a:r>
              <a:rPr lang="fr-FR" sz="1100" dirty="0">
                <a:solidFill>
                  <a:srgbClr val="000000"/>
                </a:solidFill>
                <a:latin typeface="Consolas"/>
              </a:rPr>
              <a:t>cout </a:t>
            </a:r>
            <a:r>
              <a:rPr lang="fr-FR" sz="11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 err="1">
                <a:solidFill>
                  <a:srgbClr val="000000"/>
                </a:solidFill>
                <a:latin typeface="Consolas"/>
              </a:rPr>
              <a:t>cpp_min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100" dirty="0">
                <a:solidFill>
                  <a:srgbClr val="A31515"/>
                </a:solidFill>
                <a:latin typeface="Consolas"/>
              </a:rPr>
              <a:t>"les"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fr-FR" sz="11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fr-FR" sz="1100" dirty="0" err="1">
                <a:solidFill>
                  <a:srgbClr val="A31515"/>
                </a:solidFill>
                <a:latin typeface="Consolas"/>
              </a:rPr>
              <a:t>pes</a:t>
            </a:r>
            <a:r>
              <a:rPr lang="fr-FR" sz="11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fr-FR" sz="11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A31515"/>
                </a:solidFill>
                <a:latin typeface="Consolas"/>
              </a:rPr>
              <a:t>'\n'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fr-FR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cs-CZ" sz="1100" dirty="0" smtClean="0">
                <a:solidFill>
                  <a:srgbClr val="008000"/>
                </a:solidFill>
                <a:latin typeface="Consolas"/>
              </a:rPr>
              <a:t>a</a:t>
            </a:r>
            <a:endParaRPr lang="en-US" sz="1100" dirty="0"/>
          </a:p>
          <a:p>
            <a:pPr marL="0" indent="0">
              <a:buNone/>
            </a:pPr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cout </a:t>
            </a:r>
            <a:r>
              <a:rPr lang="fr-FR" sz="11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 err="1" smtClean="0">
                <a:solidFill>
                  <a:srgbClr val="000000"/>
                </a:solidFill>
                <a:latin typeface="Consolas"/>
              </a:rPr>
              <a:t>cpp_min</a:t>
            </a:r>
            <a:r>
              <a:rPr lang="fr-FR" sz="1100" dirty="0" smtClean="0">
                <a:solidFill>
                  <a:srgbClr val="000000"/>
                </a:solidFill>
                <a:latin typeface="Consolas"/>
              </a:rPr>
              <a:t>&lt;&gt;(</a:t>
            </a:r>
            <a:r>
              <a:rPr lang="fr-FR" sz="11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fr-FR" sz="1100" dirty="0">
                <a:solidFill>
                  <a:srgbClr val="A31515"/>
                </a:solidFill>
                <a:latin typeface="Consolas"/>
              </a:rPr>
              <a:t>les"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fr-FR" sz="11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fr-FR" sz="1100" dirty="0" err="1">
                <a:solidFill>
                  <a:srgbClr val="A31515"/>
                </a:solidFill>
                <a:latin typeface="Consolas"/>
              </a:rPr>
              <a:t>pes</a:t>
            </a:r>
            <a:r>
              <a:rPr lang="fr-FR" sz="11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fr-FR" sz="11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100" dirty="0">
                <a:solidFill>
                  <a:srgbClr val="A31515"/>
                </a:solidFill>
                <a:latin typeface="Consolas"/>
              </a:rPr>
              <a:t>'\n'</a:t>
            </a:r>
            <a:r>
              <a:rPr lang="fr-FR" sz="1100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fr-FR" sz="11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100" dirty="0" smtClean="0">
                <a:solidFill>
                  <a:srgbClr val="008000"/>
                </a:solidFill>
                <a:latin typeface="Consolas"/>
              </a:rPr>
              <a:t>b</a:t>
            </a:r>
            <a:endParaRPr lang="en-US" sz="1100" dirty="0"/>
          </a:p>
          <a:p>
            <a:pPr marL="0" indent="0">
              <a:buNone/>
            </a:pPr>
            <a:endParaRPr lang="en-US" sz="11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Ne</a:t>
            </a:r>
            <a:r>
              <a:rPr lang="cs-CZ" dirty="0" smtClean="0"/>
              <a:t>šablonové funkce jsou </a:t>
            </a:r>
            <a:r>
              <a:rPr lang="cs-CZ" i="1" dirty="0" smtClean="0"/>
              <a:t>občané první kategorie</a:t>
            </a:r>
            <a:r>
              <a:rPr lang="cs-CZ" dirty="0" smtClean="0"/>
              <a:t> a mají při volání přednost.</a:t>
            </a:r>
          </a:p>
          <a:p>
            <a:r>
              <a:rPr lang="cs-CZ" dirty="0" smtClean="0"/>
              <a:t>Šablonové funkce jsou </a:t>
            </a:r>
            <a:r>
              <a:rPr lang="cs-CZ" i="1" dirty="0" smtClean="0"/>
              <a:t>občané druhé kategorie</a:t>
            </a:r>
            <a:r>
              <a:rPr lang="cs-CZ" dirty="0" smtClean="0"/>
              <a:t> a jsou použity jen když není nic lepšího.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6015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</a:t>
            </a:r>
            <a:r>
              <a:rPr lang="cs-CZ" dirty="0" smtClean="0"/>
              <a:t>ředávání hodnotou či odkazem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400" dirty="0" smtClean="0"/>
              <a:t>Obecné pravidlo pro </a:t>
            </a:r>
            <a:r>
              <a:rPr lang="cs-CZ" sz="2400" u="sng" dirty="0" smtClean="0"/>
              <a:t>nešablonové funkce</a:t>
            </a:r>
            <a:r>
              <a:rPr lang="cs-CZ" sz="2400" dirty="0" smtClean="0"/>
              <a:t>: </a:t>
            </a:r>
            <a:r>
              <a:rPr lang="cs-CZ" sz="2400" dirty="0"/>
              <a:t>H</a:t>
            </a:r>
            <a:r>
              <a:rPr lang="cs-CZ" sz="2400" dirty="0" smtClean="0"/>
              <a:t>odnotou primitivní typ, třídu odkazem.</a:t>
            </a:r>
          </a:p>
          <a:p>
            <a:r>
              <a:rPr lang="cs-CZ" sz="2400" dirty="0" smtClean="0"/>
              <a:t>U šablonových funkcí preferujte předávání hodnotou.</a:t>
            </a:r>
          </a:p>
          <a:p>
            <a:pPr lvl="1"/>
            <a:r>
              <a:rPr lang="cs-CZ" sz="2000" dirty="0" smtClean="0"/>
              <a:t>Jednoduchá syntaxe (keep it simple rule).</a:t>
            </a:r>
          </a:p>
          <a:p>
            <a:pPr lvl="1"/>
            <a:r>
              <a:rPr lang="cs-CZ" sz="2000" dirty="0" smtClean="0"/>
              <a:t>Překladač lépe optimalizuje, občas úplně eliminuje kopie.</a:t>
            </a:r>
          </a:p>
          <a:p>
            <a:pPr lvl="1"/>
            <a:r>
              <a:rPr lang="cs-CZ" sz="2000" dirty="0" smtClean="0"/>
              <a:t>Move sémantika eliminuje kopie pro dočasné proměnné (r-values).</a:t>
            </a:r>
          </a:p>
          <a:p>
            <a:pPr lvl="1"/>
            <a:r>
              <a:rPr lang="cs-CZ" sz="2000" dirty="0" smtClean="0"/>
              <a:t>Eliminaci kopie pro l-value docílíte pomocí std::ref, std::cref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3410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</a:t>
            </a:r>
            <a:r>
              <a:rPr lang="cs-CZ" dirty="0" smtClean="0"/>
              <a:t>ředávání referencí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700808"/>
            <a:ext cx="4040188" cy="4425355"/>
          </a:xfrm>
        </p:spPr>
        <p:txBody>
          <a:bodyPr/>
          <a:lstStyle/>
          <a:p>
            <a:pPr marL="0" indent="0">
              <a:buNone/>
            </a:pPr>
            <a:r>
              <a:rPr lang="cs-CZ" dirty="0" smtClean="0"/>
              <a:t>Je dobré, že nedochází k degradaci typu.</a:t>
            </a:r>
            <a:endParaRPr lang="en-US" dirty="0" smtClean="0"/>
          </a:p>
          <a:p>
            <a:pPr marL="0" indent="0">
              <a:buNone/>
            </a:pPr>
            <a:endParaRPr lang="en-US" sz="1400" dirty="0" smtClean="0">
              <a:solidFill>
                <a:srgbClr val="0000FF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&lt;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N &gt;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cpp_begin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(&amp;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pole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)[N]) {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return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pole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&lt;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N &gt;</a:t>
            </a:r>
          </a:p>
          <a:p>
            <a:pPr marL="0" indent="0">
              <a:buNone/>
            </a:pPr>
            <a:r>
              <a:rPr lang="fr-FR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* </a:t>
            </a:r>
            <a:r>
              <a:rPr lang="fr-FR" sz="1200" dirty="0" err="1">
                <a:solidFill>
                  <a:srgbClr val="000000"/>
                </a:solidFill>
                <a:latin typeface="Consolas"/>
              </a:rPr>
              <a:t>cpp_end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( </a:t>
            </a:r>
            <a:r>
              <a:rPr lang="fr-FR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 (&amp;</a:t>
            </a:r>
            <a:r>
              <a:rPr lang="fr-FR" sz="1200" dirty="0">
                <a:solidFill>
                  <a:srgbClr val="808080"/>
                </a:solidFill>
                <a:latin typeface="Consolas"/>
              </a:rPr>
              <a:t>pole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)[N] ) {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return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pole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+ N;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</a:rPr>
              <a:t>char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pole[] =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"pes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pl-PL" sz="12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d</a:t>
            </a:r>
            <a:r>
              <a:rPr lang="cs-CZ" sz="1200" dirty="0" smtClean="0">
                <a:solidFill>
                  <a:srgbClr val="008000"/>
                </a:solidFill>
                <a:latin typeface="Consolas"/>
              </a:rPr>
              <a:t>élka pole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cpp_end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(pole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)-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cpp_begin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(pole) </a:t>
            </a:r>
            <a:r>
              <a:rPr lang="en-US" sz="1200" dirty="0" smtClean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'\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n'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700808"/>
            <a:ext cx="4041775" cy="4425355"/>
          </a:xfrm>
        </p:spPr>
        <p:txBody>
          <a:bodyPr/>
          <a:lstStyle/>
          <a:p>
            <a:pPr marL="0" indent="0">
              <a:buNone/>
            </a:pPr>
            <a:r>
              <a:rPr lang="cs-CZ" dirty="0" smtClean="0"/>
              <a:t>Degradace typu je občas žádoucí.</a:t>
            </a:r>
          </a:p>
          <a:p>
            <a:pPr marL="0" indent="0">
              <a:buNone/>
            </a:pPr>
            <a:endParaRPr lang="cs-CZ" sz="1200" dirty="0" smtClean="0">
              <a:solidFill>
                <a:srgbClr val="0000FF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&lt;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&gt;</a:t>
            </a:r>
          </a:p>
          <a:p>
            <a:pPr marL="0" indent="0">
              <a:buNone/>
            </a:pPr>
            <a:r>
              <a:rPr lang="fr-FR" sz="1200" dirty="0" err="1">
                <a:solidFill>
                  <a:srgbClr val="0000FF"/>
                </a:solidFill>
                <a:latin typeface="Consolas"/>
              </a:rPr>
              <a:t>void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200" dirty="0" err="1" smtClean="0">
                <a:solidFill>
                  <a:srgbClr val="000000"/>
                </a:solidFill>
                <a:latin typeface="Consolas"/>
              </a:rPr>
              <a:t>print_pair</a:t>
            </a:r>
            <a:r>
              <a:rPr lang="fr-FR" sz="12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200" dirty="0" err="1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fr-FR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fr-FR" sz="12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fr-FR" sz="12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fr-FR" sz="12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cs-CZ" sz="12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' '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'\n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endParaRPr lang="en-US" sz="12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pl-PL" sz="12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OK: T=</a:t>
            </a:r>
            <a:r>
              <a:rPr lang="en-US" sz="1200" dirty="0" err="1" smtClean="0">
                <a:solidFill>
                  <a:srgbClr val="008000"/>
                </a:solidFill>
                <a:latin typeface="Consolas"/>
              </a:rPr>
              <a:t>const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 char[4]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print_pair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"les"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"pes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pl-PL" sz="12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ERROR: </a:t>
            </a:r>
            <a:r>
              <a:rPr lang="en-US" sz="1200" dirty="0" err="1" smtClean="0">
                <a:solidFill>
                  <a:srgbClr val="008000"/>
                </a:solidFill>
                <a:latin typeface="Consolas"/>
              </a:rPr>
              <a:t>const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 char[4] vs. </a:t>
            </a:r>
            <a:r>
              <a:rPr lang="en-US" sz="1200" dirty="0" err="1" smtClean="0">
                <a:solidFill>
                  <a:srgbClr val="008000"/>
                </a:solidFill>
                <a:latin typeface="Consolas"/>
              </a:rPr>
              <a:t>const</a:t>
            </a:r>
            <a:r>
              <a:rPr lang="en-US" sz="1200" dirty="0" smtClean="0">
                <a:solidFill>
                  <a:srgbClr val="008000"/>
                </a:solidFill>
                <a:latin typeface="Consolas"/>
              </a:rPr>
              <a:t> char[5]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000000"/>
                </a:solidFill>
                <a:latin typeface="Consolas"/>
              </a:rPr>
              <a:t>print_pair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"les"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200" dirty="0" err="1" smtClean="0">
                <a:solidFill>
                  <a:srgbClr val="A31515"/>
                </a:solidFill>
                <a:latin typeface="Consolas"/>
              </a:rPr>
              <a:t>ples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AA7E382-DCE6-447B-9B81-786CA32CAA56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6FE532-F6D5-4CE3-8202-EBBC50D1625E}" type="slidenum">
              <a:rPr lang="cs-CZ" smtClean="0"/>
              <a:pPr>
                <a:defRPr/>
              </a:pPr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5660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Šablony tříd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&gt;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Stack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pPr marL="0" indent="0">
              <a:buNone/>
            </a:pPr>
            <a:r>
              <a:rPr lang="cs-CZ" sz="1200" dirty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bool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empty() 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cs-CZ" sz="1200" dirty="0">
                <a:solidFill>
                  <a:srgbClr val="0000FF"/>
                </a:solidFill>
                <a:latin typeface="Consolas"/>
              </a:rPr>
              <a:t>   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m_data.empty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cs-CZ" sz="1200" dirty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cs-CZ" sz="1200" dirty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pop() {</a:t>
            </a:r>
          </a:p>
          <a:p>
            <a:pPr marL="0" indent="0">
              <a:buNone/>
            </a:pPr>
            <a:r>
              <a:rPr lang="cs-CZ" sz="12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m_data.pop_back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cs-CZ" sz="1200" dirty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cs-CZ" sz="1200" dirty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push(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cs-CZ" sz="1200" dirty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m_data.push_back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cs-CZ" sz="1200" dirty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cs-CZ" sz="1200" dirty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&amp; top() 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cs-CZ" sz="1200" dirty="0">
                <a:solidFill>
                  <a:srgbClr val="0000FF"/>
                </a:solidFill>
                <a:latin typeface="Consolas"/>
              </a:rPr>
              <a:t>     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m_data.back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cs-CZ" sz="1200" dirty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pPr marL="0" indent="0">
              <a:buNone/>
            </a:pPr>
            <a:r>
              <a:rPr lang="cs-CZ" sz="1200" dirty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vector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m_data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200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dirty="0" smtClean="0"/>
              <a:t>Typový parametr </a:t>
            </a:r>
            <a:r>
              <a:rPr lang="en-US" dirty="0">
                <a:solidFill>
                  <a:srgbClr val="2B91AF"/>
                </a:solidFill>
                <a:latin typeface="Consolas"/>
              </a:rPr>
              <a:t>T</a:t>
            </a:r>
            <a:r>
              <a:rPr lang="cs-CZ" dirty="0" smtClean="0"/>
              <a:t> lze použít jako jakýkoli jiný typ pro deklaraci atributů, parametrů, atd.</a:t>
            </a:r>
          </a:p>
          <a:p>
            <a:r>
              <a:rPr lang="cs-CZ" dirty="0" smtClean="0"/>
              <a:t>Implementaci metod nejčastěji provádíte uvnitř třídy.</a:t>
            </a:r>
          </a:p>
          <a:p>
            <a:r>
              <a:rPr lang="cs-CZ" dirty="0" smtClean="0"/>
              <a:t>Šablonové třídy nemůžou být lokální.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5540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Použití šablonových </a:t>
            </a:r>
            <a:r>
              <a:rPr lang="cs-CZ" dirty="0"/>
              <a:t>tříd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2B91AF"/>
                </a:solidFill>
                <a:latin typeface="Consolas"/>
              </a:rPr>
              <a:t>Stack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0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&gt; a;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Consolas"/>
              </a:rPr>
              <a:t>a.push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(42);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a.top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/>
              </a:rPr>
              <a:t>'\n'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2B91AF"/>
                </a:solidFill>
                <a:latin typeface="Consolas"/>
              </a:rPr>
              <a:t>Stack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000" dirty="0">
                <a:solidFill>
                  <a:srgbClr val="2B91AF"/>
                </a:solidFill>
                <a:latin typeface="Consolas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&gt; b;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Consolas"/>
              </a:rPr>
              <a:t>b.push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A31515"/>
                </a:solidFill>
                <a:latin typeface="Consolas"/>
              </a:rPr>
              <a:t>"pes"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b.top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A31515"/>
                </a:solidFill>
                <a:latin typeface="Consolas"/>
              </a:rPr>
              <a:t>'\n</a:t>
            </a:r>
            <a:r>
              <a:rPr lang="en-US" sz="2000" dirty="0" smtClean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cs-CZ" sz="20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b.</a:t>
            </a:r>
            <a:r>
              <a:rPr lang="cs-CZ" sz="2000" dirty="0" smtClean="0">
                <a:solidFill>
                  <a:srgbClr val="000000"/>
                </a:solidFill>
                <a:latin typeface="Consolas"/>
              </a:rPr>
              <a:t>p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op()</a:t>
            </a:r>
            <a:r>
              <a:rPr lang="cs-CZ" sz="2000" dirty="0">
                <a:solidFill>
                  <a:srgbClr val="000000"/>
                </a:solidFill>
                <a:latin typeface="Consolas"/>
              </a:rPr>
              <a:t>;</a:t>
            </a:r>
            <a:endParaRPr lang="en-US" sz="20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 smtClean="0"/>
              <a:t>T</a:t>
            </a:r>
            <a:r>
              <a:rPr lang="cs-CZ" sz="2400" dirty="0" smtClean="0"/>
              <a:t>řídy </a:t>
            </a:r>
            <a:r>
              <a:rPr lang="en-US" sz="2400" dirty="0">
                <a:solidFill>
                  <a:srgbClr val="2B91AF"/>
                </a:solidFill>
                <a:latin typeface="Consolas"/>
              </a:rPr>
              <a:t>Stack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cs-CZ" sz="2400" dirty="0" smtClean="0"/>
              <a:t>a</a:t>
            </a:r>
            <a:r>
              <a:rPr lang="cs-CZ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onsolas"/>
              </a:rPr>
              <a:t>Stack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onsolas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cs-CZ" sz="2400" dirty="0" smtClean="0"/>
              <a:t>sice patří do stejné rodiny, ale navzájem jsou nekompatibilní.</a:t>
            </a:r>
          </a:p>
          <a:p>
            <a:r>
              <a:rPr lang="cs-CZ" sz="2400" dirty="0" smtClean="0"/>
              <a:t>Překladač generuje kód jenom pro použité metody. Metoda </a:t>
            </a:r>
            <a:r>
              <a:rPr lang="cs-CZ" sz="2400" dirty="0">
                <a:solidFill>
                  <a:srgbClr val="000000"/>
                </a:solidFill>
                <a:latin typeface="Consolas"/>
              </a:rPr>
              <a:t>p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op</a:t>
            </a:r>
            <a:r>
              <a:rPr lang="cs-CZ" sz="2400" dirty="0" smtClean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cs-CZ" sz="2400" dirty="0" smtClean="0"/>
              <a:t>je generována jen pro </a:t>
            </a:r>
            <a:r>
              <a:rPr lang="en-US" sz="2400" dirty="0">
                <a:solidFill>
                  <a:srgbClr val="2B91AF"/>
                </a:solidFill>
                <a:latin typeface="Consolas"/>
              </a:rPr>
              <a:t>Stack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400" dirty="0">
                <a:solidFill>
                  <a:srgbClr val="2B91AF"/>
                </a:solidFill>
                <a:latin typeface="Consolas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&gt;</a:t>
            </a:r>
            <a:r>
              <a:rPr lang="cs-CZ" sz="2400" dirty="0" smtClean="0"/>
              <a:t>.</a:t>
            </a:r>
            <a:endParaRPr lang="en-US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1361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Výchozí hodnoty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&lt; 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</a:t>
            </a: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Container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vector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&gt;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Stack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   bool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empty() </a:t>
            </a:r>
            <a:r>
              <a:rPr lang="en-US" sz="14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pop();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push(</a:t>
            </a:r>
            <a:r>
              <a:rPr lang="en-US" sz="14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400" dirty="0">
                <a:solidFill>
                  <a:srgbClr val="808080"/>
                </a:solidFill>
                <a:latin typeface="Consolas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400" dirty="0" err="1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&amp; top() </a:t>
            </a:r>
            <a:r>
              <a:rPr lang="en-US" sz="14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2B91AF"/>
                </a:solidFill>
                <a:latin typeface="Consolas"/>
              </a:rPr>
              <a:t>   Container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m_data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pPr marL="0" indent="0">
              <a:buNone/>
            </a:pP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2B91AF"/>
                </a:solidFill>
                <a:latin typeface="Consolas"/>
              </a:rPr>
              <a:t>Stack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400" dirty="0" err="1" smtClean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&gt; a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B91AF"/>
                </a:solidFill>
                <a:latin typeface="Consolas"/>
              </a:rPr>
              <a:t>Stack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std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400" dirty="0" smtClean="0">
                <a:solidFill>
                  <a:srgbClr val="2B91AF"/>
                </a:solidFill>
                <a:latin typeface="Consolas"/>
              </a:rPr>
              <a:t>list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400" dirty="0" err="1" smtClean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&gt;&gt; 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b;</a:t>
            </a:r>
            <a:endParaRPr lang="en-US" sz="1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 smtClean="0"/>
              <a:t>T</a:t>
            </a:r>
            <a:r>
              <a:rPr lang="cs-CZ" sz="2000" dirty="0" smtClean="0"/>
              <a:t>řída </a:t>
            </a:r>
            <a:r>
              <a:rPr lang="en-US" sz="2000" dirty="0">
                <a:solidFill>
                  <a:srgbClr val="2B91AF"/>
                </a:solidFill>
                <a:latin typeface="Consolas"/>
              </a:rPr>
              <a:t>Stack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0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cs-CZ" sz="2000" dirty="0" smtClean="0"/>
              <a:t>používá kontejner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std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2000" dirty="0">
                <a:solidFill>
                  <a:srgbClr val="2B91AF"/>
                </a:solidFill>
                <a:latin typeface="Consolas"/>
              </a:rPr>
              <a:t>vector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0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cs-CZ" sz="2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cs-CZ" sz="2000" dirty="0" smtClean="0"/>
              <a:t>specifikovaný výchozí hodnotou.</a:t>
            </a:r>
          </a:p>
          <a:p>
            <a:r>
              <a:rPr lang="cs-CZ" sz="2000" dirty="0" smtClean="0"/>
              <a:t>Třída </a:t>
            </a:r>
            <a:r>
              <a:rPr lang="en-US" sz="2000" dirty="0" smtClean="0">
                <a:solidFill>
                  <a:srgbClr val="2B91AF"/>
                </a:solidFill>
                <a:latin typeface="Consolas"/>
              </a:rPr>
              <a:t>Stack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000" dirty="0" err="1" smtClean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std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2000" dirty="0">
                <a:solidFill>
                  <a:srgbClr val="2B91AF"/>
                </a:solidFill>
                <a:latin typeface="Consolas"/>
              </a:rPr>
              <a:t>list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0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&gt;&gt;</a:t>
            </a:r>
            <a:r>
              <a:rPr lang="cs-CZ" sz="2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cs-CZ" sz="2000" dirty="0" smtClean="0"/>
              <a:t>typ kontejneru určuje explicitně.</a:t>
            </a:r>
          </a:p>
          <a:p>
            <a:r>
              <a:rPr lang="cs-CZ" sz="2000" dirty="0" smtClean="0"/>
              <a:t>Před C++ 11 překladače generovaly chybu pro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&gt;&gt;</a:t>
            </a:r>
            <a:r>
              <a:rPr lang="cs-CZ" sz="2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cs-CZ" sz="2000" dirty="0" smtClean="0"/>
              <a:t>na konci seznamu parametrů. </a:t>
            </a:r>
          </a:p>
          <a:p>
            <a:r>
              <a:rPr lang="cs-CZ" sz="2000" dirty="0" smtClean="0"/>
              <a:t>Bylo nutné vložit bílý znak mezi úhlové závorky.</a:t>
            </a:r>
          </a:p>
          <a:p>
            <a:endParaRPr lang="en-US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00875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Šablonové aliasy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dirty="0" err="1">
                <a:solidFill>
                  <a:srgbClr val="0000FF"/>
                </a:solidFill>
                <a:latin typeface="Consolas"/>
              </a:rPr>
              <a:t>typedef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/>
              </a:rPr>
              <a:t>Stack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6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sz="1600" dirty="0" err="1">
                <a:solidFill>
                  <a:srgbClr val="2B91AF"/>
                </a:solidFill>
                <a:latin typeface="Consolas"/>
              </a:rPr>
              <a:t>IntStack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2B91AF"/>
                </a:solidFill>
                <a:latin typeface="Consolas"/>
              </a:rPr>
              <a:t>StringStack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smtClean="0">
                <a:solidFill>
                  <a:srgbClr val="2B91AF"/>
                </a:solidFill>
                <a:latin typeface="Consolas"/>
              </a:rPr>
              <a:t>Stack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2B91AF"/>
                </a:solidFill>
                <a:latin typeface="Consolas"/>
              </a:rPr>
              <a:t>string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&gt;;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&gt;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rgbClr val="0000FF"/>
                </a:solidFill>
                <a:latin typeface="Consolas"/>
              </a:rPr>
              <a:t>using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2B91AF"/>
                </a:solidFill>
                <a:latin typeface="Consolas"/>
              </a:rPr>
              <a:t>ListStack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2B91AF"/>
                </a:solidFill>
                <a:latin typeface="Consolas"/>
              </a:rPr>
              <a:t>Stack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 smtClean="0">
                <a:solidFill>
                  <a:srgbClr val="2B91AF"/>
                </a:solidFill>
                <a:latin typeface="Consolas"/>
              </a:rPr>
              <a:t>list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600" dirty="0" smtClean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600" dirty="0" smtClean="0">
                <a:solidFill>
                  <a:srgbClr val="000000"/>
                </a:solidFill>
                <a:latin typeface="Consolas"/>
              </a:rPr>
              <a:t>&gt;&gt;;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600" dirty="0" err="1">
                <a:solidFill>
                  <a:srgbClr val="2B91AF"/>
                </a:solidFill>
                <a:latin typeface="Consolas"/>
              </a:rPr>
              <a:t>IntStack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a;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2B91AF"/>
                </a:solidFill>
                <a:latin typeface="Consolas"/>
              </a:rPr>
              <a:t>StringStack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b;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2B91AF"/>
                </a:solidFill>
                <a:latin typeface="Consolas"/>
              </a:rPr>
              <a:t>ListStack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onsolas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&gt; c;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 smtClean="0"/>
              <a:t>Kl</a:t>
            </a:r>
            <a:r>
              <a:rPr lang="cs-CZ" sz="2400" dirty="0" smtClean="0"/>
              <a:t>íčové slovo </a:t>
            </a:r>
            <a:r>
              <a:rPr lang="en-US" sz="2400" dirty="0" err="1">
                <a:solidFill>
                  <a:srgbClr val="0000FF"/>
                </a:solidFill>
                <a:latin typeface="Consolas"/>
              </a:rPr>
              <a:t>typedef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cs-CZ" sz="2400" dirty="0" smtClean="0"/>
              <a:t>je považováno za C-style konstrukt.</a:t>
            </a:r>
          </a:p>
          <a:p>
            <a:r>
              <a:rPr lang="cs-CZ" sz="2400" dirty="0" smtClean="0"/>
              <a:t>Preferujte </a:t>
            </a:r>
            <a:r>
              <a:rPr lang="en-US" sz="2400" dirty="0">
                <a:solidFill>
                  <a:srgbClr val="0000FF"/>
                </a:solidFill>
                <a:latin typeface="Consolas"/>
              </a:rPr>
              <a:t>using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cs-CZ" sz="2400" dirty="0" smtClean="0"/>
              <a:t>konstrukci v C++11.</a:t>
            </a:r>
          </a:p>
          <a:p>
            <a:r>
              <a:rPr lang="cs-CZ" sz="2400" dirty="0" smtClean="0"/>
              <a:t>Typové aliasy zlepšují čitelnost zdrojového kódu.</a:t>
            </a:r>
          </a:p>
          <a:p>
            <a:pPr marL="0" indent="0">
              <a:buNone/>
            </a:pPr>
            <a:endParaRPr lang="cs-CZ" sz="2400" dirty="0" smtClean="0"/>
          </a:p>
          <a:p>
            <a:endParaRPr lang="en-US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2233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Šablonový parametr šablony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&lt; 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  class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  template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&lt;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class </a:t>
            </a:r>
            <a:r>
              <a:rPr lang="en-US" sz="1400" dirty="0" err="1" smtClean="0">
                <a:solidFill>
                  <a:srgbClr val="2B91AF"/>
                </a:solidFill>
                <a:latin typeface="Consolas"/>
              </a:rPr>
              <a:t>U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1400" dirty="0" err="1" smtClean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2B91AF"/>
                </a:solidFill>
                <a:latin typeface="Consolas"/>
              </a:rPr>
              <a:t>allocator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2B91AF"/>
                </a:solidFill>
                <a:latin typeface="Consolas"/>
              </a:rPr>
              <a:t>U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&gt;&gt;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Container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2B91AF"/>
                </a:solidFill>
                <a:latin typeface="Consolas"/>
              </a:rPr>
              <a:t>Stack</a:t>
            </a:r>
            <a:r>
              <a:rPr lang="cs-CZ" sz="1400" dirty="0" smtClean="0">
                <a:solidFill>
                  <a:srgbClr val="2B91AF"/>
                </a:solidFill>
                <a:latin typeface="Consolas"/>
              </a:rPr>
              <a:t>1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   bool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empty() </a:t>
            </a:r>
            <a:r>
              <a:rPr lang="en-US" sz="14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pop();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push(</a:t>
            </a:r>
            <a:r>
              <a:rPr lang="en-US" sz="14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400" dirty="0">
                <a:solidFill>
                  <a:srgbClr val="808080"/>
                </a:solidFill>
                <a:latin typeface="Consolas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400" dirty="0" err="1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&amp; top() </a:t>
            </a:r>
            <a:r>
              <a:rPr lang="en-US" sz="14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2B91AF"/>
                </a:solidFill>
                <a:latin typeface="Consolas"/>
              </a:rPr>
              <a:t>   Container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m_data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2B91AF"/>
                </a:solidFill>
                <a:latin typeface="Consolas"/>
              </a:rPr>
              <a:t>Stack</a:t>
            </a:r>
            <a:r>
              <a:rPr lang="cs-CZ" sz="1400" dirty="0" smtClean="0">
                <a:solidFill>
                  <a:srgbClr val="2B91AF"/>
                </a:solidFill>
                <a:latin typeface="Consolas"/>
              </a:rPr>
              <a:t>1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400" dirty="0" err="1" smtClean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vector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&gt; a;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00"/>
                </a:solidFill>
                <a:latin typeface="Consolas"/>
              </a:rPr>
              <a:t>a.push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(10);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 smtClean="0"/>
              <a:t>P</a:t>
            </a:r>
            <a:r>
              <a:rPr lang="cs-CZ" sz="2400" dirty="0" smtClean="0"/>
              <a:t>ři použití šablonového parametru šablony uživatel nemusí dvakrát přepisovat typ elementu při instanciaci šablony.</a:t>
            </a:r>
          </a:p>
          <a:p>
            <a:r>
              <a:rPr lang="cs-CZ" sz="2400" dirty="0" smtClean="0"/>
              <a:t>Srovnej </a:t>
            </a:r>
          </a:p>
          <a:p>
            <a:pPr marL="400050" lvl="1" indent="0">
              <a:buNone/>
            </a:pPr>
            <a:r>
              <a:rPr lang="en-US" sz="2000" dirty="0" smtClean="0">
                <a:solidFill>
                  <a:srgbClr val="2B91AF"/>
                </a:solidFill>
                <a:latin typeface="Consolas"/>
              </a:rPr>
              <a:t>Stack</a:t>
            </a:r>
            <a:r>
              <a:rPr lang="cs-CZ" sz="2000" dirty="0">
                <a:solidFill>
                  <a:srgbClr val="2B91AF"/>
                </a:solidFill>
                <a:latin typeface="Consolas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0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>
                <a:solidFill>
                  <a:srgbClr val="2B91AF"/>
                </a:solidFill>
                <a:latin typeface="Consolas"/>
              </a:rPr>
              <a:t>vector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&gt; a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cs-CZ" sz="2000" dirty="0" smtClean="0">
              <a:solidFill>
                <a:srgbClr val="000000"/>
              </a:solidFill>
              <a:latin typeface="Consolas"/>
            </a:endParaRPr>
          </a:p>
          <a:p>
            <a:pPr marL="400050" lvl="1" indent="0">
              <a:buNone/>
            </a:pPr>
            <a:r>
              <a:rPr lang="en-US" sz="2000" dirty="0">
                <a:solidFill>
                  <a:srgbClr val="2B91AF"/>
                </a:solidFill>
                <a:latin typeface="Consolas"/>
              </a:rPr>
              <a:t>Stack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0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2B91AF"/>
                </a:solidFill>
                <a:latin typeface="Consolas"/>
              </a:rPr>
              <a:t>list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000" dirty="0" err="1" smtClean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&gt;&gt; b;</a:t>
            </a:r>
            <a:endParaRPr lang="en-US" sz="2000" dirty="0"/>
          </a:p>
          <a:p>
            <a:pPr marL="400050" lvl="1" indent="0">
              <a:buNone/>
            </a:pPr>
            <a:endParaRPr lang="en-US" sz="2000" dirty="0">
              <a:solidFill>
                <a:srgbClr val="000000"/>
              </a:solidFill>
              <a:latin typeface="Consolas"/>
            </a:endParaRPr>
          </a:p>
          <a:p>
            <a:endParaRPr lang="cs-CZ" sz="2400" dirty="0" smtClean="0"/>
          </a:p>
          <a:p>
            <a:endParaRPr lang="en-US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13, 2018</a:t>
            </a:fld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6859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Netypové parametry šablony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sz="2800" dirty="0" smtClean="0"/>
              <a:t>Parametrem šablony může být:</a:t>
            </a:r>
          </a:p>
          <a:p>
            <a:r>
              <a:rPr lang="cs-CZ" sz="2800" dirty="0" smtClean="0"/>
              <a:t>Hodnota integrálního nebo výčtového typu.</a:t>
            </a:r>
          </a:p>
          <a:p>
            <a:r>
              <a:rPr lang="cs-CZ" sz="2800" dirty="0" smtClean="0"/>
              <a:t>Ukazatel na objekt nebo funkci.</a:t>
            </a:r>
          </a:p>
          <a:p>
            <a:r>
              <a:rPr lang="cs-CZ" sz="2800" dirty="0" smtClean="0"/>
              <a:t>Reference na objekt nebo funkci.</a:t>
            </a:r>
          </a:p>
          <a:p>
            <a:r>
              <a:rPr lang="cs-CZ" sz="2800" dirty="0" smtClean="0"/>
              <a:t>Ukazatel na člena třídy.</a:t>
            </a:r>
          </a:p>
          <a:p>
            <a:r>
              <a:rPr lang="cs-CZ" sz="2800" dirty="0" smtClean="0"/>
              <a:t>std::nullptr</a:t>
            </a:r>
            <a:r>
              <a:rPr lang="en-US" sz="2800" dirty="0" smtClean="0"/>
              <a:t>_t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2040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Netypový parametr: konstanta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&lt; </a:t>
            </a: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, </a:t>
            </a: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800" dirty="0" err="1" smtClean="0">
                <a:solidFill>
                  <a:srgbClr val="2B91AF"/>
                </a:solidFill>
                <a:latin typeface="Consolas"/>
              </a:rPr>
              <a:t>size_t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N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&gt;</a:t>
            </a:r>
            <a:endParaRPr lang="en-US" sz="1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onsolas"/>
              </a:rPr>
              <a:t>FixedStack</a:t>
            </a:r>
            <a:endParaRPr lang="en-US" sz="1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push(</a:t>
            </a:r>
            <a:r>
              <a:rPr lang="en-US" sz="18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800" dirty="0">
                <a:solidFill>
                  <a:srgbClr val="808080"/>
                </a:solidFill>
                <a:latin typeface="Consolas"/>
              </a:rPr>
              <a:t>data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2B91AF"/>
                </a:solidFill>
                <a:latin typeface="Consolas"/>
              </a:rPr>
              <a:t>   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m_data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[N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];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size_t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m_size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;</a:t>
            </a:r>
            <a:endParaRPr lang="en-US" sz="1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</a:rPr>
              <a:t>};</a:t>
            </a:r>
            <a:endParaRPr lang="en-US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 err="1" smtClean="0"/>
              <a:t>Nej</a:t>
            </a:r>
            <a:r>
              <a:rPr lang="cs-CZ" sz="2400" dirty="0" smtClean="0"/>
              <a:t>častějším netypovým parametrem šablony je integrální konstanta známá v době překladu.</a:t>
            </a:r>
          </a:p>
          <a:p>
            <a:r>
              <a:rPr lang="cs-CZ" sz="2400" dirty="0" smtClean="0"/>
              <a:t>V našem případě určuje velikost pole obsaženého uvnitř instance.</a:t>
            </a:r>
          </a:p>
          <a:p>
            <a:r>
              <a:rPr lang="cs-CZ" sz="2400" dirty="0" smtClean="0"/>
              <a:t>Podobn</a:t>
            </a:r>
            <a:r>
              <a:rPr lang="cs-CZ" sz="2400" dirty="0"/>
              <a:t>ě</a:t>
            </a:r>
            <a:r>
              <a:rPr lang="cs-CZ" sz="2400" dirty="0" smtClean="0"/>
              <a:t> funguje třída std</a:t>
            </a:r>
            <a:r>
              <a:rPr lang="en-US" sz="2400" dirty="0" smtClean="0"/>
              <a:t>::array.</a:t>
            </a:r>
            <a:endParaRPr lang="en-US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12, 2018</a:t>
            </a:fld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8033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Variadick</a:t>
            </a:r>
            <a:r>
              <a:rPr lang="cs-CZ" dirty="0"/>
              <a:t>é šablony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/>
              </a:rPr>
              <a:t>// base case</a:t>
            </a:r>
            <a:endParaRPr lang="en-US" sz="1400" dirty="0" smtClean="0">
              <a:solidFill>
                <a:srgbClr val="0000FF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&lt; </a:t>
            </a:r>
            <a:r>
              <a:rPr lang="en-US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&gt;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print(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&lt;&lt; </a:t>
            </a:r>
            <a:r>
              <a:rPr lang="en-US" sz="1400" dirty="0">
                <a:solidFill>
                  <a:srgbClr val="808080"/>
                </a:solidFill>
                <a:latin typeface="Consolas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&lt;&lt; 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'\n'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endParaRPr lang="en-US" sz="14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8000"/>
                </a:solidFill>
                <a:latin typeface="Consolas"/>
              </a:rPr>
              <a:t>// general case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US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... </a:t>
            </a:r>
            <a:r>
              <a:rPr lang="en-US" sz="1400" dirty="0" err="1" smtClean="0">
                <a:solidFill>
                  <a:srgbClr val="2B91AF"/>
                </a:solidFill>
                <a:latin typeface="Consolas"/>
              </a:rPr>
              <a:t>Args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&gt;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print(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/>
              </a:rPr>
              <a:t>first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400" dirty="0" err="1">
                <a:solidFill>
                  <a:srgbClr val="2B91AF"/>
                </a:solidFill>
                <a:latin typeface="Consolas"/>
              </a:rPr>
              <a:t>Args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... </a:t>
            </a:r>
            <a:r>
              <a:rPr lang="en-US" sz="1400" dirty="0" err="1" smtClean="0">
                <a:solidFill>
                  <a:srgbClr val="808080"/>
                </a:solidFill>
                <a:latin typeface="Consolas"/>
              </a:rPr>
              <a:t>args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)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print(</a:t>
            </a:r>
            <a:r>
              <a:rPr lang="en-US" sz="1400" dirty="0" smtClean="0">
                <a:solidFill>
                  <a:srgbClr val="808080"/>
                </a:solidFill>
                <a:latin typeface="Consolas"/>
              </a:rPr>
              <a:t>first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print(</a:t>
            </a:r>
            <a:r>
              <a:rPr lang="en-US" sz="1400" dirty="0" err="1">
                <a:solidFill>
                  <a:srgbClr val="808080"/>
                </a:solidFill>
                <a:latin typeface="Consolas"/>
              </a:rPr>
              <a:t>args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...);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print(1, 3.14, 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/>
              </a:rPr>
              <a:t>Ahoj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);</a:t>
            </a:r>
            <a:endParaRPr lang="en-US" sz="1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sz="2000" dirty="0" smtClean="0"/>
              <a:t>Termín </a:t>
            </a:r>
            <a:r>
              <a:rPr lang="en-US" sz="2000" dirty="0" smtClean="0"/>
              <a:t>“</a:t>
            </a:r>
            <a:r>
              <a:rPr lang="cs-CZ" sz="2000" i="1" dirty="0" smtClean="0"/>
              <a:t>template parameter pack</a:t>
            </a:r>
            <a:r>
              <a:rPr lang="en-US" sz="2000" dirty="0" smtClean="0"/>
              <a:t>”</a:t>
            </a:r>
            <a:r>
              <a:rPr lang="cs-CZ" sz="2000" dirty="0" smtClean="0"/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... </a:t>
            </a:r>
            <a:r>
              <a:rPr lang="en-US" sz="2000" dirty="0" err="1" smtClean="0">
                <a:solidFill>
                  <a:srgbClr val="2B91AF"/>
                </a:solidFill>
                <a:latin typeface="Consolas"/>
              </a:rPr>
              <a:t>Args</a:t>
            </a:r>
            <a:endParaRPr lang="en-US" sz="2000" dirty="0" smtClean="0">
              <a:solidFill>
                <a:srgbClr val="2B91AF"/>
              </a:solidFill>
              <a:latin typeface="Consolas"/>
            </a:endParaRPr>
          </a:p>
          <a:p>
            <a:r>
              <a:rPr lang="cs-CZ" sz="2000" dirty="0"/>
              <a:t>Termín </a:t>
            </a:r>
            <a:r>
              <a:rPr lang="en-US" sz="2000" dirty="0" smtClean="0"/>
              <a:t>“</a:t>
            </a:r>
            <a:r>
              <a:rPr lang="en-US" sz="2000" i="1" dirty="0" smtClean="0"/>
              <a:t>function </a:t>
            </a:r>
            <a:r>
              <a:rPr lang="cs-CZ" sz="2000" i="1" dirty="0" smtClean="0"/>
              <a:t>parameter </a:t>
            </a:r>
            <a:r>
              <a:rPr lang="cs-CZ" sz="2000" i="1" dirty="0"/>
              <a:t>pack</a:t>
            </a:r>
            <a:r>
              <a:rPr lang="en-US" sz="2000" dirty="0" smtClean="0"/>
              <a:t>” </a:t>
            </a:r>
            <a:r>
              <a:rPr lang="en-US" sz="2000" dirty="0" err="1">
                <a:solidFill>
                  <a:srgbClr val="2B91AF"/>
                </a:solidFill>
                <a:latin typeface="Consolas"/>
              </a:rPr>
              <a:t>Args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... </a:t>
            </a:r>
            <a:r>
              <a:rPr lang="en-US" sz="2000" dirty="0" err="1" smtClean="0">
                <a:solidFill>
                  <a:srgbClr val="808080"/>
                </a:solidFill>
                <a:latin typeface="Consolas"/>
              </a:rPr>
              <a:t>Arg</a:t>
            </a:r>
            <a:endParaRPr lang="en-US" sz="2000" dirty="0" smtClean="0">
              <a:solidFill>
                <a:srgbClr val="808080"/>
              </a:solidFill>
              <a:latin typeface="Consolas"/>
            </a:endParaRPr>
          </a:p>
          <a:p>
            <a:r>
              <a:rPr lang="en-US" sz="2000" dirty="0" err="1"/>
              <a:t>Proces</a:t>
            </a:r>
            <a:r>
              <a:rPr lang="en-US" sz="2000" dirty="0"/>
              <a:t> </a:t>
            </a:r>
            <a:r>
              <a:rPr lang="en-US" sz="2000" dirty="0" err="1"/>
              <a:t>funguje</a:t>
            </a:r>
            <a:r>
              <a:rPr lang="en-US" sz="2000" dirty="0"/>
              <a:t> </a:t>
            </a:r>
            <a:r>
              <a:rPr lang="en-US" sz="2000" dirty="0" err="1" smtClean="0"/>
              <a:t>jakoby</a:t>
            </a:r>
            <a:r>
              <a:rPr lang="en-US" sz="2000" dirty="0" smtClean="0"/>
              <a:t> </a:t>
            </a:r>
            <a:r>
              <a:rPr lang="en-US" sz="2000" dirty="0" err="1" smtClean="0"/>
              <a:t>rekurzivn</a:t>
            </a:r>
            <a:r>
              <a:rPr lang="cs-CZ" sz="2000" dirty="0" smtClean="0"/>
              <a:t>ě</a:t>
            </a:r>
          </a:p>
          <a:p>
            <a:pPr marL="0" indent="0">
              <a:buNone/>
            </a:pPr>
            <a:endParaRPr lang="cs-CZ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print&lt;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int,double,const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*&gt;</a:t>
            </a:r>
            <a:r>
              <a:rPr lang="cs-CZ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general</a:t>
            </a:r>
          </a:p>
          <a:p>
            <a:pPr marL="0" indent="0">
              <a:buNone/>
            </a:pP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print&lt;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cs-CZ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base</a:t>
            </a:r>
          </a:p>
          <a:p>
            <a:pPr marL="0" lvl="0" indent="0">
              <a:buNone/>
            </a:pPr>
            <a:endParaRPr lang="cs-CZ" sz="1200" dirty="0" smtClean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print&lt;</a:t>
            </a:r>
            <a:r>
              <a:rPr lang="en-US" sz="1200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double,const</a:t>
            </a:r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char*&gt;</a:t>
            </a:r>
            <a:r>
              <a:rPr lang="cs-CZ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general</a:t>
            </a:r>
          </a:p>
          <a:p>
            <a:pPr marL="0" lv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print&lt;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cs-CZ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cs-CZ" sz="12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</a:p>
          <a:p>
            <a:pPr marL="0" lvl="0" indent="0">
              <a:buNone/>
            </a:pPr>
            <a:endParaRPr lang="cs-CZ" sz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print&lt;</a:t>
            </a:r>
            <a:r>
              <a:rPr lang="en-US" sz="1200" dirty="0" err="1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1200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char*&gt;</a:t>
            </a:r>
            <a:r>
              <a:rPr lang="cs-CZ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cs-CZ" sz="1200" dirty="0" smtClean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base</a:t>
            </a:r>
          </a:p>
          <a:p>
            <a:r>
              <a:rPr lang="cs-CZ" sz="2000" dirty="0" smtClean="0"/>
              <a:t>Sekvence volání je </a:t>
            </a:r>
            <a:r>
              <a:rPr lang="en-US" sz="2000" dirty="0" smtClean="0"/>
              <a:t>v</a:t>
            </a:r>
            <a:r>
              <a:rPr lang="cs-CZ" sz="2000" dirty="0" smtClean="0"/>
              <a:t>š</a:t>
            </a:r>
            <a:r>
              <a:rPr lang="en-US" sz="2000" dirty="0" err="1" smtClean="0"/>
              <a:t>ak</a:t>
            </a:r>
            <a:r>
              <a:rPr lang="en-US" sz="2000" dirty="0" smtClean="0"/>
              <a:t> </a:t>
            </a:r>
            <a:r>
              <a:rPr lang="cs-CZ" sz="2000" dirty="0" smtClean="0"/>
              <a:t>připravená v době kompilace. Žádný runtime loop.</a:t>
            </a:r>
            <a:endParaRPr lang="cs-CZ" sz="2000" dirty="0"/>
          </a:p>
          <a:p>
            <a:endParaRPr lang="en-US" sz="2000" dirty="0" smtClean="0">
              <a:solidFill>
                <a:srgbClr val="808080"/>
              </a:solidFill>
              <a:latin typeface="Consola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396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Šablonové proměnné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800" dirty="0" err="1" smtClean="0">
                <a:solidFill>
                  <a:srgbClr val="0000FF"/>
                </a:solidFill>
                <a:latin typeface="Consolas"/>
              </a:rPr>
              <a:t>typename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/>
              </a:rPr>
              <a:t>double</a:t>
            </a:r>
            <a:r>
              <a:rPr lang="cs-CZ" sz="1800" dirty="0" smtClean="0">
                <a:solidFill>
                  <a:srgbClr val="2B91AF"/>
                </a:solidFill>
                <a:latin typeface="Consolas"/>
              </a:rPr>
              <a:t> 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&gt;</a:t>
            </a:r>
            <a:endParaRPr lang="en-US" sz="1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0000FF"/>
                </a:solidFill>
                <a:latin typeface="Consolas"/>
              </a:rPr>
              <a:t>constexpr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PI{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800" dirty="0" err="1" smtClean="0">
                <a:solidFill>
                  <a:srgbClr val="0000FF"/>
                </a:solidFill>
                <a:latin typeface="Consolas"/>
              </a:rPr>
              <a:t>static_cast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800" dirty="0" smtClean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     (3.1415926535897932385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};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8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PI&lt;</a:t>
            </a:r>
            <a:r>
              <a:rPr lang="en-US" sz="1800" dirty="0">
                <a:solidFill>
                  <a:srgbClr val="0000FF"/>
                </a:solidFill>
                <a:latin typeface="Consolas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sz="18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/>
              </a:rPr>
              <a:t>'\n'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PI&lt;</a:t>
            </a:r>
            <a:r>
              <a:rPr lang="en-US" sz="1800" dirty="0">
                <a:solidFill>
                  <a:srgbClr val="0000FF"/>
                </a:solidFill>
                <a:latin typeface="Consolas"/>
              </a:rPr>
              <a:t>float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sz="18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/>
              </a:rPr>
              <a:t>'\n'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PI&lt;</a:t>
            </a:r>
            <a:r>
              <a:rPr lang="en-US" sz="18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sz="18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/>
              </a:rPr>
              <a:t>'\n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'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PI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&lt;&gt; </a:t>
            </a:r>
            <a:r>
              <a:rPr lang="en-US" sz="18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>
                <a:solidFill>
                  <a:srgbClr val="A31515"/>
                </a:solidFill>
                <a:latin typeface="Consolas"/>
              </a:rPr>
              <a:t>'\n'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 smtClean="0"/>
              <a:t>Prom</a:t>
            </a:r>
            <a:r>
              <a:rPr lang="cs-CZ" sz="2000" dirty="0" smtClean="0"/>
              <a:t>ěnné mohou být parametrizovány typem počínaje C++ 14 .</a:t>
            </a:r>
          </a:p>
          <a:p>
            <a:r>
              <a:rPr lang="cs-CZ" sz="2000" dirty="0" smtClean="0"/>
              <a:t>Šablonové proměnné nesmí být lokální, stejně jako všechny ostatní šablony.</a:t>
            </a:r>
            <a:endParaRPr lang="en-US" sz="2000" dirty="0" smtClean="0"/>
          </a:p>
          <a:p>
            <a:r>
              <a:rPr lang="cs-CZ" sz="2000" dirty="0"/>
              <a:t>Šablonové </a:t>
            </a:r>
            <a:r>
              <a:rPr lang="cs-CZ" sz="2000" dirty="0" smtClean="0"/>
              <a:t>proměnné</a:t>
            </a:r>
            <a:r>
              <a:rPr lang="en-US" sz="2000" dirty="0" smtClean="0"/>
              <a:t> </a:t>
            </a:r>
            <a:r>
              <a:rPr lang="en-US" sz="2000" dirty="0" err="1" smtClean="0"/>
              <a:t>jsou</a:t>
            </a:r>
            <a:r>
              <a:rPr lang="en-US" sz="2000" dirty="0" smtClean="0"/>
              <a:t> </a:t>
            </a:r>
            <a:r>
              <a:rPr lang="cs-CZ" sz="2000" dirty="0" smtClean="0"/>
              <a:t>č</a:t>
            </a:r>
            <a:r>
              <a:rPr lang="en-US" sz="2000" dirty="0" err="1" smtClean="0"/>
              <a:t>asto</a:t>
            </a:r>
            <a:r>
              <a:rPr lang="en-US" sz="2000" dirty="0" smtClean="0"/>
              <a:t> </a:t>
            </a:r>
            <a:r>
              <a:rPr lang="en-US" sz="2000" dirty="0" err="1" smtClean="0"/>
              <a:t>statick</a:t>
            </a:r>
            <a:r>
              <a:rPr lang="cs-CZ" sz="2000" dirty="0" smtClean="0"/>
              <a:t>é</a:t>
            </a:r>
            <a:r>
              <a:rPr lang="en-US" sz="2000" dirty="0" smtClean="0"/>
              <a:t> </a:t>
            </a:r>
            <a:r>
              <a:rPr lang="cs-CZ" sz="2000" dirty="0" smtClean="0"/>
              <a:t>č</a:t>
            </a:r>
            <a:r>
              <a:rPr lang="en-US" sz="2000" dirty="0" err="1" smtClean="0"/>
              <a:t>len</a:t>
            </a:r>
            <a:r>
              <a:rPr lang="cs-CZ" sz="2000" dirty="0" smtClean="0"/>
              <a:t>ské proměnné. Před C++ 14, bylo nutné použít členskou funkci.</a:t>
            </a:r>
          </a:p>
          <a:p>
            <a:r>
              <a:rPr lang="cs-CZ" sz="2000" dirty="0" smtClean="0"/>
              <a:t>Šablony proměnných mohou mít výchozí hodnoty parametrů.</a:t>
            </a:r>
            <a:endParaRPr lang="en-US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13, 2018</a:t>
            </a:fld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9510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Univerz</a:t>
            </a:r>
            <a:r>
              <a:rPr lang="cs-CZ" dirty="0" smtClean="0"/>
              <a:t>ální</a:t>
            </a:r>
            <a:r>
              <a:rPr lang="en-US" dirty="0" smtClean="0"/>
              <a:t> 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RValueReference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&amp;&amp;)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US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&gt;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UniverzalniReference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&amp;&amp;) {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 err="1" smtClean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main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() {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RValueReference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(42);</a:t>
            </a:r>
            <a:r>
              <a:rPr lang="en-US" sz="1400" dirty="0">
                <a:solidFill>
                  <a:srgbClr val="008000"/>
                </a:solidFill>
                <a:latin typeface="Consolas"/>
              </a:rPr>
              <a:t> // OK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UniverzalniReference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(42);</a:t>
            </a:r>
            <a:r>
              <a:rPr lang="en-US" sz="1400" dirty="0">
                <a:solidFill>
                  <a:srgbClr val="008000"/>
                </a:solidFill>
                <a:latin typeface="Consolas"/>
              </a:rPr>
              <a:t> // OK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400" dirty="0" err="1" smtClean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x = 0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   // x </a:t>
            </a:r>
            <a:r>
              <a:rPr lang="en-US" sz="1400" dirty="0" err="1" smtClean="0">
                <a:solidFill>
                  <a:srgbClr val="008000"/>
                </a:solidFill>
                <a:latin typeface="Consolas"/>
              </a:rPr>
              <a:t>neni</a:t>
            </a:r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/>
              </a:rPr>
              <a:t>docasna</a:t>
            </a:r>
            <a:r>
              <a:rPr lang="en-US" sz="1400" dirty="0">
                <a:solidFill>
                  <a:srgbClr val="008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008000"/>
                </a:solidFill>
                <a:latin typeface="Consolas"/>
              </a:rPr>
              <a:t>promenna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RValueReference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(x); </a:t>
            </a:r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// ERROR</a:t>
            </a:r>
          </a:p>
          <a:p>
            <a:pPr marL="0" indent="0">
              <a:buNone/>
            </a:pP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UniverzalniReference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(x);</a:t>
            </a:r>
            <a:r>
              <a:rPr lang="en-US" sz="1400" dirty="0">
                <a:solidFill>
                  <a:srgbClr val="008000"/>
                </a:solidFill>
                <a:latin typeface="Consolas"/>
              </a:rPr>
              <a:t> // </a:t>
            </a:r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OK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   return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0;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 smtClean="0"/>
              <a:t>R-value reference nap</a:t>
            </a:r>
            <a:r>
              <a:rPr lang="cs-CZ" sz="2400" dirty="0" smtClean="0"/>
              <a:t>ř. </a:t>
            </a:r>
            <a:r>
              <a:rPr lang="en-US" sz="2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&amp;&amp;</a:t>
            </a:r>
            <a:r>
              <a:rPr lang="cs-CZ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 smtClean="0"/>
              <a:t>se v</a:t>
            </a:r>
            <a:r>
              <a:rPr lang="cs-CZ" sz="2400" dirty="0" smtClean="0"/>
              <a:t>áž</a:t>
            </a:r>
            <a:r>
              <a:rPr lang="en-US" sz="2400" dirty="0" smtClean="0"/>
              <a:t>e </a:t>
            </a:r>
            <a:r>
              <a:rPr lang="en-US" sz="2400" dirty="0" err="1" smtClean="0"/>
              <a:t>pouze</a:t>
            </a:r>
            <a:r>
              <a:rPr lang="en-US" sz="2400" dirty="0" smtClean="0"/>
              <a:t> k do</a:t>
            </a:r>
            <a:r>
              <a:rPr lang="cs-CZ" sz="2400" dirty="0" smtClean="0"/>
              <a:t>č</a:t>
            </a:r>
            <a:r>
              <a:rPr lang="en-US" sz="2400" dirty="0" err="1" smtClean="0"/>
              <a:t>asn</a:t>
            </a:r>
            <a:r>
              <a:rPr lang="cs-CZ" sz="2400" dirty="0" smtClean="0"/>
              <a:t>é</a:t>
            </a:r>
            <a:r>
              <a:rPr lang="en-US" sz="2400" dirty="0" smtClean="0"/>
              <a:t>mu </a:t>
            </a:r>
            <a:r>
              <a:rPr lang="en-US" sz="2400" dirty="0" err="1" smtClean="0"/>
              <a:t>objektu</a:t>
            </a:r>
            <a:r>
              <a:rPr lang="cs-CZ" sz="2400" dirty="0" smtClean="0"/>
              <a:t> (prvalue)</a:t>
            </a:r>
            <a:r>
              <a:rPr lang="en-US" sz="2400" dirty="0" smtClean="0"/>
              <a:t>, </a:t>
            </a:r>
            <a:r>
              <a:rPr lang="en-US" sz="2400" dirty="0" err="1" smtClean="0"/>
              <a:t>nebo</a:t>
            </a:r>
            <a:r>
              <a:rPr lang="cs-CZ" sz="2400" dirty="0" smtClean="0"/>
              <a:t> objektu předanému pomocí std::move (xvalue).</a:t>
            </a:r>
          </a:p>
          <a:p>
            <a:r>
              <a:rPr lang="cs-CZ" sz="2400" dirty="0" smtClean="0"/>
              <a:t>Uvnitř šablony </a:t>
            </a:r>
            <a:r>
              <a:rPr lang="en-US" sz="2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&amp;&amp;</a:t>
            </a:r>
            <a:r>
              <a:rPr lang="cs-CZ" sz="2400" dirty="0" smtClean="0"/>
              <a:t> deklaruje univerzální referenci (forwarding reference), která se váže k proměnné, konstantě i dočasnému objektu.</a:t>
            </a:r>
            <a:endParaRPr lang="en-US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14, 2018</a:t>
            </a:fld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34074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Perfect forwarding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2B91AF"/>
                </a:solidFill>
                <a:latin typeface="Consolas"/>
              </a:rPr>
              <a:t>X</a:t>
            </a:r>
            <a:r>
              <a:rPr lang="cs-CZ" sz="1200" dirty="0" smtClean="0">
                <a:solidFill>
                  <a:srgbClr val="2B91AF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{};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g(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X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x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cs-CZ" sz="12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"g() </a:t>
            </a:r>
            <a:r>
              <a:rPr lang="cs-CZ" sz="1200" dirty="0" smtClean="0">
                <a:solidFill>
                  <a:srgbClr val="A31515"/>
                </a:solidFill>
                <a:latin typeface="Consolas"/>
              </a:rPr>
              <a:t>pro proměnné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\n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g(</a:t>
            </a:r>
            <a:r>
              <a:rPr lang="en-US" sz="12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X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cs-CZ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{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cs-CZ" sz="12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"g() </a:t>
            </a:r>
            <a:r>
              <a:rPr lang="cs-CZ" sz="1200" dirty="0" smtClean="0">
                <a:solidFill>
                  <a:srgbClr val="A31515"/>
                </a:solidFill>
                <a:latin typeface="Consolas"/>
              </a:rPr>
              <a:t>pro konstanty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\n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g(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X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&amp;&amp;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cs-CZ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{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cs-CZ" sz="12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"g() </a:t>
            </a:r>
            <a:r>
              <a:rPr lang="cs-CZ" sz="1200" dirty="0" smtClean="0">
                <a:solidFill>
                  <a:srgbClr val="A31515"/>
                </a:solidFill>
                <a:latin typeface="Consolas"/>
              </a:rPr>
              <a:t>pro dočasné objekty</a:t>
            </a:r>
            <a:r>
              <a:rPr lang="en-US" sz="1200" dirty="0" smtClean="0">
                <a:solidFill>
                  <a:srgbClr val="A31515"/>
                </a:solidFill>
                <a:latin typeface="Consolas"/>
              </a:rPr>
              <a:t>\n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cs-CZ" sz="12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&lt; </a:t>
            </a:r>
            <a:r>
              <a:rPr lang="en-US" sz="12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cs-CZ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f(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&amp;&amp;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cs-CZ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{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cs-CZ" sz="12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g(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std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::forward&lt;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&gt;(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x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cs-CZ" sz="12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cs-CZ" sz="1200" dirty="0" smtClean="0">
                <a:solidFill>
                  <a:srgbClr val="008000"/>
                </a:solidFill>
                <a:latin typeface="Consolas"/>
              </a:rPr>
              <a:t>volání f s proměnnou</a:t>
            </a:r>
            <a:endParaRPr lang="cs-CZ" sz="12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2B91AF"/>
                </a:solidFill>
                <a:latin typeface="Consolas"/>
              </a:rPr>
              <a:t>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a;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f(a);</a:t>
            </a:r>
            <a:endParaRPr lang="cs-CZ" sz="12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cs-CZ" sz="1200" dirty="0">
                <a:solidFill>
                  <a:srgbClr val="008000"/>
                </a:solidFill>
                <a:latin typeface="Consolas"/>
              </a:rPr>
              <a:t>volání f s </a:t>
            </a:r>
            <a:r>
              <a:rPr lang="cs-CZ" sz="1200" dirty="0" smtClean="0">
                <a:solidFill>
                  <a:srgbClr val="008000"/>
                </a:solidFill>
                <a:latin typeface="Consolas"/>
              </a:rPr>
              <a:t>konstantou</a:t>
            </a:r>
            <a:endParaRPr lang="cs-CZ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err="1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2B91AF"/>
                </a:solidFill>
                <a:latin typeface="Consolas"/>
              </a:rPr>
              <a:t>X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b;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</a:rPr>
              <a:t>f(b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);</a:t>
            </a:r>
            <a:endParaRPr lang="cs-CZ" sz="12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8000"/>
                </a:solidFill>
                <a:latin typeface="Consolas"/>
              </a:rPr>
              <a:t>// </a:t>
            </a:r>
            <a:r>
              <a:rPr lang="cs-CZ" sz="1200" dirty="0">
                <a:solidFill>
                  <a:srgbClr val="008000"/>
                </a:solidFill>
                <a:latin typeface="Consolas"/>
              </a:rPr>
              <a:t>volání f </a:t>
            </a:r>
            <a:r>
              <a:rPr lang="cs-CZ" sz="1200" dirty="0" smtClean="0">
                <a:solidFill>
                  <a:srgbClr val="008000"/>
                </a:solidFill>
                <a:latin typeface="Consolas"/>
              </a:rPr>
              <a:t>s dočasnou proměnnou</a:t>
            </a:r>
            <a:endParaRPr lang="cs-CZ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f(</a:t>
            </a:r>
            <a:r>
              <a:rPr lang="en-US" sz="1200" dirty="0" smtClean="0">
                <a:solidFill>
                  <a:srgbClr val="2B91AF"/>
                </a:solidFill>
                <a:latin typeface="Consolas"/>
              </a:rPr>
              <a:t>X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{});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cs-CZ" sz="2000" dirty="0" smtClean="0"/>
              <a:t>Generický kód, který při předávání argumentů zachovává jejich základní vlastnosti.</a:t>
            </a:r>
          </a:p>
          <a:p>
            <a:r>
              <a:rPr lang="cs-CZ" sz="2000" dirty="0" smtClean="0"/>
              <a:t>Proměnné budou předány tak, aby jejich obsah byl pořád modifikovatelný.</a:t>
            </a:r>
          </a:p>
          <a:p>
            <a:r>
              <a:rPr lang="cs-CZ" sz="2000" dirty="0" smtClean="0"/>
              <a:t>Konstanty musí být předány tak, aby bylz jen ke čtení.</a:t>
            </a:r>
          </a:p>
          <a:p>
            <a:r>
              <a:rPr lang="cs-CZ" sz="2000" dirty="0" smtClean="0"/>
              <a:t>Dočasným objektům musí být pořád možné ukrást jejich zdroje.</a:t>
            </a:r>
            <a:endParaRPr lang="en-US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14, 2018</a:t>
            </a:fld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7232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Dynamický polymorfismus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000" dirty="0" smtClean="0"/>
              <a:t>C++ podporuje dynamický polymorfismus pomocí dědičnosti a virtuálních funkcí.</a:t>
            </a:r>
          </a:p>
          <a:p>
            <a:r>
              <a:rPr lang="cs-CZ" sz="2000" dirty="0" smtClean="0"/>
              <a:t>Základní třída definuje rozhraní pomocí virtuálních funkcí.</a:t>
            </a:r>
          </a:p>
          <a:p>
            <a:r>
              <a:rPr lang="cs-CZ" sz="2000" dirty="0" smtClean="0"/>
              <a:t>Potomci virtuální funkce překrývají.</a:t>
            </a:r>
          </a:p>
          <a:p>
            <a:r>
              <a:rPr lang="cs-CZ" sz="2000" dirty="0" smtClean="0"/>
              <a:t>Uživatel vytvoří instance různých potomků, ale často je společně spravuje pouze pomocí ukazatele na základní třídu.</a:t>
            </a:r>
          </a:p>
          <a:p>
            <a:r>
              <a:rPr lang="cs-CZ" sz="2000" dirty="0" smtClean="0"/>
              <a:t>Při volání virtuálních funkcí se užívá pozdní vazba, která zajistí, že je použita implementace konkrétního potomka.</a:t>
            </a:r>
          </a:p>
          <a:p>
            <a:r>
              <a:rPr lang="cs-CZ" sz="2000" dirty="0" smtClean="0"/>
              <a:t>Pozdní vazba je zatížena jak paměťovou,</a:t>
            </a:r>
          </a:p>
          <a:p>
            <a:pPr marL="0" indent="0">
              <a:buNone/>
            </a:pPr>
            <a:r>
              <a:rPr lang="cs-CZ" sz="2000" dirty="0"/>
              <a:t> </a:t>
            </a:r>
            <a:r>
              <a:rPr lang="cs-CZ" sz="2000" dirty="0" smtClean="0"/>
              <a:t>    tak i run-time penalizací.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January 12, 2018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21</a:t>
            </a:fld>
            <a:endParaRPr lang="cs-CZ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653136"/>
            <a:ext cx="21717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7472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Dynamický polymorfismus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000" dirty="0" smtClean="0"/>
              <a:t>Uživatel píše kód, který využívá typu základní třídy.</a:t>
            </a:r>
            <a:endParaRPr lang="en-US" sz="2000" dirty="0" smtClean="0"/>
          </a:p>
          <a:p>
            <a:r>
              <a:rPr lang="en-US" sz="2000" dirty="0" err="1" smtClean="0"/>
              <a:t>Pozitivn</a:t>
            </a:r>
            <a:r>
              <a:rPr lang="cs-CZ" sz="2000" dirty="0" smtClean="0"/>
              <a:t>í</a:t>
            </a:r>
            <a:r>
              <a:rPr lang="en-US" sz="2000" dirty="0" smtClean="0"/>
              <a:t>m </a:t>
            </a:r>
            <a:r>
              <a:rPr lang="en-US" sz="2000" dirty="0" err="1" smtClean="0"/>
              <a:t>efektem</a:t>
            </a:r>
            <a:r>
              <a:rPr lang="en-US" sz="2000" dirty="0" smtClean="0"/>
              <a:t> je </a:t>
            </a:r>
            <a:r>
              <a:rPr lang="cs-CZ" sz="2000" dirty="0" smtClean="0"/>
              <a:t>úspora binárního kódu.</a:t>
            </a:r>
          </a:p>
          <a:p>
            <a:endParaRPr lang="cs-CZ" sz="2000" dirty="0" smtClean="0"/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2B91AF"/>
                </a:solidFill>
                <a:latin typeface="Consolas"/>
              </a:rPr>
              <a:t>Nastroj</a:t>
            </a:r>
            <a:endParaRPr lang="en-US" sz="20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pPr marL="0" indent="0">
              <a:buNone/>
            </a:pPr>
            <a:r>
              <a:rPr lang="cs-CZ" sz="20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virtual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Hraj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 = 0;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zahraj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err="1">
                <a:solidFill>
                  <a:srgbClr val="2B91AF"/>
                </a:solidFill>
                <a:latin typeface="Consolas"/>
              </a:rPr>
              <a:t>Nastroj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2000" dirty="0" err="1">
                <a:solidFill>
                  <a:srgbClr val="808080"/>
                </a:solidFill>
                <a:latin typeface="Consolas"/>
              </a:rPr>
              <a:t>nastroj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cs-CZ" sz="2000" dirty="0" smtClean="0">
                <a:solidFill>
                  <a:srgbClr val="808080"/>
                </a:solidFill>
                <a:latin typeface="Consolas"/>
              </a:rPr>
              <a:t>   </a:t>
            </a:r>
            <a:r>
              <a:rPr lang="en-US" sz="2000" dirty="0" err="1" smtClean="0">
                <a:solidFill>
                  <a:srgbClr val="808080"/>
                </a:solidFill>
                <a:latin typeface="Consolas"/>
              </a:rPr>
              <a:t>nastroj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.Hraj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}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January 14, 2018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22</a:t>
            </a:fld>
            <a:endParaRPr lang="cs-CZ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653136"/>
            <a:ext cx="21717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8885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Statický polymorfismus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400" dirty="0" smtClean="0"/>
              <a:t>Šablony mohou být prostředkem k dosažení statického polymorfismu.</a:t>
            </a:r>
          </a:p>
          <a:p>
            <a:r>
              <a:rPr lang="cs-CZ" sz="2400" dirty="0" smtClean="0"/>
              <a:t>Společné chování není vynuceno základní třídou. Vybrané metody mají pouze stejný název a syntaxi.</a:t>
            </a:r>
          </a:p>
          <a:p>
            <a:r>
              <a:rPr lang="cs-CZ" sz="2400" dirty="0" smtClean="0"/>
              <a:t>Polymorfismu je docíleno, když je šablona instanciována s konkrétním typem.</a:t>
            </a:r>
          </a:p>
          <a:p>
            <a:r>
              <a:rPr lang="cs-CZ" sz="2400" dirty="0" smtClean="0"/>
              <a:t>U statického polymorfismu se metody volají brzkou vazbou. Žádná paměťová a run-time penalizace.</a:t>
            </a:r>
          </a:p>
          <a:p>
            <a:r>
              <a:rPr lang="cs-CZ" sz="2400" dirty="0" smtClean="0"/>
              <a:t>Nevýhodou je větší množství generovaného kódu.</a:t>
            </a:r>
          </a:p>
          <a:p>
            <a:r>
              <a:rPr lang="cs-CZ" sz="2400" dirty="0" smtClean="0"/>
              <a:t>Nelze vytvářet polymorfické kontejnery.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January 13, 2018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23</a:t>
            </a:fld>
            <a:endParaRPr lang="cs-CZ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5445224"/>
            <a:ext cx="21717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6387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Statický polymorfismus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onsolas"/>
              </a:rPr>
              <a:t>Trubka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hraj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};</a:t>
            </a:r>
            <a:endParaRPr lang="cs-CZ" sz="18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onsolas"/>
              </a:rPr>
              <a:t>Housle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</a:rPr>
              <a:t>   void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hraj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};</a:t>
            </a:r>
            <a:endParaRPr lang="cs-CZ" sz="1800" dirty="0" smtClean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US" sz="18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>
                <a:solidFill>
                  <a:srgbClr val="2B91AF"/>
                </a:solidFill>
                <a:latin typeface="Consolas"/>
              </a:rPr>
              <a:t>Nastroj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zahraj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800" dirty="0" err="1">
                <a:solidFill>
                  <a:srgbClr val="2B91AF"/>
                </a:solidFill>
                <a:latin typeface="Consolas"/>
              </a:rPr>
              <a:t>Nastroj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&amp; </a:t>
            </a:r>
            <a:r>
              <a:rPr lang="en-US" sz="1800" dirty="0" err="1">
                <a:solidFill>
                  <a:srgbClr val="808080"/>
                </a:solidFill>
                <a:latin typeface="Consolas"/>
              </a:rPr>
              <a:t>nastroj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){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808080"/>
                </a:solidFill>
                <a:latin typeface="Consolas"/>
              </a:rPr>
              <a:t>   </a:t>
            </a:r>
            <a:r>
              <a:rPr lang="en-US" sz="1800" dirty="0" err="1" smtClean="0">
                <a:solidFill>
                  <a:srgbClr val="808080"/>
                </a:solidFill>
                <a:latin typeface="Consolas"/>
              </a:rPr>
              <a:t>nastroj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.Hraj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dirty="0" err="1"/>
              <a:t>Porovn</a:t>
            </a:r>
            <a:r>
              <a:rPr lang="cs-CZ" sz="1800" dirty="0"/>
              <a:t>á</a:t>
            </a:r>
            <a:r>
              <a:rPr lang="en-US" sz="1800" dirty="0"/>
              <a:t>me-li </a:t>
            </a:r>
            <a:r>
              <a:rPr lang="en-US" sz="1800" dirty="0" err="1"/>
              <a:t>implementaci</a:t>
            </a:r>
            <a:r>
              <a:rPr lang="en-US" sz="1800" dirty="0"/>
              <a:t> </a:t>
            </a:r>
            <a:r>
              <a:rPr lang="en-US" sz="1800" dirty="0" err="1"/>
              <a:t>funkce</a:t>
            </a:r>
            <a:r>
              <a:rPr lang="en-US" sz="1800" dirty="0"/>
              <a:t>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zahraj</a:t>
            </a:r>
            <a:r>
              <a:rPr lang="cs-CZ" sz="1800" dirty="0">
                <a:solidFill>
                  <a:srgbClr val="000000"/>
                </a:solidFill>
                <a:latin typeface="Consolas"/>
              </a:rPr>
              <a:t>() </a:t>
            </a:r>
            <a:r>
              <a:rPr lang="en-US" sz="1800" dirty="0"/>
              <a:t>vid</a:t>
            </a:r>
            <a:r>
              <a:rPr lang="cs-CZ" sz="1800" dirty="0"/>
              <a:t>íme, že základní třída je nahrazena šablonovým parametrem.</a:t>
            </a:r>
          </a:p>
          <a:p>
            <a:r>
              <a:rPr lang="cs-CZ" sz="1800" dirty="0"/>
              <a:t>Třídy nástrojů jsou navzájem </a:t>
            </a:r>
            <a:r>
              <a:rPr lang="cs-CZ" sz="1800" dirty="0" smtClean="0"/>
              <a:t>nezávislé.</a:t>
            </a:r>
          </a:p>
          <a:p>
            <a:r>
              <a:rPr lang="cs-CZ" sz="1800" dirty="0" smtClean="0"/>
              <a:t>Větší množství kódu je způsobeno rozvinutím funkce zahraj pro každou konkrétní třídu: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zahraj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800" dirty="0" err="1">
                <a:solidFill>
                  <a:srgbClr val="2B91AF"/>
                </a:solidFill>
                <a:latin typeface="Consolas"/>
              </a:rPr>
              <a:t>Trubka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cs-CZ" sz="1800" dirty="0" smtClean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zahraj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800" dirty="0" err="1">
                <a:solidFill>
                  <a:srgbClr val="2B91AF"/>
                </a:solidFill>
                <a:latin typeface="Consolas"/>
              </a:rPr>
              <a:t>Housle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&gt;</a:t>
            </a:r>
            <a:r>
              <a:rPr lang="cs-CZ" sz="1800" dirty="0" smtClean="0">
                <a:solidFill>
                  <a:srgbClr val="000000"/>
                </a:solidFill>
                <a:latin typeface="Consolas"/>
              </a:rPr>
              <a:t>().</a:t>
            </a:r>
          </a:p>
          <a:p>
            <a:r>
              <a:rPr lang="cs-CZ" sz="1800" dirty="0" smtClean="0"/>
              <a:t>Místo jediné heterogenní kolekce máme více homogenních kolekcí, pro každý nástroj zvlášť.</a:t>
            </a:r>
            <a:endParaRPr lang="en-US"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2CBB2B-2FFD-4BBF-8890-09608BA364C8}" type="datetime4">
              <a:rPr lang="en-US" smtClean="0"/>
              <a:t>January 14, 2018</a:t>
            </a:fld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BEBC39-52FF-4A43-9EE1-839C38EAC9E8}" type="slidenum">
              <a:rPr lang="cs-CZ" smtClean="0"/>
              <a:pPr>
                <a:defRPr/>
              </a:pPr>
              <a:t>24</a:t>
            </a:fld>
            <a:endParaRPr lang="cs-CZ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6084634"/>
            <a:ext cx="21717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1570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altLang="en-US" dirty="0" smtClean="0"/>
              <a:t>Curiosly </a:t>
            </a:r>
            <a:r>
              <a:rPr lang="cs-CZ" altLang="en-US" dirty="0"/>
              <a:t>recurring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&lt;</a:t>
            </a:r>
            <a:r>
              <a:rPr lang="en-US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sz="14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/>
              </a:rPr>
              <a:t>rodic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metoda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00FF"/>
                </a:solidFill>
                <a:latin typeface="Consolas"/>
              </a:rPr>
              <a:t>      </a:t>
            </a:r>
            <a:r>
              <a:rPr lang="en-US" sz="1400" dirty="0" err="1" smtClean="0">
                <a:solidFill>
                  <a:srgbClr val="0000FF"/>
                </a:solidFill>
                <a:latin typeface="Consolas"/>
              </a:rPr>
              <a:t>static_cast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400" dirty="0" smtClean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*&gt;(</a:t>
            </a:r>
            <a:r>
              <a:rPr lang="en-US" sz="1400" dirty="0">
                <a:solidFill>
                  <a:srgbClr val="0000FF"/>
                </a:solidFill>
                <a:latin typeface="Consolas"/>
              </a:rPr>
              <a:t>this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)-&gt;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implementace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cs-CZ" sz="14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implementace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/>
              </a:rPr>
              <a:t>implementace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A31515"/>
                </a:solidFill>
                <a:latin typeface="Consolas"/>
              </a:rPr>
              <a:t>rodicovske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A31515"/>
                </a:solidFill>
                <a:latin typeface="Consolas"/>
              </a:rPr>
              <a:t>tridy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\n"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FF"/>
                </a:solidFill>
                <a:latin typeface="Consolas"/>
              </a:rPr>
              <a:t>struct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/>
              </a:rPr>
              <a:t>potomek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en-US" sz="1400" b="1" dirty="0" err="1">
                <a:solidFill>
                  <a:srgbClr val="2B91AF"/>
                </a:solidFill>
                <a:latin typeface="Consolas"/>
              </a:rPr>
              <a:t>rodic</a:t>
            </a:r>
            <a:r>
              <a:rPr lang="en-US" sz="1400" b="1" dirty="0">
                <a:solidFill>
                  <a:srgbClr val="000000"/>
                </a:solidFill>
                <a:latin typeface="Consolas"/>
              </a:rPr>
              <a:t> &lt; </a:t>
            </a:r>
            <a:r>
              <a:rPr lang="en-US" sz="1400" b="1" dirty="0" err="1">
                <a:solidFill>
                  <a:srgbClr val="2B91AF"/>
                </a:solidFill>
                <a:latin typeface="Consolas"/>
              </a:rPr>
              <a:t>potomek</a:t>
            </a:r>
            <a:r>
              <a:rPr lang="en-US" sz="1400" b="1" dirty="0">
                <a:solidFill>
                  <a:srgbClr val="000000"/>
                </a:solidFill>
                <a:latin typeface="Consolas"/>
              </a:rPr>
              <a:t> &gt;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void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implementace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400" dirty="0" err="1">
                <a:solidFill>
                  <a:srgbClr val="A31515"/>
                </a:solidFill>
                <a:latin typeface="Consolas"/>
              </a:rPr>
              <a:t>implementace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A31515"/>
                </a:solidFill>
                <a:latin typeface="Consolas"/>
              </a:rPr>
              <a:t>potomka</a:t>
            </a:r>
            <a:r>
              <a:rPr lang="en-US" sz="1400" dirty="0">
                <a:solidFill>
                  <a:srgbClr val="A31515"/>
                </a:solidFill>
                <a:latin typeface="Consolas"/>
              </a:rPr>
              <a:t>\n"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};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main() {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400" dirty="0" err="1" smtClean="0">
                <a:solidFill>
                  <a:srgbClr val="2B91AF"/>
                </a:solidFill>
                <a:latin typeface="Consolas"/>
              </a:rPr>
              <a:t>potomek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instance;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instance.metoda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}</a:t>
            </a:r>
            <a:endParaRPr lang="en-US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January 14, 2018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25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95358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Traits vs.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sz="2400" dirty="0" smtClean="0"/>
              <a:t>Trait (vlastnost, rys, charakteristika).</a:t>
            </a:r>
          </a:p>
          <a:p>
            <a:r>
              <a:rPr lang="cs-CZ" sz="2000" dirty="0" smtClean="0"/>
              <a:t>Malá třída, jejíž jediným účelem je nést informaci použitou v jiné třídě či algoritmu.</a:t>
            </a:r>
          </a:p>
          <a:p>
            <a:r>
              <a:rPr lang="cs-CZ" sz="2000" dirty="0" smtClean="0"/>
              <a:t>Umožňuje získat dodatečné vlastnosti parametru šablony</a:t>
            </a:r>
            <a:r>
              <a:rPr lang="cs-CZ" sz="2400" dirty="0" smtClean="0"/>
              <a:t>.</a:t>
            </a:r>
          </a:p>
          <a:p>
            <a:pPr marL="0" indent="0">
              <a:buNone/>
            </a:pPr>
            <a:endParaRPr lang="cs-CZ" sz="2400" dirty="0" smtClean="0"/>
          </a:p>
          <a:p>
            <a:pPr marL="0" indent="0">
              <a:buNone/>
            </a:pPr>
            <a:r>
              <a:rPr lang="cs-CZ" sz="2400" dirty="0" smtClean="0"/>
              <a:t>Policy (politika, označuje proces, způsob provádění).</a:t>
            </a:r>
          </a:p>
          <a:p>
            <a:r>
              <a:rPr lang="cs-CZ" sz="2000" dirty="0" smtClean="0"/>
              <a:t>Policy a traits mají mnoho společného. Policy klade větší důraz na chování než na typ.</a:t>
            </a:r>
          </a:p>
          <a:p>
            <a:r>
              <a:rPr lang="cs-CZ" sz="2000" dirty="0" smtClean="0"/>
              <a:t>Generické algoritmy a typy mají uživatelsky konfigurovatelné policies, často s výchozí hodnotou.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January 13, 2018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26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0583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Traits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400" dirty="0" smtClean="0"/>
              <a:t>Fixní</a:t>
            </a:r>
          </a:p>
          <a:p>
            <a:pPr lvl="1"/>
            <a:r>
              <a:rPr lang="cs-CZ" sz="2000" dirty="0" smtClean="0"/>
              <a:t>Šablona často používá fixní typ traits objektu, bez možnosti konfigurace uživatelem.</a:t>
            </a:r>
          </a:p>
          <a:p>
            <a:r>
              <a:rPr lang="cs-CZ" sz="2400" dirty="0" smtClean="0"/>
              <a:t>Hodnotové</a:t>
            </a:r>
          </a:p>
          <a:p>
            <a:pPr lvl="1"/>
            <a:r>
              <a:rPr lang="cs-CZ" sz="2000" dirty="0" smtClean="0"/>
              <a:t>Traits třídy můžou poskytovat i specifické hodnoty.</a:t>
            </a:r>
          </a:p>
          <a:p>
            <a:pPr marL="0" indent="0">
              <a:buNone/>
            </a:pPr>
            <a:endParaRPr lang="cs-CZ" sz="1400" dirty="0" smtClean="0">
              <a:solidFill>
                <a:srgbClr val="0000FF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&lt; </a:t>
            </a:r>
            <a:r>
              <a:rPr lang="en-US" sz="1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&gt;</a:t>
            </a:r>
          </a:p>
          <a:p>
            <a:pPr marL="0" indent="0">
              <a:buNone/>
            </a:pPr>
            <a:r>
              <a:rPr lang="fr-FR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fr-FR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400" dirty="0" err="1">
                <a:solidFill>
                  <a:srgbClr val="000000"/>
                </a:solidFill>
                <a:latin typeface="Consolas"/>
              </a:rPr>
              <a:t>findMax</a:t>
            </a:r>
            <a:r>
              <a:rPr lang="fr-FR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4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fr-FR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fr-FR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4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fr-FR" sz="14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fr-FR" sz="1400" dirty="0" smtClean="0">
                <a:solidFill>
                  <a:srgbClr val="808080"/>
                </a:solidFill>
                <a:latin typeface="Consolas"/>
              </a:rPr>
              <a:t>data</a:t>
            </a:r>
            <a:r>
              <a:rPr lang="fr-FR" sz="1400" dirty="0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cs-CZ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/>
              </a:rPr>
              <a:t>size_t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/>
              </a:rPr>
              <a:t>const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/>
              </a:rPr>
              <a:t>numItems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8000"/>
                </a:solidFill>
                <a:latin typeface="Consolas"/>
              </a:rPr>
              <a:t>   </a:t>
            </a:r>
            <a:r>
              <a:rPr lang="en-US" sz="1400" dirty="0" smtClean="0">
                <a:solidFill>
                  <a:srgbClr val="008000"/>
                </a:solidFill>
                <a:latin typeface="Consolas"/>
              </a:rPr>
              <a:t>// </a:t>
            </a:r>
            <a:r>
              <a:rPr lang="en-US" sz="1400" dirty="0">
                <a:solidFill>
                  <a:srgbClr val="008000"/>
                </a:solidFill>
                <a:latin typeface="Consolas"/>
              </a:rPr>
              <a:t>Obtain the minimum value for type T </a:t>
            </a:r>
            <a:endParaRPr lang="en-US" sz="14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cs-CZ" sz="1400" dirty="0" smtClean="0">
                <a:solidFill>
                  <a:srgbClr val="2B91AF"/>
                </a:solidFill>
                <a:latin typeface="Consolas"/>
              </a:rPr>
              <a:t>   </a:t>
            </a:r>
            <a:r>
              <a:rPr lang="en-US" sz="1400" dirty="0" smtClean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largest 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cs-CZ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 smtClean="0">
                <a:solidFill>
                  <a:srgbClr val="000000"/>
                </a:solidFill>
                <a:latin typeface="Consolas"/>
              </a:rPr>
              <a:t>std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1400" dirty="0" err="1">
                <a:solidFill>
                  <a:srgbClr val="2B91AF"/>
                </a:solidFill>
                <a:latin typeface="Consolas"/>
              </a:rPr>
              <a:t>numeric_limits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&lt; </a:t>
            </a:r>
            <a:r>
              <a:rPr lang="en-US" sz="1400" dirty="0">
                <a:solidFill>
                  <a:srgbClr val="2B91AF"/>
                </a:solidFill>
                <a:latin typeface="Consolas"/>
              </a:rPr>
              <a:t>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&gt;::min();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for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/>
              </a:rPr>
              <a:t>unsigned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 = 0; 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1400" dirty="0" err="1">
                <a:solidFill>
                  <a:srgbClr val="808080"/>
                </a:solidFill>
                <a:latin typeface="Consolas"/>
              </a:rPr>
              <a:t>numItems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; ++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00FF"/>
                </a:solidFill>
                <a:latin typeface="Consolas"/>
              </a:rPr>
              <a:t>     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if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] &gt; largest)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0000"/>
                </a:solidFill>
                <a:latin typeface="Consolas"/>
              </a:rPr>
              <a:t>         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largest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1400" dirty="0">
                <a:solidFill>
                  <a:srgbClr val="808080"/>
                </a:solidFill>
                <a:latin typeface="Consolas"/>
              </a:rPr>
              <a:t>data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Consolas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];</a:t>
            </a:r>
          </a:p>
          <a:p>
            <a:pPr marL="0" indent="0">
              <a:buNone/>
            </a:pPr>
            <a:r>
              <a:rPr lang="cs-CZ" sz="14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1400" dirty="0" smtClean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1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onsolas"/>
              </a:rPr>
              <a:t>largest;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Consolas"/>
              </a:rPr>
              <a:t>}</a:t>
            </a:r>
            <a:endParaRPr lang="cs-CZ" sz="14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January 14, 2018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2525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smtClean="0"/>
              <a:t>Příklad z STL knihovny:</a:t>
            </a:r>
          </a:p>
          <a:p>
            <a:pPr marL="0" indent="0">
              <a:buNone/>
            </a:pPr>
            <a:endParaRPr lang="cs-CZ" dirty="0" smtClean="0"/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/>
              </a:rPr>
              <a:t>template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&lt;</a:t>
            </a:r>
          </a:p>
          <a:p>
            <a:pPr marL="0" indent="0">
              <a:buNone/>
            </a:pPr>
            <a:r>
              <a:rPr lang="cs-CZ" sz="24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/>
              </a:rPr>
              <a:t>CharT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, </a:t>
            </a:r>
          </a:p>
          <a:p>
            <a:pPr marL="0" indent="0">
              <a:buNone/>
            </a:pPr>
            <a:r>
              <a:rPr lang="cs-CZ" sz="24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onsolas"/>
              </a:rPr>
              <a:t>Traits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/>
              </a:rPr>
              <a:t>std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2400" dirty="0" err="1">
                <a:solidFill>
                  <a:srgbClr val="2B91AF"/>
                </a:solidFill>
                <a:latin typeface="Consolas"/>
              </a:rPr>
              <a:t>char_traits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400" dirty="0" err="1">
                <a:solidFill>
                  <a:srgbClr val="2B91AF"/>
                </a:solidFill>
                <a:latin typeface="Consolas"/>
              </a:rPr>
              <a:t>CharT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&gt;, </a:t>
            </a:r>
          </a:p>
          <a:p>
            <a:pPr marL="0" indent="0">
              <a:buNone/>
            </a:pPr>
            <a:r>
              <a:rPr lang="cs-CZ" sz="24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2B91AF"/>
                </a:solidFill>
                <a:latin typeface="Consolas"/>
              </a:rPr>
              <a:t>Allocator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onsolas"/>
              </a:rPr>
              <a:t>std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::</a:t>
            </a:r>
            <a:r>
              <a:rPr lang="en-US" sz="2400" dirty="0">
                <a:solidFill>
                  <a:srgbClr val="2B91AF"/>
                </a:solidFill>
                <a:latin typeface="Consolas"/>
              </a:rPr>
              <a:t>allocator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en-US" sz="2400" dirty="0" err="1">
                <a:solidFill>
                  <a:srgbClr val="2B91AF"/>
                </a:solidFill>
                <a:latin typeface="Consolas"/>
              </a:rPr>
              <a:t>CharT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&gt;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en-US" sz="2400" dirty="0">
                <a:solidFill>
                  <a:srgbClr val="0000FF"/>
                </a:solidFill>
                <a:latin typeface="Consolas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/>
              </a:rPr>
              <a:t>basic_string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;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January 14, 2018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2640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N-tice, t</a:t>
            </a:r>
            <a:r>
              <a:rPr lang="cs-CZ" dirty="0" smtClean="0"/>
              <a:t>uples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000" dirty="0" smtClean="0"/>
              <a:t>Zobecněný std::pair</a:t>
            </a:r>
            <a:r>
              <a:rPr lang="en-US" sz="2000" dirty="0" smtClean="0"/>
              <a:t>&lt;T1, T2&gt;.</a:t>
            </a:r>
            <a:endParaRPr lang="cs-CZ" sz="2000" dirty="0" smtClean="0"/>
          </a:p>
          <a:p>
            <a:r>
              <a:rPr lang="cs-CZ" sz="2000" dirty="0" smtClean="0"/>
              <a:t>Kolekce std::vector</a:t>
            </a:r>
            <a:r>
              <a:rPr lang="en-US" sz="2000" dirty="0" smtClean="0"/>
              <a:t>&lt;T&gt;</a:t>
            </a:r>
            <a:r>
              <a:rPr lang="cs-CZ" sz="2000" dirty="0" smtClean="0"/>
              <a:t>, std::list</a:t>
            </a:r>
            <a:r>
              <a:rPr lang="en-US" sz="2000" dirty="0" smtClean="0"/>
              <a:t>&lt;T</a:t>
            </a:r>
            <a:r>
              <a:rPr lang="en-US" sz="2000" dirty="0"/>
              <a:t>&gt;</a:t>
            </a:r>
            <a:r>
              <a:rPr lang="cs-CZ" sz="2000" dirty="0" smtClean="0"/>
              <a:t> jsou homogenní, std::tuple</a:t>
            </a:r>
            <a:r>
              <a:rPr lang="en-US" sz="2000" dirty="0" smtClean="0"/>
              <a:t>&lt;T1, T2, …&gt;</a:t>
            </a:r>
            <a:r>
              <a:rPr lang="cs-CZ" sz="2000" dirty="0" smtClean="0"/>
              <a:t> můžete chápat jako heterogenní kolekci.</a:t>
            </a:r>
            <a:endParaRPr lang="en-US" sz="2000" dirty="0" smtClean="0"/>
          </a:p>
          <a:p>
            <a:r>
              <a:rPr lang="en-US" sz="2000" dirty="0" err="1" smtClean="0"/>
              <a:t>Definuje</a:t>
            </a:r>
            <a:r>
              <a:rPr lang="en-US" sz="2000" dirty="0" smtClean="0"/>
              <a:t> </a:t>
            </a:r>
            <a:r>
              <a:rPr lang="en-US" sz="2000" dirty="0" err="1" smtClean="0"/>
              <a:t>uspo</a:t>
            </a:r>
            <a:r>
              <a:rPr lang="cs-CZ" sz="2000" dirty="0" smtClean="0"/>
              <a:t>řádání pomocí lexikografického porovnání elementů.</a:t>
            </a:r>
            <a:endParaRPr lang="en-US" sz="2000" dirty="0" smtClean="0"/>
          </a:p>
          <a:p>
            <a:pPr marL="0" indent="0">
              <a:buNone/>
            </a:pPr>
            <a:endParaRPr lang="fr-FR" sz="1200" dirty="0" smtClean="0">
              <a:solidFill>
                <a:srgbClr val="2B91AF"/>
              </a:solidFill>
              <a:latin typeface="Consolas"/>
            </a:endParaRPr>
          </a:p>
          <a:p>
            <a:pPr marL="0" indent="0">
              <a:buNone/>
            </a:pPr>
            <a:r>
              <a:rPr lang="fr-FR" sz="1200" dirty="0" err="1" smtClean="0">
                <a:solidFill>
                  <a:srgbClr val="2B91AF"/>
                </a:solidFill>
                <a:latin typeface="Consolas"/>
              </a:rPr>
              <a:t>tuple</a:t>
            </a:r>
            <a:r>
              <a:rPr lang="fr-FR" sz="1200" dirty="0" smtClean="0">
                <a:solidFill>
                  <a:srgbClr val="000000"/>
                </a:solidFill>
                <a:latin typeface="Consolas"/>
              </a:rPr>
              <a:t>&lt;</a:t>
            </a:r>
            <a:r>
              <a:rPr lang="fr-FR" sz="1200" dirty="0" smtClean="0">
                <a:solidFill>
                  <a:srgbClr val="0000FF"/>
                </a:solidFill>
                <a:latin typeface="Consolas"/>
              </a:rPr>
              <a:t>double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fr-FR" sz="1200" dirty="0">
                <a:solidFill>
                  <a:srgbClr val="0000FF"/>
                </a:solidFill>
                <a:latin typeface="Consolas"/>
              </a:rPr>
              <a:t>double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fr-FR" sz="1200" dirty="0">
                <a:solidFill>
                  <a:srgbClr val="0000FF"/>
                </a:solidFill>
                <a:latin typeface="Consolas"/>
              </a:rPr>
              <a:t>double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fr-FR" sz="1200" dirty="0" err="1">
                <a:solidFill>
                  <a:srgbClr val="000000"/>
                </a:solidFill>
                <a:latin typeface="Consolas"/>
              </a:rPr>
              <a:t>rovnice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fr-FR" sz="1200" dirty="0">
                <a:solidFill>
                  <a:srgbClr val="0000FF"/>
                </a:solidFill>
                <a:latin typeface="Consolas"/>
              </a:rPr>
              <a:t>double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2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fr-FR" sz="1200" dirty="0">
                <a:solidFill>
                  <a:srgbClr val="0000FF"/>
                </a:solidFill>
                <a:latin typeface="Consolas"/>
              </a:rPr>
              <a:t>double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2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fr-FR" sz="1200" dirty="0">
                <a:solidFill>
                  <a:srgbClr val="0000FF"/>
                </a:solidFill>
                <a:latin typeface="Consolas"/>
              </a:rPr>
              <a:t>double</a:t>
            </a:r>
            <a:r>
              <a:rPr lang="fr-FR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1200" dirty="0">
                <a:solidFill>
                  <a:srgbClr val="808080"/>
                </a:solidFill>
                <a:latin typeface="Consolas"/>
              </a:rPr>
              <a:t>c</a:t>
            </a:r>
            <a:r>
              <a:rPr lang="fr-FR" sz="1200" dirty="0" smtClean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{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double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d =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*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- 4 *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*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c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double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x1 = (-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sqrt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(d)) / (2 *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double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x2 = (-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b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-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sqrt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(d)) / (2 * </a:t>
            </a:r>
            <a:r>
              <a:rPr lang="en-US" sz="1200" dirty="0">
                <a:solidFill>
                  <a:srgbClr val="808080"/>
                </a:solidFill>
                <a:latin typeface="Consolas"/>
              </a:rPr>
              <a:t>a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return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make_tuple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(x1, x2, d);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pPr marL="0" indent="0">
              <a:buNone/>
            </a:pP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main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() {</a:t>
            </a:r>
            <a:endParaRPr lang="en-US" sz="1200" dirty="0">
              <a:solidFill>
                <a:srgbClr val="000000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0000FF"/>
                </a:solidFill>
                <a:latin typeface="Consolas"/>
              </a:rPr>
              <a:t>   auto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vysledek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rovnice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(2, -3, 1);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"x1 =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get&lt;0&gt;(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vysledek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2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"\n"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"x2 =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get&lt;1&gt;(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vysledek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2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"\n"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12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"d  = 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get&lt;2&gt;(</a:t>
            </a:r>
            <a:r>
              <a:rPr lang="en-US" sz="1200" dirty="0" err="1">
                <a:solidFill>
                  <a:srgbClr val="000000"/>
                </a:solidFill>
                <a:latin typeface="Consolas"/>
              </a:rPr>
              <a:t>vysledek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12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dirty="0">
                <a:solidFill>
                  <a:srgbClr val="A31515"/>
                </a:solidFill>
                <a:latin typeface="Consolas"/>
              </a:rPr>
              <a:t>"\n"</a:t>
            </a:r>
            <a:r>
              <a:rPr lang="en-US" sz="12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en-US" sz="1200" dirty="0" smtClean="0">
                <a:solidFill>
                  <a:srgbClr val="000000"/>
                </a:solidFill>
                <a:latin typeface="Consolas"/>
              </a:rPr>
              <a:t>}</a:t>
            </a:r>
            <a:endParaRPr lang="en-US" sz="1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January 14, 2018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29</a:t>
            </a:fld>
            <a:endParaRPr lang="cs-CZ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7" y="3645024"/>
            <a:ext cx="3513759" cy="2520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76416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Rozbalen</a:t>
            </a:r>
            <a:r>
              <a:rPr lang="cs-CZ" dirty="0" smtClean="0"/>
              <a:t>í n-tice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err="1" smtClean="0">
                <a:solidFill>
                  <a:srgbClr val="0000FF"/>
                </a:solidFill>
                <a:latin typeface="Consolas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main()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pPr marL="0" indent="0">
              <a:buNone/>
            </a:pPr>
            <a:r>
              <a:rPr lang="cs-CZ" sz="24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double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x1, x2, d;</a:t>
            </a:r>
          </a:p>
          <a:p>
            <a:pPr marL="0" indent="0">
              <a:buNone/>
            </a:pPr>
            <a:r>
              <a:rPr lang="cs-CZ" sz="2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fr-FR" sz="2400" dirty="0" err="1" smtClean="0">
                <a:solidFill>
                  <a:srgbClr val="000000"/>
                </a:solidFill>
                <a:latin typeface="Consolas"/>
              </a:rPr>
              <a:t>tie</a:t>
            </a:r>
            <a:r>
              <a:rPr lang="fr-FR" sz="2400" dirty="0" smtClean="0">
                <a:solidFill>
                  <a:srgbClr val="000000"/>
                </a:solidFill>
                <a:latin typeface="Consolas"/>
              </a:rPr>
              <a:t>(x1</a:t>
            </a:r>
            <a:r>
              <a:rPr lang="fr-FR" sz="2400" dirty="0">
                <a:solidFill>
                  <a:srgbClr val="000000"/>
                </a:solidFill>
                <a:latin typeface="Consolas"/>
              </a:rPr>
              <a:t>, x2, d) </a:t>
            </a:r>
            <a:r>
              <a:rPr lang="fr-FR" sz="2400" dirty="0">
                <a:solidFill>
                  <a:srgbClr val="008080"/>
                </a:solidFill>
                <a:latin typeface="Consolas"/>
              </a:rPr>
              <a:t>=</a:t>
            </a:r>
            <a:r>
              <a:rPr lang="fr-FR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fr-FR" sz="2400" dirty="0" err="1">
                <a:solidFill>
                  <a:srgbClr val="000000"/>
                </a:solidFill>
                <a:latin typeface="Consolas"/>
              </a:rPr>
              <a:t>rovnice</a:t>
            </a:r>
            <a:r>
              <a:rPr lang="fr-FR" sz="2400" dirty="0">
                <a:solidFill>
                  <a:srgbClr val="000000"/>
                </a:solidFill>
                <a:latin typeface="Consolas"/>
              </a:rPr>
              <a:t>(2, -3, 1);</a:t>
            </a:r>
          </a:p>
          <a:p>
            <a:pPr marL="0" indent="0">
              <a:buNone/>
            </a:pPr>
            <a:r>
              <a:rPr lang="cs-CZ" sz="2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/>
              </a:rPr>
              <a:t>"x1 = "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x1 </a:t>
            </a:r>
            <a:r>
              <a:rPr lang="en-US" sz="24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/>
              </a:rPr>
              <a:t>"\n"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cs-CZ" sz="2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/>
              </a:rPr>
              <a:t>"x2 = "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x2 </a:t>
            </a:r>
            <a:r>
              <a:rPr lang="en-US" sz="24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/>
              </a:rPr>
              <a:t>"\n"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cs-CZ" sz="2400" dirty="0" smtClean="0">
                <a:solidFill>
                  <a:srgbClr val="000000"/>
                </a:solidFill>
                <a:latin typeface="Consolas"/>
              </a:rPr>
              <a:t>   </a:t>
            </a:r>
            <a:r>
              <a:rPr lang="en-US" sz="2400" dirty="0" err="1" smtClean="0">
                <a:solidFill>
                  <a:srgbClr val="000000"/>
                </a:solidFill>
                <a:latin typeface="Consolas"/>
              </a:rPr>
              <a:t>cout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/>
              </a:rPr>
              <a:t>"d  = "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d </a:t>
            </a:r>
            <a:r>
              <a:rPr lang="en-US" sz="2400" dirty="0">
                <a:solidFill>
                  <a:srgbClr val="008080"/>
                </a:solidFill>
                <a:latin typeface="Consolas"/>
              </a:rPr>
              <a:t>&lt;&lt;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/>
              </a:rPr>
              <a:t>"\n"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pPr marL="0" indent="0">
              <a:buNone/>
            </a:pPr>
            <a:r>
              <a:rPr lang="cs-CZ" sz="2400" dirty="0" smtClean="0">
                <a:solidFill>
                  <a:srgbClr val="0000FF"/>
                </a:solidFill>
                <a:latin typeface="Consolas"/>
              </a:rPr>
              <a:t>   </a:t>
            </a:r>
            <a:r>
              <a:rPr lang="en-US" sz="2400" dirty="0" smtClean="0">
                <a:solidFill>
                  <a:srgbClr val="0000FF"/>
                </a:solidFill>
                <a:latin typeface="Consolas"/>
              </a:rPr>
              <a:t>return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0;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/>
              </a:rPr>
              <a:t>}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8A8203-8F0C-433D-A0B7-06684973572B}" type="datetime4">
              <a:rPr lang="en-US" smtClean="0"/>
              <a:t>January 14, 2018</a:t>
            </a:fld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87245D-76CA-4639-8BF0-392510358B79}" type="slidenum">
              <a:rPr lang="cs-CZ" smtClean="0"/>
              <a:pPr>
                <a:defRPr/>
              </a:pPr>
              <a:t>30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7302142"/>
      </p:ext>
    </p:extLst>
  </p:cSld>
  <p:clrMapOvr>
    <a:masterClrMapping/>
  </p:clrMapOvr>
</p:sld>
</file>

<file path=ppt/theme/theme1.xml><?xml version="1.0" encoding="utf-8"?>
<a:theme xmlns:a="http://schemas.openxmlformats.org/drawingml/2006/main" name="Výchozí návrh">
  <a:themeElements>
    <a:clrScheme name="Výchozí návrh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ýchozí návr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ýchozí návrh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ýchozí návrh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ýchozí návrh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ýchozí návrh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ýchozí návrh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ýchozí návrh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ýchozí návrh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ýchozí návrh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ýchozí návrh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ýchozí návrh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ýchozí návrh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ýchozí návrh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9101</TotalTime>
  <Words>2859</Words>
  <Application>Microsoft Office PowerPoint</Application>
  <PresentationFormat>On-screen Show (4:3)</PresentationFormat>
  <Paragraphs>544</Paragraphs>
  <Slides>30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Výchozí návrh</vt:lpstr>
      <vt:lpstr>C++ templates</vt:lpstr>
      <vt:lpstr>Obsah</vt:lpstr>
      <vt:lpstr>Základní druhy šablon</vt:lpstr>
      <vt:lpstr>Šablony funkcí</vt:lpstr>
      <vt:lpstr>Použití šablony funkcí</vt:lpstr>
      <vt:lpstr>Argumenty šablony</vt:lpstr>
      <vt:lpstr>Přetěžování šablon funkcí</vt:lpstr>
      <vt:lpstr>Předávání hodnotou či odkazem</vt:lpstr>
      <vt:lpstr>Předávání referencí</vt:lpstr>
      <vt:lpstr>Šablony tříd</vt:lpstr>
      <vt:lpstr>Použití šablonových tříd</vt:lpstr>
      <vt:lpstr>Výchozí hodnoty</vt:lpstr>
      <vt:lpstr>Šablonové aliasy</vt:lpstr>
      <vt:lpstr>Šablonový parametr šablony</vt:lpstr>
      <vt:lpstr>Netypové parametry šablony</vt:lpstr>
      <vt:lpstr>Netypový parametr: konstanta</vt:lpstr>
      <vt:lpstr>Variadické šablony</vt:lpstr>
      <vt:lpstr>Šablonové proměnné</vt:lpstr>
      <vt:lpstr>Univerzální reference</vt:lpstr>
      <vt:lpstr>Perfect forwarding</vt:lpstr>
      <vt:lpstr>Dynamický polymorfismus</vt:lpstr>
      <vt:lpstr>Dynamický polymorfismus</vt:lpstr>
      <vt:lpstr>Statický polymorfismus</vt:lpstr>
      <vt:lpstr>Statický polymorfismus</vt:lpstr>
      <vt:lpstr>Curiosly recurring pattern</vt:lpstr>
      <vt:lpstr>Traits vs. Policy</vt:lpstr>
      <vt:lpstr>Traits</vt:lpstr>
      <vt:lpstr>Policy</vt:lpstr>
      <vt:lpstr>N-tice, tuples</vt:lpstr>
      <vt:lpstr>Rozbalení n-tice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MSCPP0</dc:title>
  <dc:creator>petr</dc:creator>
  <cp:lastModifiedBy>Petr Krulik (CZ)</cp:lastModifiedBy>
  <cp:revision>309</cp:revision>
  <dcterms:created xsi:type="dcterms:W3CDTF">2005-03-02T12:37:00Z</dcterms:created>
  <dcterms:modified xsi:type="dcterms:W3CDTF">2018-01-14T19:00:07Z</dcterms:modified>
</cp:coreProperties>
</file>