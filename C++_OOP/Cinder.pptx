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73" r:id="rId13"/>
    <p:sldId id="274" r:id="rId14"/>
    <p:sldId id="275" r:id="rId15"/>
    <p:sldId id="276" r:id="rId16"/>
    <p:sldId id="269" r:id="rId17"/>
    <p:sldId id="277" r:id="rId18"/>
    <p:sldId id="257" r:id="rId19"/>
    <p:sldId id="272" r:id="rId20"/>
    <p:sldId id="271" r:id="rId21"/>
    <p:sldId id="270" r:id="rId22"/>
    <p:sldId id="268" r:id="rId23"/>
  </p:sldIdLst>
  <p:sldSz cx="9144000" cy="6858000" type="screen4x3"/>
  <p:notesSz cx="6858000" cy="9144000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 autoAdjust="0"/>
    <p:restoredTop sz="84114" autoAdjust="0"/>
  </p:normalViewPr>
  <p:slideViewPr>
    <p:cSldViewPr>
      <p:cViewPr varScale="1">
        <p:scale>
          <a:sx n="102" d="100"/>
          <a:sy n="102" d="100"/>
        </p:scale>
        <p:origin x="-188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A4B1447-925A-4141-99CF-A37E82C5C937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221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952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noProof="0" smtClean="0"/>
              <a:t>Klepnutím lze upravit styly předlohy textu.</a:t>
            </a:r>
          </a:p>
          <a:p>
            <a:pPr lvl="1"/>
            <a:r>
              <a:rPr lang="cs-CZ" noProof="0" smtClean="0"/>
              <a:t>Druhá úroveň</a:t>
            </a:r>
          </a:p>
          <a:p>
            <a:pPr lvl="2"/>
            <a:r>
              <a:rPr lang="cs-CZ" noProof="0" smtClean="0"/>
              <a:t>Třetí úroveň</a:t>
            </a:r>
          </a:p>
          <a:p>
            <a:pPr lvl="3"/>
            <a:r>
              <a:rPr lang="cs-CZ" noProof="0" smtClean="0"/>
              <a:t>Čtvrtá úroveň</a:t>
            </a:r>
          </a:p>
          <a:p>
            <a:pPr lvl="4"/>
            <a:r>
              <a:rPr lang="cs-CZ" noProof="0" smtClean="0"/>
              <a:t>Pátá úroveň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01D15F9-D65D-4252-AADF-28B59525DF81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89825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891611B-5E39-484D-85F4-F727E6B8438C}" type="slidenum">
              <a:rPr lang="cs-CZ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cs-CZ" altLang="en-US" smtClean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 smtClean="0"/>
              <a:t>Game development:</a:t>
            </a:r>
          </a:p>
          <a:p>
            <a:pPr eaLnBrk="1" hangingPunct="1"/>
            <a:r>
              <a:rPr lang="en-US" altLang="en-US" dirty="0" smtClean="0"/>
              <a:t>http://inventwithpython.com/blog/2010/09/01/the-top-10-pygame-tutorials/</a:t>
            </a:r>
          </a:p>
          <a:p>
            <a:pPr eaLnBrk="1" hangingPunct="1"/>
            <a:endParaRPr lang="en-US" alt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EBEEEC-CF9B-45CE-A09E-7BE72E8B73DC}" type="slidenum">
              <a:rPr lang="cs-CZ" altLang="en-US" smtClean="0"/>
              <a:pPr eaLnBrk="1" hangingPunct="1">
                <a:spcBef>
                  <a:spcPct val="0"/>
                </a:spcBef>
              </a:pPr>
              <a:t>2</a:t>
            </a:fld>
            <a:endParaRPr lang="cs-CZ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EBEEEC-CF9B-45CE-A09E-7BE72E8B73DC}" type="slidenum">
              <a:rPr lang="cs-CZ" altLang="en-US" smtClean="0"/>
              <a:pPr eaLnBrk="1" hangingPunct="1">
                <a:spcBef>
                  <a:spcPct val="0"/>
                </a:spcBef>
              </a:pPr>
              <a:t>3</a:t>
            </a:fld>
            <a:endParaRPr lang="cs-CZ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EBEEEC-CF9B-45CE-A09E-7BE72E8B73DC}" type="slidenum">
              <a:rPr lang="cs-CZ" altLang="en-US" smtClean="0"/>
              <a:pPr eaLnBrk="1" hangingPunct="1">
                <a:spcBef>
                  <a:spcPct val="0"/>
                </a:spcBef>
              </a:pPr>
              <a:t>4</a:t>
            </a:fld>
            <a:endParaRPr lang="cs-CZ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EBEEEC-CF9B-45CE-A09E-7BE72E8B73DC}" type="slidenum">
              <a:rPr lang="cs-CZ" altLang="en-US" smtClean="0"/>
              <a:pPr eaLnBrk="1" hangingPunct="1">
                <a:spcBef>
                  <a:spcPct val="0"/>
                </a:spcBef>
              </a:pPr>
              <a:t>5</a:t>
            </a:fld>
            <a:endParaRPr lang="cs-CZ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EBEEEC-CF9B-45CE-A09E-7BE72E8B73DC}" type="slidenum">
              <a:rPr lang="cs-CZ" altLang="en-US" smtClean="0"/>
              <a:pPr eaLnBrk="1" hangingPunct="1">
                <a:spcBef>
                  <a:spcPct val="0"/>
                </a:spcBef>
              </a:pPr>
              <a:t>6</a:t>
            </a:fld>
            <a:endParaRPr lang="cs-CZ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EBEEEC-CF9B-45CE-A09E-7BE72E8B73DC}" type="slidenum">
              <a:rPr lang="cs-CZ" altLang="en-US" smtClean="0"/>
              <a:pPr eaLnBrk="1" hangingPunct="1">
                <a:spcBef>
                  <a:spcPct val="0"/>
                </a:spcBef>
              </a:pPr>
              <a:t>7</a:t>
            </a:fld>
            <a:endParaRPr lang="cs-CZ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EBEEEC-CF9B-45CE-A09E-7BE72E8B73DC}" type="slidenum">
              <a:rPr lang="cs-CZ" altLang="en-US" smtClean="0"/>
              <a:pPr eaLnBrk="1" hangingPunct="1">
                <a:spcBef>
                  <a:spcPct val="0"/>
                </a:spcBef>
              </a:pPr>
              <a:t>8</a:t>
            </a:fld>
            <a:endParaRPr lang="cs-CZ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EBEEEC-CF9B-45CE-A09E-7BE72E8B73DC}" type="slidenum">
              <a:rPr lang="cs-CZ" altLang="en-US" smtClean="0"/>
              <a:pPr eaLnBrk="1" hangingPunct="1">
                <a:spcBef>
                  <a:spcPct val="0"/>
                </a:spcBef>
              </a:pPr>
              <a:t>9</a:t>
            </a:fld>
            <a:endParaRPr lang="cs-CZ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EBEEEC-CF9B-45CE-A09E-7BE72E8B73DC}" type="slidenum">
              <a:rPr lang="cs-CZ" altLang="en-US" smtClean="0"/>
              <a:pPr eaLnBrk="1" hangingPunct="1">
                <a:spcBef>
                  <a:spcPct val="0"/>
                </a:spcBef>
              </a:pPr>
              <a:t>10</a:t>
            </a:fld>
            <a:endParaRPr lang="cs-CZ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EBEEEC-CF9B-45CE-A09E-7BE72E8B73DC}" type="slidenum">
              <a:rPr lang="cs-CZ" altLang="en-US" smtClean="0"/>
              <a:pPr eaLnBrk="1" hangingPunct="1">
                <a:spcBef>
                  <a:spcPct val="0"/>
                </a:spcBef>
              </a:pPr>
              <a:t>11</a:t>
            </a:fld>
            <a:endParaRPr lang="cs-CZ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EBEEEC-CF9B-45CE-A09E-7BE72E8B73DC}" type="slidenum">
              <a:rPr lang="cs-CZ" altLang="en-US" smtClean="0"/>
              <a:pPr eaLnBrk="1" hangingPunct="1">
                <a:spcBef>
                  <a:spcPct val="0"/>
                </a:spcBef>
              </a:pPr>
              <a:t>15</a:t>
            </a:fld>
            <a:endParaRPr lang="cs-CZ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 smtClean="0"/>
              <a:t>https://libcinder.org/docs/guides/cinder-images/index.html</a:t>
            </a:r>
            <a:endParaRPr lang="en-US" altLang="en-U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EBEEEC-CF9B-45CE-A09E-7BE72E8B73DC}" type="slidenum">
              <a:rPr lang="cs-CZ" altLang="en-US" smtClean="0"/>
              <a:pPr eaLnBrk="1" hangingPunct="1">
                <a:spcBef>
                  <a:spcPct val="0"/>
                </a:spcBef>
              </a:pPr>
              <a:t>16</a:t>
            </a:fld>
            <a:endParaRPr lang="cs-CZ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EBEEEC-CF9B-45CE-A09E-7BE72E8B73DC}" type="slidenum">
              <a:rPr lang="cs-CZ" altLang="en-US" smtClean="0"/>
              <a:pPr eaLnBrk="1" hangingPunct="1">
                <a:spcBef>
                  <a:spcPct val="0"/>
                </a:spcBef>
              </a:pPr>
              <a:t>17</a:t>
            </a:fld>
            <a:endParaRPr lang="cs-CZ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EBEEEC-CF9B-45CE-A09E-7BE72E8B73DC}" type="slidenum">
              <a:rPr lang="cs-CZ" altLang="en-US" smtClean="0"/>
              <a:pPr eaLnBrk="1" hangingPunct="1">
                <a:spcBef>
                  <a:spcPct val="0"/>
                </a:spcBef>
              </a:pPr>
              <a:t>18</a:t>
            </a:fld>
            <a:endParaRPr lang="cs-CZ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zelena</a:t>
            </a:r>
            <a:r>
              <a:rPr lang="en-US" dirty="0" smtClean="0"/>
              <a:t>  </a:t>
            </a:r>
            <a:r>
              <a:rPr lang="en-US" dirty="0" err="1" smtClean="0"/>
              <a:t>rgb</a:t>
            </a:r>
            <a:r>
              <a:rPr lang="en-US" dirty="0" smtClean="0"/>
              <a:t>(146,208,80)	</a:t>
            </a:r>
            <a:r>
              <a:rPr lang="en-US" baseline="0" dirty="0" smtClean="0"/>
              <a:t> hex(0x92D050)</a:t>
            </a:r>
            <a:endParaRPr lang="en-US" dirty="0" smtClean="0"/>
          </a:p>
          <a:p>
            <a:r>
              <a:rPr lang="en-US" dirty="0" err="1" smtClean="0"/>
              <a:t>modra</a:t>
            </a:r>
            <a:r>
              <a:rPr lang="en-US" dirty="0" smtClean="0"/>
              <a:t>  </a:t>
            </a:r>
            <a:r>
              <a:rPr lang="en-US" dirty="0" err="1" smtClean="0"/>
              <a:t>rgb</a:t>
            </a:r>
            <a:r>
              <a:rPr lang="en-US" dirty="0" smtClean="0"/>
              <a:t>(0,112,192)       hex(0x0070C0)</a:t>
            </a:r>
          </a:p>
          <a:p>
            <a:r>
              <a:rPr lang="en-US" dirty="0" err="1" smtClean="0"/>
              <a:t>zluta</a:t>
            </a:r>
            <a:r>
              <a:rPr lang="en-US" dirty="0" smtClean="0"/>
              <a:t>    </a:t>
            </a:r>
            <a:r>
              <a:rPr lang="en-US" dirty="0" err="1" smtClean="0"/>
              <a:t>rgb</a:t>
            </a:r>
            <a:r>
              <a:rPr lang="en-US" dirty="0" smtClean="0"/>
              <a:t>(255,192,0)       hex(0xFFC000)</a:t>
            </a:r>
          </a:p>
          <a:p>
            <a:r>
              <a:rPr lang="en-US" dirty="0" err="1" smtClean="0"/>
              <a:t>pozadi</a:t>
            </a:r>
            <a:r>
              <a:rPr lang="en-US" dirty="0" smtClean="0"/>
              <a:t>  </a:t>
            </a:r>
            <a:r>
              <a:rPr lang="en-US" dirty="0" err="1" smtClean="0"/>
              <a:t>rgb</a:t>
            </a:r>
            <a:r>
              <a:rPr lang="en-US" dirty="0" smtClean="0"/>
              <a:t>(232,238,247)   hex(0xE8EEF7)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1D15F9-D65D-4252-AADF-28B59525DF81}" type="slidenum">
              <a:rPr lang="cs-CZ" smtClean="0"/>
              <a:pPr>
                <a:defRPr/>
              </a:pPr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60142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Program arcade games</a:t>
            </a:r>
          </a:p>
          <a:p>
            <a:r>
              <a:rPr lang="en-US" dirty="0" smtClean="0"/>
              <a:t>http://www.balloonbuilding.com/index.php?chapter=recursion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1D15F9-D65D-4252-AADF-28B59525DF81}" type="slidenum">
              <a:rPr lang="cs-CZ" smtClean="0"/>
              <a:pPr>
                <a:defRPr/>
              </a:pPr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56866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Program arcade games</a:t>
            </a:r>
          </a:p>
          <a:p>
            <a:r>
              <a:rPr lang="en-US" dirty="0" smtClean="0"/>
              <a:t>http://www.balloonbuilding.com/index.php?chapter=recursion</a:t>
            </a:r>
            <a:endParaRPr lang="cs-CZ" dirty="0" smtClean="0"/>
          </a:p>
          <a:p>
            <a:r>
              <a:rPr lang="en-US" dirty="0" smtClean="0"/>
              <a:t>http://openbookproject.net/thinkcs/python/english3e/recursion.html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1D15F9-D65D-4252-AADF-28B59525DF81}" type="slidenum">
              <a:rPr lang="cs-CZ" smtClean="0"/>
              <a:pPr>
                <a:defRPr/>
              </a:pPr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38446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EBEEEC-CF9B-45CE-A09E-7BE72E8B73DC}" type="slidenum">
              <a:rPr lang="cs-CZ" altLang="en-US" smtClean="0"/>
              <a:pPr eaLnBrk="1" hangingPunct="1">
                <a:spcBef>
                  <a:spcPct val="0"/>
                </a:spcBef>
              </a:pPr>
              <a:t>22</a:t>
            </a:fld>
            <a:endParaRPr lang="cs-CZ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cs-CZ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2C067F-E6A7-4908-8766-AAF35AAA44C5}" type="datetime4">
              <a:rPr lang="en-US" smtClean="0"/>
              <a:t>October 4, 2015</a:t>
            </a:fld>
            <a:endParaRPr lang="cs-C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295E3-9E8E-49AD-8503-B087CB7A3479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0869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A8203-8F0C-433D-A0B7-06684973572B}" type="datetime4">
              <a:rPr lang="en-US" smtClean="0"/>
              <a:t>October 4, 2015</a:t>
            </a:fld>
            <a:endParaRPr lang="cs-C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7245D-76CA-4639-8BF0-392510358B79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975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22EFCD-8351-4D66-BF49-F5546A00A984}" type="datetime4">
              <a:rPr lang="en-US" smtClean="0"/>
              <a:t>October 4, 2015</a:t>
            </a:fld>
            <a:endParaRPr lang="cs-C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82190C-A9AD-4EBA-A33D-4D35959AB81A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7637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2CBB2B-2FFD-4BBF-8890-09608BA364C8}" type="datetime4">
              <a:rPr lang="en-US" smtClean="0"/>
              <a:t>October 4, 2015</a:t>
            </a:fld>
            <a:endParaRPr lang="cs-CZ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BEBC39-52FF-4A43-9EE1-839C38EAC9E8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8539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7E382-DCE6-447B-9B81-786CA32CAA56}" type="datetime4">
              <a:rPr lang="en-US" smtClean="0"/>
              <a:t>October 4, 2015</a:t>
            </a:fld>
            <a:endParaRPr lang="cs-CZ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6FE532-F6D5-4CE3-8202-EBBC50D1625E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035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EA26C7-9877-41CB-9557-CEFD301DBA86}" type="datetime4">
              <a:rPr lang="en-US" smtClean="0"/>
              <a:t>October 4, 2015</a:t>
            </a:fld>
            <a:endParaRPr lang="cs-CZ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A6C3DC-8870-41DD-B3DC-6AC8988BF3AB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8289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7630B5-3526-44B8-9688-F6E679B7CDC1}" type="datetime4">
              <a:rPr lang="en-US" smtClean="0"/>
              <a:t>October 4, 2015</a:t>
            </a:fld>
            <a:endParaRPr lang="cs-CZ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F3A25-6C69-44F1-A6EA-7BAC30A32A5A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647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1E8B55-99FD-46FD-8EF5-3E6ADC293FA4}" type="datetime4">
              <a:rPr lang="en-US" smtClean="0"/>
              <a:t>October 4, 2015</a:t>
            </a:fld>
            <a:endParaRPr lang="cs-CZ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45B642-8378-4A30-A40A-627A7D33B56F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871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7F435-3A40-487A-8F88-9EF9CFA5DA23}" type="datetime4">
              <a:rPr lang="en-US" smtClean="0"/>
              <a:t>October 4, 2015</a:t>
            </a:fld>
            <a:endParaRPr lang="cs-CZ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6A0B1-17F7-45D4-86AC-02E199349445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12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60336-5F31-46E9-9C1F-0E437A274391}" type="datetime4">
              <a:rPr lang="en-US" smtClean="0"/>
              <a:t>October 4, 2015</a:t>
            </a:fld>
            <a:endParaRPr lang="cs-C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3006EC-B546-4C2F-AE37-5554CC5E7D8B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865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34201-FAAF-49BE-B106-B066E7FF90A2}" type="datetime4">
              <a:rPr lang="en-US" smtClean="0"/>
              <a:t>October 4, 2015</a:t>
            </a:fld>
            <a:endParaRPr lang="cs-C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8DB66-4B94-437A-9CDE-481687411474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3703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0A3D7-9A06-42C3-B8B2-3CA17E91D72E}" type="datetime4">
              <a:rPr lang="en-US" smtClean="0"/>
              <a:t>October 4, 2015</a:t>
            </a:fld>
            <a:endParaRPr lang="cs-CZ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EDDC7-E11A-4E44-B9F4-B3DBD1E4CEA8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0132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C9A270-A932-425C-B27F-ED8DD86B00A7}" type="datetime4">
              <a:rPr lang="en-US" smtClean="0"/>
              <a:t>October 4, 2015</a:t>
            </a:fld>
            <a:endParaRPr lang="cs-CZ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695856-8F1D-4CB9-B36D-8E261EDF2C81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89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08CB0-DB7D-4675-9F40-E197D0B6BC55}" type="datetime4">
              <a:rPr lang="en-US" smtClean="0"/>
              <a:t>October 4, 2015</a:t>
            </a:fld>
            <a:endParaRPr lang="cs-CZ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F6F44-4899-4DB6-9A10-4819A643A0F1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3027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cs-CZ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B789C-D357-428B-AE03-0E1AAE6C5B4C}" type="datetime4">
              <a:rPr lang="en-US" smtClean="0"/>
              <a:t>October 4, 2015</a:t>
            </a:fld>
            <a:endParaRPr lang="cs-C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511F65-6BF0-4365-9D0E-EA3636327806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04469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0B4C62-F00E-4EB0-BA01-D68596AE58F5}" type="datetime4">
              <a:rPr lang="en-US" smtClean="0"/>
              <a:t>October 4, 2015</a:t>
            </a:fld>
            <a:endParaRPr lang="cs-CZ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80BC2-5275-4466-A60E-39ECA28BEA18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1620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97C2D-C85C-4253-ADC8-9B6DA13D1400}" type="datetime4">
              <a:rPr lang="en-US" smtClean="0"/>
              <a:t>October 4, 2015</a:t>
            </a:fld>
            <a:endParaRPr lang="cs-CZ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19FB26-D721-46CF-8668-79BF260DCB4C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2335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en-US" smtClean="0"/>
              <a:t>Klepnutím lze upravit styl předlohy nadpisů.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en-US" smtClean="0"/>
              <a:t>Klepnutím lze upravit styly předlohy textu.</a:t>
            </a:r>
          </a:p>
          <a:p>
            <a:pPr lvl="1"/>
            <a:r>
              <a:rPr lang="cs-CZ" altLang="en-US" smtClean="0"/>
              <a:t>Druhá úroveň</a:t>
            </a:r>
          </a:p>
          <a:p>
            <a:pPr lvl="2"/>
            <a:r>
              <a:rPr lang="cs-CZ" altLang="en-US" smtClean="0"/>
              <a:t>Třetí úroveň</a:t>
            </a:r>
          </a:p>
          <a:p>
            <a:pPr lvl="3"/>
            <a:r>
              <a:rPr lang="cs-CZ" altLang="en-US" smtClean="0"/>
              <a:t>Čtvrtá úroveň</a:t>
            </a:r>
          </a:p>
          <a:p>
            <a:pPr lvl="4"/>
            <a:r>
              <a:rPr lang="cs-CZ" altLang="en-US" smtClean="0"/>
              <a:t>Pátá úroveň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C1F88F86-AABC-46CD-B705-B239B6863B62}" type="datetime4">
              <a:rPr lang="en-US" smtClean="0"/>
              <a:t>October 4, 2015</a:t>
            </a:fld>
            <a:endParaRPr lang="cs-CZ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DEA1413-2175-437F-B3C9-184A9189A48A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Web_colors#X11_color_names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 smtClean="0"/>
              <a:t>Cinder framework</a:t>
            </a:r>
            <a:endParaRPr lang="cs-CZ" altLang="en-US" dirty="0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cs-CZ" altLang="en-US" dirty="0" smtClean="0"/>
              <a:t>Petr Krulík</a:t>
            </a:r>
          </a:p>
          <a:p>
            <a:pPr eaLnBrk="1" hangingPunct="1"/>
            <a:r>
              <a:rPr lang="en-US" altLang="en-US" dirty="0" smtClean="0"/>
              <a:t>p</a:t>
            </a:r>
            <a:r>
              <a:rPr lang="cs-CZ" altLang="en-US" dirty="0" smtClean="0"/>
              <a:t>etr.krulik</a:t>
            </a:r>
            <a:r>
              <a:rPr lang="en-US" altLang="en-US" dirty="0" smtClean="0"/>
              <a:t>@gopas.cz</a:t>
            </a:r>
            <a:endParaRPr lang="cs-CZ" altLang="en-US" dirty="0" smtClean="0"/>
          </a:p>
        </p:txBody>
      </p:sp>
      <p:pic>
        <p:nvPicPr>
          <p:cNvPr id="2052" name="Obrázek 8" descr="cid:image001.jpg@01CA7E5D.022FDD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981075"/>
            <a:ext cx="57531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C4D11E-EB9F-4379-98D7-CA988C4B202C}" type="datetime4">
              <a:rPr lang="en-US" smtClean="0"/>
              <a:t>October 4, 2015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3295E3-9E8E-49AD-8503-B087CB7A3479}" type="slidenum">
              <a:rPr lang="cs-CZ" smtClean="0"/>
              <a:pPr>
                <a:defRPr/>
              </a:pPr>
              <a:t>1</a:t>
            </a:fld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Aplika</a:t>
            </a:r>
            <a:r>
              <a:rPr lang="cs-CZ" altLang="en-US" dirty="0" smtClean="0"/>
              <a:t>ční m</a:t>
            </a:r>
            <a:r>
              <a:rPr lang="en-US" altLang="en-US" dirty="0" err="1" smtClean="0"/>
              <a:t>odel</a:t>
            </a:r>
            <a:r>
              <a:rPr lang="en-US" altLang="en-US" dirty="0" smtClean="0"/>
              <a:t> </a:t>
            </a:r>
            <a:endParaRPr lang="cs-CZ" alt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64050" y="2060847"/>
            <a:ext cx="4222750" cy="4065315"/>
          </a:xfrm>
        </p:spPr>
        <p:txBody>
          <a:bodyPr/>
          <a:lstStyle/>
          <a:p>
            <a:pPr eaLnBrk="1" hangingPunct="1"/>
            <a:r>
              <a:rPr lang="cs-CZ" altLang="en-US" sz="2800" dirty="0" smtClean="0"/>
              <a:t>Cyklus se opakuje podle nastavené framerate.</a:t>
            </a:r>
          </a:p>
          <a:p>
            <a:pPr eaLnBrk="1" hangingPunct="1"/>
            <a:r>
              <a:rPr lang="cs-CZ" altLang="en-US" sz="2800" dirty="0" smtClean="0"/>
              <a:t>Kreslit je možné jen uvnitř draw metody.</a:t>
            </a:r>
          </a:p>
          <a:p>
            <a:pPr eaLnBrk="1" hangingPunct="1"/>
            <a:r>
              <a:rPr lang="cs-CZ" altLang="en-US" sz="2800" dirty="0" smtClean="0"/>
              <a:t>Funkce jsou virtuální, překrýváte je podle potřeby.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cs-CZ" altLang="en-US" sz="1800" i="1" dirty="0" smtClean="0"/>
              <a:t>Sekvence volání Cinder frameworku.</a:t>
            </a:r>
            <a:endParaRPr lang="cs-CZ" altLang="en-US" sz="18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896BB-FE85-4FDA-93EA-4D08E89331D1}" type="datetime4">
              <a:rPr lang="en-US" smtClean="0"/>
              <a:t>October 4, 2015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2</a:t>
            </a:fld>
            <a:endParaRPr lang="cs-CZ"/>
          </a:p>
        </p:txBody>
      </p:sp>
      <p:pic>
        <p:nvPicPr>
          <p:cNvPr id="1026" name="Picture 2" descr="CinderLoo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031454"/>
            <a:ext cx="3838575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188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en-US" dirty="0" smtClean="0"/>
              <a:t>Vstupní body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60847"/>
            <a:ext cx="8229600" cy="406531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prepareSettings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Settings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*settings 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setup();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shutdown();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update();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draw();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mouseDown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MouseEvent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event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mouseUp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MouseEvent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event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mouseMove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MouseEvent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event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mouseDrag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MouseEvent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event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);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keyDown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KeyEvent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event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keyUp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KeyEvent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event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);</a:t>
            </a:r>
          </a:p>
          <a:p>
            <a:pPr marL="0" indent="0" eaLnBrk="1" hangingPunct="1">
              <a:buNone/>
            </a:pPr>
            <a:endParaRPr lang="cs-CZ" altLang="en-US" sz="2800" dirty="0" smtClean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cs-CZ" altLang="en-US" sz="1800" i="1" dirty="0" smtClean="0"/>
              <a:t>Nejčastěji překrývané virtuální funkce.</a:t>
            </a:r>
            <a:endParaRPr lang="cs-CZ" altLang="en-US" sz="18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896BB-FE85-4FDA-93EA-4D08E89331D1}" type="datetime4">
              <a:rPr lang="en-US" smtClean="0"/>
              <a:t>October 4, 2015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6891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en-US" dirty="0" smtClean="0"/>
              <a:t>2D bod nebo vektor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60847"/>
            <a:ext cx="8229600" cy="4065315"/>
          </a:xfrm>
        </p:spPr>
        <p:txBody>
          <a:bodyPr/>
          <a:lstStyle/>
          <a:p>
            <a:pPr marL="0" indent="0">
              <a:buNone/>
            </a:pPr>
            <a:r>
              <a:rPr lang="it-IT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it-IT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a = </a:t>
            </a:r>
            <a:r>
              <a:rPr lang="it-IT" sz="20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Vec2f</a:t>
            </a:r>
            <a:r>
              <a:rPr lang="it-IT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</a:t>
            </a:r>
            <a:r>
              <a:rPr lang="it-IT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};</a:t>
            </a:r>
            <a:r>
              <a:rPr lang="cs-CZ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		</a:t>
            </a:r>
            <a:r>
              <a:rPr lang="it-IT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po</a:t>
            </a:r>
            <a:r>
              <a:rPr lang="cs-CZ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čá</a:t>
            </a:r>
            <a:r>
              <a:rPr lang="it-IT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tek </a:t>
            </a:r>
            <a:r>
              <a:rPr lang="it-IT" sz="20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[0,0]</a:t>
            </a:r>
            <a:endParaRPr lang="it-IT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b =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Vec2f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3, 4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}; </a:t>
            </a:r>
            <a:r>
              <a:rPr lang="cs-CZ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</a:t>
            </a:r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bod [3,4</a:t>
            </a:r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]</a:t>
            </a:r>
            <a:endParaRPr lang="cs-CZ" sz="2000" dirty="0" smtClean="0">
              <a:solidFill>
                <a:srgbClr val="008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 a == b ) </a:t>
            </a:r>
            <a:r>
              <a:rPr lang="cs-CZ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		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/* </a:t>
            </a:r>
            <a:r>
              <a:rPr lang="en-US" sz="2000" dirty="0" err="1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jsou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stejn</a:t>
            </a:r>
            <a:r>
              <a:rPr lang="cs-CZ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é </a:t>
            </a:r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*/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 a != b ) </a:t>
            </a:r>
            <a:r>
              <a:rPr lang="cs-CZ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		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/* </a:t>
            </a:r>
            <a:r>
              <a:rPr lang="en-US" sz="2000" dirty="0" err="1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jsou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r</a:t>
            </a:r>
            <a:r>
              <a:rPr lang="cs-CZ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ů</a:t>
            </a:r>
            <a:r>
              <a:rPr lang="en-US" sz="20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zn</a:t>
            </a:r>
            <a:r>
              <a:rPr lang="cs-CZ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é </a:t>
            </a:r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*/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}</a:t>
            </a:r>
            <a:endParaRPr lang="cs-CZ" sz="2000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 += 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1</a:t>
            </a:r>
            <a:r>
              <a:rPr lang="cs-CZ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0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 </a:t>
            </a:r>
            <a:r>
              <a:rPr lang="cs-CZ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		</a:t>
            </a:r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p</a:t>
            </a:r>
            <a:r>
              <a:rPr lang="cs-CZ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ř</a:t>
            </a:r>
            <a:r>
              <a:rPr lang="en-US" sz="20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cs-CZ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č</a:t>
            </a:r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ten</a:t>
            </a:r>
            <a:r>
              <a:rPr lang="cs-CZ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í</a:t>
            </a:r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 1</a:t>
            </a:r>
            <a:r>
              <a:rPr lang="cs-CZ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0</a:t>
            </a:r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k </a:t>
            </a:r>
            <a:r>
              <a:rPr lang="en-US" sz="2000" dirty="0" err="1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oboum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slo</a:t>
            </a:r>
            <a:r>
              <a:rPr lang="cs-CZ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ž</a:t>
            </a:r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k</a:t>
            </a:r>
            <a:r>
              <a:rPr lang="cs-CZ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á</a:t>
            </a:r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m</a:t>
            </a:r>
            <a:endParaRPr lang="cs-CZ" sz="2000" dirty="0" smtClean="0">
              <a:solidFill>
                <a:srgbClr val="008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 = b * 2; </a:t>
            </a:r>
            <a:r>
              <a:rPr lang="cs-CZ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	</a:t>
            </a:r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</a:t>
            </a:r>
            <a:r>
              <a:rPr lang="en-US" sz="20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vyn</a:t>
            </a:r>
            <a:r>
              <a:rPr lang="cs-CZ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á</a:t>
            </a:r>
            <a:r>
              <a:rPr lang="en-US" sz="20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soben</a:t>
            </a:r>
            <a:r>
              <a:rPr lang="cs-CZ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í</a:t>
            </a:r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obou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slo</a:t>
            </a:r>
            <a:r>
              <a:rPr lang="cs-CZ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ž</a:t>
            </a:r>
            <a:r>
              <a:rPr lang="en-US" sz="20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ek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pl-PL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pl-PL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pl-PL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 </a:t>
            </a:r>
            <a:r>
              <a:rPr lang="pl-PL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 a + b; </a:t>
            </a:r>
            <a:r>
              <a:rPr lang="pl-PL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	</a:t>
            </a:r>
            <a:r>
              <a:rPr lang="pl-PL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součet </a:t>
            </a:r>
            <a:r>
              <a:rPr lang="pl-PL" sz="20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po </a:t>
            </a:r>
            <a:r>
              <a:rPr lang="pl-PL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složkách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cs-CZ" altLang="en-US" sz="1800" i="1" dirty="0" smtClean="0"/>
              <a:t>Třídy Vec2f, Vec2i</a:t>
            </a:r>
            <a:endParaRPr lang="cs-CZ" altLang="en-US" sz="18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896BB-FE85-4FDA-93EA-4D08E89331D1}" type="datetime4">
              <a:rPr lang="en-US" smtClean="0"/>
              <a:t>October 4, 2015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4</a:t>
            </a:fld>
            <a:endParaRPr lang="cs-CZ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982663"/>
            <a:ext cx="5619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9636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en-US" dirty="0" smtClean="0"/>
              <a:t>Délka vektoru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87824" y="2060847"/>
            <a:ext cx="5698976" cy="4065315"/>
          </a:xfrm>
        </p:spPr>
        <p:txBody>
          <a:bodyPr/>
          <a:lstStyle/>
          <a:p>
            <a:pPr marL="0" indent="0" eaLnBrk="1" hangingPunct="1">
              <a:buNone/>
            </a:pPr>
            <a:endParaRPr lang="cs-CZ" sz="2800" dirty="0" smtClean="0">
              <a:solidFill>
                <a:srgbClr val="008000"/>
              </a:solidFill>
              <a:highlight>
                <a:srgbClr val="FFFFFF"/>
              </a:highlight>
              <a:latin typeface="Consolas"/>
            </a:endParaRPr>
          </a:p>
          <a:p>
            <a:pPr marL="0" indent="0" eaLnBrk="1" hangingPunct="1">
              <a:buNone/>
            </a:pPr>
            <a:r>
              <a:rPr lang="en-US" sz="2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</a:t>
            </a:r>
            <a:r>
              <a:rPr lang="cs-CZ" sz="2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Pythagorova věta</a:t>
            </a:r>
            <a:endParaRPr lang="cs-CZ" sz="2800" dirty="0" smtClean="0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 marL="0" indent="0" eaLnBrk="1" hangingPunct="1">
              <a:buNone/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 </a:t>
            </a:r>
            <a:r>
              <a:rPr lang="en-US" sz="28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Vec2f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8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.f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4.f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};</a:t>
            </a:r>
            <a:endParaRPr lang="cs-CZ" sz="2800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 eaLnBrk="1" hangingPunct="1">
              <a:buNone/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float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prepona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.length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  <a:endParaRPr lang="cs-CZ" altLang="en-US" sz="2800" dirty="0" smtClean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cs-CZ" altLang="en-US" sz="1800" i="1" dirty="0" smtClean="0"/>
              <a:t>Vzdálenost od bodu počátku</a:t>
            </a:r>
            <a:endParaRPr lang="cs-CZ" altLang="en-US" sz="18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896BB-FE85-4FDA-93EA-4D08E89331D1}" type="datetime4">
              <a:rPr lang="en-US" smtClean="0"/>
              <a:t>October 4, 2015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5</a:t>
            </a:fld>
            <a:endParaRPr lang="cs-CZ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988840"/>
            <a:ext cx="2209800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732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en-US" dirty="0" smtClean="0"/>
              <a:t>Vzdálenost dvou bodů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3808" y="2060847"/>
            <a:ext cx="5842992" cy="4065315"/>
          </a:xfrm>
        </p:spPr>
        <p:txBody>
          <a:bodyPr/>
          <a:lstStyle/>
          <a:p>
            <a:pPr marL="0" indent="0" eaLnBrk="1" hangingPunct="1">
              <a:buNone/>
            </a:pPr>
            <a:endParaRPr lang="cs-CZ" sz="2800" dirty="0" smtClean="0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 marL="0" indent="0" eaLnBrk="1" hangingPunct="1">
              <a:buNone/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a = </a:t>
            </a:r>
            <a:r>
              <a:rPr lang="en-US" sz="28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Vec2f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4, 8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};</a:t>
            </a:r>
            <a:endParaRPr lang="cs-CZ" sz="2800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 eaLnBrk="1" hangingPunct="1">
              <a:buNone/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 </a:t>
            </a:r>
            <a:r>
              <a:rPr lang="en-US" sz="28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Vec2f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r>
              <a:rPr lang="cs-CZ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8, 4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};</a:t>
            </a:r>
            <a:endParaRPr lang="cs-CZ" sz="2800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 eaLnBrk="1" hangingPunct="1">
              <a:buNone/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float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elka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a.distance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(b);</a:t>
            </a:r>
            <a:endParaRPr lang="cs-CZ" altLang="en-US" sz="2800" dirty="0" smtClean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cs-CZ" altLang="en-US" sz="1800" i="1" dirty="0" smtClean="0"/>
              <a:t>Délka úsečky mezi body a, b.</a:t>
            </a:r>
            <a:endParaRPr lang="cs-CZ" altLang="en-US" sz="18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896BB-FE85-4FDA-93EA-4D08E89331D1}" type="datetime4">
              <a:rPr lang="en-US" smtClean="0"/>
              <a:t>October 4, 2015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6</a:t>
            </a:fld>
            <a:endParaRPr lang="cs-CZ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060848"/>
            <a:ext cx="212407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31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en-US" dirty="0" smtClean="0"/>
              <a:t>Lineární interpolace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9792" y="2060847"/>
            <a:ext cx="5987008" cy="4065315"/>
          </a:xfrm>
        </p:spPr>
        <p:txBody>
          <a:bodyPr/>
          <a:lstStyle/>
          <a:p>
            <a:pPr marL="0" indent="0">
              <a:buNone/>
            </a:pPr>
            <a:endParaRPr lang="cs-CZ" sz="2800" dirty="0" smtClean="0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it-IT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it-IT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it-IT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 = </a:t>
            </a:r>
            <a:r>
              <a:rPr lang="it-IT" sz="28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Vec2f</a:t>
            </a:r>
            <a:r>
              <a:rPr lang="it-IT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4.f, 8.f };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b = </a:t>
            </a:r>
            <a:r>
              <a:rPr lang="en-US" sz="28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Vec2f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8.f, 4.f };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 =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a.lerp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( 0.5f, b );</a:t>
            </a:r>
            <a:endParaRPr lang="cs-CZ" altLang="en-US" sz="2800" dirty="0" smtClean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cs-CZ" altLang="en-US" sz="1800" i="1" dirty="0" smtClean="0"/>
              <a:t>Bod c je na půl cesty mezi body a, b.</a:t>
            </a:r>
            <a:endParaRPr lang="cs-CZ" altLang="en-US" sz="18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896BB-FE85-4FDA-93EA-4D08E89331D1}" type="datetime4">
              <a:rPr lang="en-US" smtClean="0"/>
              <a:t>October 4, 2015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7</a:t>
            </a:fld>
            <a:endParaRPr lang="cs-CZ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988840"/>
            <a:ext cx="212407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535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060848"/>
            <a:ext cx="22860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en-US" dirty="0" smtClean="0"/>
              <a:t>Polární souřadnice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2060847"/>
            <a:ext cx="8424936" cy="4065315"/>
          </a:xfrm>
        </p:spPr>
        <p:txBody>
          <a:bodyPr/>
          <a:lstStyle/>
          <a:p>
            <a:pPr marL="0" indent="0" eaLnBrk="1" hangingPunct="1">
              <a:buNone/>
            </a:pPr>
            <a:endParaRPr lang="cs-CZ" sz="1800" dirty="0" smtClean="0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 marL="0" indent="0" eaLnBrk="1" hangingPunct="1">
              <a:buNone/>
            </a:pPr>
            <a:endParaRPr lang="cs-CZ" sz="1800" dirty="0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 marL="0" indent="0" eaLnBrk="1" hangingPunct="1">
              <a:buNone/>
            </a:pPr>
            <a:endParaRPr lang="cs-CZ" sz="1800" dirty="0" smtClean="0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 marL="0" indent="0" eaLnBrk="1" hangingPunct="1">
              <a:buNone/>
            </a:pPr>
            <a:endParaRPr lang="cs-CZ" sz="1800" dirty="0" smtClean="0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 marL="0" indent="0" eaLnBrk="1" hangingPunct="1">
              <a:buNone/>
            </a:pPr>
            <a:endParaRPr lang="cs-CZ" sz="1800" dirty="0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 marL="0" indent="0" eaLnBrk="1" hangingPunct="1">
              <a:buNone/>
            </a:pPr>
            <a:endParaRPr lang="cs-CZ" sz="1800" dirty="0" smtClean="0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 marL="0" indent="0" eaLnBrk="1" hangingPunct="1">
              <a:buNone/>
            </a:pPr>
            <a:endParaRPr lang="cs-CZ" sz="1800" dirty="0" smtClean="0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 marL="0" indent="0" eaLnBrk="1" hangingPunct="1">
              <a:buNone/>
            </a:pPr>
            <a:endParaRPr lang="cs-CZ" sz="1800" dirty="0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 marL="0" indent="0" eaLnBrk="1" hangingPunct="1">
              <a:buNone/>
            </a:pP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cs-CZ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cs-CZ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</a:t>
            </a:r>
            <a:r>
              <a:rPr lang="cs-CZ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fromPolar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24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Vec2f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r>
              <a:rPr lang="cs-CZ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4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toRadians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cs-CZ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3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0.f</a:t>
            </a:r>
            <a:r>
              <a:rPr lang="cs-CZ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)});</a:t>
            </a:r>
            <a:endParaRPr lang="cs-CZ" sz="2400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 eaLnBrk="1" hangingPunct="1">
              <a:buNone/>
            </a:pP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cs-CZ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cs-CZ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</a:t>
            </a:r>
            <a:r>
              <a:rPr lang="cs-CZ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fromPolar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24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Vec2f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r>
              <a:rPr lang="cs-CZ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5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toRadians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cs-CZ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240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.f</a:t>
            </a:r>
            <a:r>
              <a:rPr lang="cs-CZ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)});</a:t>
            </a:r>
            <a:endParaRPr lang="cs-CZ" altLang="en-US" sz="2400" dirty="0"/>
          </a:p>
          <a:p>
            <a:pPr marL="0" indent="0" eaLnBrk="1" hangingPunct="1">
              <a:buNone/>
            </a:pPr>
            <a:endParaRPr lang="cs-CZ" altLang="en-US" sz="2800" dirty="0" smtClean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cs-CZ" altLang="en-US" sz="1800" i="1" dirty="0" smtClean="0"/>
              <a:t>Určujeme poloměr a úhel v radiánech.</a:t>
            </a:r>
            <a:endParaRPr lang="cs-CZ" altLang="en-US" sz="18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896BB-FE85-4FDA-93EA-4D08E89331D1}" type="datetime4">
              <a:rPr lang="en-US" smtClean="0"/>
              <a:t>October 4, 2015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8302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en-US" dirty="0" smtClean="0"/>
              <a:t>Obdélník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44824"/>
            <a:ext cx="8229600" cy="4281338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!!! </a:t>
            </a:r>
            <a:r>
              <a:rPr lang="en-US" sz="18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neinicializovan</a:t>
            </a:r>
            <a:r>
              <a:rPr lang="cs-CZ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ý</a:t>
            </a:r>
            <a:r>
              <a:rPr 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obd</a:t>
            </a:r>
            <a:r>
              <a:rPr lang="cs-CZ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é</a:t>
            </a:r>
            <a:r>
              <a:rPr 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ln</a:t>
            </a:r>
            <a:r>
              <a:rPr lang="cs-CZ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í</a:t>
            </a:r>
            <a:r>
              <a:rPr 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k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!!!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 =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Rectf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}; </a:t>
            </a:r>
            <a:endParaRPr lang="cs-CZ" sz="1800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pl-PL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obdelník zadaný pomocí </a:t>
            </a:r>
            <a:r>
              <a:rPr lang="pl-PL" sz="18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4 </a:t>
            </a:r>
            <a:r>
              <a:rPr lang="pl-PL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souřadnic</a:t>
            </a:r>
            <a:endParaRPr lang="pl-PL" sz="18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b = 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Rectf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0, 0, 640, 480 };</a:t>
            </a:r>
          </a:p>
          <a:p>
            <a:pPr marL="0" indent="0">
              <a:buNone/>
            </a:pPr>
            <a:r>
              <a:rPr lang="pl-PL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obdelník zadaný pomocí </a:t>
            </a:r>
            <a:r>
              <a:rPr lang="pl-PL" sz="18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2 </a:t>
            </a:r>
            <a:r>
              <a:rPr lang="pl-PL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bodů</a:t>
            </a:r>
            <a:endParaRPr lang="pl-PL" sz="18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 =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Rectf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Vec2f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1, 2 },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Vec2f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4, 6 }};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</a:t>
            </a:r>
            <a:r>
              <a:rPr lang="cs-CZ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šíř</a:t>
            </a:r>
            <a:r>
              <a:rPr lang="en-US" sz="18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ka</a:t>
            </a:r>
            <a:r>
              <a:rPr 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a </a:t>
            </a:r>
            <a:r>
              <a:rPr 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v</a:t>
            </a:r>
            <a:r>
              <a:rPr lang="cs-CZ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ýš</a:t>
            </a:r>
            <a:r>
              <a:rPr lang="en-US" sz="18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ka</a:t>
            </a:r>
            <a:r>
              <a:rPr 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obd</a:t>
            </a:r>
            <a:r>
              <a:rPr lang="cs-CZ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é</a:t>
            </a:r>
            <a:r>
              <a:rPr 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ln</a:t>
            </a:r>
            <a:r>
              <a:rPr lang="cs-CZ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í</a:t>
            </a:r>
            <a:r>
              <a:rPr lang="en-US" sz="18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ka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console() &lt;&lt;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c.getWidth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 &lt;&lt;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console() &lt;&lt;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c.getHeight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 &lt;&lt;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plocha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obdeln</a:t>
            </a:r>
            <a:r>
              <a:rPr lang="cs-CZ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í</a:t>
            </a:r>
            <a:r>
              <a:rPr lang="en-US" sz="18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ka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console() &lt;&lt;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c.calcArea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 &lt;&lt;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</a:t>
            </a:r>
            <a:r>
              <a:rPr lang="en-US" sz="18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pom</a:t>
            </a:r>
            <a:r>
              <a:rPr lang="cs-CZ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ě</a:t>
            </a:r>
            <a:r>
              <a:rPr 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r </a:t>
            </a:r>
            <a:r>
              <a:rPr lang="cs-CZ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šíř</a:t>
            </a:r>
            <a:r>
              <a:rPr lang="en-US" sz="18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ky</a:t>
            </a:r>
            <a:r>
              <a:rPr 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a </a:t>
            </a:r>
            <a:r>
              <a:rPr 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v</a:t>
            </a:r>
            <a:r>
              <a:rPr lang="cs-CZ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ýš</a:t>
            </a:r>
            <a:r>
              <a:rPr lang="en-US" sz="18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ky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console() &lt;&lt;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c.getAspectRatio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 &lt;&lt;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  <a:endParaRPr lang="cs-CZ" altLang="en-US" sz="1800" dirty="0" smtClean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cs-CZ" altLang="en-US" sz="1800" i="1" dirty="0" smtClean="0"/>
              <a:t>Třída Rectf</a:t>
            </a:r>
            <a:endParaRPr lang="cs-CZ" altLang="en-US" sz="18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896BB-FE85-4FDA-93EA-4D08E89331D1}" type="datetime4">
              <a:rPr lang="en-US" smtClean="0"/>
              <a:t>October 4, 2015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9</a:t>
            </a:fld>
            <a:endParaRPr lang="cs-CZ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830262"/>
            <a:ext cx="257175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171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en-US" dirty="0" smtClean="0"/>
              <a:t>Zvětšování, zmenšování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71800" y="2099989"/>
            <a:ext cx="5915000" cy="4065315"/>
          </a:xfrm>
        </p:spPr>
        <p:txBody>
          <a:bodyPr/>
          <a:lstStyle/>
          <a:p>
            <a:pPr marL="0" indent="0">
              <a:buNone/>
            </a:pPr>
            <a:r>
              <a:rPr lang="pt-BR" sz="2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pt-BR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a = </a:t>
            </a:r>
            <a:r>
              <a:rPr lang="pt-BR" sz="28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Rectf</a:t>
            </a:r>
            <a:r>
              <a:rPr lang="pt-BR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1, 7, 9, 3 };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console()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 &lt;&lt;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a.scaleCentered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0.5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console() &lt;&lt;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  <a:endParaRPr lang="cs-CZ" altLang="en-US" sz="2800" dirty="0" smtClean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cs-CZ" altLang="en-US" sz="1800" i="1" dirty="0" smtClean="0"/>
              <a:t>Vzhledem ke středovému bodu obdélníka</a:t>
            </a:r>
            <a:endParaRPr lang="cs-CZ" altLang="en-US" sz="18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896BB-FE85-4FDA-93EA-4D08E89331D1}" type="datetime4">
              <a:rPr lang="en-US" smtClean="0"/>
              <a:t>October 4, 2015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10</a:t>
            </a:fld>
            <a:endParaRPr lang="cs-CZ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988840"/>
            <a:ext cx="2076450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1205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en-US" dirty="0" smtClean="0"/>
              <a:t>Mapování bodů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15816" y="2996952"/>
            <a:ext cx="5770984" cy="3129210"/>
          </a:xfrm>
        </p:spPr>
        <p:txBody>
          <a:bodyPr/>
          <a:lstStyle/>
          <a:p>
            <a:pPr marL="0" indent="0">
              <a:buNone/>
            </a:pP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a = 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Rectf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1, 9, 6, 6 };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b = 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Rectf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3, 4, 8, 1 };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RectMapping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c{ a, b };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console() &lt;&lt;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c.map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Vec2f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2, 8 } ) &lt;&lt;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 eaLnBrk="1" hangingPunct="1">
              <a:buNone/>
            </a:pPr>
            <a:endParaRPr lang="cs-CZ" altLang="en-US" sz="2800" dirty="0" smtClean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cs-CZ" altLang="en-US" sz="1800" i="1" dirty="0" smtClean="0"/>
              <a:t>Kde daný bod v jednom obdélníku leží uvnitř druhého</a:t>
            </a:r>
            <a:endParaRPr lang="cs-CZ" altLang="en-US" sz="18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896BB-FE85-4FDA-93EA-4D08E89331D1}" type="datetime4">
              <a:rPr lang="en-US" smtClean="0"/>
              <a:t>October 4, 2015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11</a:t>
            </a:fld>
            <a:endParaRPr lang="cs-CZ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132856"/>
            <a:ext cx="2076450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972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Barva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68475"/>
            <a:ext cx="8229600" cy="435768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</a:t>
            </a:r>
            <a:r>
              <a:rPr lang="cs-CZ" sz="2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barevné složky jsou mapován</a:t>
            </a:r>
            <a:r>
              <a:rPr lang="en-US" sz="2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y</a:t>
            </a:r>
            <a:r>
              <a:rPr lang="cs-CZ" sz="2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 do</a:t>
            </a:r>
          </a:p>
          <a:p>
            <a:pPr marL="0" indent="0">
              <a:buNone/>
            </a:pPr>
            <a:r>
              <a:rPr lang="cs-CZ" sz="28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intervalu 0.f, 1.f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cerna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 </a:t>
            </a:r>
            <a:r>
              <a:rPr lang="cs-CZ" sz="28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Color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0.f, 0.f, 0.f };</a:t>
            </a:r>
            <a:endParaRPr lang="cs-CZ" sz="2800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bila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 </a:t>
            </a:r>
            <a:r>
              <a:rPr lang="cs-CZ" sz="28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Color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</a:t>
            </a:r>
            <a:r>
              <a:rPr lang="cs-CZ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1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.f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1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.f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1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.f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}; </a:t>
            </a:r>
            <a:endParaRPr lang="cs-CZ" sz="28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seda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 </a:t>
            </a:r>
            <a:r>
              <a:rPr lang="cs-CZ" sz="28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Color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0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5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0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5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0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cs-CZ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5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}; </a:t>
            </a:r>
            <a:endParaRPr lang="cs-CZ" sz="28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endParaRPr lang="cs-CZ" sz="28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October 4, 2015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12</a:t>
            </a:fld>
            <a:endParaRPr lang="cs-CZ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cs-CZ" altLang="en-US" sz="1800" i="1" dirty="0" smtClean="0"/>
              <a:t>Třída </a:t>
            </a:r>
            <a:r>
              <a:rPr lang="en-US" altLang="en-US" sz="1800" i="1" dirty="0" smtClean="0"/>
              <a:t>Color</a:t>
            </a:r>
            <a:endParaRPr lang="cs-CZ" altLang="en-US" sz="1800" i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789" y="404664"/>
            <a:ext cx="561975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10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cerna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cs-CZ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Color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::</a:t>
            </a:r>
            <a:r>
              <a:rPr lang="cs-CZ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black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bila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 </a:t>
            </a:r>
            <a:r>
              <a:rPr lang="cs-CZ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Color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::</a:t>
            </a:r>
            <a:r>
              <a:rPr lang="cs-CZ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white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  <a:endParaRPr lang="cs-CZ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cs-CZ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seda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cs-CZ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 </a:t>
            </a:r>
            <a:r>
              <a:rPr lang="cs-CZ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Color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::</a:t>
            </a:r>
            <a:r>
              <a:rPr lang="cs-CZ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gray(0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cs-CZ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5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</a:t>
            </a:r>
            <a:r>
              <a:rPr lang="cs-CZ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 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cs-CZ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modra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cs-CZ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Color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::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hex(0x</a:t>
            </a:r>
            <a:r>
              <a:rPr lang="cs-CZ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0000FF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 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October 4, 2015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13</a:t>
            </a:fld>
            <a:endParaRPr lang="cs-CZ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cs-CZ" altLang="en-US" sz="1800" i="1" dirty="0" smtClean="0"/>
              <a:t>Statické metody třídy </a:t>
            </a:r>
            <a:r>
              <a:rPr lang="en-US" altLang="en-US" sz="1800" i="1" dirty="0" smtClean="0"/>
              <a:t>Color</a:t>
            </a:r>
            <a:endParaRPr lang="cs-CZ" altLang="en-US" sz="1800" i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789" y="404664"/>
            <a:ext cx="561975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0921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Webové barvy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6833"/>
            <a:ext cx="8229600" cy="64807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auto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rajce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 </a:t>
            </a:r>
            <a:r>
              <a:rPr lang="cs-CZ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Color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r>
              <a:rPr lang="en-US" dirty="0" smtClean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"tomato"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October 4, 2015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14</a:t>
            </a:fld>
            <a:endParaRPr lang="cs-CZ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cs-CZ" altLang="en-US" sz="1800" i="1" dirty="0" smtClean="0"/>
              <a:t>Pojmenované barvy</a:t>
            </a:r>
            <a:endParaRPr lang="cs-CZ" altLang="en-US" sz="1800" i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789" y="404664"/>
            <a:ext cx="561975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332122"/>
              </p:ext>
            </p:extLst>
          </p:nvPr>
        </p:nvGraphicFramePr>
        <p:xfrm>
          <a:off x="457200" y="2804001"/>
          <a:ext cx="8229599" cy="1752600"/>
        </p:xfrm>
        <a:graphic>
          <a:graphicData uri="http://schemas.openxmlformats.org/drawingml/2006/table">
            <a:tbl>
              <a:tblPr/>
              <a:tblGrid>
                <a:gridCol w="1613647"/>
                <a:gridCol w="3307976"/>
                <a:gridCol w="3307976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OrangeRed</a:t>
                      </a:r>
                      <a:endParaRPr lang="en-US" dirty="0"/>
                    </a:p>
                  </a:txBody>
                  <a:tcPr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FF 45 00</a:t>
                      </a:r>
                    </a:p>
                  </a:txBody>
                  <a:tcPr marL="38100" marR="38100" marT="38100" marB="38100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255  69   0</a:t>
                      </a:r>
                    </a:p>
                  </a:txBody>
                  <a:tcPr marL="38100" marR="38100" marT="38100" marB="38100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45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Tomato</a:t>
                      </a:r>
                    </a:p>
                  </a:txBody>
                  <a:tcPr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6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FF 63 47</a:t>
                      </a:r>
                    </a:p>
                  </a:txBody>
                  <a:tcPr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6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255  99  71</a:t>
                      </a:r>
                    </a:p>
                  </a:txBody>
                  <a:tcPr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63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Coral</a:t>
                      </a:r>
                    </a:p>
                  </a:txBody>
                  <a:tcPr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FF 7F 50</a:t>
                      </a:r>
                    </a:p>
                  </a:txBody>
                  <a:tcPr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255 127  80</a:t>
                      </a:r>
                    </a:p>
                  </a:txBody>
                  <a:tcPr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F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DarkOrange</a:t>
                      </a:r>
                    </a:p>
                  </a:txBody>
                  <a:tcPr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FF 8C 00</a:t>
                      </a:r>
                    </a:p>
                  </a:txBody>
                  <a:tcPr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255 140   0</a:t>
                      </a:r>
                    </a:p>
                  </a:txBody>
                  <a:tcPr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8C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Orange</a:t>
                      </a:r>
                    </a:p>
                  </a:txBody>
                  <a:tcPr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FF A5 00</a:t>
                      </a:r>
                    </a:p>
                  </a:txBody>
                  <a:tcPr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255 165   0</a:t>
                      </a:r>
                      <a:endParaRPr lang="en-US" dirty="0"/>
                    </a:p>
                  </a:txBody>
                  <a:tcPr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A500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8313" y="5013176"/>
            <a:ext cx="7056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en.wikipedia.org/wiki/Web_colors#X11_color_names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40966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85458"/>
            <a:ext cx="4752528" cy="955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en-US" dirty="0" smtClean="0"/>
              <a:t>				</a:t>
            </a:r>
            <a:r>
              <a:rPr lang="en-US" altLang="en-US" dirty="0" err="1" smtClean="0"/>
              <a:t>Textury</a:t>
            </a:r>
            <a:r>
              <a:rPr lang="cs-CZ" altLang="en-US" dirty="0" smtClean="0"/>
              <a:t>      </a:t>
            </a:r>
            <a:endParaRPr lang="cs-CZ" alt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2060847"/>
            <a:ext cx="8147248" cy="4065315"/>
          </a:xfrm>
        </p:spPr>
        <p:txBody>
          <a:bodyPr/>
          <a:lstStyle/>
          <a:p>
            <a:pPr eaLnBrk="1" hangingPunct="1"/>
            <a:r>
              <a:rPr lang="en-US" sz="1400" b="1" dirty="0" smtClean="0"/>
              <a:t>cinder/</a:t>
            </a:r>
            <a:r>
              <a:rPr lang="en-US" sz="1400" b="1" dirty="0" err="1" smtClean="0"/>
              <a:t>gl</a:t>
            </a:r>
            <a:r>
              <a:rPr lang="en-US" sz="1400" b="1" dirty="0" smtClean="0"/>
              <a:t>/</a:t>
            </a:r>
            <a:r>
              <a:rPr lang="en-US" sz="1400" b="1" dirty="0" err="1" smtClean="0"/>
              <a:t>Texture.h</a:t>
            </a:r>
            <a:r>
              <a:rPr lang="cs-CZ" sz="1400" dirty="0"/>
              <a:t>	</a:t>
            </a:r>
            <a:r>
              <a:rPr lang="cs-CZ" sz="1400" dirty="0" smtClean="0"/>
              <a:t>hlavička třídy </a:t>
            </a:r>
            <a:r>
              <a:rPr lang="cs-CZ" sz="1400" dirty="0"/>
              <a:t>gl::</a:t>
            </a:r>
            <a:r>
              <a:rPr lang="cs-CZ" sz="1400" dirty="0" smtClean="0"/>
              <a:t>Texture</a:t>
            </a:r>
          </a:p>
          <a:p>
            <a:pPr eaLnBrk="1" hangingPunct="1"/>
            <a:r>
              <a:rPr lang="en-US" sz="1400" b="1" dirty="0" smtClean="0"/>
              <a:t>cinder/</a:t>
            </a:r>
            <a:r>
              <a:rPr lang="en-US" sz="1400" b="1" dirty="0" err="1" smtClean="0"/>
              <a:t>ImageIo.h</a:t>
            </a:r>
            <a:r>
              <a:rPr lang="cs-CZ" sz="1400" dirty="0"/>
              <a:t>	</a:t>
            </a:r>
            <a:r>
              <a:rPr lang="cs-CZ" sz="1400" dirty="0" smtClean="0"/>
              <a:t>	hlavička pro načítání a ukládání obrázků</a:t>
            </a:r>
          </a:p>
          <a:p>
            <a:pPr eaLnBrk="1" hangingPunct="1"/>
            <a:endParaRPr lang="cs-CZ" sz="1400" dirty="0" smtClean="0"/>
          </a:p>
          <a:p>
            <a:pPr eaLnBrk="1" hangingPunct="1"/>
            <a:r>
              <a:rPr lang="cs-CZ" sz="1400" dirty="0" smtClean="0"/>
              <a:t>Vytvoření instance třídy Texture</a:t>
            </a:r>
          </a:p>
          <a:p>
            <a:pPr marL="0" indent="0" eaLnBrk="1" hangingPunct="1">
              <a:buNone/>
            </a:pPr>
            <a:r>
              <a:rPr lang="en-US" sz="1400" b="1" dirty="0" err="1" smtClean="0"/>
              <a:t>gl</a:t>
            </a:r>
            <a:r>
              <a:rPr lang="en-US" sz="1400" b="1" dirty="0"/>
              <a:t>::Texture </a:t>
            </a:r>
            <a:r>
              <a:rPr lang="cs-CZ" sz="1400" dirty="0" smtClean="0"/>
              <a:t>obrazek</a:t>
            </a:r>
            <a:r>
              <a:rPr lang="en-US" sz="1400" dirty="0" smtClean="0"/>
              <a:t>;</a:t>
            </a:r>
            <a:endParaRPr lang="cs-CZ" sz="1400" dirty="0" smtClean="0"/>
          </a:p>
          <a:p>
            <a:pPr marL="0" indent="0" eaLnBrk="1" hangingPunct="1">
              <a:buNone/>
            </a:pPr>
            <a:endParaRPr lang="cs-CZ" sz="1400" dirty="0" smtClean="0"/>
          </a:p>
          <a:p>
            <a:pPr eaLnBrk="1" hangingPunct="1"/>
            <a:r>
              <a:rPr lang="cs-CZ" sz="1400" dirty="0"/>
              <a:t>Načtení obrázku z </a:t>
            </a:r>
            <a:r>
              <a:rPr lang="cs-CZ" sz="1400" dirty="0" smtClean="0"/>
              <a:t>aktuálního adresáře</a:t>
            </a:r>
            <a:endParaRPr lang="cs-CZ" sz="1400" dirty="0"/>
          </a:p>
          <a:p>
            <a:pPr marL="0" indent="0" eaLnBrk="1" hangingPunct="1">
              <a:buNone/>
            </a:pPr>
            <a:r>
              <a:rPr lang="cs-CZ" sz="1400" dirty="0" smtClean="0"/>
              <a:t>obrazek </a:t>
            </a:r>
            <a:r>
              <a:rPr lang="en-US" sz="1400" dirty="0"/>
              <a:t>= </a:t>
            </a:r>
            <a:r>
              <a:rPr lang="en-US" sz="1400" dirty="0" err="1"/>
              <a:t>gl</a:t>
            </a:r>
            <a:r>
              <a:rPr lang="en-US" sz="1400" dirty="0"/>
              <a:t>::Texture( </a:t>
            </a:r>
            <a:r>
              <a:rPr lang="en-US" sz="1400" b="1" dirty="0" err="1"/>
              <a:t>loadImage</a:t>
            </a:r>
            <a:r>
              <a:rPr lang="en-US" sz="1400" dirty="0" smtClean="0"/>
              <a:t>("</a:t>
            </a:r>
            <a:r>
              <a:rPr lang="cs-CZ" sz="1400" dirty="0" smtClean="0"/>
              <a:t>obrazek</a:t>
            </a:r>
            <a:r>
              <a:rPr lang="en-US" sz="1400" dirty="0"/>
              <a:t>.jpg</a:t>
            </a:r>
            <a:r>
              <a:rPr lang="en-US" sz="1400" dirty="0" smtClean="0"/>
              <a:t>" ));</a:t>
            </a:r>
            <a:endParaRPr lang="cs-CZ" sz="1400" dirty="0"/>
          </a:p>
          <a:p>
            <a:pPr marL="0" indent="0" eaLnBrk="1" hangingPunct="1">
              <a:buNone/>
            </a:pPr>
            <a:endParaRPr lang="cs-CZ" sz="1400" dirty="0" smtClean="0"/>
          </a:p>
          <a:p>
            <a:pPr eaLnBrk="1" hangingPunct="1"/>
            <a:r>
              <a:rPr lang="cs-CZ" sz="1400" dirty="0" smtClean="0"/>
              <a:t>Načtení obrázku z projektového adresáře assets</a:t>
            </a:r>
          </a:p>
          <a:p>
            <a:pPr marL="0" indent="0" eaLnBrk="1" hangingPunct="1">
              <a:buNone/>
            </a:pPr>
            <a:r>
              <a:rPr lang="cs-CZ" sz="1400" dirty="0" smtClean="0"/>
              <a:t>obrazek </a:t>
            </a:r>
            <a:r>
              <a:rPr lang="en-US" sz="1400" dirty="0" smtClean="0"/>
              <a:t>= </a:t>
            </a:r>
            <a:r>
              <a:rPr lang="en-US" sz="1400" dirty="0" err="1"/>
              <a:t>gl</a:t>
            </a:r>
            <a:r>
              <a:rPr lang="en-US" sz="1400" dirty="0"/>
              <a:t>::Texture( </a:t>
            </a:r>
            <a:r>
              <a:rPr lang="en-US" sz="1400" dirty="0" err="1"/>
              <a:t>loadImage</a:t>
            </a:r>
            <a:r>
              <a:rPr lang="en-US" sz="1400" dirty="0"/>
              <a:t>( </a:t>
            </a:r>
            <a:r>
              <a:rPr lang="en-US" sz="1400" b="1" dirty="0" err="1"/>
              <a:t>loadAsset</a:t>
            </a:r>
            <a:r>
              <a:rPr lang="en-US" sz="1400" dirty="0" smtClean="0"/>
              <a:t>("</a:t>
            </a:r>
            <a:r>
              <a:rPr lang="cs-CZ" sz="1400" dirty="0" smtClean="0"/>
              <a:t>obrazek</a:t>
            </a:r>
            <a:r>
              <a:rPr lang="en-US" sz="1400" dirty="0" smtClean="0"/>
              <a:t>.jpg</a:t>
            </a:r>
            <a:r>
              <a:rPr lang="en-US" sz="1400" dirty="0"/>
              <a:t>" </a:t>
            </a:r>
            <a:r>
              <a:rPr lang="en-US" sz="1400" dirty="0" smtClean="0"/>
              <a:t>)));</a:t>
            </a:r>
            <a:endParaRPr lang="cs-CZ" sz="1400" dirty="0" smtClean="0"/>
          </a:p>
          <a:p>
            <a:pPr marL="0" indent="0" eaLnBrk="1" hangingPunct="1">
              <a:buNone/>
            </a:pPr>
            <a:endParaRPr lang="cs-CZ" sz="1400" dirty="0" smtClean="0"/>
          </a:p>
          <a:p>
            <a:pPr eaLnBrk="1" hangingPunct="1"/>
            <a:r>
              <a:rPr lang="cs-CZ" altLang="en-US" sz="1400" dirty="0" smtClean="0"/>
              <a:t>Zobrazení textury</a:t>
            </a:r>
          </a:p>
          <a:p>
            <a:pPr marL="0" indent="0" eaLnBrk="1" hangingPunct="1">
              <a:buNone/>
            </a:pPr>
            <a:r>
              <a:rPr lang="en-US" sz="1400" b="1" dirty="0" err="1"/>
              <a:t>gl</a:t>
            </a:r>
            <a:r>
              <a:rPr lang="en-US" sz="1400" b="1" dirty="0"/>
              <a:t>::</a:t>
            </a:r>
            <a:r>
              <a:rPr lang="en-US" sz="1400" b="1" dirty="0" smtClean="0"/>
              <a:t>draw</a:t>
            </a:r>
            <a:r>
              <a:rPr lang="en-US" sz="1400" dirty="0" smtClean="0"/>
              <a:t>(</a:t>
            </a:r>
            <a:r>
              <a:rPr lang="cs-CZ" sz="1400" dirty="0" smtClean="0"/>
              <a:t> obrazek </a:t>
            </a:r>
            <a:r>
              <a:rPr lang="en-US" sz="1400" dirty="0" smtClean="0"/>
              <a:t>);</a:t>
            </a:r>
            <a:endParaRPr lang="cs-CZ" sz="1400" dirty="0" smtClean="0"/>
          </a:p>
          <a:p>
            <a:pPr marL="0" indent="0" eaLnBrk="1" hangingPunct="1">
              <a:buNone/>
            </a:pPr>
            <a:r>
              <a:rPr lang="en-US" sz="1400" b="1" dirty="0" err="1"/>
              <a:t>gl</a:t>
            </a:r>
            <a:r>
              <a:rPr lang="en-US" sz="1400" b="1" dirty="0"/>
              <a:t>::draw</a:t>
            </a:r>
            <a:r>
              <a:rPr lang="en-US" sz="1400" dirty="0" smtClean="0"/>
              <a:t>(</a:t>
            </a:r>
            <a:r>
              <a:rPr lang="cs-CZ" sz="1400" dirty="0" smtClean="0"/>
              <a:t> obrazek, </a:t>
            </a:r>
            <a:r>
              <a:rPr lang="cs-CZ" sz="1400" b="1" dirty="0" smtClean="0"/>
              <a:t>Vec2f</a:t>
            </a:r>
            <a:r>
              <a:rPr lang="cs-CZ" sz="1400" dirty="0" smtClean="0"/>
              <a:t>( 100.f, 200.f )</a:t>
            </a:r>
            <a:r>
              <a:rPr lang="en-US" sz="1400" dirty="0" smtClean="0"/>
              <a:t>);</a:t>
            </a:r>
            <a:endParaRPr lang="cs-CZ" altLang="en-US" sz="1400" dirty="0"/>
          </a:p>
          <a:p>
            <a:pPr marL="0" indent="0" eaLnBrk="1" hangingPunct="1">
              <a:buNone/>
            </a:pPr>
            <a:endParaRPr lang="cs-CZ" altLang="en-US" sz="1400" dirty="0" smtClean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 err="1" smtClean="0"/>
              <a:t>Rastrov</a:t>
            </a:r>
            <a:r>
              <a:rPr lang="cs-CZ" altLang="en-US" sz="1800" i="1" dirty="0" smtClean="0"/>
              <a:t>ý obrázek uložený v GPU paměti</a:t>
            </a:r>
            <a:endParaRPr lang="cs-CZ" altLang="en-US" sz="18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896BB-FE85-4FDA-93EA-4D08E89331D1}" type="datetime4">
              <a:rPr lang="en-US" smtClean="0"/>
              <a:t>October 4, 2015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47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en-US" dirty="0" smtClean="0"/>
              <a:t>Náhodná čísla</a:t>
            </a:r>
            <a:endParaRPr lang="cs-CZ" alt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2060847"/>
            <a:ext cx="8147248" cy="4065315"/>
          </a:xfrm>
        </p:spPr>
        <p:txBody>
          <a:bodyPr/>
          <a:lstStyle/>
          <a:p>
            <a:pPr eaLnBrk="1" hangingPunct="1"/>
            <a:r>
              <a:rPr lang="en-US" sz="1600" b="1" dirty="0" smtClean="0"/>
              <a:t>cinder/</a:t>
            </a:r>
            <a:r>
              <a:rPr lang="en-US" sz="1600" b="1" dirty="0" err="1" smtClean="0"/>
              <a:t>Rand.h</a:t>
            </a:r>
            <a:r>
              <a:rPr lang="cs-CZ" sz="1600" dirty="0"/>
              <a:t>	</a:t>
            </a:r>
            <a:r>
              <a:rPr lang="cs-CZ" sz="1600" dirty="0" smtClean="0"/>
              <a:t>hlavička knihovny</a:t>
            </a:r>
          </a:p>
          <a:p>
            <a:pPr marL="0" indent="0" eaLnBrk="1" hangingPunct="1">
              <a:buNone/>
            </a:pPr>
            <a:endParaRPr lang="cs-CZ" sz="1600" dirty="0" smtClean="0"/>
          </a:p>
          <a:p>
            <a:pPr eaLnBrk="1" hangingPunct="1"/>
            <a:r>
              <a:rPr lang="cs-CZ" altLang="en-US" sz="1600" dirty="0" smtClean="0"/>
              <a:t>Inicializace generátoru</a:t>
            </a:r>
          </a:p>
          <a:p>
            <a:pPr marL="0" indent="0" eaLnBrk="1" hangingPunct="1">
              <a:buNone/>
            </a:pPr>
            <a:r>
              <a:rPr lang="en-US" sz="1600" dirty="0" smtClean="0"/>
              <a:t>Rand</a:t>
            </a:r>
            <a:r>
              <a:rPr lang="cs-CZ" sz="1600" dirty="0" smtClean="0"/>
              <a:t>::</a:t>
            </a:r>
            <a:r>
              <a:rPr lang="cs-CZ" sz="1600" b="1" dirty="0" smtClean="0"/>
              <a:t>randomize</a:t>
            </a:r>
            <a:r>
              <a:rPr lang="cs-CZ" sz="1600" dirty="0" smtClean="0"/>
              <a:t>();</a:t>
            </a:r>
          </a:p>
          <a:p>
            <a:pPr marL="0" indent="0" eaLnBrk="1" hangingPunct="1">
              <a:buNone/>
            </a:pPr>
            <a:endParaRPr lang="cs-CZ" sz="1600" dirty="0" smtClean="0"/>
          </a:p>
          <a:p>
            <a:pPr eaLnBrk="1" hangingPunct="1"/>
            <a:r>
              <a:rPr lang="cs-CZ" altLang="en-US" sz="1600" dirty="0" smtClean="0"/>
              <a:t>Generování čísel typu float</a:t>
            </a:r>
          </a:p>
          <a:p>
            <a:pPr marL="0" indent="0" eaLnBrk="1" hangingPunct="1">
              <a:buNone/>
            </a:pPr>
            <a:r>
              <a:rPr lang="cs-CZ" altLang="en-US" sz="1600" b="1" dirty="0" smtClean="0"/>
              <a:t>randFloat</a:t>
            </a:r>
            <a:r>
              <a:rPr lang="cs-CZ" altLang="en-US" sz="1600" dirty="0" smtClean="0"/>
              <a:t>(); interval 0..1</a:t>
            </a:r>
          </a:p>
          <a:p>
            <a:pPr marL="0" indent="0" eaLnBrk="1" hangingPunct="1">
              <a:buNone/>
            </a:pPr>
            <a:r>
              <a:rPr lang="cs-CZ" altLang="en-US" sz="1600" b="1" dirty="0" smtClean="0"/>
              <a:t>randFloat</a:t>
            </a:r>
            <a:r>
              <a:rPr lang="cs-CZ" altLang="en-US" sz="1600" dirty="0" smtClean="0"/>
              <a:t>( 10.f ); </a:t>
            </a:r>
            <a:r>
              <a:rPr lang="cs-CZ" altLang="en-US" sz="1600" dirty="0"/>
              <a:t>interval 0..</a:t>
            </a:r>
            <a:r>
              <a:rPr lang="cs-CZ" altLang="en-US" sz="1600" dirty="0" smtClean="0"/>
              <a:t>10</a:t>
            </a:r>
            <a:endParaRPr lang="cs-CZ" altLang="en-US" sz="1600" dirty="0"/>
          </a:p>
          <a:p>
            <a:pPr marL="0" indent="0" eaLnBrk="1" hangingPunct="1">
              <a:buNone/>
            </a:pPr>
            <a:r>
              <a:rPr lang="cs-CZ" altLang="en-US" sz="1600" b="1" dirty="0"/>
              <a:t>randFloat</a:t>
            </a:r>
            <a:r>
              <a:rPr lang="cs-CZ" altLang="en-US" sz="1600" dirty="0"/>
              <a:t>( </a:t>
            </a:r>
            <a:r>
              <a:rPr lang="cs-CZ" altLang="en-US" sz="1600" dirty="0" smtClean="0"/>
              <a:t>10.f, 20.f </a:t>
            </a:r>
            <a:r>
              <a:rPr lang="cs-CZ" altLang="en-US" sz="1600" dirty="0"/>
              <a:t>); interval </a:t>
            </a:r>
            <a:r>
              <a:rPr lang="cs-CZ" altLang="en-US" sz="1600" dirty="0" smtClean="0"/>
              <a:t>10..20</a:t>
            </a:r>
          </a:p>
          <a:p>
            <a:pPr marL="0" indent="0" eaLnBrk="1" hangingPunct="1">
              <a:buNone/>
            </a:pPr>
            <a:r>
              <a:rPr lang="en-US" sz="1600" b="1" dirty="0" err="1"/>
              <a:t>randPosNegFloat</a:t>
            </a:r>
            <a:r>
              <a:rPr lang="cs-CZ" altLang="en-US" sz="1600" dirty="0" smtClean="0"/>
              <a:t>( </a:t>
            </a:r>
            <a:r>
              <a:rPr lang="cs-CZ" altLang="en-US" sz="1600" dirty="0"/>
              <a:t>10.f, 20.f ); interval 10..</a:t>
            </a:r>
            <a:r>
              <a:rPr lang="cs-CZ" altLang="en-US" sz="1600" dirty="0" smtClean="0"/>
              <a:t>20 nebo -20..-10</a:t>
            </a:r>
            <a:endParaRPr lang="cs-CZ" altLang="en-US" sz="1600" dirty="0"/>
          </a:p>
          <a:p>
            <a:pPr marL="0" indent="0" eaLnBrk="1" hangingPunct="1">
              <a:buNone/>
            </a:pPr>
            <a:endParaRPr lang="cs-CZ" altLang="en-US" sz="1600" dirty="0" smtClean="0"/>
          </a:p>
          <a:p>
            <a:pPr eaLnBrk="1" hangingPunct="1"/>
            <a:r>
              <a:rPr lang="cs-CZ" altLang="en-US" sz="1600" dirty="0" smtClean="0"/>
              <a:t>Další možnosti</a:t>
            </a:r>
          </a:p>
          <a:p>
            <a:pPr marL="0" indent="0" eaLnBrk="1" hangingPunct="1">
              <a:buNone/>
            </a:pPr>
            <a:r>
              <a:rPr lang="en-US" sz="1600" b="1" dirty="0" err="1" smtClean="0"/>
              <a:t>randBool</a:t>
            </a:r>
            <a:r>
              <a:rPr lang="cs-CZ" sz="1600" dirty="0" smtClean="0"/>
              <a:t>, </a:t>
            </a:r>
            <a:r>
              <a:rPr lang="en-US" sz="1600" b="1" dirty="0" err="1" smtClean="0"/>
              <a:t>randInt</a:t>
            </a:r>
            <a:r>
              <a:rPr lang="cs-CZ" sz="1600" dirty="0" smtClean="0"/>
              <a:t>, </a:t>
            </a:r>
            <a:r>
              <a:rPr lang="en-US" sz="1600" b="1" dirty="0" smtClean="0"/>
              <a:t>randVec2f</a:t>
            </a:r>
            <a:r>
              <a:rPr lang="cs-CZ" sz="1600" dirty="0" smtClean="0"/>
              <a:t>, </a:t>
            </a:r>
            <a:r>
              <a:rPr lang="en-US" sz="1600" b="1" dirty="0" err="1"/>
              <a:t>randGaussian</a:t>
            </a:r>
            <a:endParaRPr lang="cs-CZ" altLang="en-US" sz="1600" b="1" dirty="0" smtClean="0"/>
          </a:p>
          <a:p>
            <a:pPr marL="0" indent="0" eaLnBrk="1" hangingPunct="1">
              <a:buNone/>
            </a:pPr>
            <a:endParaRPr lang="cs-CZ" altLang="en-US" sz="1600" dirty="0" smtClean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cs-CZ" altLang="en-US" sz="1800" i="1" dirty="0" smtClean="0"/>
              <a:t>Generování pseudonáhodných čísel v knihovně Cinder</a:t>
            </a:r>
            <a:endParaRPr lang="cs-CZ" altLang="en-US" sz="18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896BB-FE85-4FDA-93EA-4D08E89331D1}" type="datetime4">
              <a:rPr lang="en-US" smtClean="0"/>
              <a:t>October 4, 2015</a:t>
            </a:fld>
            <a:endParaRPr lang="cs-CZ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2454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en-US" dirty="0" smtClean="0"/>
              <a:t>Kreslení čar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39952" y="2060847"/>
            <a:ext cx="4546848" cy="406531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cs-CZ" altLang="en-US" sz="2800" dirty="0" smtClean="0"/>
              <a:t>Text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cs-CZ" altLang="en-US" sz="1800" i="1" dirty="0" smtClean="0"/>
              <a:t>Úsečka z bodu a do bodu b</a:t>
            </a:r>
            <a:endParaRPr lang="cs-CZ" altLang="en-US" sz="18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896BB-FE85-4FDA-93EA-4D08E89331D1}" type="datetime4">
              <a:rPr lang="en-US" smtClean="0"/>
              <a:t>October 4, 2015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17</a:t>
            </a:fld>
            <a:endParaRPr lang="cs-CZ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988840"/>
            <a:ext cx="3495675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545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en-US" dirty="0" smtClean="0"/>
              <a:t>Cvičení: </a:t>
            </a:r>
            <a:r>
              <a:rPr lang="en-US" altLang="en-US" dirty="0" smtClean="0"/>
              <a:t>Pentagram</a:t>
            </a:r>
            <a:endParaRPr lang="cs-CZ" alt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8064" y="2060575"/>
            <a:ext cx="3538736" cy="4065588"/>
          </a:xfrm>
        </p:spPr>
        <p:txBody>
          <a:bodyPr/>
          <a:lstStyle/>
          <a:p>
            <a:pPr eaLnBrk="1" hangingPunct="1"/>
            <a:r>
              <a:rPr lang="cs-CZ" altLang="en-US" sz="2400" b="1" dirty="0" smtClean="0"/>
              <a:t>toRadians</a:t>
            </a:r>
            <a:r>
              <a:rPr lang="en-US" altLang="en-US" sz="2400" dirty="0" smtClean="0"/>
              <a:t> p</a:t>
            </a:r>
            <a:r>
              <a:rPr lang="cs-CZ" altLang="en-US" sz="2400" dirty="0" smtClean="0"/>
              <a:t>řevode stupně na radiány</a:t>
            </a:r>
          </a:p>
          <a:p>
            <a:pPr eaLnBrk="1" hangingPunct="1"/>
            <a:r>
              <a:rPr lang="en-US" sz="2400" b="1" dirty="0" err="1" smtClean="0"/>
              <a:t>fromPolar</a:t>
            </a:r>
            <a:r>
              <a:rPr lang="cs-CZ" sz="2400" dirty="0" smtClean="0"/>
              <a:t>  převede polárních souřadnici na kartézskou</a:t>
            </a:r>
          </a:p>
          <a:p>
            <a:pPr eaLnBrk="1" hangingPunct="1"/>
            <a:r>
              <a:rPr lang="en-US" sz="2400" b="1" dirty="0" err="1" smtClean="0"/>
              <a:t>drawStrokedCircle</a:t>
            </a:r>
            <a:r>
              <a:rPr lang="cs-CZ" sz="2400" dirty="0" smtClean="0"/>
              <a:t> nakreslí kružnici</a:t>
            </a:r>
          </a:p>
          <a:p>
            <a:pPr eaLnBrk="1" hangingPunct="1"/>
            <a:r>
              <a:rPr lang="en-US" sz="2400" b="1" dirty="0" err="1" smtClean="0"/>
              <a:t>drawLine</a:t>
            </a:r>
            <a:r>
              <a:rPr lang="cs-CZ" sz="2400" dirty="0" smtClean="0"/>
              <a:t> nakreslí čáru mezi dvěma body</a:t>
            </a:r>
            <a:endParaRPr lang="cs-CZ" altLang="en-US" sz="2400" dirty="0" smtClean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KapitanAmerika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 Vec2f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stred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sz="1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float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polomer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);</a:t>
            </a:r>
            <a:endParaRPr lang="cs-CZ" altLang="en-US" sz="18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896BB-FE85-4FDA-93EA-4D08E89331D1}" type="datetime4">
              <a:rPr lang="en-US" smtClean="0"/>
              <a:t>October 4, 2015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18</a:t>
            </a:fld>
            <a:endParaRPr lang="cs-CZ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060848"/>
            <a:ext cx="4619625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</a:t>
            </a:r>
            <a:r>
              <a:rPr lang="cs-CZ" dirty="0" smtClean="0"/>
              <a:t>tvary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6056" y="1412776"/>
            <a:ext cx="3610744" cy="4713387"/>
          </a:xfrm>
        </p:spPr>
        <p:txBody>
          <a:bodyPr/>
          <a:lstStyle/>
          <a:p>
            <a:pPr marL="0" indent="0">
              <a:buNone/>
            </a:pPr>
            <a:r>
              <a:rPr lang="cs-CZ" sz="2400" dirty="0" smtClean="0"/>
              <a:t>drawSolidRect</a:t>
            </a:r>
          </a:p>
          <a:p>
            <a:pPr marL="0" indent="0">
              <a:buNone/>
            </a:pPr>
            <a:r>
              <a:rPr lang="cs-CZ" sz="2400" dirty="0" smtClean="0"/>
              <a:t>drawStrokedRect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r>
              <a:rPr lang="cs-CZ" sz="2400" dirty="0" smtClean="0"/>
              <a:t>drawSolidTriangle</a:t>
            </a:r>
          </a:p>
          <a:p>
            <a:pPr marL="0" indent="0">
              <a:buNone/>
            </a:pPr>
            <a:r>
              <a:rPr lang="cs-CZ" sz="2400" dirty="0" smtClean="0"/>
              <a:t>drawStrokedTriangle</a:t>
            </a:r>
          </a:p>
          <a:p>
            <a:pPr marL="0" indent="0">
              <a:buNone/>
            </a:pPr>
            <a:endParaRPr lang="cs-CZ" sz="2400" dirty="0" smtClean="0"/>
          </a:p>
          <a:p>
            <a:pPr marL="0" indent="0">
              <a:buNone/>
            </a:pPr>
            <a:r>
              <a:rPr lang="cs-CZ" sz="2400" dirty="0" smtClean="0"/>
              <a:t>drawSolidCircle</a:t>
            </a:r>
          </a:p>
          <a:p>
            <a:pPr marL="0" indent="0">
              <a:buNone/>
            </a:pPr>
            <a:r>
              <a:rPr lang="cs-CZ" sz="2400" dirty="0" smtClean="0"/>
              <a:t>drawStrokedCircle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October 4, 2015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19</a:t>
            </a:fld>
            <a:endParaRPr lang="cs-CZ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1340768"/>
            <a:ext cx="4729163" cy="343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3023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Rekurzivn</a:t>
            </a:r>
            <a:r>
              <a:rPr lang="cs-CZ" dirty="0" smtClean="0"/>
              <a:t>í</a:t>
            </a:r>
            <a:r>
              <a:rPr lang="en-US" dirty="0" smtClean="0"/>
              <a:t> </a:t>
            </a:r>
            <a:r>
              <a:rPr lang="en-US" dirty="0" err="1" smtClean="0"/>
              <a:t>obd</a:t>
            </a:r>
            <a:r>
              <a:rPr lang="cs-CZ" dirty="0" smtClean="0"/>
              <a:t>é</a:t>
            </a:r>
            <a:r>
              <a:rPr lang="en-US" dirty="0" smtClean="0"/>
              <a:t>ln</a:t>
            </a:r>
            <a:r>
              <a:rPr lang="cs-CZ" dirty="0" smtClean="0"/>
              <a:t>í</a:t>
            </a:r>
            <a:r>
              <a:rPr lang="en-US" dirty="0" err="1" smtClean="0"/>
              <a:t>ky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October 4, 2015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20</a:t>
            </a:fld>
            <a:endParaRPr lang="cs-CZ"/>
          </a:p>
        </p:txBody>
      </p:sp>
      <p:pic>
        <p:nvPicPr>
          <p:cNvPr id="3074" name="Picture 2" descr="http://www.balloonbuilding.com/chapters/20_recursion/rectangle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88840"/>
            <a:ext cx="5379048" cy="4022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11560" y="1424769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smtClean="0"/>
              <a:t>Následující obdélník je o 20</a:t>
            </a:r>
            <a:r>
              <a:rPr lang="en-US" dirty="0" smtClean="0"/>
              <a:t>%</a:t>
            </a:r>
            <a:r>
              <a:rPr lang="cs-CZ" dirty="0" smtClean="0"/>
              <a:t> menší než předchozí.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595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Fraktal</a:t>
            </a:r>
            <a:r>
              <a:rPr lang="en-US" dirty="0" smtClean="0"/>
              <a:t> (1)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October 4, 2015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21</a:t>
            </a:fld>
            <a:endParaRPr lang="cs-CZ"/>
          </a:p>
        </p:txBody>
      </p:sp>
      <p:pic>
        <p:nvPicPr>
          <p:cNvPr id="2050" name="Picture 2" descr="http://www.balloonbuilding.com/chapters/20_recursion/fractal_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927065"/>
            <a:ext cx="2149563" cy="2216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balloonbuilding.com/chapters/20_recursion/fractal_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924945"/>
            <a:ext cx="2151619" cy="2218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www.balloonbuilding.com/chapters/20_recursion/fractal_2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924945"/>
            <a:ext cx="2151619" cy="2218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62205" y="2244606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Level 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19872" y="2244606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Level 1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516216" y="2244606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Level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583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Fraktal</a:t>
            </a:r>
            <a:r>
              <a:rPr lang="en-US" altLang="en-US" dirty="0" smtClean="0"/>
              <a:t> (2)</a:t>
            </a:r>
            <a:endParaRPr lang="cs-CZ" alt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896BB-FE85-4FDA-93EA-4D08E89331D1}" type="datetime4">
              <a:rPr lang="en-US" smtClean="0"/>
              <a:t>October 4, 2015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22</a:t>
            </a:fld>
            <a:endParaRPr lang="cs-CZ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812" y="1556792"/>
            <a:ext cx="6848475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182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ýchozí návrh">
  <a:themeElements>
    <a:clrScheme name="Výchozí návrh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ýchozí návr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ýchozí návrh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ýchozí návrh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ýchozí návrh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ýchozí návrh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ýchozí návrh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ýchozí návrh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ýchozí návrh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ýchozí návrh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ýchozí návrh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ýchozí návrh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ýchozí návrh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ýchozí návrh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5522</TotalTime>
  <Words>787</Words>
  <Application>Microsoft Office PowerPoint</Application>
  <PresentationFormat>On-screen Show (4:3)</PresentationFormat>
  <Paragraphs>251</Paragraphs>
  <Slides>22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Výchozí návrh</vt:lpstr>
      <vt:lpstr>Cinder framework</vt:lpstr>
      <vt:lpstr>Aplikační model </vt:lpstr>
      <vt:lpstr>Vstupní body</vt:lpstr>
      <vt:lpstr>2D bod nebo vektor</vt:lpstr>
      <vt:lpstr>Délka vektoru</vt:lpstr>
      <vt:lpstr>Vzdálenost dvou bodů</vt:lpstr>
      <vt:lpstr>Lineární interpolace</vt:lpstr>
      <vt:lpstr>Polární souřadnice</vt:lpstr>
      <vt:lpstr>Obdélník</vt:lpstr>
      <vt:lpstr>Zvětšování, zmenšování</vt:lpstr>
      <vt:lpstr>Mapování bodů</vt:lpstr>
      <vt:lpstr>Barva</vt:lpstr>
      <vt:lpstr>Barva</vt:lpstr>
      <vt:lpstr>Webové barvy</vt:lpstr>
      <vt:lpstr>    Textury      </vt:lpstr>
      <vt:lpstr>Náhodná čísla</vt:lpstr>
      <vt:lpstr>Kreslení čar</vt:lpstr>
      <vt:lpstr>Cvičení: Pentagram</vt:lpstr>
      <vt:lpstr>Útvary</vt:lpstr>
      <vt:lpstr>Rekurzivní obdélníky</vt:lpstr>
      <vt:lpstr>Fraktal (1)</vt:lpstr>
      <vt:lpstr>Fraktal (2)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MSCPP0</dc:title>
  <dc:creator>petr</dc:creator>
  <cp:lastModifiedBy>Petr Krulik (CZ)</cp:lastModifiedBy>
  <cp:revision>232</cp:revision>
  <dcterms:created xsi:type="dcterms:W3CDTF">2005-03-02T12:37:00Z</dcterms:created>
  <dcterms:modified xsi:type="dcterms:W3CDTF">2015-10-04T13:45:06Z</dcterms:modified>
</cp:coreProperties>
</file>